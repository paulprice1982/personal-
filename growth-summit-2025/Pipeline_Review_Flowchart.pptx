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peline Review" id="{0eeff634-b122-0bfc-cdff-45eb3332a5f9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at the left: if the seller has enough pipeline and win rate, test hygiene then yield. If not, diagnose territory, pipeline creation and activity in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6576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4" name="Image 0" descr="Veridian Revenue Partners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28600"/>
            <a:ext cx="1463040" cy="719633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body" hasCustomPrompt="1"/>
          </p:nvPr>
        </p:nvSpPr>
        <p:spPr>
          <a:xfrm>
            <a:off x="365760" y="6510528"/>
            <a:ext cx="5943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26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chemeClr val="accent6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65760" y="502920"/>
            <a:ext cx="9601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4" name="Image 0" descr="Veridian Revenue Partners lock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28600"/>
            <a:ext cx="1463040" cy="719633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body" hasCustomPrompt="1"/>
          </p:nvPr>
        </p:nvSpPr>
        <p:spPr>
          <a:xfrm>
            <a:off x="365760" y="6510528"/>
            <a:ext cx="5943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6"/>
                </a:solidFill>
                <a:latin typeface="Figtree" pitchFamily="34" charset="0"/>
                <a:ea typeface="Figtree" pitchFamily="34" charset="-122"/>
                <a:cs typeface="Figtree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36576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SALES MANAGEMENT DIAGNOSTIC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6576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Pipeline review flowchart</a:t>
            </a:r>
            <a:endParaRPr lang="en-US" sz="32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365760" y="65105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Veridian Revenue Partners  ·  Adapted from Hg Growth Summit 2025</a:t>
            </a:r>
            <a:endParaRPr lang="en-US" sz="1000" dirty="0"/>
          </a:p>
        </p:txBody>
      </p:sp>
      <p:sp>
        <p:nvSpPr>
          <p:cNvPr id="5" name="Connector 1"/>
          <p:cNvSpPr/>
          <p:nvPr/>
        </p:nvSpPr>
        <p:spPr>
          <a:xfrm>
            <a:off x="2194560" y="2990088"/>
            <a:ext cx="27432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6" name="Connector 2"/>
          <p:cNvSpPr/>
          <p:nvPr/>
        </p:nvSpPr>
        <p:spPr>
          <a:xfrm>
            <a:off x="2468880" y="1824228"/>
            <a:ext cx="0" cy="395478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7" name="Connector 3"/>
          <p:cNvSpPr/>
          <p:nvPr/>
        </p:nvSpPr>
        <p:spPr>
          <a:xfrm>
            <a:off x="2468880" y="1824228"/>
            <a:ext cx="45720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8" name="Connector 4"/>
          <p:cNvSpPr/>
          <p:nvPr/>
        </p:nvSpPr>
        <p:spPr>
          <a:xfrm>
            <a:off x="2468880" y="3904488"/>
            <a:ext cx="45720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9" name="Connector 5"/>
          <p:cNvSpPr/>
          <p:nvPr/>
        </p:nvSpPr>
        <p:spPr>
          <a:xfrm>
            <a:off x="2468880" y="4681728"/>
            <a:ext cx="45720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10" name="Connector 6"/>
          <p:cNvSpPr/>
          <p:nvPr/>
        </p:nvSpPr>
        <p:spPr>
          <a:xfrm>
            <a:off x="2468880" y="5779008"/>
            <a:ext cx="45720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11" name="Connector 7"/>
          <p:cNvSpPr/>
          <p:nvPr/>
        </p:nvSpPr>
        <p:spPr>
          <a:xfrm>
            <a:off x="5120640" y="1824228"/>
            <a:ext cx="22860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12" name="Connector 8"/>
          <p:cNvSpPr/>
          <p:nvPr/>
        </p:nvSpPr>
        <p:spPr>
          <a:xfrm>
            <a:off x="5349240" y="1824228"/>
            <a:ext cx="0" cy="116586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13" name="Connector 9"/>
          <p:cNvSpPr/>
          <p:nvPr/>
        </p:nvSpPr>
        <p:spPr>
          <a:xfrm>
            <a:off x="5349240" y="1824228"/>
            <a:ext cx="96012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14" name="Connector 10"/>
          <p:cNvSpPr/>
          <p:nvPr/>
        </p:nvSpPr>
        <p:spPr>
          <a:xfrm>
            <a:off x="5349240" y="2990088"/>
            <a:ext cx="434340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15" name="Connector 11"/>
          <p:cNvSpPr/>
          <p:nvPr/>
        </p:nvSpPr>
        <p:spPr>
          <a:xfrm>
            <a:off x="8412480" y="1824228"/>
            <a:ext cx="18288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16" name="Connector 12"/>
          <p:cNvSpPr/>
          <p:nvPr/>
        </p:nvSpPr>
        <p:spPr>
          <a:xfrm>
            <a:off x="8595360" y="1435608"/>
            <a:ext cx="0" cy="77724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17" name="Connector 13"/>
          <p:cNvSpPr/>
          <p:nvPr/>
        </p:nvSpPr>
        <p:spPr>
          <a:xfrm>
            <a:off x="8595360" y="1435608"/>
            <a:ext cx="109728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18" name="Connector 14"/>
          <p:cNvSpPr/>
          <p:nvPr/>
        </p:nvSpPr>
        <p:spPr>
          <a:xfrm>
            <a:off x="8595360" y="2212848"/>
            <a:ext cx="109728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19" name="Connector 15"/>
          <p:cNvSpPr/>
          <p:nvPr/>
        </p:nvSpPr>
        <p:spPr>
          <a:xfrm>
            <a:off x="5120640" y="3904488"/>
            <a:ext cx="457200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20" name="Connector 16"/>
          <p:cNvSpPr/>
          <p:nvPr/>
        </p:nvSpPr>
        <p:spPr>
          <a:xfrm>
            <a:off x="5120640" y="4681728"/>
            <a:ext cx="457200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21" name="Connector 17"/>
          <p:cNvSpPr/>
          <p:nvPr/>
        </p:nvSpPr>
        <p:spPr>
          <a:xfrm>
            <a:off x="5120640" y="5779008"/>
            <a:ext cx="347472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22" name="Connector 18"/>
          <p:cNvSpPr/>
          <p:nvPr/>
        </p:nvSpPr>
        <p:spPr>
          <a:xfrm>
            <a:off x="8595360" y="5413248"/>
            <a:ext cx="0" cy="73152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23" name="Connector 19"/>
          <p:cNvSpPr/>
          <p:nvPr/>
        </p:nvSpPr>
        <p:spPr>
          <a:xfrm>
            <a:off x="8595360" y="5413248"/>
            <a:ext cx="109728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24" name="Connector 20"/>
          <p:cNvSpPr/>
          <p:nvPr/>
        </p:nvSpPr>
        <p:spPr>
          <a:xfrm>
            <a:off x="8595360" y="6144768"/>
            <a:ext cx="1097280" cy="0"/>
          </a:xfrm>
          <a:prstGeom prst="line">
            <a:avLst/>
          </a:prstGeom>
          <a:noFill/>
          <a:ln w="12700">
            <a:solidFill>
              <a:srgbClr val="56604E">
                <a:alpha val="65000"/>
              </a:srgbClr>
            </a:solidFill>
            <a:prstDash val="solid"/>
          </a:ln>
        </p:spPr>
      </p:sp>
      <p:sp>
        <p:nvSpPr>
          <p:cNvPr id="25" name="Start 21"/>
          <p:cNvSpPr/>
          <p:nvPr/>
        </p:nvSpPr>
        <p:spPr>
          <a:xfrm>
            <a:off x="365760" y="2532888"/>
            <a:ext cx="1828800" cy="9144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Does the seller have sufficient pipeline and win rate to hit plan?</a:t>
            </a:r>
            <a:endParaRPr lang="en-US" sz="1200" dirty="0"/>
          </a:p>
        </p:txBody>
      </p:sp>
      <p:sp>
        <p:nvSpPr>
          <p:cNvPr id="26" name="Yes 22"/>
          <p:cNvSpPr/>
          <p:nvPr/>
        </p:nvSpPr>
        <p:spPr>
          <a:xfrm>
            <a:off x="2148840" y="2267712"/>
            <a:ext cx="64008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YES</a:t>
            </a:r>
            <a:endParaRPr lang="en-US" sz="1000" dirty="0"/>
          </a:p>
        </p:txBody>
      </p:sp>
      <p:sp>
        <p:nvSpPr>
          <p:cNvPr id="27" name="No 23"/>
          <p:cNvSpPr/>
          <p:nvPr/>
        </p:nvSpPr>
        <p:spPr>
          <a:xfrm>
            <a:off x="2148840" y="3364992"/>
            <a:ext cx="640080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</a:t>
            </a:r>
            <a:endParaRPr lang="en-US" sz="1000" dirty="0"/>
          </a:p>
        </p:txBody>
      </p:sp>
      <p:sp>
        <p:nvSpPr>
          <p:cNvPr id="28" name="Decision 24"/>
          <p:cNvSpPr/>
          <p:nvPr/>
        </p:nvSpPr>
        <p:spPr>
          <a:xfrm>
            <a:off x="2926080" y="1504188"/>
            <a:ext cx="2194560" cy="64008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Does the pipeline exhibit good hygiene?</a:t>
            </a:r>
            <a:endParaRPr lang="en-US" sz="1200" dirty="0"/>
          </a:p>
        </p:txBody>
      </p:sp>
      <p:sp>
        <p:nvSpPr>
          <p:cNvPr id="29" name="Criteria 25"/>
          <p:cNvSpPr txBox="1"/>
          <p:nvPr/>
        </p:nvSpPr>
        <p:spPr>
          <a:xfrm>
            <a:off x="2926080" y="2327148"/>
            <a:ext cx="2194560" cy="8686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'Pushed' deals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'Stuck' deals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'Ambitious' deals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No-activity deals</a:t>
            </a:r>
            <a:endParaRPr lang="en-US" sz="1100" dirty="0"/>
          </a:p>
        </p:txBody>
      </p:sp>
      <p:sp>
        <p:nvSpPr>
          <p:cNvPr id="30" name="Yes 26"/>
          <p:cNvSpPr/>
          <p:nvPr/>
        </p:nvSpPr>
        <p:spPr>
          <a:xfrm>
            <a:off x="5486400" y="1696212"/>
            <a:ext cx="64008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YES</a:t>
            </a:r>
            <a:endParaRPr lang="en-US" sz="1000" dirty="0"/>
          </a:p>
        </p:txBody>
      </p:sp>
      <p:sp>
        <p:nvSpPr>
          <p:cNvPr id="31" name="No 27"/>
          <p:cNvSpPr/>
          <p:nvPr/>
        </p:nvSpPr>
        <p:spPr>
          <a:xfrm>
            <a:off x="5486400" y="2862072"/>
            <a:ext cx="640080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</a:t>
            </a:r>
            <a:endParaRPr lang="en-US" sz="1000" dirty="0"/>
          </a:p>
        </p:txBody>
      </p:sp>
      <p:sp>
        <p:nvSpPr>
          <p:cNvPr id="32" name="Decision 28"/>
          <p:cNvSpPr/>
          <p:nvPr/>
        </p:nvSpPr>
        <p:spPr>
          <a:xfrm>
            <a:off x="6309360" y="1504188"/>
            <a:ext cx="2103120" cy="64008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Is the seller winning at or above the team average yield?</a:t>
            </a:r>
            <a:endParaRPr lang="en-US" sz="1200" dirty="0"/>
          </a:p>
        </p:txBody>
      </p:sp>
      <p:sp>
        <p:nvSpPr>
          <p:cNvPr id="33" name="Yes 29"/>
          <p:cNvSpPr/>
          <p:nvPr/>
        </p:nvSpPr>
        <p:spPr>
          <a:xfrm>
            <a:off x="8778240" y="1307592"/>
            <a:ext cx="64008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YES</a:t>
            </a:r>
            <a:endParaRPr lang="en-US" sz="1000" dirty="0"/>
          </a:p>
        </p:txBody>
      </p:sp>
      <p:sp>
        <p:nvSpPr>
          <p:cNvPr id="34" name="No 30"/>
          <p:cNvSpPr/>
          <p:nvPr/>
        </p:nvSpPr>
        <p:spPr>
          <a:xfrm>
            <a:off x="8778240" y="2084832"/>
            <a:ext cx="640080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</a:t>
            </a:r>
            <a:endParaRPr lang="en-US" sz="1000" dirty="0"/>
          </a:p>
        </p:txBody>
      </p:sp>
      <p:sp>
        <p:nvSpPr>
          <p:cNvPr id="35" name="Action 31"/>
          <p:cNvSpPr/>
          <p:nvPr/>
        </p:nvSpPr>
        <p:spPr>
          <a:xfrm>
            <a:off x="9692640" y="1170432"/>
            <a:ext cx="2148840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 good here. Focus on other team members</a:t>
            </a:r>
            <a:endParaRPr lang="en-US" sz="1200" dirty="0"/>
          </a:p>
        </p:txBody>
      </p:sp>
      <p:sp>
        <p:nvSpPr>
          <p:cNvPr id="36" name="Action 32"/>
          <p:cNvSpPr/>
          <p:nvPr/>
        </p:nvSpPr>
        <p:spPr>
          <a:xfrm>
            <a:off x="9692640" y="1947672"/>
            <a:ext cx="2148840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Coach on opportunity management</a:t>
            </a:r>
            <a:endParaRPr lang="en-US" sz="1200" dirty="0"/>
          </a:p>
        </p:txBody>
      </p:sp>
      <p:sp>
        <p:nvSpPr>
          <p:cNvPr id="37" name="Action 33"/>
          <p:cNvSpPr/>
          <p:nvPr/>
        </p:nvSpPr>
        <p:spPr>
          <a:xfrm>
            <a:off x="9692640" y="2724912"/>
            <a:ext cx="2148840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Close or push out poor-hygiene deals, start over</a:t>
            </a:r>
            <a:endParaRPr lang="en-US" sz="1200" dirty="0"/>
          </a:p>
        </p:txBody>
      </p:sp>
      <p:sp>
        <p:nvSpPr>
          <p:cNvPr id="38" name="Decision 34"/>
          <p:cNvSpPr/>
          <p:nvPr/>
        </p:nvSpPr>
        <p:spPr>
          <a:xfrm>
            <a:off x="2926080" y="3607308"/>
            <a:ext cx="2194560" cy="59436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Does the seller have enough 'territory'?</a:t>
            </a:r>
            <a:endParaRPr lang="en-US" sz="1200" dirty="0"/>
          </a:p>
        </p:txBody>
      </p:sp>
      <p:sp>
        <p:nvSpPr>
          <p:cNvPr id="39" name="Criteria 35"/>
          <p:cNvSpPr txBox="1"/>
          <p:nvPr/>
        </p:nvSpPr>
        <p:spPr>
          <a:xfrm>
            <a:off x="5349240" y="3607308"/>
            <a:ext cx="2651760" cy="5943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Sufficient viable accounts and whitespace to produce enough opportunities</a:t>
            </a:r>
            <a:endParaRPr lang="en-US" sz="1100" dirty="0"/>
          </a:p>
        </p:txBody>
      </p:sp>
      <p:sp>
        <p:nvSpPr>
          <p:cNvPr id="40" name="No 36"/>
          <p:cNvSpPr/>
          <p:nvPr/>
        </p:nvSpPr>
        <p:spPr>
          <a:xfrm>
            <a:off x="8778240" y="3776472"/>
            <a:ext cx="640080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</a:t>
            </a:r>
            <a:endParaRPr lang="en-US" sz="1000" dirty="0"/>
          </a:p>
        </p:txBody>
      </p:sp>
      <p:sp>
        <p:nvSpPr>
          <p:cNvPr id="41" name="Action 37"/>
          <p:cNvSpPr/>
          <p:nvPr/>
        </p:nvSpPr>
        <p:spPr>
          <a:xfrm>
            <a:off x="9692640" y="3639312"/>
            <a:ext cx="2148840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Rebalance territories</a:t>
            </a:r>
            <a:endParaRPr lang="en-US" sz="1200" dirty="0"/>
          </a:p>
        </p:txBody>
      </p:sp>
      <p:sp>
        <p:nvSpPr>
          <p:cNvPr id="42" name="Decision 38"/>
          <p:cNvSpPr/>
          <p:nvPr/>
        </p:nvSpPr>
        <p:spPr>
          <a:xfrm>
            <a:off x="2926080" y="4384548"/>
            <a:ext cx="2194560" cy="59436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Are they creating enough pipeline?</a:t>
            </a:r>
            <a:endParaRPr lang="en-US" sz="1200" dirty="0"/>
          </a:p>
        </p:txBody>
      </p:sp>
      <p:sp>
        <p:nvSpPr>
          <p:cNvPr id="43" name="Criteria 39"/>
          <p:cNvSpPr txBox="1"/>
          <p:nvPr/>
        </p:nvSpPr>
        <p:spPr>
          <a:xfrm>
            <a:off x="5349240" y="4384548"/>
            <a:ext cx="2651760" cy="59436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% sales, marketing, partner contribution vs. AOP plans</a:t>
            </a:r>
            <a:endParaRPr lang="en-US" sz="1100" dirty="0"/>
          </a:p>
        </p:txBody>
      </p:sp>
      <p:sp>
        <p:nvSpPr>
          <p:cNvPr id="44" name="No 40"/>
          <p:cNvSpPr/>
          <p:nvPr/>
        </p:nvSpPr>
        <p:spPr>
          <a:xfrm>
            <a:off x="8778240" y="4553712"/>
            <a:ext cx="640080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</a:t>
            </a:r>
            <a:endParaRPr lang="en-US" sz="1000" dirty="0"/>
          </a:p>
        </p:txBody>
      </p:sp>
      <p:sp>
        <p:nvSpPr>
          <p:cNvPr id="45" name="Action 41"/>
          <p:cNvSpPr/>
          <p:nvPr/>
        </p:nvSpPr>
        <p:spPr>
          <a:xfrm>
            <a:off x="9692640" y="4416552"/>
            <a:ext cx="2148840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Evaluate support from marketing, SDR, etc.</a:t>
            </a:r>
            <a:endParaRPr lang="en-US" sz="1200" dirty="0"/>
          </a:p>
        </p:txBody>
      </p:sp>
      <p:sp>
        <p:nvSpPr>
          <p:cNvPr id="46" name="Decision 42"/>
          <p:cNvSpPr/>
          <p:nvPr/>
        </p:nvSpPr>
        <p:spPr>
          <a:xfrm>
            <a:off x="2926080" y="5458968"/>
            <a:ext cx="2194560" cy="64008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Is the seller doing enough activity to build pipeline?</a:t>
            </a:r>
            <a:endParaRPr lang="en-US" sz="1200" dirty="0"/>
          </a:p>
        </p:txBody>
      </p:sp>
      <p:sp>
        <p:nvSpPr>
          <p:cNvPr id="47" name="Criteria 43"/>
          <p:cNvSpPr txBox="1"/>
          <p:nvPr/>
        </p:nvSpPr>
        <p:spPr>
          <a:xfrm>
            <a:off x="5349240" y="5413248"/>
            <a:ext cx="2651760" cy="7315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76200" tIns="76200" rIns="76200" bIns="7620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% territory 'engaged'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Sequences / emails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Calls / meetings</a:t>
            </a:r>
            <a:endParaRPr lang="en-US" sz="1100" dirty="0"/>
          </a:p>
        </p:txBody>
      </p:sp>
      <p:sp>
        <p:nvSpPr>
          <p:cNvPr id="48" name="Yes 44"/>
          <p:cNvSpPr/>
          <p:nvPr/>
        </p:nvSpPr>
        <p:spPr>
          <a:xfrm>
            <a:off x="8778240" y="5285232"/>
            <a:ext cx="640080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YES</a:t>
            </a:r>
            <a:endParaRPr lang="en-US" sz="1000" dirty="0"/>
          </a:p>
        </p:txBody>
      </p:sp>
      <p:sp>
        <p:nvSpPr>
          <p:cNvPr id="49" name="No 45"/>
          <p:cNvSpPr/>
          <p:nvPr/>
        </p:nvSpPr>
        <p:spPr>
          <a:xfrm>
            <a:off x="8778240" y="6016752"/>
            <a:ext cx="640080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</a:t>
            </a:r>
            <a:endParaRPr lang="en-US" sz="1000" dirty="0"/>
          </a:p>
        </p:txBody>
      </p:sp>
      <p:sp>
        <p:nvSpPr>
          <p:cNvPr id="50" name="Action 46"/>
          <p:cNvSpPr/>
          <p:nvPr/>
        </p:nvSpPr>
        <p:spPr>
          <a:xfrm>
            <a:off x="9692640" y="5148072"/>
            <a:ext cx="2148840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Focus on targeting, timing and messaging</a:t>
            </a:r>
            <a:endParaRPr lang="en-US" sz="1200" dirty="0"/>
          </a:p>
        </p:txBody>
      </p:sp>
      <p:sp>
        <p:nvSpPr>
          <p:cNvPr id="51" name="Action 47"/>
          <p:cNvSpPr/>
          <p:nvPr/>
        </p:nvSpPr>
        <p:spPr>
          <a:xfrm>
            <a:off x="9692640" y="5879592"/>
            <a:ext cx="2148840" cy="530352"/>
          </a:xfrm>
          <a:prstGeom prst="roundRect">
            <a:avLst>
              <a:gd name="adj" fmla="val 8621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 and enforce activity goals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idian Revenue Partners">
  <a:themeElements>
    <a:clrScheme name="Veridian Revenue Partners">
      <a:dk1>
        <a:srgbClr val="20241F"/>
      </a:dk1>
      <a:lt1>
        <a:srgbClr val="FFFFFF"/>
      </a:lt1>
      <a:dk2>
        <a:srgbClr val="16261D"/>
      </a:dk2>
      <a:lt2>
        <a:srgbClr val="F5F7F0"/>
      </a:lt2>
      <a:accent1>
        <a:srgbClr val="1F3529"/>
      </a:accent1>
      <a:accent2>
        <a:srgbClr val="93A87B"/>
      </a:accent2>
      <a:accent3>
        <a:srgbClr val="56604E"/>
      </a:accent3>
      <a:accent4>
        <a:srgbClr val="16261D"/>
      </a:accent4>
      <a:accent5>
        <a:srgbClr val="D2D8CD"/>
      </a:accent5>
      <a:accent6>
        <a:srgbClr val="C9D3C0"/>
      </a:accent6>
      <a:hlink>
        <a:srgbClr val="1F3529"/>
      </a:hlink>
      <a:folHlink>
        <a:srgbClr val="56604E"/>
      </a:folHlink>
    </a:clrScheme>
    <a:fontScheme name="Veridian Revenue Partner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Veridian Revenue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2026-10-10T10:28:11Z</dcterms:created>
  <dcterms:modified xsi:type="dcterms:W3CDTF">2026-10-10T10:28:11Z</dcterms:modified>
</cp:coreProperties>
</file>