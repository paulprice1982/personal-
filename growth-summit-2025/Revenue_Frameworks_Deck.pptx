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01f609f-33dc-b24d-26b1-e570a3846ad3}">
          <p14:sldIdLst>
            <p14:sldId id="256"/>
          </p14:sldIdLst>
        </p14:section>
        <p14:section name="Pipeline Review" id="{1ad2878f-d595-1764-0a92-a00c2514651a}">
          <p14:sldIdLst>
            <p14:sldId id="257"/>
          </p14:sldIdLst>
        </p14:section>
        <p14:section name="Growth levers" id="{0cc4faf5-f197-f3aa-7e60-0a53fc9d1599}">
          <p14:sldIdLst>
            <p14:sldId id="258"/>
            <p14:sldId id="259"/>
            <p14:sldId id="260"/>
            <p14:sldId id="261"/>
            <p14:sldId id="262"/>
            <p14:sldId id="263"/>
            <p14:sldId id="264"/>
            <p14:sldId id="265"/>
            <p14:sldId id="266"/>
            <p14:sldId id="267"/>
          </p14:sldIdLst>
        </p14:section>
        <p14:section name="Messaging and personalisation" id="{3b21cbd7-3b59-cfb6-7327-4299e579c800}">
          <p14:sldIdLst>
            <p14:sldId id="268"/>
            <p14:sldId id="269"/>
            <p14:sldId id="270"/>
            <p14:sldId id="271"/>
            <p14:sldId id="272"/>
            <p14:sldId id="273"/>
          </p14:sldIdLst>
        </p14:section>
        <p14:section name="RevOps operating model" id="{657e1a12-d47b-8e13-fab3-a5b50775c764}">
          <p14:sldIdLst>
            <p14:sldId id="274"/>
            <p14:sldId id="275"/>
            <p14:sldId id="276"/>
            <p14:sldId id="277"/>
            <p14:sldId id="278"/>
            <p14:sldId id="279"/>
            <p14:sldId id="280"/>
            <p14:sldId id="281"/>
            <p14:sldId id="282"/>
            <p14:sldId id="283"/>
            <p14:sldId id="284"/>
            <p14:sldId id="285"/>
          </p14:sldIdLst>
        </p14:section>
        <p14:section name="Assessment and roadmap" id="{96f289be-934d-b0ac-1e2e-2a3422766fa8}">
          <p14:sldIdLst>
            <p14:sldId id="286"/>
            <p14:sldId id="287"/>
            <p14:sldId id="288"/>
            <p14:sldId id="289"/>
            <p14:sldId id="290"/>
            <p14:sldId id="291"/>
            <p14:sldId id="292"/>
            <p14:sldId id="293"/>
          </p14:sldIdLst>
        </p14:section>
        <p14:section name="Consumption models" id="{035a0403-3524-7e82-8465-d718c4f1cccd}">
          <p14:sldIdLst>
            <p14:sldId id="294"/>
            <p14:sldId id="295"/>
          </p14:sldIdLst>
        </p14:section>
        <p14:section name="Seller profile" id="{ad1edb37-e9c1-cfd9-08b7-26e9798d0573}">
          <p14:sldIdLst>
            <p14:sldId id="296"/>
          </p14:sldIdLst>
        </p14:section>
        <p14:section name="Hiring and onboarding" id="{1d8b0967-dfb5-82d5-c290-7f29efa1ca19}">
          <p14:sldIdLst>
            <p14:sldId id="297"/>
            <p14:sldId id="298"/>
            <p14:sldId id="299"/>
          </p14:sldIdLst>
        </p14:section>
        <p14:section name="Overview" id="{477dba8d-7a39-9484-016f-4de0ca793561}">
          <p14:sldIdLst>
            <p14:sldId id="300"/>
          </p14:sldIdLst>
        </p14:section>
        <p14:section name="Drill-ins" id="{10a7a200-3e0b-6a40-f896-dbfde3cd501f}">
          <p14:sldIdLst>
            <p14:sldId id="301"/>
            <p14:sldId id="302"/>
            <p14:sldId id="303"/>
          </p14:sldIdLst>
        </p14:section>
        <p14:section name="Journey" id="{a456d688-dd8e-f1d7-ce59-d3fadb62119e}">
          <p14:sldIdLst>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High end</c:v>
                </c:pt>
              </c:strCache>
            </c:strRef>
          </c:tx>
          <c:spPr>
            <a:solidFill>
              <a:srgbClr val="1F3529"/>
            </a:solidFill>
            <a:effectLst/>
          </c:spPr>
          <c:invertIfNegative val="0"/>
          <c:dLbls>
            <c:numFmt formatCode="0%" sourceLinked="0"/>
            <c:txPr>
              <a:bodyPr/>
              <a:lstStyle/>
              <a:p>
                <a:pPr>
                  <a:defRPr b="0" i="0" strike="noStrike" sz="1200" u="none">
                    <a:solidFill>
                      <a:srgbClr val="20241F"/>
                    </a:solidFill>
                    <a:latin typeface="+mn-lt"/>
                  </a:defRPr>
                </a:pPr>
              </a:p>
            </c:txPr>
            <c:showLegendKey val="0"/>
            <c:showVal val="1"/>
            <c:showCatName val="0"/>
            <c:showSerName val="0"/>
            <c:showPercent val="0"/>
            <c:showBubbleSize val="0"/>
            <c:showLeaderLines val="0"/>
          </c:dLbls>
          <c:cat>
            <c:multiLvlStrRef>
              <c:f>Sheet1!$A$2:$A$5</c:f>
              <c:multiLvlStrCache>
                <c:ptCount val="4"/>
                <c:lvl>
                  <c:pt idx="0">
                    <c:v>Referrals</c:v>
                  </c:pt>
                  <c:pt idx="1">
                    <c:v>Well-targeted accounts</c:v>
                  </c:pt>
                  <c:pt idx="2">
                    <c:v>Cold accounts, personalised messaging</c:v>
                  </c:pt>
                  <c:pt idx="3">
                    <c:v>Pure cold calls</c:v>
                  </c:pt>
                </c:lvl>
              </c:multiLvlStrCache>
            </c:multiLvlStrRef>
          </c:cat>
          <c:val>
            <c:numRef>
              <c:f>Sheet1!$B$2:$B$5</c:f>
              <c:numCache>
                <c:formatCode>General</c:formatCode>
                <c:ptCount val="4"/>
                <c:pt idx="0">
                  <c:v>0.84</c:v>
                </c:pt>
                <c:pt idx="1">
                  <c:v>0.32</c:v>
                </c:pt>
                <c:pt idx="2">
                  <c:v>0.15</c:v>
                </c:pt>
                <c:pt idx="3">
                  <c:v>0.02</c:v>
                </c:pt>
              </c:numCache>
            </c:numRef>
          </c:val>
        </c:ser>
        <c:ser>
          <c:idx val="1"/>
          <c:order val="1"/>
          <c:tx>
            <c:strRef>
              <c:f>Sheet1!$C$1</c:f>
              <c:strCache>
                <c:ptCount val="1"/>
                <c:pt idx="0">
                  <c:v>Low end</c:v>
                </c:pt>
              </c:strCache>
            </c:strRef>
          </c:tx>
          <c:spPr>
            <a:solidFill>
              <a:srgbClr val="93A87B"/>
            </a:solidFill>
            <a:effectLst/>
          </c:spPr>
          <c:invertIfNegative val="0"/>
          <c:dLbls>
            <c:numFmt formatCode="0%" sourceLinked="0"/>
            <c:txPr>
              <a:bodyPr/>
              <a:lstStyle/>
              <a:p>
                <a:pPr>
                  <a:defRPr b="0" i="0" strike="noStrike" sz="1200" u="none">
                    <a:solidFill>
                      <a:srgbClr val="20241F"/>
                    </a:solidFill>
                    <a:latin typeface="+mn-lt"/>
                  </a:defRPr>
                </a:pPr>
              </a:p>
            </c:txPr>
            <c:showLegendKey val="0"/>
            <c:showVal val="1"/>
            <c:showCatName val="0"/>
            <c:showSerName val="0"/>
            <c:showPercent val="0"/>
            <c:showBubbleSize val="0"/>
            <c:showLeaderLines val="0"/>
          </c:dLbls>
          <c:cat>
            <c:multiLvlStrRef>
              <c:f>Sheet1!$A$2:$A$5</c:f>
              <c:multiLvlStrCache>
                <c:ptCount val="4"/>
                <c:lvl>
                  <c:pt idx="0">
                    <c:v>Referrals</c:v>
                  </c:pt>
                  <c:pt idx="1">
                    <c:v>Well-targeted accounts</c:v>
                  </c:pt>
                  <c:pt idx="2">
                    <c:v>Cold accounts, personalised messaging</c:v>
                  </c:pt>
                  <c:pt idx="3">
                    <c:v>Pure cold calls</c:v>
                  </c:pt>
                </c:lvl>
              </c:multiLvlStrCache>
            </c:multiLvlStrRef>
          </c:cat>
          <c:val>
            <c:numRef>
              <c:f>Sheet1!$C$2:$C$5</c:f>
              <c:numCache>
                <c:formatCode>General</c:formatCode>
                <c:ptCount val="4"/>
                <c:pt idx="0">
                  <c:v>0.44</c:v>
                </c:pt>
                <c:pt idx="1">
                  <c:v>0.3</c:v>
                </c:pt>
                <c:pt idx="2">
                  <c:v>0.08</c:v>
                </c:pt>
                <c:pt idx="3">
                  <c:v>0.01</c:v>
                </c:pt>
              </c:numCache>
            </c:numRef>
          </c:val>
        </c:ser>
        <c:dLbls>
          <c:numFmt formatCode="0%" sourceLinked="0"/>
          <c:txPr>
            <a:bodyPr/>
            <a:lstStyle/>
            <a:p>
              <a:pPr>
                <a:defRPr b="0" i="0" strike="noStrike" sz="1200" u="none">
                  <a:solidFill>
                    <a:srgbClr val="20241F"/>
                  </a:solidFill>
                  <a:latin typeface="+mn-lt"/>
                </a:defRPr>
              </a:pPr>
            </a:p>
          </c:txPr>
          <c:showLegendKey val="0"/>
          <c:showVal val="1"/>
          <c:showCatName val="0"/>
          <c:showSerName val="0"/>
          <c:showPercent val="0"/>
          <c:showBubbleSize val="0"/>
          <c:showLeaderLines val="0"/>
        </c:dLbls>
        <c:gapWidth val="7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6604E"/>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660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Weight (1–5)</c:v>
                </c:pt>
              </c:strCache>
            </c:strRef>
          </c:tx>
          <c:spPr>
            <a:solidFill>
              <a:srgbClr val="1F3529"/>
            </a:solidFill>
            <a:ln w="25400" cap="flat">
              <a:solidFill>
                <a:srgbClr val="1F3529"/>
              </a:solidFill>
              <a:prstDash val="solid"/>
              <a:round/>
            </a:ln>
            <a:effectLst/>
          </c:spPr>
          <c:invertIfNegative val="0"/>
          <c:marker>
            <c:symbol val="circle"/>
            <c:size val="6"/>
            <c:spPr>
              <a:solidFill>
                <a:srgbClr val="1F3529"/>
              </a:solidFill>
              <a:ln w="9525" cap="flat">
                <a:solidFill>
                  <a:srgbClr val="1F3529"/>
                </a:solidFill>
                <a:prstDash val="solid"/>
                <a:round/>
              </a:ln>
              <a:effectLst/>
            </c:spPr>
          </c:marker>
          <c:cat>
            <c:multiLvlStrRef>
              <c:f>Sheet1!$A$2:$A$11</c:f>
              <c:multiLvlStrCache>
                <c:ptCount val="10"/>
                <c:lvl>
                  <c:pt idx="0">
                    <c:v>Company strategy</c:v>
                  </c:pt>
                  <c:pt idx="1">
                    <c:v>Marketing strategy</c:v>
                  </c:pt>
                  <c:pt idx="2">
                    <c:v>Demand generation</c:v>
                  </c:pt>
                  <c:pt idx="3">
                    <c:v>Product marketing</c:v>
                  </c:pt>
                  <c:pt idx="4">
                    <c:v>Marketing ops</c:v>
                  </c:pt>
                  <c:pt idx="5">
                    <c:v>Sales process</c:v>
                  </c:pt>
                  <c:pt idx="6">
                    <c:v>Sales ops</c:v>
                  </c:pt>
                  <c:pt idx="7">
                    <c:v>Sales enablement</c:v>
                  </c:pt>
                  <c:pt idx="8">
                    <c:v>Sales compensation</c:v>
                  </c:pt>
                  <c:pt idx="9">
                    <c:v>CX, CS and account growth</c:v>
                  </c:pt>
                </c:lvl>
              </c:multiLvlStrCache>
            </c:multiLvlStrRef>
          </c:cat>
          <c:val>
            <c:numRef>
              <c:f>Sheet1!$B$2:$B$11</c:f>
              <c:numCache>
                <c:formatCode>General</c:formatCode>
                <c:ptCount val="10"/>
                <c:pt idx="0">
                  <c:v>3.8</c:v>
                </c:pt>
                <c:pt idx="1">
                  <c:v>3.4</c:v>
                </c:pt>
                <c:pt idx="2">
                  <c:v>3.6</c:v>
                </c:pt>
                <c:pt idx="3">
                  <c:v>4.1</c:v>
                </c:pt>
                <c:pt idx="4">
                  <c:v>3.6</c:v>
                </c:pt>
                <c:pt idx="5">
                  <c:v>3.6</c:v>
                </c:pt>
                <c:pt idx="6">
                  <c:v>3.7</c:v>
                </c:pt>
                <c:pt idx="7">
                  <c:v>4.1</c:v>
                </c:pt>
                <c:pt idx="8">
                  <c:v>4.1</c:v>
                </c:pt>
                <c:pt idx="9">
                  <c:v>3.7</c:v>
                </c:pt>
              </c:numCache>
            </c:numRef>
          </c:val>
        </c:ser>
        <c:ser>
          <c:idx val="1"/>
          <c:order val="1"/>
          <c:tx>
            <c:strRef>
              <c:f>Sheet1!$C$1</c:f>
              <c:strCache>
                <c:ptCount val="1"/>
                <c:pt idx="0">
                  <c:v>Performance (1–5)</c:v>
                </c:pt>
              </c:strCache>
            </c:strRef>
          </c:tx>
          <c:spPr>
            <a:solidFill>
              <a:srgbClr val="93A87B"/>
            </a:solidFill>
            <a:ln w="25400" cap="flat">
              <a:solidFill>
                <a:srgbClr val="93A87B"/>
              </a:solidFill>
              <a:prstDash val="solid"/>
              <a:round/>
            </a:ln>
            <a:effectLst/>
          </c:spPr>
          <c:invertIfNegative val="0"/>
          <c:marker>
            <c:symbol val="circle"/>
            <c:size val="6"/>
            <c:spPr>
              <a:solidFill>
                <a:srgbClr val="93A87B"/>
              </a:solidFill>
              <a:ln w="9525" cap="flat">
                <a:solidFill>
                  <a:srgbClr val="93A87B"/>
                </a:solidFill>
                <a:prstDash val="solid"/>
                <a:round/>
              </a:ln>
              <a:effectLst/>
            </c:spPr>
          </c:marker>
          <c:cat>
            <c:multiLvlStrRef>
              <c:f>Sheet1!$A$2:$A$11</c:f>
              <c:multiLvlStrCache>
                <c:ptCount val="10"/>
                <c:lvl>
                  <c:pt idx="0">
                    <c:v>Company strategy</c:v>
                  </c:pt>
                  <c:pt idx="1">
                    <c:v>Marketing strategy</c:v>
                  </c:pt>
                  <c:pt idx="2">
                    <c:v>Demand generation</c:v>
                  </c:pt>
                  <c:pt idx="3">
                    <c:v>Product marketing</c:v>
                  </c:pt>
                  <c:pt idx="4">
                    <c:v>Marketing ops</c:v>
                  </c:pt>
                  <c:pt idx="5">
                    <c:v>Sales process</c:v>
                  </c:pt>
                  <c:pt idx="6">
                    <c:v>Sales ops</c:v>
                  </c:pt>
                  <c:pt idx="7">
                    <c:v>Sales enablement</c:v>
                  </c:pt>
                  <c:pt idx="8">
                    <c:v>Sales compensation</c:v>
                  </c:pt>
                  <c:pt idx="9">
                    <c:v>CX, CS and account growth</c:v>
                  </c:pt>
                </c:lvl>
              </c:multiLvlStrCache>
            </c:multiLvlStrRef>
          </c:cat>
          <c:val>
            <c:numRef>
              <c:f>Sheet1!$C$2:$C$11</c:f>
              <c:numCache>
                <c:formatCode>General</c:formatCode>
                <c:ptCount val="10"/>
                <c:pt idx="0">
                  <c:v>2.4</c:v>
                </c:pt>
                <c:pt idx="1">
                  <c:v>3.6</c:v>
                </c:pt>
                <c:pt idx="2">
                  <c:v>2.6</c:v>
                </c:pt>
                <c:pt idx="3">
                  <c:v>2.3</c:v>
                </c:pt>
                <c:pt idx="4">
                  <c:v>2.6</c:v>
                </c:pt>
                <c:pt idx="5">
                  <c:v>2.1</c:v>
                </c:pt>
                <c:pt idx="6">
                  <c:v>2.2</c:v>
                </c:pt>
                <c:pt idx="7">
                  <c:v>2.6</c:v>
                </c:pt>
                <c:pt idx="8">
                  <c:v>2.1</c:v>
                </c:pt>
                <c:pt idx="9">
                  <c:v>1.7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6604E"/>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D2D8C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6604E"/>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5660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left: if the seller has enough pipeline and win rate, test hygiene then yield. If not, diagnose territory, pipeline creation and activity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shifts in the revenue model. The usage row matters most for Veridian: when expansion means usage, contracts that do not track usage leak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levers presented at Growth Summit 2025. The following slides take each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Lucanet turns an annual target into a weekly routine: goal, on-time win rate, pipeline needed, deals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targeting signal is enough. Rotate the pillars and split the data so each one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end and low end of the reported range for each approach. Referrals: 84% / 44%. Well-targeted: 32% / 30%. Cold, personalised: 15% / 8%. Pure cold calls: 2%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on the original slide: Sales Insights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warm introduction unlocks the next ring of the network. The ask costs nothing; the reach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WorkWave case as presented. Check the "no new tools" line against what the presenter said before using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named as presented. The cadence detail was hard to read in the photo, so check it against your own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as named by the presenters; not an endorsement.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of a tailored message, from the executive priority down to proof. The next slide shows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Sovos, as presented. Replace with a Veridian example before external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relevant insight beats heavy, superficial personalisation.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first, then persona, then event. The example opener offers three common issues and lets the buyer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and company list as shown in the session, run in an AI research tool. The list is illustrative; verify any result before using it in outreach.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email on the left demonstrates all five practices: problem-led subject, personalised opening, the prospect’s challenge, social proof and a low-commitment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cares about post-sales” is the opening for Veridian: contract value sits after the sale, where RevOps attention is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symptoms in two groups: how the machine runs, and whether the strategy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objections that keep revenue problems unfixed. Ask the room which ones they have heard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Process, Organisation, Results, Technology. The next two slides show what sits under each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sits under each SPORT letter in a working RevOps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SPORT applied as a prioritised work programme, run in two-week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practical tips for structuring a RevOps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mission as a problem statement: the opportunity, the barrier and the cost of standing still. Start with why before how and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RevOps organised by capability: enablement, insights, systems, strategy and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RevOps organised to mirror the departments it serves: marketing ops, sales ops and CS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moves to start: hire a player-coach and borrow skills from partners; then agree the GTM strategy and get a minimum viable process into the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bowtie funnel: acquisition on the left, retention and expansion on the right. CR4 and CR7 are highlighted as presented. Leakage points: lead to opportunity (L2O), OTC, discount and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cycles have lengthened from 107 to 134 days since early 2022, as presented. Six first steps for defining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each initiative on importance and urgency (4 to 12 points each), then place it in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ways to make the target operating model drive day-to-day work. Template available in the original session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0–3, 3–6 and 6+ month roadmap from a NewEdge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bottom to top: fundamentals first, then adoption, optimisation and automation, across the four revenue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 weight minus performance. The biggest gaps sit in sales compensation and CX, CS and account growth: post-sale revenue, Veridian’s home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findings. The last two rows (usage not synced to the CRM, no expansion triggers) are where contract value leaks: usage runs ahead of billing and nobody is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3x figure is attributed to Forrester on the original slide; check the source before quoting it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consumption businesses pay sellers. The common thread: comp follows actual usage, so usage data has to be trusted and tied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Breakage matters most for Veridian: usage below commitment is a renewal risk; usage above it is revenue that should be billed.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half: talents, the disposition to screen for at interview. Bottom half: the ten deal competencies to develop through coaching.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hiring profiles. Talent and disposition is cheapest, but only works with a strong onboarding programme (see boot 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gets a profile map: the talents to hire for, the skills to build and the measures that prove it. HR, management and training each own one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modules for a new-seller boot camp. Veridian would add a seventh: contract terms and how to spot usage running ahead of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RevOps flywheel. The drill-in slides that follow list each function's capabilities at a readable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capabilities in the RevOps flywheel, read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capabilities in the RevOps flywheel, read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Success capabilities in the RevOps flywheel, read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from crawl to run: insight, automation, pipeline discipline, then forecast accuracy. Each builds on the data quality of the one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Ligh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rtlCol="0"/>
          <a:lstStyle>
            <a:lvl1pPr indent="0" marL="0">
              <a:buNone/>
              <a:defRPr lang="en-US" sz="1000" b="1" spc="300" kern="0" dirty="0">
                <a:solidFill>
                  <a:schemeClr val="accent3"/>
                </a:solidFill>
                <a:latin typeface="Figtree" pitchFamily="34" charset="0"/>
                <a:ea typeface="Figtree" pitchFamily="34" charset="-122"/>
                <a:cs typeface="Figtree" pitchFamily="34" charset="-120"/>
              </a:defRPr>
            </a:lvl1pPr>
          </a:lstStyle>
          <a:p>
            <a:pPr indent="0" marL="0">
              <a:buNone/>
            </a:pP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pic>
        <p:nvPicPr>
          <p:cNvPr id="4" name="Image 0" descr="Veridian Revenue Partners lockup">    </p:cNvPr>
          <p:cNvPicPr>
            <a:picLocks noChangeAspect="1"/>
          </p:cNvPicPr>
          <p:nvPr/>
        </p:nvPicPr>
        <p:blipFill>
          <a:blip r:embed="rId1"/>
          <a:stretch>
            <a:fillRect/>
          </a:stretch>
        </p:blipFill>
        <p:spPr>
          <a:xfrm>
            <a:off x="10378440" y="228600"/>
            <a:ext cx="1463040" cy="719633"/>
          </a:xfrm>
          <a:prstGeom prst="rect">
            <a:avLst/>
          </a:prstGeom>
        </p:spPr>
      </p:pic>
      <p:sp>
        <p:nvSpPr>
          <p:cNvPr id="5" name="Text 0"/>
          <p:cNvSpPr/>
          <p:nvPr>
            <p:ph idx="103" type="body" hasCustomPrompt="1"/>
          </p:nvPr>
        </p:nvSpPr>
        <p:spPr>
          <a:xfrm>
            <a:off x="365760" y="6510528"/>
            <a:ext cx="9601200" cy="228600"/>
          </a:xfrm>
          <a:prstGeom prst="rect">
            <a:avLst/>
          </a:prstGeom>
          <a:noFill/>
          <a:ln/>
        </p:spPr>
        <p:txBody>
          <a:bodyPr wrap="square" rtlCol="0"/>
          <a:lstStyle>
            <a:lvl1pPr indent="0" marL="0">
              <a:buNone/>
              <a:defRPr lang="en-US" sz="1000" dirty="0">
                <a:solidFill>
                  <a:schemeClr val="accent3"/>
                </a:solidFill>
                <a:latin typeface="Figtree" pitchFamily="34" charset="0"/>
                <a:ea typeface="Figtree" pitchFamily="34" charset="-122"/>
                <a:cs typeface="Figtree" pitchFamily="34" charset="-120"/>
              </a:defRPr>
            </a:lvl1pPr>
          </a:lstStyle>
          <a:p>
            <a:pPr indent="0" marL="0">
              <a:buNone/>
            </a:pP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rtlCol="0"/>
          <a:lstStyle>
            <a:lvl1pPr indent="0" marL="0">
              <a:buNone/>
              <a:defRPr lang="en-US" sz="1000" b="1" spc="300" kern="0" dirty="0">
                <a:solidFill>
                  <a:schemeClr val="accent6"/>
                </a:solidFill>
                <a:latin typeface="Figtree" pitchFamily="34" charset="0"/>
                <a:ea typeface="Figtree" pitchFamily="34" charset="-122"/>
                <a:cs typeface="Figtree" pitchFamily="34" charset="-120"/>
              </a:defRPr>
            </a:lvl1pPr>
          </a:lstStyle>
          <a:p>
            <a:pPr indent="0" marL="0">
              <a:buNone/>
            </a:pP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rtlCol="0"/>
          <a:lstStyle>
            <a:lvl1pPr algn="l" indent="0" marL="0">
              <a:buNone/>
              <a:defRPr lang="en-US" sz="3400" dirty="0">
                <a:solidFill>
                  <a:schemeClr val="bg2"/>
                </a:solidFill>
              </a:defRPr>
            </a:lvl1pPr>
          </a:lstStyle>
          <a:p>
            <a:pPr algn="l" indent="0" marL="0">
              <a:buNone/>
            </a:pPr>
            <a:endParaRPr lang="en-US" sz="3400" dirty="0"/>
          </a:p>
        </p:txBody>
      </p:sp>
      <p:pic>
        <p:nvPicPr>
          <p:cNvPr id="4" name="Image 0" descr="Veridian Revenue Partners lockup">    </p:cNvPr>
          <p:cNvPicPr>
            <a:picLocks noChangeAspect="1"/>
          </p:cNvPicPr>
          <p:nvPr/>
        </p:nvPicPr>
        <p:blipFill>
          <a:blip r:embed="rId1"/>
          <a:stretch>
            <a:fillRect/>
          </a:stretch>
        </p:blipFill>
        <p:spPr>
          <a:xfrm>
            <a:off x="10378440" y="228600"/>
            <a:ext cx="1463040" cy="719633"/>
          </a:xfrm>
          <a:prstGeom prst="rect">
            <a:avLst/>
          </a:prstGeom>
        </p:spPr>
      </p:pic>
      <p:sp>
        <p:nvSpPr>
          <p:cNvPr id="5" name="Text 0"/>
          <p:cNvSpPr/>
          <p:nvPr>
            <p:ph idx="103" type="body" hasCustomPrompt="1"/>
          </p:nvPr>
        </p:nvSpPr>
        <p:spPr>
          <a:xfrm>
            <a:off x="365760" y="6510528"/>
            <a:ext cx="9601200" cy="228600"/>
          </a:xfrm>
          <a:prstGeom prst="rect">
            <a:avLst/>
          </a:prstGeom>
          <a:noFill/>
          <a:ln/>
        </p:spPr>
        <p:txBody>
          <a:bodyPr wrap="square" rtlCol="0"/>
          <a:lstStyle>
            <a:lvl1pPr indent="0" marL="0">
              <a:buNone/>
              <a:defRPr lang="en-US" sz="1000" dirty="0">
                <a:solidFill>
                  <a:schemeClr val="accent6"/>
                </a:solidFill>
                <a:latin typeface="Figtree" pitchFamily="34" charset="0"/>
                <a:ea typeface="Figtree" pitchFamily="34" charset="-122"/>
                <a:cs typeface="Figtree" pitchFamily="34" charset="-120"/>
              </a:defRPr>
            </a:lvl1pPr>
          </a:lstStyle>
          <a:p>
            <a:pPr indent="0" marL="0">
              <a:buNone/>
            </a:pP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Veridian Revenue Partners lockup">    </p:cNvPr>
          <p:cNvPicPr>
            <a:picLocks noChangeAspect="1"/>
          </p:cNvPicPr>
          <p:nvPr/>
        </p:nvPicPr>
        <p:blipFill>
          <a:blip r:embed="rId1"/>
          <a:stretch>
            <a:fillRect/>
          </a:stretch>
        </p:blipFill>
        <p:spPr>
          <a:xfrm>
            <a:off x="548640" y="548640"/>
            <a:ext cx="2377440" cy="1170432"/>
          </a:xfrm>
          <a:prstGeom prst="rect">
            <a:avLst/>
          </a:prstGeom>
        </p:spPr>
      </p:pic>
      <p:sp>
        <p:nvSpPr>
          <p:cNvPr id="3" name="Text 0"/>
          <p:cNvSpPr/>
          <p:nvPr>
            <p:ph idx="101" type="body" hasCustomPrompt="1"/>
          </p:nvPr>
        </p:nvSpPr>
        <p:spPr>
          <a:xfrm>
            <a:off x="548640" y="2743200"/>
            <a:ext cx="9144000" cy="274320"/>
          </a:xfrm>
          <a:prstGeom prst="rect">
            <a:avLst/>
          </a:prstGeom>
          <a:noFill/>
          <a:ln/>
        </p:spPr>
        <p:txBody>
          <a:bodyPr wrap="square" rtlCol="0"/>
          <a:lstStyle>
            <a:lvl1pPr indent="0" marL="0">
              <a:buNone/>
              <a:defRPr lang="en-US" sz="1200" b="1" spc="300" kern="0" dirty="0">
                <a:solidFill>
                  <a:schemeClr val="accent2"/>
                </a:solidFill>
                <a:latin typeface="Figtree" pitchFamily="34" charset="0"/>
                <a:ea typeface="Figtree" pitchFamily="34" charset="-122"/>
                <a:cs typeface="Figtree" pitchFamily="34" charset="-120"/>
              </a:defRPr>
            </a:lvl1pPr>
          </a:lstStyle>
          <a:p>
            <a:pPr indent="0" marL="0">
              <a:buNone/>
            </a:pPr>
            <a:endParaRPr lang="en-US" sz="1200" dirty="0"/>
          </a:p>
        </p:txBody>
      </p:sp>
      <p:sp>
        <p:nvSpPr>
          <p:cNvPr id="4" name="Text 0"/>
          <p:cNvSpPr/>
          <p:nvPr>
            <p:ph idx="102" type="title" hasCustomPrompt="1"/>
          </p:nvPr>
        </p:nvSpPr>
        <p:spPr>
          <a:xfrm>
            <a:off x="548640" y="3108960"/>
            <a:ext cx="10058400" cy="1463040"/>
          </a:xfrm>
          <a:prstGeom prst="rect">
            <a:avLst/>
          </a:prstGeom>
          <a:noFill/>
          <a:ln/>
        </p:spPr>
        <p:txBody>
          <a:bodyPr wrap="square" rtlCol="0"/>
          <a:lstStyle>
            <a:lvl1pPr algn="l" indent="0" marL="0">
              <a:buNone/>
              <a:defRPr lang="en-US" sz="4800" dirty="0">
                <a:solidFill>
                  <a:schemeClr val="bg2"/>
                </a:solidFill>
              </a:defRPr>
            </a:lvl1pPr>
          </a:lstStyle>
          <a:p>
            <a:pPr algn="l" indent="0" marL="0">
              <a:buNone/>
            </a:pPr>
            <a:endParaRPr lang="en-US" sz="4800" dirty="0"/>
          </a:p>
        </p:txBody>
      </p:sp>
      <p:sp>
        <p:nvSpPr>
          <p:cNvPr id="5" name="Text 0"/>
          <p:cNvSpPr/>
          <p:nvPr>
            <p:ph idx="103" type="body" hasCustomPrompt="1"/>
          </p:nvPr>
        </p:nvSpPr>
        <p:spPr>
          <a:xfrm>
            <a:off x="548640" y="4754880"/>
            <a:ext cx="9144000" cy="7315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slideLayout" Target="../slideLayouts/slideLayout2.xml"/><Relationship Id="rId3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3.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3.xml"/><Relationship Id="rId6"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2743200"/>
            <a:ext cx="9144000" cy="274320"/>
          </a:xfrm>
          <a:prstGeom prst="rect">
            <a:avLst/>
          </a:prstGeom>
          <a:noFill/>
          <a:ln/>
        </p:spPr>
        <p:txBody>
          <a:bodyPr wrap="square" lIns="0" tIns="0" rIns="0" bIns="0" rtlCol="0"/>
          <a:lstStyle/>
          <a:p>
            <a:pPr indent="0" marL="0">
              <a:buNone/>
            </a:pPr>
            <a:r>
              <a:rPr lang="en-US" sz="1200" b="1" spc="300" kern="0" dirty="0">
                <a:solidFill>
                  <a:schemeClr val="accent2"/>
                </a:solidFill>
                <a:latin typeface="Figtree" pitchFamily="34" charset="0"/>
                <a:ea typeface="Figtree" pitchFamily="34" charset="-122"/>
                <a:cs typeface="Figtree" pitchFamily="34" charset="-120"/>
              </a:rPr>
              <a:t>GROWTH SUMMIT 2025</a:t>
            </a:r>
            <a:endParaRPr lang="en-US" sz="1200" dirty="0"/>
          </a:p>
        </p:txBody>
      </p:sp>
      <p:sp>
        <p:nvSpPr>
          <p:cNvPr id="3" name="Text 0"/>
          <p:cNvSpPr/>
          <p:nvPr>
            <p:ph idx="102" type="title" hasCustomPrompt="1"/>
          </p:nvPr>
        </p:nvSpPr>
        <p:spPr>
          <a:xfrm>
            <a:off x="548640" y="3108960"/>
            <a:ext cx="10058400" cy="1463040"/>
          </a:xfrm>
          <a:prstGeom prst="rect">
            <a:avLst/>
          </a:prstGeom>
          <a:noFill/>
          <a:ln/>
        </p:spPr>
        <p:txBody>
          <a:bodyPr wrap="square" lIns="0" tIns="0" rIns="0" bIns="0" rtlCol="0" anchor="t"/>
          <a:lstStyle/>
          <a:p>
            <a:pPr algn="l" indent="0" marL="0">
              <a:buNone/>
            </a:pPr>
            <a:r>
              <a:rPr lang="en-US" sz="4800" dirty="0">
                <a:solidFill>
                  <a:schemeClr val="bg2"/>
                </a:solidFill>
              </a:rPr>
              <a:t>Revenue frameworks worth keeping</a:t>
            </a:r>
            <a:endParaRPr lang="en-US" sz="4800" dirty="0"/>
          </a:p>
        </p:txBody>
      </p:sp>
      <p:sp>
        <p:nvSpPr>
          <p:cNvPr id="4" name="Text 0"/>
          <p:cNvSpPr/>
          <p:nvPr>
            <p:ph idx="103" type="body" hasCustomPrompt="1"/>
          </p:nvPr>
        </p:nvSpPr>
        <p:spPr>
          <a:xfrm>
            <a:off x="548640" y="4754880"/>
            <a:ext cx="9144000" cy="731520"/>
          </a:xfrm>
          <a:prstGeom prst="rect">
            <a:avLst/>
          </a:prstGeom>
          <a:noFill/>
          <a:ln/>
        </p:spPr>
        <p:txBody>
          <a:bodyPr wrap="square" lIns="0" tIns="0" rIns="0" bIns="0" rtlCol="0" anchor="t"/>
          <a:lstStyle/>
          <a:p>
            <a:pPr indent="0" marL="0">
              <a:buNone/>
            </a:pPr>
            <a:r>
              <a:rPr lang="en-US" sz="1800" dirty="0">
                <a:solidFill>
                  <a:schemeClr val="accent6"/>
                </a:solidFill>
              </a:rPr>
              <a:t>Pipeline, growth levers, messaging, the RevOps operating model, consumption metrics and hiring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SALES MANAGEMENT DIAGNOSTIC</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Pipeline review flowchart</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Connector 1"/>
          <p:cNvSpPr/>
          <p:nvPr/>
        </p:nvSpPr>
        <p:spPr>
          <a:xfrm>
            <a:off x="2194560" y="2990088"/>
            <a:ext cx="274320" cy="0"/>
          </a:xfrm>
          <a:prstGeom prst="line">
            <a:avLst/>
          </a:prstGeom>
          <a:noFill/>
          <a:ln w="15875">
            <a:solidFill>
              <a:srgbClr val="56604E">
                <a:alpha val="55000"/>
              </a:srgbClr>
            </a:solidFill>
            <a:prstDash val="solid"/>
          </a:ln>
        </p:spPr>
      </p:sp>
      <p:sp>
        <p:nvSpPr>
          <p:cNvPr id="6" name="Connector 2"/>
          <p:cNvSpPr/>
          <p:nvPr/>
        </p:nvSpPr>
        <p:spPr>
          <a:xfrm>
            <a:off x="2468880" y="1824228"/>
            <a:ext cx="0" cy="3954780"/>
          </a:xfrm>
          <a:prstGeom prst="line">
            <a:avLst/>
          </a:prstGeom>
          <a:noFill/>
          <a:ln w="15875">
            <a:solidFill>
              <a:srgbClr val="56604E">
                <a:alpha val="55000"/>
              </a:srgbClr>
            </a:solidFill>
            <a:prstDash val="solid"/>
          </a:ln>
        </p:spPr>
      </p:sp>
      <p:sp>
        <p:nvSpPr>
          <p:cNvPr id="7" name="Connector 3"/>
          <p:cNvSpPr/>
          <p:nvPr/>
        </p:nvSpPr>
        <p:spPr>
          <a:xfrm>
            <a:off x="2468880" y="1824228"/>
            <a:ext cx="457200" cy="0"/>
          </a:xfrm>
          <a:prstGeom prst="line">
            <a:avLst/>
          </a:prstGeom>
          <a:noFill/>
          <a:ln w="15875">
            <a:solidFill>
              <a:srgbClr val="56604E">
                <a:alpha val="55000"/>
              </a:srgbClr>
            </a:solidFill>
            <a:prstDash val="solid"/>
          </a:ln>
        </p:spPr>
      </p:sp>
      <p:sp>
        <p:nvSpPr>
          <p:cNvPr id="8" name="Connector 4"/>
          <p:cNvSpPr/>
          <p:nvPr/>
        </p:nvSpPr>
        <p:spPr>
          <a:xfrm>
            <a:off x="2468880" y="3904488"/>
            <a:ext cx="457200" cy="0"/>
          </a:xfrm>
          <a:prstGeom prst="line">
            <a:avLst/>
          </a:prstGeom>
          <a:noFill/>
          <a:ln w="15875">
            <a:solidFill>
              <a:srgbClr val="56604E">
                <a:alpha val="55000"/>
              </a:srgbClr>
            </a:solidFill>
            <a:prstDash val="solid"/>
          </a:ln>
        </p:spPr>
      </p:sp>
      <p:sp>
        <p:nvSpPr>
          <p:cNvPr id="9" name="Connector 5"/>
          <p:cNvSpPr/>
          <p:nvPr/>
        </p:nvSpPr>
        <p:spPr>
          <a:xfrm>
            <a:off x="2468880" y="4681728"/>
            <a:ext cx="457200" cy="0"/>
          </a:xfrm>
          <a:prstGeom prst="line">
            <a:avLst/>
          </a:prstGeom>
          <a:noFill/>
          <a:ln w="15875">
            <a:solidFill>
              <a:srgbClr val="56604E">
                <a:alpha val="55000"/>
              </a:srgbClr>
            </a:solidFill>
            <a:prstDash val="solid"/>
          </a:ln>
        </p:spPr>
      </p:sp>
      <p:sp>
        <p:nvSpPr>
          <p:cNvPr id="10" name="Connector 6"/>
          <p:cNvSpPr/>
          <p:nvPr/>
        </p:nvSpPr>
        <p:spPr>
          <a:xfrm>
            <a:off x="2468880" y="5779008"/>
            <a:ext cx="457200" cy="0"/>
          </a:xfrm>
          <a:prstGeom prst="line">
            <a:avLst/>
          </a:prstGeom>
          <a:noFill/>
          <a:ln w="15875">
            <a:solidFill>
              <a:srgbClr val="56604E">
                <a:alpha val="55000"/>
              </a:srgbClr>
            </a:solidFill>
            <a:prstDash val="solid"/>
          </a:ln>
        </p:spPr>
      </p:sp>
      <p:sp>
        <p:nvSpPr>
          <p:cNvPr id="11" name="Connector 7"/>
          <p:cNvSpPr/>
          <p:nvPr/>
        </p:nvSpPr>
        <p:spPr>
          <a:xfrm>
            <a:off x="5120640" y="1824228"/>
            <a:ext cx="228600" cy="0"/>
          </a:xfrm>
          <a:prstGeom prst="line">
            <a:avLst/>
          </a:prstGeom>
          <a:noFill/>
          <a:ln w="15875">
            <a:solidFill>
              <a:srgbClr val="56604E">
                <a:alpha val="55000"/>
              </a:srgbClr>
            </a:solidFill>
            <a:prstDash val="solid"/>
          </a:ln>
        </p:spPr>
      </p:sp>
      <p:sp>
        <p:nvSpPr>
          <p:cNvPr id="12" name="Connector 8"/>
          <p:cNvSpPr/>
          <p:nvPr/>
        </p:nvSpPr>
        <p:spPr>
          <a:xfrm>
            <a:off x="5349240" y="1824228"/>
            <a:ext cx="0" cy="1165860"/>
          </a:xfrm>
          <a:prstGeom prst="line">
            <a:avLst/>
          </a:prstGeom>
          <a:noFill/>
          <a:ln w="15875">
            <a:solidFill>
              <a:srgbClr val="56604E">
                <a:alpha val="55000"/>
              </a:srgbClr>
            </a:solidFill>
            <a:prstDash val="solid"/>
          </a:ln>
        </p:spPr>
      </p:sp>
      <p:sp>
        <p:nvSpPr>
          <p:cNvPr id="13" name="Connector 9"/>
          <p:cNvSpPr/>
          <p:nvPr/>
        </p:nvSpPr>
        <p:spPr>
          <a:xfrm>
            <a:off x="5349240" y="1824228"/>
            <a:ext cx="960120" cy="0"/>
          </a:xfrm>
          <a:prstGeom prst="line">
            <a:avLst/>
          </a:prstGeom>
          <a:noFill/>
          <a:ln w="15875">
            <a:solidFill>
              <a:srgbClr val="56604E">
                <a:alpha val="55000"/>
              </a:srgbClr>
            </a:solidFill>
            <a:prstDash val="solid"/>
          </a:ln>
        </p:spPr>
      </p:sp>
      <p:sp>
        <p:nvSpPr>
          <p:cNvPr id="14" name="Connector 10"/>
          <p:cNvSpPr/>
          <p:nvPr/>
        </p:nvSpPr>
        <p:spPr>
          <a:xfrm>
            <a:off x="5349240" y="2990088"/>
            <a:ext cx="4343400" cy="0"/>
          </a:xfrm>
          <a:prstGeom prst="line">
            <a:avLst/>
          </a:prstGeom>
          <a:noFill/>
          <a:ln w="15875">
            <a:solidFill>
              <a:srgbClr val="56604E">
                <a:alpha val="55000"/>
              </a:srgbClr>
            </a:solidFill>
            <a:prstDash val="solid"/>
          </a:ln>
        </p:spPr>
      </p:sp>
      <p:sp>
        <p:nvSpPr>
          <p:cNvPr id="15" name="Connector 11"/>
          <p:cNvSpPr/>
          <p:nvPr/>
        </p:nvSpPr>
        <p:spPr>
          <a:xfrm>
            <a:off x="8412480" y="1824228"/>
            <a:ext cx="182880" cy="0"/>
          </a:xfrm>
          <a:prstGeom prst="line">
            <a:avLst/>
          </a:prstGeom>
          <a:noFill/>
          <a:ln w="15875">
            <a:solidFill>
              <a:srgbClr val="56604E">
                <a:alpha val="55000"/>
              </a:srgbClr>
            </a:solidFill>
            <a:prstDash val="solid"/>
          </a:ln>
        </p:spPr>
      </p:sp>
      <p:sp>
        <p:nvSpPr>
          <p:cNvPr id="16" name="Connector 12"/>
          <p:cNvSpPr/>
          <p:nvPr/>
        </p:nvSpPr>
        <p:spPr>
          <a:xfrm>
            <a:off x="8595360" y="1435608"/>
            <a:ext cx="0" cy="777240"/>
          </a:xfrm>
          <a:prstGeom prst="line">
            <a:avLst/>
          </a:prstGeom>
          <a:noFill/>
          <a:ln w="15875">
            <a:solidFill>
              <a:srgbClr val="56604E">
                <a:alpha val="55000"/>
              </a:srgbClr>
            </a:solidFill>
            <a:prstDash val="solid"/>
          </a:ln>
        </p:spPr>
      </p:sp>
      <p:sp>
        <p:nvSpPr>
          <p:cNvPr id="17" name="Connector 13"/>
          <p:cNvSpPr/>
          <p:nvPr/>
        </p:nvSpPr>
        <p:spPr>
          <a:xfrm>
            <a:off x="8595360" y="1435608"/>
            <a:ext cx="1097280" cy="0"/>
          </a:xfrm>
          <a:prstGeom prst="line">
            <a:avLst/>
          </a:prstGeom>
          <a:noFill/>
          <a:ln w="15875">
            <a:solidFill>
              <a:srgbClr val="56604E">
                <a:alpha val="55000"/>
              </a:srgbClr>
            </a:solidFill>
            <a:prstDash val="solid"/>
          </a:ln>
        </p:spPr>
      </p:sp>
      <p:sp>
        <p:nvSpPr>
          <p:cNvPr id="18" name="Connector 14"/>
          <p:cNvSpPr/>
          <p:nvPr/>
        </p:nvSpPr>
        <p:spPr>
          <a:xfrm>
            <a:off x="8595360" y="2212848"/>
            <a:ext cx="1097280" cy="0"/>
          </a:xfrm>
          <a:prstGeom prst="line">
            <a:avLst/>
          </a:prstGeom>
          <a:noFill/>
          <a:ln w="15875">
            <a:solidFill>
              <a:srgbClr val="56604E">
                <a:alpha val="55000"/>
              </a:srgbClr>
            </a:solidFill>
            <a:prstDash val="solid"/>
          </a:ln>
        </p:spPr>
      </p:sp>
      <p:sp>
        <p:nvSpPr>
          <p:cNvPr id="19" name="Connector 15"/>
          <p:cNvSpPr/>
          <p:nvPr/>
        </p:nvSpPr>
        <p:spPr>
          <a:xfrm>
            <a:off x="5120640" y="3904488"/>
            <a:ext cx="4572000" cy="0"/>
          </a:xfrm>
          <a:prstGeom prst="line">
            <a:avLst/>
          </a:prstGeom>
          <a:noFill/>
          <a:ln w="15875">
            <a:solidFill>
              <a:srgbClr val="56604E">
                <a:alpha val="55000"/>
              </a:srgbClr>
            </a:solidFill>
            <a:prstDash val="solid"/>
          </a:ln>
        </p:spPr>
      </p:sp>
      <p:sp>
        <p:nvSpPr>
          <p:cNvPr id="20" name="Connector 16"/>
          <p:cNvSpPr/>
          <p:nvPr/>
        </p:nvSpPr>
        <p:spPr>
          <a:xfrm>
            <a:off x="5120640" y="4681728"/>
            <a:ext cx="4572000" cy="0"/>
          </a:xfrm>
          <a:prstGeom prst="line">
            <a:avLst/>
          </a:prstGeom>
          <a:noFill/>
          <a:ln w="15875">
            <a:solidFill>
              <a:srgbClr val="56604E">
                <a:alpha val="55000"/>
              </a:srgbClr>
            </a:solidFill>
            <a:prstDash val="solid"/>
          </a:ln>
        </p:spPr>
      </p:sp>
      <p:sp>
        <p:nvSpPr>
          <p:cNvPr id="21" name="Connector 17"/>
          <p:cNvSpPr/>
          <p:nvPr/>
        </p:nvSpPr>
        <p:spPr>
          <a:xfrm>
            <a:off x="5120640" y="5779008"/>
            <a:ext cx="3474720" cy="0"/>
          </a:xfrm>
          <a:prstGeom prst="line">
            <a:avLst/>
          </a:prstGeom>
          <a:noFill/>
          <a:ln w="15875">
            <a:solidFill>
              <a:srgbClr val="56604E">
                <a:alpha val="55000"/>
              </a:srgbClr>
            </a:solidFill>
            <a:prstDash val="solid"/>
          </a:ln>
        </p:spPr>
      </p:sp>
      <p:sp>
        <p:nvSpPr>
          <p:cNvPr id="22" name="Connector 18"/>
          <p:cNvSpPr/>
          <p:nvPr/>
        </p:nvSpPr>
        <p:spPr>
          <a:xfrm>
            <a:off x="8595360" y="5413248"/>
            <a:ext cx="0" cy="731520"/>
          </a:xfrm>
          <a:prstGeom prst="line">
            <a:avLst/>
          </a:prstGeom>
          <a:noFill/>
          <a:ln w="15875">
            <a:solidFill>
              <a:srgbClr val="56604E">
                <a:alpha val="55000"/>
              </a:srgbClr>
            </a:solidFill>
            <a:prstDash val="solid"/>
          </a:ln>
        </p:spPr>
      </p:sp>
      <p:sp>
        <p:nvSpPr>
          <p:cNvPr id="23" name="Connector 19"/>
          <p:cNvSpPr/>
          <p:nvPr/>
        </p:nvSpPr>
        <p:spPr>
          <a:xfrm>
            <a:off x="8595360" y="5413248"/>
            <a:ext cx="1097280" cy="0"/>
          </a:xfrm>
          <a:prstGeom prst="line">
            <a:avLst/>
          </a:prstGeom>
          <a:noFill/>
          <a:ln w="15875">
            <a:solidFill>
              <a:srgbClr val="56604E">
                <a:alpha val="55000"/>
              </a:srgbClr>
            </a:solidFill>
            <a:prstDash val="solid"/>
          </a:ln>
        </p:spPr>
      </p:sp>
      <p:sp>
        <p:nvSpPr>
          <p:cNvPr id="24" name="Connector 20"/>
          <p:cNvSpPr/>
          <p:nvPr/>
        </p:nvSpPr>
        <p:spPr>
          <a:xfrm>
            <a:off x="8595360" y="6144768"/>
            <a:ext cx="1097280" cy="0"/>
          </a:xfrm>
          <a:prstGeom prst="line">
            <a:avLst/>
          </a:prstGeom>
          <a:noFill/>
          <a:ln w="15875">
            <a:solidFill>
              <a:srgbClr val="56604E">
                <a:alpha val="55000"/>
              </a:srgbClr>
            </a:solidFill>
            <a:prstDash val="solid"/>
          </a:ln>
        </p:spPr>
      </p:sp>
      <p:sp>
        <p:nvSpPr>
          <p:cNvPr id="25" name="Start 21"/>
          <p:cNvSpPr/>
          <p:nvPr/>
        </p:nvSpPr>
        <p:spPr>
          <a:xfrm>
            <a:off x="365760" y="2532888"/>
            <a:ext cx="1828800" cy="914400"/>
          </a:xfrm>
          <a:prstGeom prst="roundRect">
            <a:avLst>
              <a:gd name="adj" fmla="val 12000"/>
            </a:avLst>
          </a:prstGeom>
          <a:solidFill>
            <a:schemeClr val="tx2"/>
          </a:solidFill>
          <a:ln/>
          <a:effectLst>
            <a:outerShdw sx="100000" sy="100000" kx="0" ky="0" algn="bl" rotWithShape="0" blurRad="203200" dist="63500" dir="5400000">
              <a:srgbClr val="16261D">
                <a:alpha val="22000"/>
              </a:srgbClr>
            </a:outerShdw>
          </a:effectLst>
        </p:spPr>
        <p:txBody>
          <a:bodyPr wrap="square" lIns="50800" tIns="50800" rIns="50800" bIns="50800" rtlCol="0" anchor="ctr"/>
          <a:lstStyle/>
          <a:p>
            <a:pPr algn="ctr" indent="0" marL="0">
              <a:buNone/>
            </a:pPr>
            <a:r>
              <a:rPr lang="en-US" sz="1300" b="1" dirty="0">
                <a:solidFill>
                  <a:schemeClr val="bg2"/>
                </a:solidFill>
              </a:rPr>
              <a:t>Does the seller have sufficient pipeline and win rate to hit plan?</a:t>
            </a:r>
            <a:endParaRPr lang="en-US" sz="1300" dirty="0"/>
          </a:p>
        </p:txBody>
      </p:sp>
      <p:sp>
        <p:nvSpPr>
          <p:cNvPr id="26" name="Yes 22"/>
          <p:cNvSpPr/>
          <p:nvPr/>
        </p:nvSpPr>
        <p:spPr>
          <a:xfrm>
            <a:off x="2148840" y="2267712"/>
            <a:ext cx="6400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tx2"/>
                </a:solidFill>
                <a:latin typeface="Figtree" pitchFamily="34" charset="0"/>
                <a:ea typeface="Figtree" pitchFamily="34" charset="-122"/>
                <a:cs typeface="Figtree" pitchFamily="34" charset="-120"/>
              </a:rPr>
              <a:t>YES</a:t>
            </a:r>
            <a:endParaRPr lang="en-US" sz="1000" dirty="0"/>
          </a:p>
        </p:txBody>
      </p:sp>
      <p:sp>
        <p:nvSpPr>
          <p:cNvPr id="27" name="No 23"/>
          <p:cNvSpPr/>
          <p:nvPr/>
        </p:nvSpPr>
        <p:spPr>
          <a:xfrm>
            <a:off x="2148840" y="336499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28" name="Decision 24"/>
          <p:cNvSpPr/>
          <p:nvPr/>
        </p:nvSpPr>
        <p:spPr>
          <a:xfrm>
            <a:off x="2926080" y="1504188"/>
            <a:ext cx="2194560" cy="640080"/>
          </a:xfrm>
          <a:prstGeom prst="roundRect">
            <a:avLst>
              <a:gd name="adj" fmla="val 17143"/>
            </a:avLst>
          </a:prstGeom>
          <a:solidFill>
            <a:schemeClr val="accent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dirty="0">
                <a:solidFill>
                  <a:schemeClr val="bg2"/>
                </a:solidFill>
              </a:rPr>
              <a:t>Does the pipeline exhibit good hygiene?</a:t>
            </a:r>
            <a:endParaRPr lang="en-US" sz="1200" dirty="0"/>
          </a:p>
        </p:txBody>
      </p:sp>
      <p:sp>
        <p:nvSpPr>
          <p:cNvPr id="29" name="Criteria 25"/>
          <p:cNvSpPr txBox="1"/>
          <p:nvPr/>
        </p:nvSpPr>
        <p:spPr>
          <a:xfrm>
            <a:off x="2926080" y="2327148"/>
            <a:ext cx="2194560" cy="868680"/>
          </a:xfrm>
          <a:prstGeom prst="roundRect">
            <a:avLst>
              <a:gd name="adj" fmla="val 10526"/>
            </a:avLst>
          </a:prstGeom>
          <a:solidFill>
            <a:schemeClr val="bg1">
              <a:alpha val="65000"/>
            </a:schemeClr>
          </a:solidFill>
          <a:ln/>
        </p:spPr>
        <p:txBody>
          <a:bodyPr wrap="square" lIns="76200" tIns="76200" rIns="76200" bIns="76200" rtlCol="0" anchor="ctr"/>
          <a:lstStyle/>
          <a:p>
            <a:pPr marL="152400" indent="-152400">
              <a:buSzPct val="100000"/>
              <a:buChar char="•"/>
            </a:pPr>
            <a:r>
              <a:rPr lang="en-US" sz="1100" dirty="0">
                <a:solidFill>
                  <a:schemeClr val="accent3"/>
                </a:solidFill>
              </a:rPr>
              <a:t>'Pushed' deals</a:t>
            </a:r>
            <a:endParaRPr lang="en-US" sz="1100" dirty="0"/>
          </a:p>
          <a:p>
            <a:pPr marL="152400" indent="-152400">
              <a:buSzPct val="100000"/>
              <a:buChar char="•"/>
            </a:pPr>
            <a:r>
              <a:rPr lang="en-US" sz="1100" dirty="0">
                <a:solidFill>
                  <a:schemeClr val="accent3"/>
                </a:solidFill>
              </a:rPr>
              <a:t>'Stuck' deals</a:t>
            </a:r>
            <a:endParaRPr lang="en-US" sz="1100" dirty="0"/>
          </a:p>
          <a:p>
            <a:pPr marL="152400" indent="-152400">
              <a:buSzPct val="100000"/>
              <a:buChar char="•"/>
            </a:pPr>
            <a:r>
              <a:rPr lang="en-US" sz="1100" dirty="0">
                <a:solidFill>
                  <a:schemeClr val="accent3"/>
                </a:solidFill>
              </a:rPr>
              <a:t>'Ambitious' deals</a:t>
            </a:r>
            <a:endParaRPr lang="en-US" sz="1100" dirty="0"/>
          </a:p>
          <a:p>
            <a:pPr marL="152400" indent="-152400">
              <a:buSzPct val="100000"/>
              <a:buChar char="•"/>
            </a:pPr>
            <a:r>
              <a:rPr lang="en-US" sz="1100" dirty="0">
                <a:solidFill>
                  <a:schemeClr val="accent3"/>
                </a:solidFill>
              </a:rPr>
              <a:t>No-activity deals</a:t>
            </a:r>
            <a:endParaRPr lang="en-US" sz="1100" dirty="0"/>
          </a:p>
        </p:txBody>
      </p:sp>
      <p:sp>
        <p:nvSpPr>
          <p:cNvPr id="30" name="Yes 26"/>
          <p:cNvSpPr/>
          <p:nvPr/>
        </p:nvSpPr>
        <p:spPr>
          <a:xfrm>
            <a:off x="5486400" y="1696212"/>
            <a:ext cx="6400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tx2"/>
                </a:solidFill>
                <a:latin typeface="Figtree" pitchFamily="34" charset="0"/>
                <a:ea typeface="Figtree" pitchFamily="34" charset="-122"/>
                <a:cs typeface="Figtree" pitchFamily="34" charset="-120"/>
              </a:rPr>
              <a:t>YES</a:t>
            </a:r>
            <a:endParaRPr lang="en-US" sz="1000" dirty="0"/>
          </a:p>
        </p:txBody>
      </p:sp>
      <p:sp>
        <p:nvSpPr>
          <p:cNvPr id="31" name="No 27"/>
          <p:cNvSpPr/>
          <p:nvPr/>
        </p:nvSpPr>
        <p:spPr>
          <a:xfrm>
            <a:off x="5486400" y="286207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32" name="Decision 28"/>
          <p:cNvSpPr/>
          <p:nvPr/>
        </p:nvSpPr>
        <p:spPr>
          <a:xfrm>
            <a:off x="6309360" y="1504188"/>
            <a:ext cx="2103120" cy="640080"/>
          </a:xfrm>
          <a:prstGeom prst="roundRect">
            <a:avLst>
              <a:gd name="adj" fmla="val 17143"/>
            </a:avLst>
          </a:prstGeom>
          <a:solidFill>
            <a:schemeClr val="accent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dirty="0">
                <a:solidFill>
                  <a:schemeClr val="bg2"/>
                </a:solidFill>
              </a:rPr>
              <a:t>Is the seller winning at or above the team average yield?</a:t>
            </a:r>
            <a:endParaRPr lang="en-US" sz="1200" dirty="0"/>
          </a:p>
        </p:txBody>
      </p:sp>
      <p:sp>
        <p:nvSpPr>
          <p:cNvPr id="33" name="Yes 29"/>
          <p:cNvSpPr/>
          <p:nvPr/>
        </p:nvSpPr>
        <p:spPr>
          <a:xfrm>
            <a:off x="8778240" y="1307592"/>
            <a:ext cx="6400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tx2"/>
                </a:solidFill>
                <a:latin typeface="Figtree" pitchFamily="34" charset="0"/>
                <a:ea typeface="Figtree" pitchFamily="34" charset="-122"/>
                <a:cs typeface="Figtree" pitchFamily="34" charset="-120"/>
              </a:rPr>
              <a:t>YES</a:t>
            </a:r>
            <a:endParaRPr lang="en-US" sz="1000" dirty="0"/>
          </a:p>
        </p:txBody>
      </p:sp>
      <p:sp>
        <p:nvSpPr>
          <p:cNvPr id="34" name="No 30"/>
          <p:cNvSpPr/>
          <p:nvPr/>
        </p:nvSpPr>
        <p:spPr>
          <a:xfrm>
            <a:off x="8778240" y="208483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35" name="Action 31"/>
          <p:cNvSpPr/>
          <p:nvPr/>
        </p:nvSpPr>
        <p:spPr>
          <a:xfrm>
            <a:off x="9692640" y="117043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All good here. Focus on other team members</a:t>
            </a:r>
            <a:endParaRPr lang="en-US" sz="1200" dirty="0"/>
          </a:p>
        </p:txBody>
      </p:sp>
      <p:sp>
        <p:nvSpPr>
          <p:cNvPr id="36" name="Action 32"/>
          <p:cNvSpPr/>
          <p:nvPr/>
        </p:nvSpPr>
        <p:spPr>
          <a:xfrm>
            <a:off x="9692640" y="194767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Coach on opportunity management</a:t>
            </a:r>
            <a:endParaRPr lang="en-US" sz="1200" dirty="0"/>
          </a:p>
        </p:txBody>
      </p:sp>
      <p:sp>
        <p:nvSpPr>
          <p:cNvPr id="37" name="Action 33"/>
          <p:cNvSpPr/>
          <p:nvPr/>
        </p:nvSpPr>
        <p:spPr>
          <a:xfrm>
            <a:off x="9692640" y="272491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Close or push out poor-hygiene deals, start over</a:t>
            </a:r>
            <a:endParaRPr lang="en-US" sz="1200" dirty="0"/>
          </a:p>
        </p:txBody>
      </p:sp>
      <p:sp>
        <p:nvSpPr>
          <p:cNvPr id="38" name="Decision 34"/>
          <p:cNvSpPr/>
          <p:nvPr/>
        </p:nvSpPr>
        <p:spPr>
          <a:xfrm>
            <a:off x="2926080" y="3607308"/>
            <a:ext cx="2194560" cy="594360"/>
          </a:xfrm>
          <a:prstGeom prst="roundRect">
            <a:avLst>
              <a:gd name="adj" fmla="val 18462"/>
            </a:avLst>
          </a:prstGeom>
          <a:solidFill>
            <a:schemeClr val="accent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dirty="0">
                <a:solidFill>
                  <a:schemeClr val="bg2"/>
                </a:solidFill>
              </a:rPr>
              <a:t>Does the seller have enough 'territory'?</a:t>
            </a:r>
            <a:endParaRPr lang="en-US" sz="1200" dirty="0"/>
          </a:p>
        </p:txBody>
      </p:sp>
      <p:sp>
        <p:nvSpPr>
          <p:cNvPr id="39" name="Criteria 35"/>
          <p:cNvSpPr txBox="1"/>
          <p:nvPr/>
        </p:nvSpPr>
        <p:spPr>
          <a:xfrm>
            <a:off x="5349240" y="3607308"/>
            <a:ext cx="2651760" cy="594360"/>
          </a:xfrm>
          <a:prstGeom prst="roundRect">
            <a:avLst>
              <a:gd name="adj" fmla="val 15385"/>
            </a:avLst>
          </a:prstGeom>
          <a:solidFill>
            <a:schemeClr val="bg1">
              <a:alpha val="65000"/>
            </a:schemeClr>
          </a:solidFill>
          <a:ln/>
        </p:spPr>
        <p:txBody>
          <a:bodyPr wrap="square" lIns="76200" tIns="76200" rIns="76200" bIns="76200" rtlCol="0" anchor="ctr"/>
          <a:lstStyle/>
          <a:p>
            <a:pPr indent="0" marL="0">
              <a:buNone/>
            </a:pPr>
            <a:r>
              <a:rPr lang="en-US" sz="1100" dirty="0">
                <a:solidFill>
                  <a:schemeClr val="accent3"/>
                </a:solidFill>
              </a:rPr>
              <a:t>Sufficient viable accounts and whitespace to produce enough opportunities</a:t>
            </a:r>
            <a:endParaRPr lang="en-US" sz="1100" dirty="0"/>
          </a:p>
        </p:txBody>
      </p:sp>
      <p:sp>
        <p:nvSpPr>
          <p:cNvPr id="40" name="No 36"/>
          <p:cNvSpPr/>
          <p:nvPr/>
        </p:nvSpPr>
        <p:spPr>
          <a:xfrm>
            <a:off x="8778240" y="377647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41" name="Action 37"/>
          <p:cNvSpPr/>
          <p:nvPr/>
        </p:nvSpPr>
        <p:spPr>
          <a:xfrm>
            <a:off x="9692640" y="363931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Rebalance territories</a:t>
            </a:r>
            <a:endParaRPr lang="en-US" sz="1200" dirty="0"/>
          </a:p>
        </p:txBody>
      </p:sp>
      <p:sp>
        <p:nvSpPr>
          <p:cNvPr id="42" name="Decision 38"/>
          <p:cNvSpPr/>
          <p:nvPr/>
        </p:nvSpPr>
        <p:spPr>
          <a:xfrm>
            <a:off x="2926080" y="4384548"/>
            <a:ext cx="2194560" cy="594360"/>
          </a:xfrm>
          <a:prstGeom prst="roundRect">
            <a:avLst>
              <a:gd name="adj" fmla="val 18462"/>
            </a:avLst>
          </a:prstGeom>
          <a:solidFill>
            <a:schemeClr val="accent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dirty="0">
                <a:solidFill>
                  <a:schemeClr val="bg2"/>
                </a:solidFill>
              </a:rPr>
              <a:t>Are they creating enough pipeline?</a:t>
            </a:r>
            <a:endParaRPr lang="en-US" sz="1200" dirty="0"/>
          </a:p>
        </p:txBody>
      </p:sp>
      <p:sp>
        <p:nvSpPr>
          <p:cNvPr id="43" name="Criteria 39"/>
          <p:cNvSpPr txBox="1"/>
          <p:nvPr/>
        </p:nvSpPr>
        <p:spPr>
          <a:xfrm>
            <a:off x="5349240" y="4384548"/>
            <a:ext cx="2651760" cy="594360"/>
          </a:xfrm>
          <a:prstGeom prst="roundRect">
            <a:avLst>
              <a:gd name="adj" fmla="val 15385"/>
            </a:avLst>
          </a:prstGeom>
          <a:solidFill>
            <a:schemeClr val="bg1">
              <a:alpha val="65000"/>
            </a:schemeClr>
          </a:solidFill>
          <a:ln/>
        </p:spPr>
        <p:txBody>
          <a:bodyPr wrap="square" lIns="76200" tIns="76200" rIns="76200" bIns="76200" rtlCol="0" anchor="ctr"/>
          <a:lstStyle/>
          <a:p>
            <a:pPr indent="0" marL="0">
              <a:buNone/>
            </a:pPr>
            <a:r>
              <a:rPr lang="en-US" sz="1100" dirty="0">
                <a:solidFill>
                  <a:schemeClr val="accent3"/>
                </a:solidFill>
              </a:rPr>
              <a:t>% sales, marketing, partner contribution vs. AOP plans</a:t>
            </a:r>
            <a:endParaRPr lang="en-US" sz="1100" dirty="0"/>
          </a:p>
        </p:txBody>
      </p:sp>
      <p:sp>
        <p:nvSpPr>
          <p:cNvPr id="44" name="No 40"/>
          <p:cNvSpPr/>
          <p:nvPr/>
        </p:nvSpPr>
        <p:spPr>
          <a:xfrm>
            <a:off x="8778240" y="455371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45" name="Action 41"/>
          <p:cNvSpPr/>
          <p:nvPr/>
        </p:nvSpPr>
        <p:spPr>
          <a:xfrm>
            <a:off x="9692640" y="441655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Evaluate support from marketing, SDR, etc.</a:t>
            </a:r>
            <a:endParaRPr lang="en-US" sz="1200" dirty="0"/>
          </a:p>
        </p:txBody>
      </p:sp>
      <p:sp>
        <p:nvSpPr>
          <p:cNvPr id="46" name="Decision 42"/>
          <p:cNvSpPr/>
          <p:nvPr/>
        </p:nvSpPr>
        <p:spPr>
          <a:xfrm>
            <a:off x="2926080" y="5458968"/>
            <a:ext cx="2194560" cy="640080"/>
          </a:xfrm>
          <a:prstGeom prst="roundRect">
            <a:avLst>
              <a:gd name="adj" fmla="val 17143"/>
            </a:avLst>
          </a:prstGeom>
          <a:solidFill>
            <a:schemeClr val="accent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dirty="0">
                <a:solidFill>
                  <a:schemeClr val="bg2"/>
                </a:solidFill>
              </a:rPr>
              <a:t>Is the seller doing enough activity to build pipeline?</a:t>
            </a:r>
            <a:endParaRPr lang="en-US" sz="1200" dirty="0"/>
          </a:p>
        </p:txBody>
      </p:sp>
      <p:sp>
        <p:nvSpPr>
          <p:cNvPr id="47" name="Criteria 43"/>
          <p:cNvSpPr txBox="1"/>
          <p:nvPr/>
        </p:nvSpPr>
        <p:spPr>
          <a:xfrm>
            <a:off x="5349240" y="5413248"/>
            <a:ext cx="2651760" cy="731520"/>
          </a:xfrm>
          <a:prstGeom prst="roundRect">
            <a:avLst>
              <a:gd name="adj" fmla="val 12500"/>
            </a:avLst>
          </a:prstGeom>
          <a:solidFill>
            <a:schemeClr val="bg1">
              <a:alpha val="65000"/>
            </a:schemeClr>
          </a:solidFill>
          <a:ln/>
        </p:spPr>
        <p:txBody>
          <a:bodyPr wrap="square" lIns="76200" tIns="76200" rIns="76200" bIns="76200" rtlCol="0" anchor="ctr"/>
          <a:lstStyle/>
          <a:p>
            <a:pPr marL="152400" indent="-152400">
              <a:buSzPct val="100000"/>
              <a:buChar char="•"/>
            </a:pPr>
            <a:r>
              <a:rPr lang="en-US" sz="1100" dirty="0">
                <a:solidFill>
                  <a:schemeClr val="accent3"/>
                </a:solidFill>
              </a:rPr>
              <a:t>% territory 'engaged'</a:t>
            </a:r>
            <a:endParaRPr lang="en-US" sz="1100" dirty="0"/>
          </a:p>
          <a:p>
            <a:pPr marL="152400" indent="-152400">
              <a:buSzPct val="100000"/>
              <a:buChar char="•"/>
            </a:pPr>
            <a:r>
              <a:rPr lang="en-US" sz="1100" dirty="0">
                <a:solidFill>
                  <a:schemeClr val="accent3"/>
                </a:solidFill>
              </a:rPr>
              <a:t>Sequences / emails</a:t>
            </a:r>
            <a:endParaRPr lang="en-US" sz="1100" dirty="0"/>
          </a:p>
          <a:p>
            <a:pPr marL="152400" indent="-152400">
              <a:buSzPct val="100000"/>
              <a:buChar char="•"/>
            </a:pPr>
            <a:r>
              <a:rPr lang="en-US" sz="1100" dirty="0">
                <a:solidFill>
                  <a:schemeClr val="accent3"/>
                </a:solidFill>
              </a:rPr>
              <a:t>Calls / meetings</a:t>
            </a:r>
            <a:endParaRPr lang="en-US" sz="1100" dirty="0"/>
          </a:p>
        </p:txBody>
      </p:sp>
      <p:sp>
        <p:nvSpPr>
          <p:cNvPr id="48" name="Yes 44"/>
          <p:cNvSpPr/>
          <p:nvPr/>
        </p:nvSpPr>
        <p:spPr>
          <a:xfrm>
            <a:off x="8778240" y="5285232"/>
            <a:ext cx="64008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tx2"/>
                </a:solidFill>
                <a:latin typeface="Figtree" pitchFamily="34" charset="0"/>
                <a:ea typeface="Figtree" pitchFamily="34" charset="-122"/>
                <a:cs typeface="Figtree" pitchFamily="34" charset="-120"/>
              </a:rPr>
              <a:t>YES</a:t>
            </a:r>
            <a:endParaRPr lang="en-US" sz="1000" dirty="0"/>
          </a:p>
        </p:txBody>
      </p:sp>
      <p:sp>
        <p:nvSpPr>
          <p:cNvPr id="49" name="No 45"/>
          <p:cNvSpPr/>
          <p:nvPr/>
        </p:nvSpPr>
        <p:spPr>
          <a:xfrm>
            <a:off x="8778240" y="6016752"/>
            <a:ext cx="640080" cy="256032"/>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bg2"/>
                </a:solidFill>
                <a:latin typeface="Figtree" pitchFamily="34" charset="0"/>
                <a:ea typeface="Figtree" pitchFamily="34" charset="-122"/>
                <a:cs typeface="Figtree" pitchFamily="34" charset="-120"/>
              </a:rPr>
              <a:t>NO</a:t>
            </a:r>
            <a:endParaRPr lang="en-US" sz="1000" dirty="0"/>
          </a:p>
        </p:txBody>
      </p:sp>
      <p:sp>
        <p:nvSpPr>
          <p:cNvPr id="50" name="Action 46"/>
          <p:cNvSpPr/>
          <p:nvPr/>
        </p:nvSpPr>
        <p:spPr>
          <a:xfrm>
            <a:off x="9692640" y="514807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Focus on targeting, timing and messaging</a:t>
            </a:r>
            <a:endParaRPr lang="en-US" sz="1200" dirty="0"/>
          </a:p>
        </p:txBody>
      </p:sp>
      <p:sp>
        <p:nvSpPr>
          <p:cNvPr id="51" name="Action 47"/>
          <p:cNvSpPr/>
          <p:nvPr/>
        </p:nvSpPr>
        <p:spPr>
          <a:xfrm>
            <a:off x="9692640" y="5879592"/>
            <a:ext cx="2148840" cy="530352"/>
          </a:xfrm>
          <a:prstGeom prst="roundRect">
            <a:avLst>
              <a:gd name="adj" fmla="val 20690"/>
            </a:avLst>
          </a:prstGeom>
          <a:solidFill>
            <a:schemeClr val="bg1"/>
          </a:solidFill>
          <a:ln/>
          <a:effectLst>
            <a:outerShdw sx="100000" sy="100000" kx="0" ky="0" algn="bl" rotWithShape="0" blurRad="177800" dist="50800" dir="5400000">
              <a:srgbClr val="16261D">
                <a:alpha val="16000"/>
              </a:srgbClr>
            </a:outerShdw>
          </a:effectLst>
        </p:spPr>
        <p:txBody>
          <a:bodyPr wrap="square" lIns="50800" tIns="50800" rIns="50800" bIns="50800" rtlCol="0" anchor="ctr"/>
          <a:lstStyle/>
          <a:p>
            <a:pPr algn="ctr" indent="0" marL="0">
              <a:buNone/>
            </a:pPr>
            <a:r>
              <a:rPr lang="en-US" sz="1200" b="1" dirty="0">
                <a:solidFill>
                  <a:schemeClr val="tx1"/>
                </a:solidFill>
              </a:rPr>
              <a:t>Set and enforce activity goals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WHAT'S CHANGING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The fundamentals are shapeshifting</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 Forecasts are the presenters’ own.</a:t>
            </a:r>
            <a:endParaRPr lang="en-US" sz="1000" dirty="0"/>
          </a:p>
        </p:txBody>
      </p:sp>
      <p:sp>
        <p:nvSpPr>
          <p:cNvPr id="5" name="Shift 1"/>
          <p:cNvSpPr/>
          <p:nvPr/>
        </p:nvSpPr>
        <p:spPr>
          <a:xfrm>
            <a:off x="365760" y="1371600"/>
            <a:ext cx="5029200" cy="713232"/>
          </a:xfrm>
          <a:prstGeom prst="roundRect">
            <a:avLst>
              <a:gd name="adj" fmla="val 15385"/>
            </a:avLst>
          </a:prstGeom>
          <a:solidFill>
            <a:srgbClr val="16261D"/>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F5F7F0"/>
                </a:solidFill>
              </a:rPr>
              <a:t>The buying journey? </a:t>
            </a:r>
            <a:pPr indent="0" marL="0">
              <a:buNone/>
            </a:pPr>
            <a:r>
              <a:rPr lang="en-US" sz="1500" dirty="0">
                <a:solidFill>
                  <a:srgbClr val="F5F7F0"/>
                </a:solidFill>
              </a:rPr>
              <a:t>Completely inverted</a:t>
            </a:r>
            <a:endParaRPr lang="en-US" sz="1500" dirty="0"/>
          </a:p>
        </p:txBody>
      </p:sp>
      <p:pic>
        <p:nvPicPr>
          <p:cNvPr id="6" name="Image 0" descr="The buying journey? icon">    </p:cNvPr>
          <p:cNvPicPr>
            <a:picLocks noChangeAspect="1"/>
          </p:cNvPicPr>
          <p:nvPr/>
        </p:nvPicPr>
        <p:blipFill>
          <a:blip r:embed="rId1"/>
          <a:stretch>
            <a:fillRect/>
          </a:stretch>
        </p:blipFill>
        <p:spPr>
          <a:xfrm>
            <a:off x="4846320" y="1527048"/>
            <a:ext cx="402336" cy="402336"/>
          </a:xfrm>
          <a:prstGeom prst="rect">
            <a:avLst/>
          </a:prstGeom>
        </p:spPr>
      </p:pic>
      <p:pic>
        <p:nvPicPr>
          <p:cNvPr id="7" name="Image 1" descr="Arrow">    </p:cNvPr>
          <p:cNvPicPr>
            <a:picLocks noChangeAspect="1"/>
          </p:cNvPicPr>
          <p:nvPr/>
        </p:nvPicPr>
        <p:blipFill>
          <a:blip r:embed="rId2"/>
          <a:stretch>
            <a:fillRect/>
          </a:stretch>
        </p:blipFill>
        <p:spPr>
          <a:xfrm>
            <a:off x="5486400" y="1527048"/>
            <a:ext cx="402336" cy="402336"/>
          </a:xfrm>
          <a:prstGeom prst="rect">
            <a:avLst/>
          </a:prstGeom>
        </p:spPr>
      </p:pic>
      <p:sp>
        <p:nvSpPr>
          <p:cNvPr id="8" name="Evidence 2"/>
          <p:cNvSpPr/>
          <p:nvPr/>
        </p:nvSpPr>
        <p:spPr>
          <a:xfrm>
            <a:off x="5989320" y="137160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B2B buying journeys used to start in Google. The presenters’ forecast: by 2027, 95% will start in an LLM.</a:t>
            </a:r>
            <a:endParaRPr lang="en-US" sz="1250" dirty="0"/>
          </a:p>
        </p:txBody>
      </p:sp>
      <p:sp>
        <p:nvSpPr>
          <p:cNvPr id="9" name="Shift 3"/>
          <p:cNvSpPr/>
          <p:nvPr/>
        </p:nvSpPr>
        <p:spPr>
          <a:xfrm>
            <a:off x="365760" y="2194560"/>
            <a:ext cx="5029200" cy="713232"/>
          </a:xfrm>
          <a:prstGeom prst="roundRect">
            <a:avLst>
              <a:gd name="adj" fmla="val 15385"/>
            </a:avLst>
          </a:prstGeom>
          <a:solidFill>
            <a:srgbClr val="1F3529"/>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F5F7F0"/>
                </a:solidFill>
              </a:rPr>
              <a:t>The revenue model? </a:t>
            </a:r>
            <a:pPr indent="0" marL="0">
              <a:buNone/>
            </a:pPr>
            <a:r>
              <a:rPr lang="en-US" sz="1500" dirty="0">
                <a:solidFill>
                  <a:srgbClr val="F5F7F0"/>
                </a:solidFill>
              </a:rPr>
              <a:t>Transformed by usage</a:t>
            </a:r>
            <a:endParaRPr lang="en-US" sz="1500" dirty="0"/>
          </a:p>
        </p:txBody>
      </p:sp>
      <p:pic>
        <p:nvPicPr>
          <p:cNvPr id="10" name="Image 2" descr="The revenue model? icon">    </p:cNvPr>
          <p:cNvPicPr>
            <a:picLocks noChangeAspect="1"/>
          </p:cNvPicPr>
          <p:nvPr/>
        </p:nvPicPr>
        <p:blipFill>
          <a:blip r:embed="rId3"/>
          <a:stretch>
            <a:fillRect/>
          </a:stretch>
        </p:blipFill>
        <p:spPr>
          <a:xfrm>
            <a:off x="4846320" y="2350008"/>
            <a:ext cx="402336" cy="402336"/>
          </a:xfrm>
          <a:prstGeom prst="rect">
            <a:avLst/>
          </a:prstGeom>
        </p:spPr>
      </p:pic>
      <p:pic>
        <p:nvPicPr>
          <p:cNvPr id="11" name="Image 3" descr="Arrow">    </p:cNvPr>
          <p:cNvPicPr>
            <a:picLocks noChangeAspect="1"/>
          </p:cNvPicPr>
          <p:nvPr/>
        </p:nvPicPr>
        <p:blipFill>
          <a:blip r:embed="rId4"/>
          <a:stretch>
            <a:fillRect/>
          </a:stretch>
        </p:blipFill>
        <p:spPr>
          <a:xfrm>
            <a:off x="5486400" y="2350008"/>
            <a:ext cx="402336" cy="402336"/>
          </a:xfrm>
          <a:prstGeom prst="rect">
            <a:avLst/>
          </a:prstGeom>
        </p:spPr>
      </p:pic>
      <p:sp>
        <p:nvSpPr>
          <p:cNvPr id="12" name="Evidence 4"/>
          <p:cNvSpPr/>
          <p:nvPr/>
        </p:nvSpPr>
        <p:spPr>
          <a:xfrm>
            <a:off x="5989320" y="219456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Usage-based pricing rewires everything. Land and expand used to mean selling more seats. Now it means driving actual usage.</a:t>
            </a:r>
            <a:endParaRPr lang="en-US" sz="1250" dirty="0"/>
          </a:p>
        </p:txBody>
      </p:sp>
      <p:sp>
        <p:nvSpPr>
          <p:cNvPr id="13" name="Shift 5"/>
          <p:cNvSpPr/>
          <p:nvPr/>
        </p:nvSpPr>
        <p:spPr>
          <a:xfrm>
            <a:off x="365760" y="3017520"/>
            <a:ext cx="5029200" cy="713232"/>
          </a:xfrm>
          <a:prstGeom prst="roundRect">
            <a:avLst>
              <a:gd name="adj" fmla="val 15385"/>
            </a:avLst>
          </a:prstGeom>
          <a:solidFill>
            <a:srgbClr val="34473A"/>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F5F7F0"/>
                </a:solidFill>
              </a:rPr>
              <a:t>The sales motion? </a:t>
            </a:r>
            <a:pPr indent="0" marL="0">
              <a:buNone/>
            </a:pPr>
            <a:r>
              <a:rPr lang="en-US" sz="1500" dirty="0">
                <a:solidFill>
                  <a:srgbClr val="F5F7F0"/>
                </a:solidFill>
              </a:rPr>
              <a:t>From human to hybrid</a:t>
            </a:r>
            <a:endParaRPr lang="en-US" sz="1500" dirty="0"/>
          </a:p>
        </p:txBody>
      </p:sp>
      <p:pic>
        <p:nvPicPr>
          <p:cNvPr id="14" name="Image 4" descr="The sales motion? icon">    </p:cNvPr>
          <p:cNvPicPr>
            <a:picLocks noChangeAspect="1"/>
          </p:cNvPicPr>
          <p:nvPr/>
        </p:nvPicPr>
        <p:blipFill>
          <a:blip r:embed="rId5"/>
          <a:stretch>
            <a:fillRect/>
          </a:stretch>
        </p:blipFill>
        <p:spPr>
          <a:xfrm>
            <a:off x="4846320" y="3172968"/>
            <a:ext cx="402336" cy="402336"/>
          </a:xfrm>
          <a:prstGeom prst="rect">
            <a:avLst/>
          </a:prstGeom>
        </p:spPr>
      </p:pic>
      <p:pic>
        <p:nvPicPr>
          <p:cNvPr id="15" name="Image 5" descr="Arrow">    </p:cNvPr>
          <p:cNvPicPr>
            <a:picLocks noChangeAspect="1"/>
          </p:cNvPicPr>
          <p:nvPr/>
        </p:nvPicPr>
        <p:blipFill>
          <a:blip r:embed="rId6"/>
          <a:stretch>
            <a:fillRect/>
          </a:stretch>
        </p:blipFill>
        <p:spPr>
          <a:xfrm>
            <a:off x="5486400" y="3172968"/>
            <a:ext cx="402336" cy="402336"/>
          </a:xfrm>
          <a:prstGeom prst="rect">
            <a:avLst/>
          </a:prstGeom>
        </p:spPr>
      </p:pic>
      <p:sp>
        <p:nvSpPr>
          <p:cNvPr id="16" name="Evidence 6"/>
          <p:cNvSpPr/>
          <p:nvPr/>
        </p:nvSpPr>
        <p:spPr>
          <a:xfrm>
            <a:off x="5989320" y="301752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Buyers would rather self-qualify with an AI agent than talk to an SDR. Discovery calls are becoming discovery chats with multimodal AI.</a:t>
            </a:r>
            <a:endParaRPr lang="en-US" sz="1250" dirty="0"/>
          </a:p>
        </p:txBody>
      </p:sp>
      <p:sp>
        <p:nvSpPr>
          <p:cNvPr id="17" name="Shift 7"/>
          <p:cNvSpPr/>
          <p:nvPr/>
        </p:nvSpPr>
        <p:spPr>
          <a:xfrm>
            <a:off x="365760" y="3840480"/>
            <a:ext cx="5029200" cy="713232"/>
          </a:xfrm>
          <a:prstGeom prst="roundRect">
            <a:avLst>
              <a:gd name="adj" fmla="val 15385"/>
            </a:avLst>
          </a:prstGeom>
          <a:solidFill>
            <a:srgbClr val="56604E"/>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F5F7F0"/>
                </a:solidFill>
              </a:rPr>
              <a:t>The marketing playbook? </a:t>
            </a:r>
            <a:pPr indent="0" marL="0">
              <a:buNone/>
            </a:pPr>
            <a:r>
              <a:rPr lang="en-US" sz="1500" dirty="0">
                <a:solidFill>
                  <a:srgbClr val="F5F7F0"/>
                </a:solidFill>
              </a:rPr>
              <a:t>Personality beats brand</a:t>
            </a:r>
            <a:endParaRPr lang="en-US" sz="1500" dirty="0"/>
          </a:p>
        </p:txBody>
      </p:sp>
      <p:pic>
        <p:nvPicPr>
          <p:cNvPr id="18" name="Image 6" descr="The marketing playbook? icon">    </p:cNvPr>
          <p:cNvPicPr>
            <a:picLocks noChangeAspect="1"/>
          </p:cNvPicPr>
          <p:nvPr/>
        </p:nvPicPr>
        <p:blipFill>
          <a:blip r:embed="rId7"/>
          <a:stretch>
            <a:fillRect/>
          </a:stretch>
        </p:blipFill>
        <p:spPr>
          <a:xfrm>
            <a:off x="4846320" y="3995928"/>
            <a:ext cx="402336" cy="402336"/>
          </a:xfrm>
          <a:prstGeom prst="rect">
            <a:avLst/>
          </a:prstGeom>
        </p:spPr>
      </p:pic>
      <p:pic>
        <p:nvPicPr>
          <p:cNvPr id="19" name="Image 7" descr="Arrow">    </p:cNvPr>
          <p:cNvPicPr>
            <a:picLocks noChangeAspect="1"/>
          </p:cNvPicPr>
          <p:nvPr/>
        </p:nvPicPr>
        <p:blipFill>
          <a:blip r:embed="rId8"/>
          <a:stretch>
            <a:fillRect/>
          </a:stretch>
        </p:blipFill>
        <p:spPr>
          <a:xfrm>
            <a:off x="5486400" y="3995928"/>
            <a:ext cx="402336" cy="402336"/>
          </a:xfrm>
          <a:prstGeom prst="rect">
            <a:avLst/>
          </a:prstGeom>
        </p:spPr>
      </p:pic>
      <p:sp>
        <p:nvSpPr>
          <p:cNvPr id="20" name="Evidence 8"/>
          <p:cNvSpPr/>
          <p:nvPr/>
        </p:nvSpPr>
        <p:spPr>
          <a:xfrm>
            <a:off x="5989320" y="384048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Content marketing is dead. Creator-led growth is the only thing cutting through.</a:t>
            </a:r>
            <a:endParaRPr lang="en-US" sz="1250" dirty="0"/>
          </a:p>
        </p:txBody>
      </p:sp>
      <p:sp>
        <p:nvSpPr>
          <p:cNvPr id="21" name="Shift 9"/>
          <p:cNvSpPr/>
          <p:nvPr/>
        </p:nvSpPr>
        <p:spPr>
          <a:xfrm>
            <a:off x="365760" y="4663440"/>
            <a:ext cx="5029200" cy="713232"/>
          </a:xfrm>
          <a:prstGeom prst="roundRect">
            <a:avLst>
              <a:gd name="adj" fmla="val 15385"/>
            </a:avLst>
          </a:prstGeom>
          <a:solidFill>
            <a:srgbClr val="7E8C70"/>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F5F7F0"/>
                </a:solidFill>
              </a:rPr>
              <a:t>Customer success? </a:t>
            </a:r>
            <a:pPr indent="0" marL="0">
              <a:buNone/>
            </a:pPr>
            <a:r>
              <a:rPr lang="en-US" sz="1500" dirty="0">
                <a:solidFill>
                  <a:srgbClr val="F5F7F0"/>
                </a:solidFill>
              </a:rPr>
              <a:t>From reactive to predictive</a:t>
            </a:r>
            <a:endParaRPr lang="en-US" sz="1500" dirty="0"/>
          </a:p>
        </p:txBody>
      </p:sp>
      <p:pic>
        <p:nvPicPr>
          <p:cNvPr id="22" name="Image 8" descr="Customer success? icon">    </p:cNvPr>
          <p:cNvPicPr>
            <a:picLocks noChangeAspect="1"/>
          </p:cNvPicPr>
          <p:nvPr/>
        </p:nvPicPr>
        <p:blipFill>
          <a:blip r:embed="rId9"/>
          <a:stretch>
            <a:fillRect/>
          </a:stretch>
        </p:blipFill>
        <p:spPr>
          <a:xfrm>
            <a:off x="4846320" y="4818888"/>
            <a:ext cx="402336" cy="402336"/>
          </a:xfrm>
          <a:prstGeom prst="rect">
            <a:avLst/>
          </a:prstGeom>
        </p:spPr>
      </p:pic>
      <p:pic>
        <p:nvPicPr>
          <p:cNvPr id="23" name="Image 9" descr="Arrow">    </p:cNvPr>
          <p:cNvPicPr>
            <a:picLocks noChangeAspect="1"/>
          </p:cNvPicPr>
          <p:nvPr/>
        </p:nvPicPr>
        <p:blipFill>
          <a:blip r:embed="rId10"/>
          <a:stretch>
            <a:fillRect/>
          </a:stretch>
        </p:blipFill>
        <p:spPr>
          <a:xfrm>
            <a:off x="5486400" y="4818888"/>
            <a:ext cx="402336" cy="402336"/>
          </a:xfrm>
          <a:prstGeom prst="rect">
            <a:avLst/>
          </a:prstGeom>
        </p:spPr>
      </p:pic>
      <p:sp>
        <p:nvSpPr>
          <p:cNvPr id="24" name="Evidence 10"/>
          <p:cNvSpPr/>
          <p:nvPr/>
        </p:nvSpPr>
        <p:spPr>
          <a:xfrm>
            <a:off x="5989320" y="466344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Old model: quarterly check-ins and renewal firefighting. New model: AI predicting churn 90 days out from usage patterns.</a:t>
            </a:r>
            <a:endParaRPr lang="en-US" sz="1250" dirty="0"/>
          </a:p>
        </p:txBody>
      </p:sp>
      <p:sp>
        <p:nvSpPr>
          <p:cNvPr id="25" name="Shift 11"/>
          <p:cNvSpPr/>
          <p:nvPr/>
        </p:nvSpPr>
        <p:spPr>
          <a:xfrm>
            <a:off x="365760" y="5486400"/>
            <a:ext cx="5029200" cy="713232"/>
          </a:xfrm>
          <a:prstGeom prst="roundRect">
            <a:avLst>
              <a:gd name="adj" fmla="val 15385"/>
            </a:avLst>
          </a:prstGeom>
          <a:solidFill>
            <a:srgbClr val="93A87B"/>
          </a:solidFill>
          <a:ln/>
          <a:effectLst>
            <a:outerShdw sx="100000" sy="100000" kx="0" ky="0" algn="bl" rotWithShape="0" blurRad="127000" dist="38100" dir="5400000">
              <a:srgbClr val="16261D">
                <a:alpha val="16000"/>
              </a:srgbClr>
            </a:outerShdw>
          </a:effectLst>
        </p:spPr>
        <p:txBody>
          <a:bodyPr wrap="square" lIns="0" tIns="177800" rIns="0" bIns="0" rtlCol="0" anchor="ctr"/>
          <a:lstStyle/>
          <a:p>
            <a:pPr indent="0" marL="0">
              <a:buNone/>
            </a:pPr>
            <a:r>
              <a:rPr lang="en-US" sz="1500" b="1" dirty="0">
                <a:solidFill>
                  <a:srgbClr val="16261D"/>
                </a:solidFill>
              </a:rPr>
              <a:t>Customer support? </a:t>
            </a:r>
            <a:pPr indent="0" marL="0">
              <a:buNone/>
            </a:pPr>
            <a:r>
              <a:rPr lang="en-US" sz="1500" dirty="0">
                <a:solidFill>
                  <a:srgbClr val="16261D"/>
                </a:solidFill>
              </a:rPr>
              <a:t>From reaction to prevention</a:t>
            </a:r>
            <a:endParaRPr lang="en-US" sz="1500" dirty="0"/>
          </a:p>
        </p:txBody>
      </p:sp>
      <p:pic>
        <p:nvPicPr>
          <p:cNvPr id="26" name="Image 10" descr="Customer support? icon">    </p:cNvPr>
          <p:cNvPicPr>
            <a:picLocks noChangeAspect="1"/>
          </p:cNvPicPr>
          <p:nvPr/>
        </p:nvPicPr>
        <p:blipFill>
          <a:blip r:embed="rId11"/>
          <a:stretch>
            <a:fillRect/>
          </a:stretch>
        </p:blipFill>
        <p:spPr>
          <a:xfrm>
            <a:off x="4846320" y="5641848"/>
            <a:ext cx="402336" cy="402336"/>
          </a:xfrm>
          <a:prstGeom prst="rect">
            <a:avLst/>
          </a:prstGeom>
        </p:spPr>
      </p:pic>
      <p:pic>
        <p:nvPicPr>
          <p:cNvPr id="27" name="Image 11" descr="Arrow">    </p:cNvPr>
          <p:cNvPicPr>
            <a:picLocks noChangeAspect="1"/>
          </p:cNvPicPr>
          <p:nvPr/>
        </p:nvPicPr>
        <p:blipFill>
          <a:blip r:embed="rId12"/>
          <a:stretch>
            <a:fillRect/>
          </a:stretch>
        </p:blipFill>
        <p:spPr>
          <a:xfrm>
            <a:off x="5486400" y="5641848"/>
            <a:ext cx="402336" cy="402336"/>
          </a:xfrm>
          <a:prstGeom prst="rect">
            <a:avLst/>
          </a:prstGeom>
        </p:spPr>
      </p:pic>
      <p:sp>
        <p:nvSpPr>
          <p:cNvPr id="28" name="Evidence 12"/>
          <p:cNvSpPr/>
          <p:nvPr/>
        </p:nvSpPr>
        <p:spPr>
          <a:xfrm>
            <a:off x="5989320" y="5486400"/>
            <a:ext cx="5833872" cy="713232"/>
          </a:xfrm>
          <a:prstGeom prst="roundRect">
            <a:avLst>
              <a:gd name="adj" fmla="val 15385"/>
            </a:avLst>
          </a:prstGeom>
          <a:solidFill>
            <a:srgbClr val="FFFFFF"/>
          </a:solidFill>
          <a:ln/>
          <a:effectLst>
            <a:outerShdw sx="100000" sy="100000" kx="0" ky="0" algn="bl" rotWithShape="0" blurRad="127000" dist="38100" dir="5400000">
              <a:srgbClr val="16261D">
                <a:alpha val="10000"/>
              </a:srgbClr>
            </a:outerShdw>
          </a:effectLst>
        </p:spPr>
        <p:txBody>
          <a:bodyPr wrap="square" lIns="0" tIns="177800" rIns="152400" bIns="0" rtlCol="0" anchor="ctr"/>
          <a:lstStyle/>
          <a:p>
            <a:pPr indent="0" marL="0">
              <a:buNone/>
            </a:pPr>
            <a:r>
              <a:rPr lang="en-US" sz="1250" dirty="0">
                <a:solidFill>
                  <a:schemeClr val="tx1"/>
                </a:solidFill>
              </a:rPr>
              <a:t>A large share of support tickets could be eliminated by analysing patterns and fixing root causes.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PIPELINE GENERATION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Proven levers to increase effectiveness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Lever 13"/>
          <p:cNvSpPr/>
          <p:nvPr/>
        </p:nvSpPr>
        <p:spPr>
          <a:xfrm>
            <a:off x="365760"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6" name="Number 14"/>
          <p:cNvSpPr txBox="1"/>
          <p:nvPr/>
        </p:nvSpPr>
        <p:spPr>
          <a:xfrm>
            <a:off x="548640"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01</a:t>
            </a:r>
            <a:endParaRPr lang="en-US" sz="2400" dirty="0"/>
          </a:p>
        </p:txBody>
      </p:sp>
      <p:sp>
        <p:nvSpPr>
          <p:cNvPr id="7" name="Icon badge 15"/>
          <p:cNvSpPr/>
          <p:nvPr/>
        </p:nvSpPr>
        <p:spPr>
          <a:xfrm>
            <a:off x="740664" y="2697480"/>
            <a:ext cx="1005840" cy="1005840"/>
          </a:xfrm>
          <a:prstGeom prst="ellipse">
            <a:avLst/>
          </a:prstGeom>
          <a:solidFill>
            <a:srgbClr val="1F3529"/>
          </a:solidFill>
          <a:ln/>
        </p:spPr>
      </p:sp>
      <p:pic>
        <p:nvPicPr>
          <p:cNvPr id="8" name="Image 0" descr="Repeat icon">    </p:cNvPr>
          <p:cNvPicPr>
            <a:picLocks noChangeAspect="1"/>
          </p:cNvPicPr>
          <p:nvPr/>
        </p:nvPicPr>
        <p:blipFill>
          <a:blip r:embed="rId1"/>
          <a:stretch>
            <a:fillRect/>
          </a:stretch>
        </p:blipFill>
        <p:spPr>
          <a:xfrm>
            <a:off x="961949" y="2918765"/>
            <a:ext cx="563270" cy="563270"/>
          </a:xfrm>
          <a:prstGeom prst="rect">
            <a:avLst/>
          </a:prstGeom>
        </p:spPr>
      </p:pic>
      <p:sp>
        <p:nvSpPr>
          <p:cNvPr id="9" name="Lever name 16"/>
          <p:cNvSpPr txBox="1"/>
          <p:nvPr/>
        </p:nvSpPr>
        <p:spPr>
          <a:xfrm>
            <a:off x="457200"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Routine</a:t>
            </a:r>
            <a:endParaRPr lang="en-US" sz="1600" dirty="0"/>
          </a:p>
        </p:txBody>
      </p:sp>
      <p:sp>
        <p:nvSpPr>
          <p:cNvPr id="10" name="Lever 17"/>
          <p:cNvSpPr/>
          <p:nvPr/>
        </p:nvSpPr>
        <p:spPr>
          <a:xfrm>
            <a:off x="2304288"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11" name="Number 18"/>
          <p:cNvSpPr txBox="1"/>
          <p:nvPr/>
        </p:nvSpPr>
        <p:spPr>
          <a:xfrm>
            <a:off x="2487168"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02</a:t>
            </a:r>
            <a:endParaRPr lang="en-US" sz="2400" dirty="0"/>
          </a:p>
        </p:txBody>
      </p:sp>
      <p:sp>
        <p:nvSpPr>
          <p:cNvPr id="12" name="Icon badge 19"/>
          <p:cNvSpPr/>
          <p:nvPr/>
        </p:nvSpPr>
        <p:spPr>
          <a:xfrm>
            <a:off x="2679192" y="2697480"/>
            <a:ext cx="1005840" cy="1005840"/>
          </a:xfrm>
          <a:prstGeom prst="ellipse">
            <a:avLst/>
          </a:prstGeom>
          <a:solidFill>
            <a:srgbClr val="1F3529"/>
          </a:solidFill>
          <a:ln/>
        </p:spPr>
      </p:sp>
      <p:pic>
        <p:nvPicPr>
          <p:cNvPr id="13" name="Image 1" descr="TargetArrow icon">    </p:cNvPr>
          <p:cNvPicPr>
            <a:picLocks noChangeAspect="1"/>
          </p:cNvPicPr>
          <p:nvPr/>
        </p:nvPicPr>
        <p:blipFill>
          <a:blip r:embed="rId2"/>
          <a:stretch>
            <a:fillRect/>
          </a:stretch>
        </p:blipFill>
        <p:spPr>
          <a:xfrm>
            <a:off x="2900477" y="2918765"/>
            <a:ext cx="563270" cy="563270"/>
          </a:xfrm>
          <a:prstGeom prst="rect">
            <a:avLst/>
          </a:prstGeom>
        </p:spPr>
      </p:pic>
      <p:sp>
        <p:nvSpPr>
          <p:cNvPr id="14" name="Lever name 20"/>
          <p:cNvSpPr txBox="1"/>
          <p:nvPr/>
        </p:nvSpPr>
        <p:spPr>
          <a:xfrm>
            <a:off x="2395728"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Targeting</a:t>
            </a:r>
            <a:endParaRPr lang="en-US" sz="1600" dirty="0"/>
          </a:p>
        </p:txBody>
      </p:sp>
      <p:sp>
        <p:nvSpPr>
          <p:cNvPr id="15" name="Lever 21"/>
          <p:cNvSpPr/>
          <p:nvPr/>
        </p:nvSpPr>
        <p:spPr>
          <a:xfrm>
            <a:off x="4242816"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16" name="Number 22"/>
          <p:cNvSpPr txBox="1"/>
          <p:nvPr/>
        </p:nvSpPr>
        <p:spPr>
          <a:xfrm>
            <a:off x="4425696"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03</a:t>
            </a:r>
            <a:endParaRPr lang="en-US" sz="2400" dirty="0"/>
          </a:p>
        </p:txBody>
      </p:sp>
      <p:sp>
        <p:nvSpPr>
          <p:cNvPr id="17" name="Icon badge 23"/>
          <p:cNvSpPr/>
          <p:nvPr/>
        </p:nvSpPr>
        <p:spPr>
          <a:xfrm>
            <a:off x="4617720" y="2697480"/>
            <a:ext cx="1005840" cy="1005840"/>
          </a:xfrm>
          <a:prstGeom prst="ellipse">
            <a:avLst/>
          </a:prstGeom>
          <a:solidFill>
            <a:srgbClr val="1F3529"/>
          </a:solidFill>
          <a:ln/>
        </p:spPr>
      </p:sp>
      <p:pic>
        <p:nvPicPr>
          <p:cNvPr id="18" name="Image 2" descr="UsersGroup icon">    </p:cNvPr>
          <p:cNvPicPr>
            <a:picLocks noChangeAspect="1"/>
          </p:cNvPicPr>
          <p:nvPr/>
        </p:nvPicPr>
        <p:blipFill>
          <a:blip r:embed="rId3"/>
          <a:stretch>
            <a:fillRect/>
          </a:stretch>
        </p:blipFill>
        <p:spPr>
          <a:xfrm>
            <a:off x="4839005" y="2918765"/>
            <a:ext cx="563270" cy="563270"/>
          </a:xfrm>
          <a:prstGeom prst="rect">
            <a:avLst/>
          </a:prstGeom>
        </p:spPr>
      </p:pic>
      <p:sp>
        <p:nvSpPr>
          <p:cNvPr id="19" name="Lever name 24"/>
          <p:cNvSpPr txBox="1"/>
          <p:nvPr/>
        </p:nvSpPr>
        <p:spPr>
          <a:xfrm>
            <a:off x="4334256"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Referrals</a:t>
            </a:r>
            <a:endParaRPr lang="en-US" sz="1600" dirty="0"/>
          </a:p>
        </p:txBody>
      </p:sp>
      <p:sp>
        <p:nvSpPr>
          <p:cNvPr id="20" name="Lever 25"/>
          <p:cNvSpPr/>
          <p:nvPr/>
        </p:nvSpPr>
        <p:spPr>
          <a:xfrm>
            <a:off x="6181344"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21" name="Number 26"/>
          <p:cNvSpPr txBox="1"/>
          <p:nvPr/>
        </p:nvSpPr>
        <p:spPr>
          <a:xfrm>
            <a:off x="6364224"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04</a:t>
            </a:r>
            <a:endParaRPr lang="en-US" sz="2400" dirty="0"/>
          </a:p>
        </p:txBody>
      </p:sp>
      <p:sp>
        <p:nvSpPr>
          <p:cNvPr id="22" name="Icon badge 27"/>
          <p:cNvSpPr/>
          <p:nvPr/>
        </p:nvSpPr>
        <p:spPr>
          <a:xfrm>
            <a:off x="6556248" y="2697480"/>
            <a:ext cx="1005840" cy="1005840"/>
          </a:xfrm>
          <a:prstGeom prst="ellipse">
            <a:avLst/>
          </a:prstGeom>
          <a:solidFill>
            <a:srgbClr val="1F3529"/>
          </a:solidFill>
          <a:ln/>
        </p:spPr>
      </p:sp>
      <p:pic>
        <p:nvPicPr>
          <p:cNvPr id="23" name="Image 3" descr="HandClick icon">    </p:cNvPr>
          <p:cNvPicPr>
            <a:picLocks noChangeAspect="1"/>
          </p:cNvPicPr>
          <p:nvPr/>
        </p:nvPicPr>
        <p:blipFill>
          <a:blip r:embed="rId4"/>
          <a:stretch>
            <a:fillRect/>
          </a:stretch>
        </p:blipFill>
        <p:spPr>
          <a:xfrm>
            <a:off x="6777533" y="2918765"/>
            <a:ext cx="563270" cy="563270"/>
          </a:xfrm>
          <a:prstGeom prst="rect">
            <a:avLst/>
          </a:prstGeom>
        </p:spPr>
      </p:pic>
      <p:sp>
        <p:nvSpPr>
          <p:cNvPr id="24" name="Lever name 28"/>
          <p:cNvSpPr txBox="1"/>
          <p:nvPr/>
        </p:nvSpPr>
        <p:spPr>
          <a:xfrm>
            <a:off x="6272784"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Multi-touch</a:t>
            </a:r>
            <a:endParaRPr lang="en-US" sz="1600" dirty="0"/>
          </a:p>
        </p:txBody>
      </p:sp>
      <p:sp>
        <p:nvSpPr>
          <p:cNvPr id="25" name="Lever 29"/>
          <p:cNvSpPr/>
          <p:nvPr/>
        </p:nvSpPr>
        <p:spPr>
          <a:xfrm>
            <a:off x="8119872"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26" name="Number 30"/>
          <p:cNvSpPr txBox="1"/>
          <p:nvPr/>
        </p:nvSpPr>
        <p:spPr>
          <a:xfrm>
            <a:off x="8302752"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05</a:t>
            </a:r>
            <a:endParaRPr lang="en-US" sz="2400" dirty="0"/>
          </a:p>
        </p:txBody>
      </p:sp>
      <p:sp>
        <p:nvSpPr>
          <p:cNvPr id="27" name="Icon badge 31"/>
          <p:cNvSpPr/>
          <p:nvPr/>
        </p:nvSpPr>
        <p:spPr>
          <a:xfrm>
            <a:off x="8494776" y="2697480"/>
            <a:ext cx="1005840" cy="1005840"/>
          </a:xfrm>
          <a:prstGeom prst="ellipse">
            <a:avLst/>
          </a:prstGeom>
          <a:solidFill>
            <a:srgbClr val="1F3529"/>
          </a:solidFill>
          <a:ln/>
        </p:spPr>
      </p:sp>
      <p:pic>
        <p:nvPicPr>
          <p:cNvPr id="28" name="Image 4" descr="Messages icon">    </p:cNvPr>
          <p:cNvPicPr>
            <a:picLocks noChangeAspect="1"/>
          </p:cNvPicPr>
          <p:nvPr/>
        </p:nvPicPr>
        <p:blipFill>
          <a:blip r:embed="rId5"/>
          <a:stretch>
            <a:fillRect/>
          </a:stretch>
        </p:blipFill>
        <p:spPr>
          <a:xfrm>
            <a:off x="8716061" y="2918765"/>
            <a:ext cx="563270" cy="563270"/>
          </a:xfrm>
          <a:prstGeom prst="rect">
            <a:avLst/>
          </a:prstGeom>
        </p:spPr>
      </p:pic>
      <p:sp>
        <p:nvSpPr>
          <p:cNvPr id="29" name="Lever name 32"/>
          <p:cNvSpPr txBox="1"/>
          <p:nvPr/>
        </p:nvSpPr>
        <p:spPr>
          <a:xfrm>
            <a:off x="8211312"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Messaging</a:t>
            </a:r>
            <a:endParaRPr lang="en-US" sz="1600" dirty="0"/>
          </a:p>
        </p:txBody>
      </p:sp>
      <p:sp>
        <p:nvSpPr>
          <p:cNvPr id="30" name="Lever 33"/>
          <p:cNvSpPr/>
          <p:nvPr/>
        </p:nvSpPr>
        <p:spPr>
          <a:xfrm>
            <a:off x="10058400" y="1828800"/>
            <a:ext cx="1755648" cy="3383280"/>
          </a:xfrm>
          <a:prstGeom prst="roundRect">
            <a:avLst>
              <a:gd name="adj" fmla="val 7292"/>
            </a:avLst>
          </a:prstGeom>
          <a:solidFill>
            <a:srgbClr val="FFFFFF"/>
          </a:solidFill>
          <a:ln/>
          <a:effectLst>
            <a:outerShdw sx="100000" sy="100000" kx="0" ky="0" algn="bl" rotWithShape="0" blurRad="177800" dist="50800" dir="5400000">
              <a:srgbClr val="16261D">
                <a:alpha val="14000"/>
              </a:srgbClr>
            </a:outerShdw>
          </a:effectLst>
        </p:spPr>
      </p:sp>
      <p:sp>
        <p:nvSpPr>
          <p:cNvPr id="31" name="Number 34"/>
          <p:cNvSpPr txBox="1"/>
          <p:nvPr/>
        </p:nvSpPr>
        <p:spPr>
          <a:xfrm>
            <a:off x="10241280" y="1993392"/>
            <a:ext cx="914400" cy="411480"/>
          </a:xfrm>
          <a:prstGeom prst="rect">
            <a:avLst/>
          </a:prstGeom>
          <a:noFill/>
          <a:ln/>
        </p:spPr>
        <p:txBody>
          <a:bodyPr wrap="square" lIns="0" tIns="0" rIns="0" bIns="0" rtlCol="0" anchor="ctr"/>
          <a:lstStyle/>
          <a:p>
            <a:pPr indent="0" marL="0">
              <a:buNone/>
            </a:pPr>
            <a:r>
              <a:rPr lang="en-US" sz="2400" dirty="0">
                <a:solidFill>
                  <a:schemeClr val="accent3"/>
                </a:solidFill>
                <a:latin typeface="Georgia" pitchFamily="34" charset="0"/>
                <a:ea typeface="Georgia" pitchFamily="34" charset="-122"/>
                <a:cs typeface="Georgia" pitchFamily="34" charset="-120"/>
              </a:rPr>
              <a:t>06</a:t>
            </a:r>
            <a:endParaRPr lang="en-US" sz="2400" dirty="0"/>
          </a:p>
        </p:txBody>
      </p:sp>
      <p:sp>
        <p:nvSpPr>
          <p:cNvPr id="32" name="Icon badge 35"/>
          <p:cNvSpPr/>
          <p:nvPr/>
        </p:nvSpPr>
        <p:spPr>
          <a:xfrm>
            <a:off x="10433304" y="2697480"/>
            <a:ext cx="1005840" cy="1005840"/>
          </a:xfrm>
          <a:prstGeom prst="ellipse">
            <a:avLst/>
          </a:prstGeom>
          <a:solidFill>
            <a:srgbClr val="1F3529"/>
          </a:solidFill>
          <a:ln/>
        </p:spPr>
      </p:sp>
      <p:pic>
        <p:nvPicPr>
          <p:cNvPr id="33" name="Image 5" descr="AdjustmentsHorizontal icon">    </p:cNvPr>
          <p:cNvPicPr>
            <a:picLocks noChangeAspect="1"/>
          </p:cNvPicPr>
          <p:nvPr/>
        </p:nvPicPr>
        <p:blipFill>
          <a:blip r:embed="rId6"/>
          <a:stretch>
            <a:fillRect/>
          </a:stretch>
        </p:blipFill>
        <p:spPr>
          <a:xfrm>
            <a:off x="10654589" y="2918765"/>
            <a:ext cx="563270" cy="563270"/>
          </a:xfrm>
          <a:prstGeom prst="rect">
            <a:avLst/>
          </a:prstGeom>
        </p:spPr>
      </p:pic>
      <p:sp>
        <p:nvSpPr>
          <p:cNvPr id="34" name="Lever name 36"/>
          <p:cNvSpPr txBox="1"/>
          <p:nvPr/>
        </p:nvSpPr>
        <p:spPr>
          <a:xfrm>
            <a:off x="10149840" y="4023360"/>
            <a:ext cx="1572768" cy="457200"/>
          </a:xfrm>
          <a:prstGeom prst="rect">
            <a:avLst/>
          </a:prstGeom>
          <a:noFill/>
          <a:ln/>
        </p:spPr>
        <p:txBody>
          <a:bodyPr wrap="square" lIns="0" tIns="0" rIns="0" bIns="0" rtlCol="0" anchor="ctr"/>
          <a:lstStyle/>
          <a:p>
            <a:pPr algn="ctr" indent="0" marL="0">
              <a:buNone/>
            </a:pPr>
            <a:r>
              <a:rPr lang="en-US" sz="1600" b="1" dirty="0">
                <a:solidFill>
                  <a:schemeClr val="tx1"/>
                </a:solidFill>
              </a:rPr>
              <a:t>Personalisation</a:t>
            </a:r>
            <a:endParaRPr lang="en-US" sz="1600" dirty="0"/>
          </a:p>
        </p:txBody>
      </p:sp>
      <p:sp>
        <p:nvSpPr>
          <p:cNvPr id="35" name="Lever summary"/>
          <p:cNvSpPr txBox="1"/>
          <p:nvPr/>
        </p:nvSpPr>
        <p:spPr>
          <a:xfrm>
            <a:off x="365760" y="5532120"/>
            <a:ext cx="11430000" cy="548640"/>
          </a:xfrm>
          <a:prstGeom prst="rect">
            <a:avLst/>
          </a:prstGeom>
          <a:noFill/>
          <a:ln/>
        </p:spPr>
        <p:txBody>
          <a:bodyPr wrap="square" lIns="0" tIns="0" rIns="0" bIns="0" rtlCol="0" anchor="ctr"/>
          <a:lstStyle/>
          <a:p>
            <a:pPr indent="0" marL="0">
              <a:buNone/>
            </a:pPr>
            <a:r>
              <a:rPr lang="en-US" sz="1400" dirty="0">
                <a:solidFill>
                  <a:schemeClr val="accent3"/>
                </a:solidFill>
              </a:rPr>
              <a:t>Each lever compounds the others: routine sets the volume, targeting and referrals lift the hit rate, and multi-touch, messaging and personalisation convert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LEVER 01  ·  ROUTINE</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Routine: work back from the goal</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Hg Growth Summit 2025 (Lucanet figures, US dollars)</a:t>
            </a:r>
            <a:endParaRPr lang="en-US" sz="1000" dirty="0"/>
          </a:p>
        </p:txBody>
      </p:sp>
      <p:sp>
        <p:nvSpPr>
          <p:cNvPr id="5" name="Step 37"/>
          <p:cNvSpPr/>
          <p:nvPr/>
        </p:nvSpPr>
        <p:spPr>
          <a:xfrm>
            <a:off x="365760" y="1463040"/>
            <a:ext cx="7589520" cy="896112"/>
          </a:xfrm>
          <a:prstGeom prst="roundRect">
            <a:avLst>
              <a:gd name="adj" fmla="val 14286"/>
            </a:avLst>
          </a:prstGeom>
          <a:solidFill>
            <a:srgbClr val="1F3529">
              <a:alpha val="80000"/>
            </a:srgbClr>
          </a:solidFill>
          <a:ln w="12700">
            <a:solidFill>
              <a:srgbClr val="93A87B">
                <a:alpha val="30000"/>
              </a:srgbClr>
            </a:solidFill>
            <a:prstDash val="solid"/>
          </a:ln>
          <a:effectLst>
            <a:outerShdw sx="100000" sy="100000" kx="0" ky="0" algn="bl" rotWithShape="0" blurRad="177800" dist="50800" dir="5400000">
              <a:srgbClr val="16261D">
                <a:alpha val="14000"/>
              </a:srgbClr>
            </a:outerShdw>
          </a:effectLst>
        </p:spPr>
      </p:sp>
      <p:sp>
        <p:nvSpPr>
          <p:cNvPr id="6" name="Step number 38"/>
          <p:cNvSpPr/>
          <p:nvPr/>
        </p:nvSpPr>
        <p:spPr>
          <a:xfrm>
            <a:off x="548640" y="1691640"/>
            <a:ext cx="438912" cy="438912"/>
          </a:xfrm>
          <a:prstGeom prst="ellipse">
            <a:avLst/>
          </a:prstGeom>
          <a:solidFill>
            <a:srgbClr val="93A87B"/>
          </a:solidFill>
          <a:ln/>
        </p:spPr>
        <p:txBody>
          <a:bodyPr wrap="square" lIns="0" tIns="0" rIns="0" bIns="0" rtlCol="0" anchor="ctr"/>
          <a:lstStyle/>
          <a:p>
            <a:pPr algn="ctr" indent="0" marL="0">
              <a:buNone/>
            </a:pPr>
            <a:r>
              <a:rPr lang="en-US" sz="1500" b="1" dirty="0">
                <a:solidFill>
                  <a:srgbClr val="16261D"/>
                </a:solidFill>
              </a:rPr>
              <a:t>1</a:t>
            </a:r>
            <a:endParaRPr lang="en-US" sz="1500" dirty="0"/>
          </a:p>
        </p:txBody>
      </p:sp>
      <p:sp>
        <p:nvSpPr>
          <p:cNvPr id="7" name="Question 39"/>
          <p:cNvSpPr txBox="1"/>
          <p:nvPr/>
        </p:nvSpPr>
        <p:spPr>
          <a:xfrm>
            <a:off x="1188720" y="1463040"/>
            <a:ext cx="4023360" cy="896112"/>
          </a:xfrm>
          <a:prstGeom prst="rect">
            <a:avLst/>
          </a:prstGeom>
          <a:noFill/>
          <a:ln/>
        </p:spPr>
        <p:txBody>
          <a:bodyPr wrap="square" lIns="0" tIns="0" rIns="0" bIns="0" rtlCol="0" anchor="ctr"/>
          <a:lstStyle/>
          <a:p>
            <a:pPr indent="0" marL="0">
              <a:buNone/>
            </a:pPr>
            <a:r>
              <a:rPr lang="en-US" sz="1500" dirty="0">
                <a:solidFill>
                  <a:schemeClr val="bg2"/>
                </a:solidFill>
              </a:rPr>
              <a:t>What is your weekly bookings goal?</a:t>
            </a:r>
            <a:endParaRPr lang="en-US" sz="1500" dirty="0"/>
          </a:p>
        </p:txBody>
      </p:sp>
      <p:sp>
        <p:nvSpPr>
          <p:cNvPr id="8" name="Answer 40"/>
          <p:cNvSpPr/>
          <p:nvPr/>
        </p:nvSpPr>
        <p:spPr>
          <a:xfrm>
            <a:off x="5349240" y="1682496"/>
            <a:ext cx="2423160" cy="457200"/>
          </a:xfrm>
          <a:prstGeom prst="roundRect">
            <a:avLst>
              <a:gd name="adj" fmla="val 48000"/>
            </a:avLst>
          </a:prstGeom>
          <a:solidFill>
            <a:srgbClr val="F5F7F0"/>
          </a:solidFill>
          <a:ln/>
        </p:spPr>
        <p:txBody>
          <a:bodyPr wrap="square" lIns="0" tIns="0" rIns="0" bIns="0" rtlCol="0" anchor="ctr"/>
          <a:lstStyle/>
          <a:p>
            <a:pPr algn="ctr" indent="0" marL="0">
              <a:buNone/>
            </a:pPr>
            <a:r>
              <a:rPr lang="en-US" sz="1400" b="1" dirty="0">
                <a:solidFill>
                  <a:srgbClr val="16261D"/>
                </a:solidFill>
              </a:rPr>
              <a:t>$11,000</a:t>
            </a:r>
            <a:endParaRPr lang="en-US" sz="1400" dirty="0"/>
          </a:p>
        </p:txBody>
      </p:sp>
      <p:sp>
        <p:nvSpPr>
          <p:cNvPr id="9" name="Step 41"/>
          <p:cNvSpPr/>
          <p:nvPr/>
        </p:nvSpPr>
        <p:spPr>
          <a:xfrm>
            <a:off x="365760" y="2542032"/>
            <a:ext cx="7589520" cy="896112"/>
          </a:xfrm>
          <a:prstGeom prst="roundRect">
            <a:avLst>
              <a:gd name="adj" fmla="val 14286"/>
            </a:avLst>
          </a:prstGeom>
          <a:solidFill>
            <a:srgbClr val="1F3529">
              <a:alpha val="80000"/>
            </a:srgbClr>
          </a:solidFill>
          <a:ln w="12700">
            <a:solidFill>
              <a:srgbClr val="93A87B">
                <a:alpha val="30000"/>
              </a:srgbClr>
            </a:solidFill>
            <a:prstDash val="solid"/>
          </a:ln>
          <a:effectLst>
            <a:outerShdw sx="100000" sy="100000" kx="0" ky="0" algn="bl" rotWithShape="0" blurRad="177800" dist="50800" dir="5400000">
              <a:srgbClr val="16261D">
                <a:alpha val="14000"/>
              </a:srgbClr>
            </a:outerShdw>
          </a:effectLst>
        </p:spPr>
      </p:sp>
      <p:sp>
        <p:nvSpPr>
          <p:cNvPr id="10" name="Step number 42"/>
          <p:cNvSpPr/>
          <p:nvPr/>
        </p:nvSpPr>
        <p:spPr>
          <a:xfrm>
            <a:off x="548640" y="2770632"/>
            <a:ext cx="438912" cy="438912"/>
          </a:xfrm>
          <a:prstGeom prst="ellipse">
            <a:avLst/>
          </a:prstGeom>
          <a:solidFill>
            <a:srgbClr val="93A87B"/>
          </a:solidFill>
          <a:ln/>
        </p:spPr>
        <p:txBody>
          <a:bodyPr wrap="square" lIns="0" tIns="0" rIns="0" bIns="0" rtlCol="0" anchor="ctr"/>
          <a:lstStyle/>
          <a:p>
            <a:pPr algn="ctr" indent="0" marL="0">
              <a:buNone/>
            </a:pPr>
            <a:r>
              <a:rPr lang="en-US" sz="1500" b="1" dirty="0">
                <a:solidFill>
                  <a:srgbClr val="16261D"/>
                </a:solidFill>
              </a:rPr>
              <a:t>2</a:t>
            </a:r>
            <a:endParaRPr lang="en-US" sz="1500" dirty="0"/>
          </a:p>
        </p:txBody>
      </p:sp>
      <p:sp>
        <p:nvSpPr>
          <p:cNvPr id="11" name="Question 43"/>
          <p:cNvSpPr txBox="1"/>
          <p:nvPr/>
        </p:nvSpPr>
        <p:spPr>
          <a:xfrm>
            <a:off x="1188720" y="2542032"/>
            <a:ext cx="4023360" cy="896112"/>
          </a:xfrm>
          <a:prstGeom prst="rect">
            <a:avLst/>
          </a:prstGeom>
          <a:noFill/>
          <a:ln/>
        </p:spPr>
        <p:txBody>
          <a:bodyPr wrap="square" lIns="0" tIns="0" rIns="0" bIns="0" rtlCol="0" anchor="ctr"/>
          <a:lstStyle/>
          <a:p>
            <a:pPr indent="0" marL="0">
              <a:buNone/>
            </a:pPr>
            <a:r>
              <a:rPr lang="en-US" sz="1500" dirty="0">
                <a:solidFill>
                  <a:schemeClr val="bg2"/>
                </a:solidFill>
              </a:rPr>
              <a:t>What % of all opportunities do you win </a:t>
            </a:r>
            <a:pPr indent="0" marL="0">
              <a:buNone/>
            </a:pPr>
            <a:r>
              <a:rPr lang="en-US" sz="1500" b="1" u="sng" dirty="0">
                <a:solidFill>
                  <a:schemeClr val="bg2"/>
                </a:solidFill>
              </a:rPr>
              <a:t>on time</a:t>
            </a:r>
            <a:pPr indent="0" marL="0">
              <a:buNone/>
            </a:pPr>
            <a:r>
              <a:rPr lang="en-US" sz="1500" dirty="0">
                <a:solidFill>
                  <a:schemeClr val="bg2"/>
                </a:solidFill>
              </a:rPr>
              <a:t>?</a:t>
            </a:r>
            <a:endParaRPr lang="en-US" sz="1500" dirty="0"/>
          </a:p>
        </p:txBody>
      </p:sp>
      <p:sp>
        <p:nvSpPr>
          <p:cNvPr id="12" name="Answer 44"/>
          <p:cNvSpPr/>
          <p:nvPr/>
        </p:nvSpPr>
        <p:spPr>
          <a:xfrm>
            <a:off x="5349240" y="2761488"/>
            <a:ext cx="2423160" cy="457200"/>
          </a:xfrm>
          <a:prstGeom prst="roundRect">
            <a:avLst>
              <a:gd name="adj" fmla="val 48000"/>
            </a:avLst>
          </a:prstGeom>
          <a:solidFill>
            <a:srgbClr val="F5F7F0"/>
          </a:solidFill>
          <a:ln/>
        </p:spPr>
        <p:txBody>
          <a:bodyPr wrap="square" lIns="0" tIns="0" rIns="0" bIns="0" rtlCol="0" anchor="ctr"/>
          <a:lstStyle/>
          <a:p>
            <a:pPr algn="ctr" indent="0" marL="0">
              <a:buNone/>
            </a:pPr>
            <a:r>
              <a:rPr lang="en-US" sz="1400" b="1" dirty="0">
                <a:solidFill>
                  <a:srgbClr val="16261D"/>
                </a:solidFill>
              </a:rPr>
              <a:t>25%</a:t>
            </a:r>
            <a:endParaRPr lang="en-US" sz="1400" dirty="0"/>
          </a:p>
        </p:txBody>
      </p:sp>
      <p:sp>
        <p:nvSpPr>
          <p:cNvPr id="13" name="Step 45"/>
          <p:cNvSpPr/>
          <p:nvPr/>
        </p:nvSpPr>
        <p:spPr>
          <a:xfrm>
            <a:off x="365760" y="3621024"/>
            <a:ext cx="7589520" cy="896112"/>
          </a:xfrm>
          <a:prstGeom prst="roundRect">
            <a:avLst>
              <a:gd name="adj" fmla="val 14286"/>
            </a:avLst>
          </a:prstGeom>
          <a:solidFill>
            <a:srgbClr val="1F3529">
              <a:alpha val="80000"/>
            </a:srgbClr>
          </a:solidFill>
          <a:ln w="12700">
            <a:solidFill>
              <a:srgbClr val="93A87B">
                <a:alpha val="30000"/>
              </a:srgbClr>
            </a:solidFill>
            <a:prstDash val="solid"/>
          </a:ln>
          <a:effectLst>
            <a:outerShdw sx="100000" sy="100000" kx="0" ky="0" algn="bl" rotWithShape="0" blurRad="177800" dist="50800" dir="5400000">
              <a:srgbClr val="16261D">
                <a:alpha val="14000"/>
              </a:srgbClr>
            </a:outerShdw>
          </a:effectLst>
        </p:spPr>
      </p:sp>
      <p:sp>
        <p:nvSpPr>
          <p:cNvPr id="14" name="Step number 46"/>
          <p:cNvSpPr/>
          <p:nvPr/>
        </p:nvSpPr>
        <p:spPr>
          <a:xfrm>
            <a:off x="548640" y="3849624"/>
            <a:ext cx="438912" cy="438912"/>
          </a:xfrm>
          <a:prstGeom prst="ellipse">
            <a:avLst/>
          </a:prstGeom>
          <a:solidFill>
            <a:srgbClr val="93A87B"/>
          </a:solidFill>
          <a:ln/>
        </p:spPr>
        <p:txBody>
          <a:bodyPr wrap="square" lIns="0" tIns="0" rIns="0" bIns="0" rtlCol="0" anchor="ctr"/>
          <a:lstStyle/>
          <a:p>
            <a:pPr algn="ctr" indent="0" marL="0">
              <a:buNone/>
            </a:pPr>
            <a:r>
              <a:rPr lang="en-US" sz="1500" b="1" dirty="0">
                <a:solidFill>
                  <a:srgbClr val="16261D"/>
                </a:solidFill>
              </a:rPr>
              <a:t>3</a:t>
            </a:r>
            <a:endParaRPr lang="en-US" sz="1500" dirty="0"/>
          </a:p>
        </p:txBody>
      </p:sp>
      <p:sp>
        <p:nvSpPr>
          <p:cNvPr id="15" name="Question 47"/>
          <p:cNvSpPr txBox="1"/>
          <p:nvPr/>
        </p:nvSpPr>
        <p:spPr>
          <a:xfrm>
            <a:off x="1188720" y="3621024"/>
            <a:ext cx="4023360" cy="896112"/>
          </a:xfrm>
          <a:prstGeom prst="rect">
            <a:avLst/>
          </a:prstGeom>
          <a:noFill/>
          <a:ln/>
        </p:spPr>
        <p:txBody>
          <a:bodyPr wrap="square" lIns="0" tIns="0" rIns="0" bIns="0" rtlCol="0" anchor="ctr"/>
          <a:lstStyle/>
          <a:p>
            <a:pPr indent="0" marL="0">
              <a:buNone/>
            </a:pPr>
            <a:r>
              <a:rPr lang="en-US" sz="1500" dirty="0">
                <a:solidFill>
                  <a:schemeClr val="bg2"/>
                </a:solidFill>
              </a:rPr>
              <a:t>How much pipeline do you need to create each week?</a:t>
            </a:r>
            <a:endParaRPr lang="en-US" sz="1500" dirty="0"/>
          </a:p>
        </p:txBody>
      </p:sp>
      <p:sp>
        <p:nvSpPr>
          <p:cNvPr id="16" name="Answer 48"/>
          <p:cNvSpPr/>
          <p:nvPr/>
        </p:nvSpPr>
        <p:spPr>
          <a:xfrm>
            <a:off x="5349240" y="3840480"/>
            <a:ext cx="2423160" cy="457200"/>
          </a:xfrm>
          <a:prstGeom prst="roundRect">
            <a:avLst>
              <a:gd name="adj" fmla="val 48000"/>
            </a:avLst>
          </a:prstGeom>
          <a:solidFill>
            <a:srgbClr val="F5F7F0"/>
          </a:solidFill>
          <a:ln/>
        </p:spPr>
        <p:txBody>
          <a:bodyPr wrap="square" lIns="0" tIns="0" rIns="0" bIns="0" rtlCol="0" anchor="ctr"/>
          <a:lstStyle/>
          <a:p>
            <a:pPr algn="ctr" indent="0" marL="0">
              <a:buNone/>
            </a:pPr>
            <a:r>
              <a:rPr lang="en-US" sz="1400" b="1" dirty="0">
                <a:solidFill>
                  <a:srgbClr val="16261D"/>
                </a:solidFill>
              </a:rPr>
              <a:t>$11,000 ÷ 25% ≈ $44,000</a:t>
            </a:r>
            <a:endParaRPr lang="en-US" sz="1400" dirty="0"/>
          </a:p>
        </p:txBody>
      </p:sp>
      <p:sp>
        <p:nvSpPr>
          <p:cNvPr id="17" name="Step 49"/>
          <p:cNvSpPr/>
          <p:nvPr/>
        </p:nvSpPr>
        <p:spPr>
          <a:xfrm>
            <a:off x="365760" y="4700016"/>
            <a:ext cx="7589520" cy="896112"/>
          </a:xfrm>
          <a:prstGeom prst="roundRect">
            <a:avLst>
              <a:gd name="adj" fmla="val 14286"/>
            </a:avLst>
          </a:prstGeom>
          <a:solidFill>
            <a:srgbClr val="1F3529">
              <a:alpha val="80000"/>
            </a:srgbClr>
          </a:solidFill>
          <a:ln w="12700">
            <a:solidFill>
              <a:srgbClr val="93A87B">
                <a:alpha val="30000"/>
              </a:srgbClr>
            </a:solidFill>
            <a:prstDash val="solid"/>
          </a:ln>
          <a:effectLst>
            <a:outerShdw sx="100000" sy="100000" kx="0" ky="0" algn="bl" rotWithShape="0" blurRad="177800" dist="50800" dir="5400000">
              <a:srgbClr val="16261D">
                <a:alpha val="14000"/>
              </a:srgbClr>
            </a:outerShdw>
          </a:effectLst>
        </p:spPr>
      </p:sp>
      <p:sp>
        <p:nvSpPr>
          <p:cNvPr id="18" name="Step number 50"/>
          <p:cNvSpPr/>
          <p:nvPr/>
        </p:nvSpPr>
        <p:spPr>
          <a:xfrm>
            <a:off x="548640" y="4928616"/>
            <a:ext cx="438912" cy="438912"/>
          </a:xfrm>
          <a:prstGeom prst="ellipse">
            <a:avLst/>
          </a:prstGeom>
          <a:solidFill>
            <a:srgbClr val="93A87B"/>
          </a:solidFill>
          <a:ln/>
        </p:spPr>
        <p:txBody>
          <a:bodyPr wrap="square" lIns="0" tIns="0" rIns="0" bIns="0" rtlCol="0" anchor="ctr"/>
          <a:lstStyle/>
          <a:p>
            <a:pPr algn="ctr" indent="0" marL="0">
              <a:buNone/>
            </a:pPr>
            <a:r>
              <a:rPr lang="en-US" sz="1500" b="1" dirty="0">
                <a:solidFill>
                  <a:srgbClr val="16261D"/>
                </a:solidFill>
              </a:rPr>
              <a:t>4</a:t>
            </a:r>
            <a:endParaRPr lang="en-US" sz="1500" dirty="0"/>
          </a:p>
        </p:txBody>
      </p:sp>
      <p:sp>
        <p:nvSpPr>
          <p:cNvPr id="19" name="Question 51"/>
          <p:cNvSpPr txBox="1"/>
          <p:nvPr/>
        </p:nvSpPr>
        <p:spPr>
          <a:xfrm>
            <a:off x="1188720" y="4700016"/>
            <a:ext cx="4023360" cy="896112"/>
          </a:xfrm>
          <a:prstGeom prst="rect">
            <a:avLst/>
          </a:prstGeom>
          <a:noFill/>
          <a:ln/>
        </p:spPr>
        <p:txBody>
          <a:bodyPr wrap="square" lIns="0" tIns="0" rIns="0" bIns="0" rtlCol="0" anchor="ctr"/>
          <a:lstStyle/>
          <a:p>
            <a:pPr indent="0" marL="0">
              <a:buNone/>
            </a:pPr>
            <a:r>
              <a:rPr lang="en-US" sz="1500" dirty="0">
                <a:solidFill>
                  <a:schemeClr val="bg2"/>
                </a:solidFill>
              </a:rPr>
              <a:t>With an average deal of $5,500, how many deals do you need each week?</a:t>
            </a:r>
            <a:endParaRPr lang="en-US" sz="1500" dirty="0"/>
          </a:p>
        </p:txBody>
      </p:sp>
      <p:sp>
        <p:nvSpPr>
          <p:cNvPr id="20" name="Answer 52"/>
          <p:cNvSpPr/>
          <p:nvPr/>
        </p:nvSpPr>
        <p:spPr>
          <a:xfrm>
            <a:off x="5349240" y="4919472"/>
            <a:ext cx="2423160" cy="457200"/>
          </a:xfrm>
          <a:prstGeom prst="roundRect">
            <a:avLst>
              <a:gd name="adj" fmla="val 48000"/>
            </a:avLst>
          </a:prstGeom>
          <a:solidFill>
            <a:srgbClr val="F5F7F0"/>
          </a:solidFill>
          <a:ln/>
        </p:spPr>
        <p:txBody>
          <a:bodyPr wrap="square" lIns="0" tIns="0" rIns="0" bIns="0" rtlCol="0" anchor="ctr"/>
          <a:lstStyle/>
          <a:p>
            <a:pPr algn="ctr" indent="0" marL="0">
              <a:buNone/>
            </a:pPr>
            <a:r>
              <a:rPr lang="en-US" sz="1400" b="1" dirty="0">
                <a:solidFill>
                  <a:srgbClr val="16261D"/>
                </a:solidFill>
              </a:rPr>
              <a:t>$44,000 ÷ $5,500 = 8</a:t>
            </a:r>
            <a:endParaRPr lang="en-US" sz="1400" dirty="0"/>
          </a:p>
        </p:txBody>
      </p:sp>
      <p:sp>
        <p:nvSpPr>
          <p:cNvPr id="21" name="Result 53"/>
          <p:cNvSpPr/>
          <p:nvPr/>
        </p:nvSpPr>
        <p:spPr>
          <a:xfrm>
            <a:off x="8321040" y="1463040"/>
            <a:ext cx="3502152" cy="4133088"/>
          </a:xfrm>
          <a:prstGeom prst="roundRect">
            <a:avLst>
              <a:gd name="adj" fmla="val 3655"/>
            </a:avLst>
          </a:prstGeom>
          <a:solidFill>
            <a:srgbClr val="F5F7F0"/>
          </a:solidFill>
          <a:ln/>
          <a:effectLst>
            <a:outerShdw sx="100000" sy="100000" kx="0" ky="0" algn="bl" rotWithShape="0" blurRad="304800" dist="50800" dir="5400000">
              <a:srgbClr val="16261D">
                <a:alpha val="35000"/>
              </a:srgbClr>
            </a:outerShdw>
          </a:effectLst>
        </p:spPr>
      </p:sp>
      <p:sp>
        <p:nvSpPr>
          <p:cNvPr id="22" name="Result text"/>
          <p:cNvSpPr txBox="1"/>
          <p:nvPr/>
        </p:nvSpPr>
        <p:spPr>
          <a:xfrm>
            <a:off x="8595360" y="1645920"/>
            <a:ext cx="2971800" cy="3749040"/>
          </a:xfrm>
          <a:prstGeom prst="rect">
            <a:avLst/>
          </a:prstGeom>
          <a:noFill/>
          <a:ln/>
        </p:spPr>
        <p:txBody>
          <a:bodyPr wrap="square" lIns="0" tIns="0" rIns="0" bIns="0" rtlCol="0" anchor="ctr"/>
          <a:lstStyle/>
          <a:p>
            <a:pPr algn="ctr" indent="0" marL="0">
              <a:buNone/>
            </a:pPr>
            <a:r>
              <a:rPr lang="en-US" sz="12000" dirty="0">
                <a:solidFill>
                  <a:srgbClr val="16261D"/>
                </a:solidFill>
                <a:latin typeface="Georgia" pitchFamily="34" charset="0"/>
                <a:ea typeface="Georgia" pitchFamily="34" charset="-122"/>
                <a:cs typeface="Georgia" pitchFamily="34" charset="-120"/>
              </a:rPr>
              <a:t>8</a:t>
            </a:r>
            <a:endParaRPr lang="en-US" sz="12000" dirty="0"/>
          </a:p>
          <a:p>
            <a:pPr algn="ctr" indent="0" marL="0">
              <a:buNone/>
            </a:pPr>
            <a:r>
              <a:rPr lang="en-US" sz="1800" b="1" dirty="0">
                <a:solidFill>
                  <a:srgbClr val="16261D"/>
                </a:solidFill>
              </a:rPr>
              <a:t>deals to win every week</a:t>
            </a:r>
            <a:endParaRPr lang="en-US" sz="12000" dirty="0"/>
          </a:p>
          <a:p>
            <a:pPr algn="ctr" indent="0" marL="0">
              <a:buNone/>
            </a:pPr>
            <a:r>
              <a:rPr lang="en-US" sz="1300" dirty="0">
                <a:solidFill>
                  <a:srgbClr val="56604E"/>
                </a:solidFill>
              </a:rPr>
              <a:t>One number every seller can check on Monday morning.</a:t>
            </a:r>
            <a:endParaRPr lang="en-US" sz="1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02  ·  TARGETING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Targeting: four pillars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Pillar 54"/>
          <p:cNvSpPr/>
          <p:nvPr/>
        </p:nvSpPr>
        <p:spPr>
          <a:xfrm>
            <a:off x="365760" y="1417320"/>
            <a:ext cx="2697480" cy="38862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6" name="Icon badge 55"/>
          <p:cNvSpPr/>
          <p:nvPr/>
        </p:nvSpPr>
        <p:spPr>
          <a:xfrm>
            <a:off x="621792" y="1673352"/>
            <a:ext cx="658368" cy="658368"/>
          </a:xfrm>
          <a:prstGeom prst="ellipse">
            <a:avLst/>
          </a:prstGeom>
          <a:solidFill>
            <a:srgbClr val="1F3529"/>
          </a:solidFill>
          <a:ln/>
        </p:spPr>
      </p:sp>
      <p:pic>
        <p:nvPicPr>
          <p:cNvPr id="7" name="Image 0" descr="ChartBar icon">    </p:cNvPr>
          <p:cNvPicPr>
            <a:picLocks noChangeAspect="1"/>
          </p:cNvPicPr>
          <p:nvPr/>
        </p:nvPicPr>
        <p:blipFill>
          <a:blip r:embed="rId1"/>
          <a:stretch>
            <a:fillRect/>
          </a:stretch>
        </p:blipFill>
        <p:spPr>
          <a:xfrm>
            <a:off x="766633" y="1818193"/>
            <a:ext cx="368686" cy="368686"/>
          </a:xfrm>
          <a:prstGeom prst="rect">
            <a:avLst/>
          </a:prstGeom>
        </p:spPr>
      </p:pic>
      <p:sp>
        <p:nvSpPr>
          <p:cNvPr id="8" name="Pillar name 56"/>
          <p:cNvSpPr txBox="1"/>
          <p:nvPr/>
        </p:nvSpPr>
        <p:spPr>
          <a:xfrm>
            <a:off x="621792" y="2514600"/>
            <a:ext cx="2240280" cy="411480"/>
          </a:xfrm>
          <a:prstGeom prst="rect">
            <a:avLst/>
          </a:prstGeom>
          <a:noFill/>
          <a:ln/>
        </p:spPr>
        <p:txBody>
          <a:bodyPr wrap="square" lIns="0" tIns="0" rIns="0" bIns="0" rtlCol="0" anchor="ctr"/>
          <a:lstStyle/>
          <a:p>
            <a:pPr indent="0" marL="0">
              <a:buNone/>
            </a:pPr>
            <a:r>
              <a:rPr lang="en-US" sz="1800" b="1" dirty="0">
                <a:solidFill>
                  <a:schemeClr val="tx1"/>
                </a:solidFill>
              </a:rPr>
              <a:t>Lead score</a:t>
            </a:r>
            <a:endParaRPr lang="en-US" sz="1800" dirty="0"/>
          </a:p>
        </p:txBody>
      </p:sp>
      <p:sp>
        <p:nvSpPr>
          <p:cNvPr id="9" name="Pillar body 57"/>
          <p:cNvSpPr txBox="1"/>
          <p:nvPr/>
        </p:nvSpPr>
        <p:spPr>
          <a:xfrm>
            <a:off x="621792" y="2971800"/>
            <a:ext cx="2240280" cy="1325880"/>
          </a:xfrm>
          <a:prstGeom prst="rect">
            <a:avLst/>
          </a:prstGeom>
          <a:noFill/>
          <a:ln/>
        </p:spPr>
        <p:txBody>
          <a:bodyPr wrap="square" lIns="0" tIns="0" rIns="0" bIns="0" rtlCol="0" anchor="t"/>
          <a:lstStyle/>
          <a:p>
            <a:pPr indent="0" marL="0">
              <a:buNone/>
            </a:pPr>
            <a:r>
              <a:rPr lang="en-US" sz="1300" dirty="0">
                <a:solidFill>
                  <a:schemeClr val="accent3"/>
                </a:solidFill>
              </a:rPr>
              <a:t>Combines individual scores that measure how people interact with your marketing content.</a:t>
            </a:r>
            <a:endParaRPr lang="en-US" sz="1300" dirty="0"/>
          </a:p>
        </p:txBody>
      </p:sp>
      <p:sp>
        <p:nvSpPr>
          <p:cNvPr id="10" name="Tools label 58"/>
          <p:cNvSpPr txBox="1"/>
          <p:nvPr/>
        </p:nvSpPr>
        <p:spPr>
          <a:xfrm>
            <a:off x="621792" y="4434840"/>
            <a:ext cx="1371600" cy="228600"/>
          </a:xfrm>
          <a:prstGeom prst="rect">
            <a:avLst/>
          </a:prstGeom>
          <a:noFill/>
          <a:ln/>
        </p:spPr>
        <p:txBody>
          <a:bodyPr wrap="square" lIns="0" tIns="0" rIns="0" bIns="0" rtlCol="0" anchor="ctr"/>
          <a:lstStyle/>
          <a:p>
            <a:pPr indent="0" marL="0">
              <a:buNone/>
            </a:pPr>
            <a:r>
              <a:rPr lang="en-US" sz="900" b="1" spc="200" kern="0" dirty="0">
                <a:solidFill>
                  <a:schemeClr val="accent3"/>
                </a:solidFill>
              </a:rPr>
              <a:t>TOOLS</a:t>
            </a:r>
            <a:endParaRPr lang="en-US" sz="900" dirty="0"/>
          </a:p>
        </p:txBody>
      </p:sp>
      <p:sp>
        <p:nvSpPr>
          <p:cNvPr id="11" name="Tool 59"/>
          <p:cNvSpPr/>
          <p:nvPr/>
        </p:nvSpPr>
        <p:spPr>
          <a:xfrm>
            <a:off x="621792"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HubSpot</a:t>
            </a:r>
            <a:endParaRPr lang="en-US" sz="1100" dirty="0"/>
          </a:p>
        </p:txBody>
      </p:sp>
      <p:sp>
        <p:nvSpPr>
          <p:cNvPr id="12" name="Tool 60"/>
          <p:cNvSpPr/>
          <p:nvPr/>
        </p:nvSpPr>
        <p:spPr>
          <a:xfrm>
            <a:off x="1764792"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Marketo</a:t>
            </a:r>
            <a:endParaRPr lang="en-US" sz="1100" dirty="0"/>
          </a:p>
        </p:txBody>
      </p:sp>
      <p:sp>
        <p:nvSpPr>
          <p:cNvPr id="13" name="Pillar 61"/>
          <p:cNvSpPr/>
          <p:nvPr/>
        </p:nvSpPr>
        <p:spPr>
          <a:xfrm>
            <a:off x="3264408" y="1417320"/>
            <a:ext cx="2697480" cy="38862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14" name="Icon badge 62"/>
          <p:cNvSpPr/>
          <p:nvPr/>
        </p:nvSpPr>
        <p:spPr>
          <a:xfrm>
            <a:off x="3520440" y="1673352"/>
            <a:ext cx="658368" cy="658368"/>
          </a:xfrm>
          <a:prstGeom prst="ellipse">
            <a:avLst/>
          </a:prstGeom>
          <a:solidFill>
            <a:srgbClr val="1F3529"/>
          </a:solidFill>
          <a:ln/>
        </p:spPr>
      </p:sp>
      <p:pic>
        <p:nvPicPr>
          <p:cNvPr id="15" name="Image 1" descr="Radar2 icon">    </p:cNvPr>
          <p:cNvPicPr>
            <a:picLocks noChangeAspect="1"/>
          </p:cNvPicPr>
          <p:nvPr/>
        </p:nvPicPr>
        <p:blipFill>
          <a:blip r:embed="rId2"/>
          <a:stretch>
            <a:fillRect/>
          </a:stretch>
        </p:blipFill>
        <p:spPr>
          <a:xfrm>
            <a:off x="3665281" y="1818193"/>
            <a:ext cx="368686" cy="368686"/>
          </a:xfrm>
          <a:prstGeom prst="rect">
            <a:avLst/>
          </a:prstGeom>
        </p:spPr>
      </p:pic>
      <p:sp>
        <p:nvSpPr>
          <p:cNvPr id="16" name="Pillar name 63"/>
          <p:cNvSpPr txBox="1"/>
          <p:nvPr/>
        </p:nvSpPr>
        <p:spPr>
          <a:xfrm>
            <a:off x="3520440" y="2514600"/>
            <a:ext cx="2240280" cy="411480"/>
          </a:xfrm>
          <a:prstGeom prst="rect">
            <a:avLst/>
          </a:prstGeom>
          <a:noFill/>
          <a:ln/>
        </p:spPr>
        <p:txBody>
          <a:bodyPr wrap="square" lIns="0" tIns="0" rIns="0" bIns="0" rtlCol="0" anchor="ctr"/>
          <a:lstStyle/>
          <a:p>
            <a:pPr indent="0" marL="0">
              <a:buNone/>
            </a:pPr>
            <a:r>
              <a:rPr lang="en-US" sz="1800" b="1" dirty="0">
                <a:solidFill>
                  <a:schemeClr val="tx1"/>
                </a:solidFill>
              </a:rPr>
              <a:t>Intent data</a:t>
            </a:r>
            <a:endParaRPr lang="en-US" sz="1800" dirty="0"/>
          </a:p>
        </p:txBody>
      </p:sp>
      <p:sp>
        <p:nvSpPr>
          <p:cNvPr id="17" name="Pillar body 64"/>
          <p:cNvSpPr txBox="1"/>
          <p:nvPr/>
        </p:nvSpPr>
        <p:spPr>
          <a:xfrm>
            <a:off x="3520440" y="2971800"/>
            <a:ext cx="2240280" cy="1325880"/>
          </a:xfrm>
          <a:prstGeom prst="rect">
            <a:avLst/>
          </a:prstGeom>
          <a:noFill/>
          <a:ln/>
        </p:spPr>
        <p:txBody>
          <a:bodyPr wrap="square" lIns="0" tIns="0" rIns="0" bIns="0" rtlCol="0" anchor="t"/>
          <a:lstStyle/>
          <a:p>
            <a:pPr indent="0" marL="0">
              <a:buNone/>
            </a:pPr>
            <a:r>
              <a:rPr lang="en-US" sz="1300" dirty="0">
                <a:solidFill>
                  <a:schemeClr val="accent3"/>
                </a:solidFill>
              </a:rPr>
              <a:t>Built from content consumed outside your own channels but related to your offer, such as software review sites.</a:t>
            </a:r>
            <a:endParaRPr lang="en-US" sz="1300" dirty="0"/>
          </a:p>
        </p:txBody>
      </p:sp>
      <p:sp>
        <p:nvSpPr>
          <p:cNvPr id="18" name="Tools label 65"/>
          <p:cNvSpPr txBox="1"/>
          <p:nvPr/>
        </p:nvSpPr>
        <p:spPr>
          <a:xfrm>
            <a:off x="3520440" y="4434840"/>
            <a:ext cx="1371600" cy="228600"/>
          </a:xfrm>
          <a:prstGeom prst="rect">
            <a:avLst/>
          </a:prstGeom>
          <a:noFill/>
          <a:ln/>
        </p:spPr>
        <p:txBody>
          <a:bodyPr wrap="square" lIns="0" tIns="0" rIns="0" bIns="0" rtlCol="0" anchor="ctr"/>
          <a:lstStyle/>
          <a:p>
            <a:pPr indent="0" marL="0">
              <a:buNone/>
            </a:pPr>
            <a:r>
              <a:rPr lang="en-US" sz="900" b="1" spc="200" kern="0" dirty="0">
                <a:solidFill>
                  <a:schemeClr val="accent3"/>
                </a:solidFill>
              </a:rPr>
              <a:t>TOOLS</a:t>
            </a:r>
            <a:endParaRPr lang="en-US" sz="900" dirty="0"/>
          </a:p>
        </p:txBody>
      </p:sp>
      <p:sp>
        <p:nvSpPr>
          <p:cNvPr id="19" name="Tool 66"/>
          <p:cNvSpPr/>
          <p:nvPr/>
        </p:nvSpPr>
        <p:spPr>
          <a:xfrm>
            <a:off x="3520440"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6sense</a:t>
            </a:r>
            <a:endParaRPr lang="en-US" sz="1100" dirty="0"/>
          </a:p>
        </p:txBody>
      </p:sp>
      <p:sp>
        <p:nvSpPr>
          <p:cNvPr id="20" name="Tool 67"/>
          <p:cNvSpPr/>
          <p:nvPr/>
        </p:nvSpPr>
        <p:spPr>
          <a:xfrm>
            <a:off x="4663440"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Demandbase</a:t>
            </a:r>
            <a:endParaRPr lang="en-US" sz="1100" dirty="0"/>
          </a:p>
        </p:txBody>
      </p:sp>
      <p:sp>
        <p:nvSpPr>
          <p:cNvPr id="21" name="Pillar 68"/>
          <p:cNvSpPr/>
          <p:nvPr/>
        </p:nvSpPr>
        <p:spPr>
          <a:xfrm>
            <a:off x="6163056" y="1417320"/>
            <a:ext cx="2697480" cy="38862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22" name="Icon badge 69"/>
          <p:cNvSpPr/>
          <p:nvPr/>
        </p:nvSpPr>
        <p:spPr>
          <a:xfrm>
            <a:off x="6419088" y="1673352"/>
            <a:ext cx="658368" cy="658368"/>
          </a:xfrm>
          <a:prstGeom prst="ellipse">
            <a:avLst/>
          </a:prstGeom>
          <a:solidFill>
            <a:srgbClr val="1F3529"/>
          </a:solidFill>
          <a:ln/>
        </p:spPr>
      </p:sp>
      <p:pic>
        <p:nvPicPr>
          <p:cNvPr id="23" name="Image 2" descr="MapPin icon">    </p:cNvPr>
          <p:cNvPicPr>
            <a:picLocks noChangeAspect="1"/>
          </p:cNvPicPr>
          <p:nvPr/>
        </p:nvPicPr>
        <p:blipFill>
          <a:blip r:embed="rId3"/>
          <a:stretch>
            <a:fillRect/>
          </a:stretch>
        </p:blipFill>
        <p:spPr>
          <a:xfrm>
            <a:off x="6563929" y="1818193"/>
            <a:ext cx="368686" cy="368686"/>
          </a:xfrm>
          <a:prstGeom prst="rect">
            <a:avLst/>
          </a:prstGeom>
        </p:spPr>
      </p:pic>
      <p:sp>
        <p:nvSpPr>
          <p:cNvPr id="24" name="Pillar name 70"/>
          <p:cNvSpPr txBox="1"/>
          <p:nvPr/>
        </p:nvSpPr>
        <p:spPr>
          <a:xfrm>
            <a:off x="6419088" y="2514600"/>
            <a:ext cx="2240280" cy="411480"/>
          </a:xfrm>
          <a:prstGeom prst="rect">
            <a:avLst/>
          </a:prstGeom>
          <a:noFill/>
          <a:ln/>
        </p:spPr>
        <p:txBody>
          <a:bodyPr wrap="square" lIns="0" tIns="0" rIns="0" bIns="0" rtlCol="0" anchor="ctr"/>
          <a:lstStyle/>
          <a:p>
            <a:pPr indent="0" marL="0">
              <a:buNone/>
            </a:pPr>
            <a:r>
              <a:rPr lang="en-US" sz="1800" b="1" dirty="0">
                <a:solidFill>
                  <a:schemeClr val="tx1"/>
                </a:solidFill>
              </a:rPr>
              <a:t>Whitespace</a:t>
            </a:r>
            <a:endParaRPr lang="en-US" sz="1800" dirty="0"/>
          </a:p>
        </p:txBody>
      </p:sp>
      <p:sp>
        <p:nvSpPr>
          <p:cNvPr id="25" name="Pillar body 71"/>
          <p:cNvSpPr txBox="1"/>
          <p:nvPr/>
        </p:nvSpPr>
        <p:spPr>
          <a:xfrm>
            <a:off x="6419088" y="2971800"/>
            <a:ext cx="2240280" cy="1325880"/>
          </a:xfrm>
          <a:prstGeom prst="rect">
            <a:avLst/>
          </a:prstGeom>
          <a:noFill/>
          <a:ln/>
        </p:spPr>
        <p:txBody>
          <a:bodyPr wrap="square" lIns="0" tIns="0" rIns="0" bIns="0" rtlCol="0" anchor="t"/>
          <a:lstStyle/>
          <a:p>
            <a:pPr indent="0" marL="0">
              <a:buNone/>
            </a:pPr>
            <a:r>
              <a:rPr lang="en-US" sz="1300" dirty="0">
                <a:solidFill>
                  <a:schemeClr val="accent3"/>
                </a:solidFill>
              </a:rPr>
              <a:t>A sense of an account’s sales potential. Usually, bigger is better.</a:t>
            </a:r>
            <a:endParaRPr lang="en-US" sz="1300" dirty="0"/>
          </a:p>
        </p:txBody>
      </p:sp>
      <p:sp>
        <p:nvSpPr>
          <p:cNvPr id="26" name="Tools label 72"/>
          <p:cNvSpPr txBox="1"/>
          <p:nvPr/>
        </p:nvSpPr>
        <p:spPr>
          <a:xfrm>
            <a:off x="6419088" y="4434840"/>
            <a:ext cx="1371600" cy="228600"/>
          </a:xfrm>
          <a:prstGeom prst="rect">
            <a:avLst/>
          </a:prstGeom>
          <a:noFill/>
          <a:ln/>
        </p:spPr>
        <p:txBody>
          <a:bodyPr wrap="square" lIns="0" tIns="0" rIns="0" bIns="0" rtlCol="0" anchor="ctr"/>
          <a:lstStyle/>
          <a:p>
            <a:pPr indent="0" marL="0">
              <a:buNone/>
            </a:pPr>
            <a:r>
              <a:rPr lang="en-US" sz="900" b="1" spc="200" kern="0" dirty="0">
                <a:solidFill>
                  <a:schemeClr val="accent3"/>
                </a:solidFill>
              </a:rPr>
              <a:t>TOOLS</a:t>
            </a:r>
            <a:endParaRPr lang="en-US" sz="900" dirty="0"/>
          </a:p>
        </p:txBody>
      </p:sp>
      <p:sp>
        <p:nvSpPr>
          <p:cNvPr id="27" name="Tool 73"/>
          <p:cNvSpPr/>
          <p:nvPr/>
        </p:nvSpPr>
        <p:spPr>
          <a:xfrm>
            <a:off x="6419088"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Hg Retina</a:t>
            </a:r>
            <a:endParaRPr lang="en-US" sz="1100" dirty="0"/>
          </a:p>
        </p:txBody>
      </p:sp>
      <p:sp>
        <p:nvSpPr>
          <p:cNvPr id="28" name="Tool 74"/>
          <p:cNvSpPr/>
          <p:nvPr/>
        </p:nvSpPr>
        <p:spPr>
          <a:xfrm>
            <a:off x="7562088"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CaPDB</a:t>
            </a:r>
            <a:endParaRPr lang="en-US" sz="1100" dirty="0"/>
          </a:p>
        </p:txBody>
      </p:sp>
      <p:sp>
        <p:nvSpPr>
          <p:cNvPr id="29" name="Pillar 75"/>
          <p:cNvSpPr/>
          <p:nvPr/>
        </p:nvSpPr>
        <p:spPr>
          <a:xfrm>
            <a:off x="9061704" y="1417320"/>
            <a:ext cx="2697480" cy="38862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30" name="Icon badge 76"/>
          <p:cNvSpPr/>
          <p:nvPr/>
        </p:nvSpPr>
        <p:spPr>
          <a:xfrm>
            <a:off x="9317736" y="1673352"/>
            <a:ext cx="658368" cy="658368"/>
          </a:xfrm>
          <a:prstGeom prst="ellipse">
            <a:avLst/>
          </a:prstGeom>
          <a:solidFill>
            <a:srgbClr val="1F3529"/>
          </a:solidFill>
          <a:ln/>
        </p:spPr>
      </p:sp>
      <p:pic>
        <p:nvPicPr>
          <p:cNvPr id="31" name="Image 3" descr="Checklist icon">    </p:cNvPr>
          <p:cNvPicPr>
            <a:picLocks noChangeAspect="1"/>
          </p:cNvPicPr>
          <p:nvPr/>
        </p:nvPicPr>
        <p:blipFill>
          <a:blip r:embed="rId4"/>
          <a:stretch>
            <a:fillRect/>
          </a:stretch>
        </p:blipFill>
        <p:spPr>
          <a:xfrm>
            <a:off x="9462577" y="1818193"/>
            <a:ext cx="368686" cy="368686"/>
          </a:xfrm>
          <a:prstGeom prst="rect">
            <a:avLst/>
          </a:prstGeom>
        </p:spPr>
      </p:pic>
      <p:sp>
        <p:nvSpPr>
          <p:cNvPr id="32" name="Pillar name 77"/>
          <p:cNvSpPr txBox="1"/>
          <p:nvPr/>
        </p:nvSpPr>
        <p:spPr>
          <a:xfrm>
            <a:off x="9317736" y="2514600"/>
            <a:ext cx="2240280" cy="411480"/>
          </a:xfrm>
          <a:prstGeom prst="rect">
            <a:avLst/>
          </a:prstGeom>
          <a:noFill/>
          <a:ln/>
        </p:spPr>
        <p:txBody>
          <a:bodyPr wrap="square" lIns="0" tIns="0" rIns="0" bIns="0" rtlCol="0" anchor="ctr"/>
          <a:lstStyle/>
          <a:p>
            <a:pPr indent="0" marL="0">
              <a:buNone/>
            </a:pPr>
            <a:r>
              <a:rPr lang="en-US" sz="1800" b="1" dirty="0">
                <a:solidFill>
                  <a:schemeClr val="tx1"/>
                </a:solidFill>
              </a:rPr>
              <a:t>ICP grading</a:t>
            </a:r>
            <a:endParaRPr lang="en-US" sz="1800" dirty="0"/>
          </a:p>
        </p:txBody>
      </p:sp>
      <p:sp>
        <p:nvSpPr>
          <p:cNvPr id="33" name="Pillar body 78"/>
          <p:cNvSpPr txBox="1"/>
          <p:nvPr/>
        </p:nvSpPr>
        <p:spPr>
          <a:xfrm>
            <a:off x="9317736" y="2971800"/>
            <a:ext cx="2240280" cy="1325880"/>
          </a:xfrm>
          <a:prstGeom prst="rect">
            <a:avLst/>
          </a:prstGeom>
          <a:noFill/>
          <a:ln/>
        </p:spPr>
        <p:txBody>
          <a:bodyPr wrap="square" lIns="0" tIns="0" rIns="0" bIns="0" rtlCol="0" anchor="t"/>
          <a:lstStyle/>
          <a:p>
            <a:pPr indent="0" marL="0">
              <a:buNone/>
            </a:pPr>
            <a:r>
              <a:rPr lang="en-US" sz="1300" dirty="0">
                <a:solidFill>
                  <a:schemeClr val="accent3"/>
                </a:solidFill>
              </a:rPr>
              <a:t>Outside-in, does this account look like one where we have a strong right to win?</a:t>
            </a:r>
            <a:endParaRPr lang="en-US" sz="1300" dirty="0"/>
          </a:p>
        </p:txBody>
      </p:sp>
      <p:sp>
        <p:nvSpPr>
          <p:cNvPr id="34" name="Tools label 79"/>
          <p:cNvSpPr txBox="1"/>
          <p:nvPr/>
        </p:nvSpPr>
        <p:spPr>
          <a:xfrm>
            <a:off x="9317736" y="4434840"/>
            <a:ext cx="1371600" cy="228600"/>
          </a:xfrm>
          <a:prstGeom prst="rect">
            <a:avLst/>
          </a:prstGeom>
          <a:noFill/>
          <a:ln/>
        </p:spPr>
        <p:txBody>
          <a:bodyPr wrap="square" lIns="0" tIns="0" rIns="0" bIns="0" rtlCol="0" anchor="ctr"/>
          <a:lstStyle/>
          <a:p>
            <a:pPr indent="0" marL="0">
              <a:buNone/>
            </a:pPr>
            <a:r>
              <a:rPr lang="en-US" sz="900" b="1" spc="200" kern="0" dirty="0">
                <a:solidFill>
                  <a:schemeClr val="accent3"/>
                </a:solidFill>
              </a:rPr>
              <a:t>TOOLS</a:t>
            </a:r>
            <a:endParaRPr lang="en-US" sz="900" dirty="0"/>
          </a:p>
        </p:txBody>
      </p:sp>
      <p:sp>
        <p:nvSpPr>
          <p:cNvPr id="35" name="Tool 80"/>
          <p:cNvSpPr/>
          <p:nvPr/>
        </p:nvSpPr>
        <p:spPr>
          <a:xfrm>
            <a:off x="9317736"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Hg Retina</a:t>
            </a:r>
            <a:endParaRPr lang="en-US" sz="1100" dirty="0"/>
          </a:p>
        </p:txBody>
      </p:sp>
      <p:sp>
        <p:nvSpPr>
          <p:cNvPr id="36" name="Tool 81"/>
          <p:cNvSpPr/>
          <p:nvPr/>
        </p:nvSpPr>
        <p:spPr>
          <a:xfrm>
            <a:off x="10460736" y="4709160"/>
            <a:ext cx="1051560" cy="274320"/>
          </a:xfrm>
          <a:prstGeom prst="roundRect">
            <a:avLst>
              <a:gd name="adj" fmla="val 50000"/>
            </a:avLst>
          </a:prstGeom>
          <a:solidFill>
            <a:srgbClr val="F5F7F0"/>
          </a:solidFill>
          <a:ln w="9525">
            <a:solidFill>
              <a:srgbClr val="D2D8CD"/>
            </a:solidFill>
          </a:ln>
        </p:spPr>
        <p:txBody>
          <a:bodyPr wrap="square" lIns="0" tIns="0" rIns="0" bIns="0" rtlCol="0" anchor="ctr"/>
          <a:lstStyle/>
          <a:p>
            <a:pPr algn="ctr" indent="0" marL="0">
              <a:buNone/>
            </a:pPr>
            <a:r>
              <a:rPr lang="en-US" sz="1100" b="1" dirty="0">
                <a:solidFill>
                  <a:srgbClr val="1F3529"/>
                </a:solidFill>
              </a:rPr>
              <a:t>CaPDB</a:t>
            </a:r>
            <a:endParaRPr lang="en-US" sz="1100" dirty="0"/>
          </a:p>
        </p:txBody>
      </p:sp>
      <p:sp>
        <p:nvSpPr>
          <p:cNvPr id="37" name="Takeaway"/>
          <p:cNvSpPr/>
          <p:nvPr/>
        </p:nvSpPr>
        <p:spPr>
          <a:xfrm>
            <a:off x="365760" y="5532120"/>
            <a:ext cx="11457432" cy="658368"/>
          </a:xfrm>
          <a:prstGeom prst="roundRect">
            <a:avLst>
              <a:gd name="adj" fmla="val 50000"/>
            </a:avLst>
          </a:prstGeom>
          <a:solidFill>
            <a:srgbClr val="16261D"/>
          </a:solidFill>
          <a:ln/>
          <a:effectLst>
            <a:outerShdw sx="100000" sy="100000" kx="0" ky="0" algn="bl" rotWithShape="0" blurRad="177800" dist="50800" dir="5400000">
              <a:srgbClr val="16261D">
                <a:alpha val="16000"/>
              </a:srgbClr>
            </a:outerShdw>
          </a:effectLst>
        </p:spPr>
      </p:sp>
      <p:pic>
        <p:nvPicPr>
          <p:cNvPr id="38" name="Image 4" descr="Rotate icon">    </p:cNvPr>
          <p:cNvPicPr>
            <a:picLocks noChangeAspect="1"/>
          </p:cNvPicPr>
          <p:nvPr/>
        </p:nvPicPr>
        <p:blipFill>
          <a:blip r:embed="rId5"/>
          <a:stretch>
            <a:fillRect/>
          </a:stretch>
        </p:blipFill>
        <p:spPr>
          <a:xfrm>
            <a:off x="594360" y="5678424"/>
            <a:ext cx="365760" cy="365760"/>
          </a:xfrm>
          <a:prstGeom prst="rect">
            <a:avLst/>
          </a:prstGeom>
        </p:spPr>
      </p:pic>
      <p:sp>
        <p:nvSpPr>
          <p:cNvPr id="39" name="Takeaway text"/>
          <p:cNvSpPr txBox="1"/>
          <p:nvPr/>
        </p:nvSpPr>
        <p:spPr>
          <a:xfrm>
            <a:off x="1097280" y="5532120"/>
            <a:ext cx="10515600" cy="658368"/>
          </a:xfrm>
          <a:prstGeom prst="rect">
            <a:avLst/>
          </a:prstGeom>
          <a:noFill/>
          <a:ln/>
        </p:spPr>
        <p:txBody>
          <a:bodyPr wrap="square" lIns="0" tIns="0" rIns="0" bIns="0" rtlCol="0" anchor="ctr"/>
          <a:lstStyle/>
          <a:p>
            <a:pPr indent="0" marL="0">
              <a:buNone/>
            </a:pPr>
            <a:r>
              <a:rPr lang="en-US" sz="1600" dirty="0">
                <a:solidFill>
                  <a:schemeClr val="bg2"/>
                </a:solidFill>
              </a:rPr>
              <a:t>Rotate between the targeting pillars, and split the data to see which one is working.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03  ·  REFERRALS  ·  CHANCES OF LANDING A MEETING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Referrals land 40x more meetings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Chart panel 82"/>
          <p:cNvSpPr/>
          <p:nvPr/>
        </p:nvSpPr>
        <p:spPr>
          <a:xfrm>
            <a:off x="365760" y="1371600"/>
            <a:ext cx="7955280" cy="4892040"/>
          </a:xfrm>
          <a:prstGeom prst="roundRect">
            <a:avLst>
              <a:gd name="adj" fmla="val 2617"/>
            </a:avLst>
          </a:prstGeom>
          <a:solidFill>
            <a:srgbClr val="FFFFFF"/>
          </a:solidFill>
          <a:ln/>
          <a:effectLst>
            <a:outerShdw sx="100000" sy="100000" kx="0" ky="0" algn="bl" rotWithShape="0" blurRad="177800" dist="50800" dir="5400000">
              <a:srgbClr val="16261D">
                <a:alpha val="14000"/>
              </a:srgbClr>
            </a:outerShdw>
          </a:effectLst>
        </p:spPr>
      </p:sp>
      <p:graphicFrame>
        <p:nvGraphicFramePr>
          <p:cNvPr id="6" name="Meeting chart" descr=""/>
          <p:cNvGraphicFramePr/>
          <p:nvPr/>
        </p:nvGraphicFramePr>
        <p:xfrm>
          <a:off x="502920" y="1463040"/>
          <a:ext cx="7680960" cy="4709160"/>
        </p:xfrm>
        <a:graphic xmlns:a="http://schemas.openxmlformats.org/drawingml/2006/main">
          <a:graphicData uri="http://schemas.openxmlformats.org/drawingml/2006/chart">
            <c:chart xmlns:c="http://schemas.openxmlformats.org/drawingml/2006/chart" r:id="rId1"/>
          </a:graphicData>
        </a:graphic>
      </p:graphicFrame>
      <p:sp>
        <p:nvSpPr>
          <p:cNvPr id="7" name="Callout 83"/>
          <p:cNvSpPr/>
          <p:nvPr/>
        </p:nvSpPr>
        <p:spPr>
          <a:xfrm>
            <a:off x="8595360" y="1371600"/>
            <a:ext cx="3227832" cy="4892040"/>
          </a:xfrm>
          <a:prstGeom prst="roundRect">
            <a:avLst>
              <a:gd name="adj" fmla="val 3966"/>
            </a:avLst>
          </a:prstGeom>
          <a:solidFill>
            <a:srgbClr val="16261D"/>
          </a:solidFill>
          <a:ln/>
          <a:effectLst>
            <a:outerShdw sx="100000" sy="100000" kx="0" ky="0" algn="bl" rotWithShape="0" blurRad="177800" dist="50800" dir="5400000">
              <a:srgbClr val="16261D">
                <a:alpha val="14000"/>
              </a:srgbClr>
            </a:outerShdw>
          </a:effectLst>
        </p:spPr>
      </p:sp>
      <p:sp>
        <p:nvSpPr>
          <p:cNvPr id="8" name="Callout text"/>
          <p:cNvSpPr txBox="1"/>
          <p:nvPr/>
        </p:nvSpPr>
        <p:spPr>
          <a:xfrm>
            <a:off x="8869680" y="1554480"/>
            <a:ext cx="2697480" cy="4526280"/>
          </a:xfrm>
          <a:prstGeom prst="rect">
            <a:avLst/>
          </a:prstGeom>
          <a:noFill/>
          <a:ln/>
        </p:spPr>
        <p:txBody>
          <a:bodyPr wrap="square" lIns="0" tIns="0" rIns="0" bIns="0" rtlCol="0" anchor="ctr"/>
          <a:lstStyle/>
          <a:p>
            <a:pPr indent="0" marL="0">
              <a:buNone/>
            </a:pPr>
            <a:r>
              <a:rPr lang="en-US" sz="5400" dirty="0">
                <a:solidFill>
                  <a:srgbClr val="93A87B"/>
                </a:solidFill>
                <a:latin typeface="Georgia" pitchFamily="34" charset="0"/>
                <a:ea typeface="Georgia" pitchFamily="34" charset="-122"/>
                <a:cs typeface="Georgia" pitchFamily="34" charset="-120"/>
              </a:rPr>
              <a:t>84%</a:t>
            </a:r>
            <a:endParaRPr lang="en-US" sz="5400" dirty="0"/>
          </a:p>
          <a:p>
            <a:pPr indent="0" marL="0">
              <a:spcAft>
                <a:spcPts val="1800"/>
              </a:spcAft>
              <a:buNone/>
            </a:pPr>
            <a:r>
              <a:rPr lang="en-US" sz="1300" dirty="0">
                <a:solidFill>
                  <a:srgbClr val="F5F7F0"/>
                </a:solidFill>
              </a:rPr>
              <a:t>chance of a meeting from a referral, at the high end</a:t>
            </a:r>
            <a:endParaRPr lang="en-US" sz="5400" dirty="0"/>
          </a:p>
          <a:p>
            <a:pPr indent="0" marL="0">
              <a:buNone/>
            </a:pPr>
            <a:r>
              <a:rPr lang="en-US" sz="5400" dirty="0">
                <a:solidFill>
                  <a:srgbClr val="C9D3C0"/>
                </a:solidFill>
                <a:latin typeface="Georgia" pitchFamily="34" charset="0"/>
                <a:ea typeface="Georgia" pitchFamily="34" charset="-122"/>
                <a:cs typeface="Georgia" pitchFamily="34" charset="-120"/>
              </a:rPr>
              <a:t>2%</a:t>
            </a:r>
            <a:endParaRPr lang="en-US" sz="5400" dirty="0"/>
          </a:p>
          <a:p>
            <a:pPr indent="0" marL="0">
              <a:buNone/>
            </a:pPr>
            <a:r>
              <a:rPr lang="en-US" sz="1300" dirty="0">
                <a:solidFill>
                  <a:srgbClr val="F5F7F0"/>
                </a:solidFill>
              </a:rPr>
              <a:t>from a pure cold call</a:t>
            </a:r>
            <a:endParaRPr lang="en-US" sz="5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LEVER 03  ·  REFERRALS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Referrals: the most underused lever</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Sales Insights Lab, via Hg Growth Summit 2025</a:t>
            </a:r>
            <a:endParaRPr lang="en-US" sz="1000" dirty="0"/>
          </a:p>
        </p:txBody>
      </p:sp>
      <p:sp>
        <p:nvSpPr>
          <p:cNvPr id="5" name="Stat 84"/>
          <p:cNvSpPr txBox="1"/>
          <p:nvPr/>
        </p:nvSpPr>
        <p:spPr>
          <a:xfrm>
            <a:off x="548640" y="2011680"/>
            <a:ext cx="3474720" cy="1463040"/>
          </a:xfrm>
          <a:prstGeom prst="rect">
            <a:avLst/>
          </a:prstGeom>
          <a:noFill/>
          <a:ln/>
        </p:spPr>
        <p:txBody>
          <a:bodyPr wrap="square" lIns="0" tIns="0" rIns="0" bIns="0" rtlCol="0" anchor="ctr"/>
          <a:lstStyle/>
          <a:p>
            <a:pPr algn="ctr" indent="0" marL="0">
              <a:buNone/>
            </a:pPr>
            <a:r>
              <a:rPr lang="en-US" sz="9600" dirty="0">
                <a:solidFill>
                  <a:srgbClr val="F5F7F0"/>
                </a:solidFill>
                <a:latin typeface="Georgia" pitchFamily="34" charset="0"/>
                <a:ea typeface="Georgia" pitchFamily="34" charset="-122"/>
                <a:cs typeface="Georgia" pitchFamily="34" charset="-120"/>
              </a:rPr>
              <a:t>58%</a:t>
            </a:r>
            <a:endParaRPr lang="en-US" sz="9600" dirty="0"/>
          </a:p>
        </p:txBody>
      </p:sp>
      <p:sp>
        <p:nvSpPr>
          <p:cNvPr id="6" name="Stat label 85"/>
          <p:cNvSpPr txBox="1"/>
          <p:nvPr/>
        </p:nvSpPr>
        <p:spPr>
          <a:xfrm>
            <a:off x="777240" y="3520440"/>
            <a:ext cx="3017520" cy="822960"/>
          </a:xfrm>
          <a:prstGeom prst="rect">
            <a:avLst/>
          </a:prstGeom>
          <a:noFill/>
          <a:ln/>
        </p:spPr>
        <p:txBody>
          <a:bodyPr wrap="square" lIns="0" tIns="0" rIns="0" bIns="0" rtlCol="0" anchor="t"/>
          <a:lstStyle/>
          <a:p>
            <a:pPr algn="ctr" indent="0" marL="0">
              <a:buNone/>
            </a:pPr>
            <a:r>
              <a:rPr lang="en-US" sz="1600" dirty="0">
                <a:solidFill>
                  <a:schemeClr val="accent6"/>
                </a:solidFill>
              </a:rPr>
              <a:t>of sellers ask for fewer than one referral a month</a:t>
            </a:r>
            <a:endParaRPr lang="en-US" sz="1600" dirty="0"/>
          </a:p>
        </p:txBody>
      </p:sp>
      <p:sp>
        <p:nvSpPr>
          <p:cNvPr id="7" name="Divider 86"/>
          <p:cNvSpPr/>
          <p:nvPr/>
        </p:nvSpPr>
        <p:spPr>
          <a:xfrm>
            <a:off x="4114800" y="2194560"/>
            <a:ext cx="0" cy="2377440"/>
          </a:xfrm>
          <a:prstGeom prst="line">
            <a:avLst/>
          </a:prstGeom>
          <a:noFill/>
          <a:ln w="12700">
            <a:solidFill>
              <a:srgbClr val="93A87B">
                <a:alpha val="50000"/>
              </a:srgbClr>
            </a:solidFill>
            <a:prstDash val="solid"/>
          </a:ln>
        </p:spPr>
      </p:sp>
      <p:sp>
        <p:nvSpPr>
          <p:cNvPr id="8" name="Stat 87"/>
          <p:cNvSpPr txBox="1"/>
          <p:nvPr/>
        </p:nvSpPr>
        <p:spPr>
          <a:xfrm>
            <a:off x="4389120" y="2011680"/>
            <a:ext cx="3474720" cy="1463040"/>
          </a:xfrm>
          <a:prstGeom prst="rect">
            <a:avLst/>
          </a:prstGeom>
          <a:noFill/>
          <a:ln/>
        </p:spPr>
        <p:txBody>
          <a:bodyPr wrap="square" lIns="0" tIns="0" rIns="0" bIns="0" rtlCol="0" anchor="ctr"/>
          <a:lstStyle/>
          <a:p>
            <a:pPr algn="ctr" indent="0" marL="0">
              <a:buNone/>
            </a:pPr>
            <a:r>
              <a:rPr lang="en-US" sz="9600" dirty="0">
                <a:solidFill>
                  <a:srgbClr val="F5F7F0"/>
                </a:solidFill>
                <a:latin typeface="Georgia" pitchFamily="34" charset="0"/>
                <a:ea typeface="Georgia" pitchFamily="34" charset="-122"/>
                <a:cs typeface="Georgia" pitchFamily="34" charset="-120"/>
              </a:rPr>
              <a:t>26%</a:t>
            </a:r>
            <a:endParaRPr lang="en-US" sz="9600" dirty="0"/>
          </a:p>
        </p:txBody>
      </p:sp>
      <p:sp>
        <p:nvSpPr>
          <p:cNvPr id="9" name="Stat label 88"/>
          <p:cNvSpPr txBox="1"/>
          <p:nvPr/>
        </p:nvSpPr>
        <p:spPr>
          <a:xfrm>
            <a:off x="4617720" y="3520440"/>
            <a:ext cx="3017520" cy="822960"/>
          </a:xfrm>
          <a:prstGeom prst="rect">
            <a:avLst/>
          </a:prstGeom>
          <a:noFill/>
          <a:ln/>
        </p:spPr>
        <p:txBody>
          <a:bodyPr wrap="square" lIns="0" tIns="0" rIns="0" bIns="0" rtlCol="0" anchor="t"/>
          <a:lstStyle/>
          <a:p>
            <a:pPr algn="ctr" indent="0" marL="0">
              <a:buNone/>
            </a:pPr>
            <a:r>
              <a:rPr lang="en-US" sz="1600" dirty="0">
                <a:solidFill>
                  <a:schemeClr val="accent6"/>
                </a:solidFill>
              </a:rPr>
              <a:t>of average performers regularly ask for referrals</a:t>
            </a:r>
            <a:endParaRPr lang="en-US" sz="1600" dirty="0"/>
          </a:p>
        </p:txBody>
      </p:sp>
      <p:sp>
        <p:nvSpPr>
          <p:cNvPr id="10" name="Divider 89"/>
          <p:cNvSpPr/>
          <p:nvPr/>
        </p:nvSpPr>
        <p:spPr>
          <a:xfrm>
            <a:off x="7955280" y="2194560"/>
            <a:ext cx="0" cy="2377440"/>
          </a:xfrm>
          <a:prstGeom prst="line">
            <a:avLst/>
          </a:prstGeom>
          <a:noFill/>
          <a:ln w="12700">
            <a:solidFill>
              <a:srgbClr val="93A87B">
                <a:alpha val="50000"/>
              </a:srgbClr>
            </a:solidFill>
            <a:prstDash val="solid"/>
          </a:ln>
        </p:spPr>
      </p:sp>
      <p:sp>
        <p:nvSpPr>
          <p:cNvPr id="11" name="Stat 90"/>
          <p:cNvSpPr txBox="1"/>
          <p:nvPr/>
        </p:nvSpPr>
        <p:spPr>
          <a:xfrm>
            <a:off x="8229600" y="2011680"/>
            <a:ext cx="3474720" cy="1463040"/>
          </a:xfrm>
          <a:prstGeom prst="rect">
            <a:avLst/>
          </a:prstGeom>
          <a:noFill/>
          <a:ln/>
        </p:spPr>
        <p:txBody>
          <a:bodyPr wrap="square" lIns="0" tIns="0" rIns="0" bIns="0" rtlCol="0" anchor="ctr"/>
          <a:lstStyle/>
          <a:p>
            <a:pPr algn="ctr" indent="0" marL="0">
              <a:buNone/>
            </a:pPr>
            <a:r>
              <a:rPr lang="en-US" sz="9600" dirty="0">
                <a:solidFill>
                  <a:srgbClr val="93A87B"/>
                </a:solidFill>
                <a:latin typeface="Georgia" pitchFamily="34" charset="0"/>
                <a:ea typeface="Georgia" pitchFamily="34" charset="-122"/>
                <a:cs typeface="Georgia" pitchFamily="34" charset="-120"/>
              </a:rPr>
              <a:t>47%</a:t>
            </a:r>
            <a:endParaRPr lang="en-US" sz="9600" dirty="0"/>
          </a:p>
        </p:txBody>
      </p:sp>
      <p:sp>
        <p:nvSpPr>
          <p:cNvPr id="12" name="Stat label 91"/>
          <p:cNvSpPr txBox="1"/>
          <p:nvPr/>
        </p:nvSpPr>
        <p:spPr>
          <a:xfrm>
            <a:off x="8458200" y="3520440"/>
            <a:ext cx="3017520" cy="822960"/>
          </a:xfrm>
          <a:prstGeom prst="rect">
            <a:avLst/>
          </a:prstGeom>
          <a:noFill/>
          <a:ln/>
        </p:spPr>
        <p:txBody>
          <a:bodyPr wrap="square" lIns="0" tIns="0" rIns="0" bIns="0" rtlCol="0" anchor="t"/>
          <a:lstStyle/>
          <a:p>
            <a:pPr algn="ctr" indent="0" marL="0">
              <a:buNone/>
            </a:pPr>
            <a:r>
              <a:rPr lang="en-US" sz="1600" dirty="0">
                <a:solidFill>
                  <a:schemeClr val="accent6"/>
                </a:solidFill>
              </a:rPr>
              <a:t>of top performers ask for referrals</a:t>
            </a:r>
            <a:endParaRPr lang="en-US" sz="1600" dirty="0"/>
          </a:p>
        </p:txBody>
      </p:sp>
      <p:sp>
        <p:nvSpPr>
          <p:cNvPr id="13" name="Insight"/>
          <p:cNvSpPr/>
          <p:nvPr/>
        </p:nvSpPr>
        <p:spPr>
          <a:xfrm>
            <a:off x="1737360" y="5120640"/>
            <a:ext cx="8714232" cy="658368"/>
          </a:xfrm>
          <a:prstGeom prst="roundRect">
            <a:avLst>
              <a:gd name="adj" fmla="val 50000"/>
            </a:avLst>
          </a:prstGeom>
          <a:solidFill>
            <a:srgbClr val="1F3529"/>
          </a:solidFill>
          <a:ln w="9525">
            <a:solidFill>
              <a:srgbClr val="93A87B">
                <a:alpha val="50000"/>
              </a:srgbClr>
            </a:solidFill>
          </a:ln>
        </p:spPr>
        <p:txBody>
          <a:bodyPr wrap="square" lIns="0" tIns="0" rIns="0" bIns="0" rtlCol="0" anchor="ctr"/>
          <a:lstStyle/>
          <a:p>
            <a:pPr algn="ctr" indent="0" marL="0">
              <a:buNone/>
            </a:pPr>
            <a:r>
              <a:rPr lang="en-US" sz="1500" dirty="0">
                <a:solidFill>
                  <a:schemeClr val="bg2"/>
                </a:solidFill>
              </a:rPr>
              <a:t>Top performers ask almost twice as often as the average seller. The cheapest pipeline in the business is the one nobody asks for.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03  ·  REFERRALS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One introduction opens a network</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Level 92"/>
          <p:cNvSpPr/>
          <p:nvPr/>
        </p:nvSpPr>
        <p:spPr>
          <a:xfrm>
            <a:off x="365760" y="1371600"/>
            <a:ext cx="2697480" cy="548640"/>
          </a:xfrm>
          <a:prstGeom prst="roundRect">
            <a:avLst>
              <a:gd name="adj" fmla="val 20000"/>
            </a:avLst>
          </a:prstGeom>
          <a:solidFill>
            <a:srgbClr val="1F3529"/>
          </a:solidFill>
          <a:ln/>
          <a:effectLst>
            <a:outerShdw sx="100000" sy="100000" kx="0" ky="0" algn="bl" rotWithShape="0" blurRad="127000" dist="38100" dir="5400000">
              <a:srgbClr val="16261D">
                <a:alpha val="10000"/>
              </a:srgbClr>
            </a:outerShdw>
          </a:effectLst>
        </p:spPr>
        <p:txBody>
          <a:bodyPr wrap="square" lIns="0" tIns="0" rIns="0" bIns="0" rtlCol="0" anchor="ctr"/>
          <a:lstStyle/>
          <a:p>
            <a:pPr algn="ctr" indent="0" marL="0">
              <a:buNone/>
            </a:pPr>
            <a:r>
              <a:rPr lang="en-US" sz="1500" b="1" dirty="0">
                <a:solidFill>
                  <a:srgbClr val="F5F7F0"/>
                </a:solidFill>
              </a:rPr>
              <a:t>Your AE</a:t>
            </a:r>
            <a:endParaRPr lang="en-US" sz="1500" dirty="0"/>
          </a:p>
        </p:txBody>
      </p:sp>
      <p:sp>
        <p:nvSpPr>
          <p:cNvPr id="6" name="Level panel 93"/>
          <p:cNvSpPr/>
          <p:nvPr/>
        </p:nvSpPr>
        <p:spPr>
          <a:xfrm>
            <a:off x="365760" y="2103120"/>
            <a:ext cx="2697480" cy="41148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7" name="Level 94"/>
          <p:cNvSpPr/>
          <p:nvPr/>
        </p:nvSpPr>
        <p:spPr>
          <a:xfrm>
            <a:off x="3264408" y="1371600"/>
            <a:ext cx="2697480" cy="548640"/>
          </a:xfrm>
          <a:prstGeom prst="roundRect">
            <a:avLst>
              <a:gd name="adj" fmla="val 20000"/>
            </a:avLst>
          </a:prstGeom>
          <a:solidFill>
            <a:srgbClr val="FFFFFF"/>
          </a:solidFill>
          <a:ln/>
          <a:effectLst>
            <a:outerShdw sx="100000" sy="100000" kx="0" ky="0" algn="bl" rotWithShape="0" blurRad="127000" dist="38100" dir="5400000">
              <a:srgbClr val="16261D">
                <a:alpha val="10000"/>
              </a:srgbClr>
            </a:outerShdw>
          </a:effectLst>
        </p:spPr>
        <p:txBody>
          <a:bodyPr wrap="square" lIns="0" tIns="0" rIns="0" bIns="0" rtlCol="0" anchor="ctr"/>
          <a:lstStyle/>
          <a:p>
            <a:pPr algn="ctr" indent="0" marL="0">
              <a:buNone/>
            </a:pPr>
            <a:r>
              <a:rPr lang="en-US" sz="1500" b="1" dirty="0">
                <a:solidFill>
                  <a:srgbClr val="20241F"/>
                </a:solidFill>
              </a:rPr>
              <a:t>1st-level connections</a:t>
            </a:r>
            <a:endParaRPr lang="en-US" sz="1500" dirty="0"/>
          </a:p>
        </p:txBody>
      </p:sp>
      <p:sp>
        <p:nvSpPr>
          <p:cNvPr id="8" name="Level panel 95"/>
          <p:cNvSpPr/>
          <p:nvPr/>
        </p:nvSpPr>
        <p:spPr>
          <a:xfrm>
            <a:off x="3264408" y="2103120"/>
            <a:ext cx="2697480" cy="41148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9" name="Level 96"/>
          <p:cNvSpPr/>
          <p:nvPr/>
        </p:nvSpPr>
        <p:spPr>
          <a:xfrm>
            <a:off x="6163056" y="1371600"/>
            <a:ext cx="2697480" cy="548640"/>
          </a:xfrm>
          <a:prstGeom prst="roundRect">
            <a:avLst>
              <a:gd name="adj" fmla="val 20000"/>
            </a:avLst>
          </a:prstGeom>
          <a:solidFill>
            <a:srgbClr val="FFFFFF"/>
          </a:solidFill>
          <a:ln/>
          <a:effectLst>
            <a:outerShdw sx="100000" sy="100000" kx="0" ky="0" algn="bl" rotWithShape="0" blurRad="127000" dist="38100" dir="5400000">
              <a:srgbClr val="16261D">
                <a:alpha val="10000"/>
              </a:srgbClr>
            </a:outerShdw>
          </a:effectLst>
        </p:spPr>
        <p:txBody>
          <a:bodyPr wrap="square" lIns="0" tIns="0" rIns="0" bIns="0" rtlCol="0" anchor="ctr"/>
          <a:lstStyle/>
          <a:p>
            <a:pPr algn="ctr" indent="0" marL="0">
              <a:buNone/>
            </a:pPr>
            <a:r>
              <a:rPr lang="en-US" sz="1500" b="1" dirty="0">
                <a:solidFill>
                  <a:srgbClr val="20241F"/>
                </a:solidFill>
              </a:rPr>
              <a:t>2nd-level connections</a:t>
            </a:r>
            <a:endParaRPr lang="en-US" sz="1500" dirty="0"/>
          </a:p>
        </p:txBody>
      </p:sp>
      <p:sp>
        <p:nvSpPr>
          <p:cNvPr id="10" name="Level panel 97"/>
          <p:cNvSpPr/>
          <p:nvPr/>
        </p:nvSpPr>
        <p:spPr>
          <a:xfrm>
            <a:off x="6163056" y="2103120"/>
            <a:ext cx="2697480" cy="41148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sp>
        <p:nvSpPr>
          <p:cNvPr id="11" name="Level 98"/>
          <p:cNvSpPr/>
          <p:nvPr/>
        </p:nvSpPr>
        <p:spPr>
          <a:xfrm>
            <a:off x="9061704" y="1371600"/>
            <a:ext cx="2697480" cy="548640"/>
          </a:xfrm>
          <a:prstGeom prst="roundRect">
            <a:avLst>
              <a:gd name="adj" fmla="val 20000"/>
            </a:avLst>
          </a:prstGeom>
          <a:solidFill>
            <a:srgbClr val="FFFFFF"/>
          </a:solidFill>
          <a:ln/>
          <a:effectLst>
            <a:outerShdw sx="100000" sy="100000" kx="0" ky="0" algn="bl" rotWithShape="0" blurRad="127000" dist="38100" dir="5400000">
              <a:srgbClr val="16261D">
                <a:alpha val="10000"/>
              </a:srgbClr>
            </a:outerShdw>
          </a:effectLst>
        </p:spPr>
        <p:txBody>
          <a:bodyPr wrap="square" lIns="0" tIns="0" rIns="0" bIns="0" rtlCol="0" anchor="ctr"/>
          <a:lstStyle/>
          <a:p>
            <a:pPr algn="ctr" indent="0" marL="0">
              <a:buNone/>
            </a:pPr>
            <a:r>
              <a:rPr lang="en-US" sz="1500" b="1" dirty="0">
                <a:solidFill>
                  <a:srgbClr val="20241F"/>
                </a:solidFill>
              </a:rPr>
              <a:t>3rd-level connections</a:t>
            </a:r>
            <a:endParaRPr lang="en-US" sz="1500" dirty="0"/>
          </a:p>
        </p:txBody>
      </p:sp>
      <p:sp>
        <p:nvSpPr>
          <p:cNvPr id="12" name="Level panel 99"/>
          <p:cNvSpPr/>
          <p:nvPr/>
        </p:nvSpPr>
        <p:spPr>
          <a:xfrm>
            <a:off x="9061704" y="2103120"/>
            <a:ext cx="2697480" cy="4114800"/>
          </a:xfrm>
          <a:prstGeom prst="roundRect">
            <a:avLst>
              <a:gd name="adj" fmla="val 4746"/>
            </a:avLst>
          </a:prstGeom>
          <a:solidFill>
            <a:srgbClr val="FFFFFF"/>
          </a:solidFill>
          <a:ln/>
          <a:effectLst>
            <a:outerShdw sx="100000" sy="100000" kx="0" ky="0" algn="bl" rotWithShape="0" blurRad="177800" dist="50800" dir="5400000">
              <a:srgbClr val="16261D">
                <a:alpha val="14000"/>
              </a:srgbClr>
            </a:outerShdw>
          </a:effectLst>
        </p:spPr>
      </p:sp>
      <p:pic>
        <p:nvPicPr>
          <p:cNvPr id="13" name="Image 0" descr="Account executive">    </p:cNvPr>
          <p:cNvPicPr>
            <a:picLocks noChangeAspect="1"/>
          </p:cNvPicPr>
          <p:nvPr/>
        </p:nvPicPr>
        <p:blipFill>
          <a:blip r:embed="rId1"/>
          <a:stretch>
            <a:fillRect/>
          </a:stretch>
        </p:blipFill>
        <p:spPr>
          <a:xfrm>
            <a:off x="1211580" y="3657600"/>
            <a:ext cx="1005840" cy="1005840"/>
          </a:xfrm>
          <a:prstGeom prst="rect">
            <a:avLst/>
          </a:prstGeom>
        </p:spPr>
      </p:pic>
      <p:sp>
        <p:nvSpPr>
          <p:cNvPr id="14" name="Connector"/>
          <p:cNvSpPr/>
          <p:nvPr/>
        </p:nvSpPr>
        <p:spPr>
          <a:xfrm>
            <a:off x="2263140" y="4160520"/>
            <a:ext cx="1321308" cy="0"/>
          </a:xfrm>
          <a:prstGeom prst="line">
            <a:avLst/>
          </a:prstGeom>
          <a:noFill/>
          <a:ln w="19050">
            <a:solidFill>
              <a:srgbClr val="93A87B"/>
            </a:solidFill>
            <a:prstDash val="solid"/>
          </a:ln>
        </p:spPr>
      </p:sp>
      <p:sp>
        <p:nvSpPr>
          <p:cNvPr id="15" name="Bracket 100"/>
          <p:cNvSpPr/>
          <p:nvPr/>
        </p:nvSpPr>
        <p:spPr>
          <a:xfrm>
            <a:off x="3584448" y="2514600"/>
            <a:ext cx="0" cy="3291840"/>
          </a:xfrm>
          <a:prstGeom prst="line">
            <a:avLst/>
          </a:prstGeom>
          <a:noFill/>
          <a:ln w="19050">
            <a:solidFill>
              <a:srgbClr val="93A87B"/>
            </a:solidFill>
            <a:prstDash val="solid"/>
          </a:ln>
        </p:spPr>
      </p:sp>
      <p:sp>
        <p:nvSpPr>
          <p:cNvPr id="16" name="Bracket 101"/>
          <p:cNvSpPr/>
          <p:nvPr/>
        </p:nvSpPr>
        <p:spPr>
          <a:xfrm>
            <a:off x="3584448" y="2514600"/>
            <a:ext cx="109728" cy="0"/>
          </a:xfrm>
          <a:prstGeom prst="line">
            <a:avLst/>
          </a:prstGeom>
          <a:noFill/>
          <a:ln w="19050">
            <a:solidFill>
              <a:srgbClr val="93A87B"/>
            </a:solidFill>
            <a:prstDash val="solid"/>
          </a:ln>
        </p:spPr>
      </p:sp>
      <p:sp>
        <p:nvSpPr>
          <p:cNvPr id="17" name="Bracket 102"/>
          <p:cNvSpPr/>
          <p:nvPr/>
        </p:nvSpPr>
        <p:spPr>
          <a:xfrm>
            <a:off x="3584448" y="5806440"/>
            <a:ext cx="109728" cy="0"/>
          </a:xfrm>
          <a:prstGeom prst="line">
            <a:avLst/>
          </a:prstGeom>
          <a:noFill/>
          <a:ln w="19050">
            <a:solidFill>
              <a:srgbClr val="93A87B"/>
            </a:solidFill>
            <a:prstDash val="solid"/>
          </a:ln>
        </p:spPr>
      </p:sp>
      <p:pic>
        <p:nvPicPr>
          <p:cNvPr id="18" name="Image 1" descr="First-level connection">    </p:cNvPr>
          <p:cNvPicPr>
            <a:picLocks noChangeAspect="1"/>
          </p:cNvPicPr>
          <p:nvPr/>
        </p:nvPicPr>
        <p:blipFill>
          <a:blip r:embed="rId2"/>
          <a:stretch>
            <a:fillRect/>
          </a:stretch>
        </p:blipFill>
        <p:spPr>
          <a:xfrm>
            <a:off x="4361688" y="2491740"/>
            <a:ext cx="777240" cy="777240"/>
          </a:xfrm>
          <a:prstGeom prst="rect">
            <a:avLst/>
          </a:prstGeom>
        </p:spPr>
      </p:pic>
      <p:pic>
        <p:nvPicPr>
          <p:cNvPr id="19" name="Image 2" descr="First-level connection">    </p:cNvPr>
          <p:cNvPicPr>
            <a:picLocks noChangeAspect="1"/>
          </p:cNvPicPr>
          <p:nvPr/>
        </p:nvPicPr>
        <p:blipFill>
          <a:blip r:embed="rId3"/>
          <a:stretch>
            <a:fillRect/>
          </a:stretch>
        </p:blipFill>
        <p:spPr>
          <a:xfrm>
            <a:off x="4361688" y="3771900"/>
            <a:ext cx="777240" cy="777240"/>
          </a:xfrm>
          <a:prstGeom prst="rect">
            <a:avLst/>
          </a:prstGeom>
        </p:spPr>
      </p:pic>
      <p:pic>
        <p:nvPicPr>
          <p:cNvPr id="20" name="Image 3" descr="First-level connection">    </p:cNvPr>
          <p:cNvPicPr>
            <a:picLocks noChangeAspect="1"/>
          </p:cNvPicPr>
          <p:nvPr/>
        </p:nvPicPr>
        <p:blipFill>
          <a:blip r:embed="rId4"/>
          <a:stretch>
            <a:fillRect/>
          </a:stretch>
        </p:blipFill>
        <p:spPr>
          <a:xfrm>
            <a:off x="4361688" y="5052060"/>
            <a:ext cx="777240" cy="777240"/>
          </a:xfrm>
          <a:prstGeom prst="rect">
            <a:avLst/>
          </a:prstGeom>
        </p:spPr>
      </p:pic>
      <p:sp>
        <p:nvSpPr>
          <p:cNvPr id="21" name="Bracket 103"/>
          <p:cNvSpPr/>
          <p:nvPr/>
        </p:nvSpPr>
        <p:spPr>
          <a:xfrm>
            <a:off x="6483096" y="2377440"/>
            <a:ext cx="0" cy="1554480"/>
          </a:xfrm>
          <a:prstGeom prst="line">
            <a:avLst/>
          </a:prstGeom>
          <a:noFill/>
          <a:ln w="19050">
            <a:solidFill>
              <a:srgbClr val="93A87B"/>
            </a:solidFill>
            <a:prstDash val="solid"/>
          </a:ln>
        </p:spPr>
      </p:sp>
      <p:sp>
        <p:nvSpPr>
          <p:cNvPr id="22" name="Bracket 104"/>
          <p:cNvSpPr/>
          <p:nvPr/>
        </p:nvSpPr>
        <p:spPr>
          <a:xfrm>
            <a:off x="6483096" y="2377440"/>
            <a:ext cx="109728" cy="0"/>
          </a:xfrm>
          <a:prstGeom prst="line">
            <a:avLst/>
          </a:prstGeom>
          <a:noFill/>
          <a:ln w="19050">
            <a:solidFill>
              <a:srgbClr val="93A87B"/>
            </a:solidFill>
            <a:prstDash val="solid"/>
          </a:ln>
        </p:spPr>
      </p:sp>
      <p:sp>
        <p:nvSpPr>
          <p:cNvPr id="23" name="Bracket 105"/>
          <p:cNvSpPr/>
          <p:nvPr/>
        </p:nvSpPr>
        <p:spPr>
          <a:xfrm>
            <a:off x="6483096" y="3931920"/>
            <a:ext cx="109728" cy="0"/>
          </a:xfrm>
          <a:prstGeom prst="line">
            <a:avLst/>
          </a:prstGeom>
          <a:noFill/>
          <a:ln w="19050">
            <a:solidFill>
              <a:srgbClr val="93A87B"/>
            </a:solidFill>
            <a:prstDash val="solid"/>
          </a:ln>
        </p:spPr>
      </p:sp>
      <p:pic>
        <p:nvPicPr>
          <p:cNvPr id="24" name="Image 4" descr="Connection">    </p:cNvPr>
          <p:cNvPicPr>
            <a:picLocks noChangeAspect="1"/>
          </p:cNvPicPr>
          <p:nvPr/>
        </p:nvPicPr>
        <p:blipFill>
          <a:blip r:embed="rId5"/>
          <a:stretch>
            <a:fillRect/>
          </a:stretch>
        </p:blipFill>
        <p:spPr>
          <a:xfrm>
            <a:off x="6963156" y="2487168"/>
            <a:ext cx="457200" cy="457200"/>
          </a:xfrm>
          <a:prstGeom prst="rect">
            <a:avLst/>
          </a:prstGeom>
        </p:spPr>
      </p:pic>
      <p:pic>
        <p:nvPicPr>
          <p:cNvPr id="25" name="Image 5" descr="Connection">    </p:cNvPr>
          <p:cNvPicPr>
            <a:picLocks noChangeAspect="1"/>
          </p:cNvPicPr>
          <p:nvPr/>
        </p:nvPicPr>
        <p:blipFill>
          <a:blip r:embed="rId6"/>
          <a:stretch>
            <a:fillRect/>
          </a:stretch>
        </p:blipFill>
        <p:spPr>
          <a:xfrm>
            <a:off x="7877556" y="2487168"/>
            <a:ext cx="457200" cy="457200"/>
          </a:xfrm>
          <a:prstGeom prst="rect">
            <a:avLst/>
          </a:prstGeom>
        </p:spPr>
      </p:pic>
      <p:pic>
        <p:nvPicPr>
          <p:cNvPr id="26" name="Image 6" descr="Connection">    </p:cNvPr>
          <p:cNvPicPr>
            <a:picLocks noChangeAspect="1"/>
          </p:cNvPicPr>
          <p:nvPr/>
        </p:nvPicPr>
        <p:blipFill>
          <a:blip r:embed="rId7"/>
          <a:stretch>
            <a:fillRect/>
          </a:stretch>
        </p:blipFill>
        <p:spPr>
          <a:xfrm>
            <a:off x="7420356" y="2926080"/>
            <a:ext cx="457200" cy="457200"/>
          </a:xfrm>
          <a:prstGeom prst="rect">
            <a:avLst/>
          </a:prstGeom>
        </p:spPr>
      </p:pic>
      <p:pic>
        <p:nvPicPr>
          <p:cNvPr id="27" name="Image 7" descr="Connection">    </p:cNvPr>
          <p:cNvPicPr>
            <a:picLocks noChangeAspect="1"/>
          </p:cNvPicPr>
          <p:nvPr/>
        </p:nvPicPr>
        <p:blipFill>
          <a:blip r:embed="rId8"/>
          <a:stretch>
            <a:fillRect/>
          </a:stretch>
        </p:blipFill>
        <p:spPr>
          <a:xfrm>
            <a:off x="6963156" y="3364992"/>
            <a:ext cx="457200" cy="457200"/>
          </a:xfrm>
          <a:prstGeom prst="rect">
            <a:avLst/>
          </a:prstGeom>
        </p:spPr>
      </p:pic>
      <p:pic>
        <p:nvPicPr>
          <p:cNvPr id="28" name="Image 8" descr="Connection">    </p:cNvPr>
          <p:cNvPicPr>
            <a:picLocks noChangeAspect="1"/>
          </p:cNvPicPr>
          <p:nvPr/>
        </p:nvPicPr>
        <p:blipFill>
          <a:blip r:embed="rId9"/>
          <a:stretch>
            <a:fillRect/>
          </a:stretch>
        </p:blipFill>
        <p:spPr>
          <a:xfrm>
            <a:off x="7877556" y="3364992"/>
            <a:ext cx="457200" cy="457200"/>
          </a:xfrm>
          <a:prstGeom prst="rect">
            <a:avLst/>
          </a:prstGeom>
        </p:spPr>
      </p:pic>
      <p:sp>
        <p:nvSpPr>
          <p:cNvPr id="29" name="Bracket 106"/>
          <p:cNvSpPr/>
          <p:nvPr/>
        </p:nvSpPr>
        <p:spPr>
          <a:xfrm>
            <a:off x="6483096" y="4389120"/>
            <a:ext cx="0" cy="1554480"/>
          </a:xfrm>
          <a:prstGeom prst="line">
            <a:avLst/>
          </a:prstGeom>
          <a:noFill/>
          <a:ln w="19050">
            <a:solidFill>
              <a:srgbClr val="93A87B"/>
            </a:solidFill>
            <a:prstDash val="solid"/>
          </a:ln>
        </p:spPr>
      </p:sp>
      <p:sp>
        <p:nvSpPr>
          <p:cNvPr id="30" name="Bracket 107"/>
          <p:cNvSpPr/>
          <p:nvPr/>
        </p:nvSpPr>
        <p:spPr>
          <a:xfrm>
            <a:off x="6483096" y="4389120"/>
            <a:ext cx="109728" cy="0"/>
          </a:xfrm>
          <a:prstGeom prst="line">
            <a:avLst/>
          </a:prstGeom>
          <a:noFill/>
          <a:ln w="19050">
            <a:solidFill>
              <a:srgbClr val="93A87B"/>
            </a:solidFill>
            <a:prstDash val="solid"/>
          </a:ln>
        </p:spPr>
      </p:sp>
      <p:sp>
        <p:nvSpPr>
          <p:cNvPr id="31" name="Bracket 108"/>
          <p:cNvSpPr/>
          <p:nvPr/>
        </p:nvSpPr>
        <p:spPr>
          <a:xfrm>
            <a:off x="6483096" y="5943600"/>
            <a:ext cx="109728" cy="0"/>
          </a:xfrm>
          <a:prstGeom prst="line">
            <a:avLst/>
          </a:prstGeom>
          <a:noFill/>
          <a:ln w="19050">
            <a:solidFill>
              <a:srgbClr val="93A87B"/>
            </a:solidFill>
            <a:prstDash val="solid"/>
          </a:ln>
        </p:spPr>
      </p:sp>
      <p:pic>
        <p:nvPicPr>
          <p:cNvPr id="32" name="Image 9" descr="Connection">    </p:cNvPr>
          <p:cNvPicPr>
            <a:picLocks noChangeAspect="1"/>
          </p:cNvPicPr>
          <p:nvPr/>
        </p:nvPicPr>
        <p:blipFill>
          <a:blip r:embed="rId10"/>
          <a:stretch>
            <a:fillRect/>
          </a:stretch>
        </p:blipFill>
        <p:spPr>
          <a:xfrm>
            <a:off x="6963156" y="4498848"/>
            <a:ext cx="457200" cy="457200"/>
          </a:xfrm>
          <a:prstGeom prst="rect">
            <a:avLst/>
          </a:prstGeom>
        </p:spPr>
      </p:pic>
      <p:pic>
        <p:nvPicPr>
          <p:cNvPr id="33" name="Image 10" descr="Connection">    </p:cNvPr>
          <p:cNvPicPr>
            <a:picLocks noChangeAspect="1"/>
          </p:cNvPicPr>
          <p:nvPr/>
        </p:nvPicPr>
        <p:blipFill>
          <a:blip r:embed="rId11"/>
          <a:stretch>
            <a:fillRect/>
          </a:stretch>
        </p:blipFill>
        <p:spPr>
          <a:xfrm>
            <a:off x="7877556" y="4498848"/>
            <a:ext cx="457200" cy="457200"/>
          </a:xfrm>
          <a:prstGeom prst="rect">
            <a:avLst/>
          </a:prstGeom>
        </p:spPr>
      </p:pic>
      <p:pic>
        <p:nvPicPr>
          <p:cNvPr id="34" name="Image 11" descr="Connection">    </p:cNvPr>
          <p:cNvPicPr>
            <a:picLocks noChangeAspect="1"/>
          </p:cNvPicPr>
          <p:nvPr/>
        </p:nvPicPr>
        <p:blipFill>
          <a:blip r:embed="rId12"/>
          <a:stretch>
            <a:fillRect/>
          </a:stretch>
        </p:blipFill>
        <p:spPr>
          <a:xfrm>
            <a:off x="7420356" y="4937760"/>
            <a:ext cx="457200" cy="457200"/>
          </a:xfrm>
          <a:prstGeom prst="rect">
            <a:avLst/>
          </a:prstGeom>
        </p:spPr>
      </p:pic>
      <p:pic>
        <p:nvPicPr>
          <p:cNvPr id="35" name="Image 12" descr="Connection">    </p:cNvPr>
          <p:cNvPicPr>
            <a:picLocks noChangeAspect="1"/>
          </p:cNvPicPr>
          <p:nvPr/>
        </p:nvPicPr>
        <p:blipFill>
          <a:blip r:embed="rId13"/>
          <a:stretch>
            <a:fillRect/>
          </a:stretch>
        </p:blipFill>
        <p:spPr>
          <a:xfrm>
            <a:off x="6963156" y="5376672"/>
            <a:ext cx="457200" cy="457200"/>
          </a:xfrm>
          <a:prstGeom prst="rect">
            <a:avLst/>
          </a:prstGeom>
        </p:spPr>
      </p:pic>
      <p:pic>
        <p:nvPicPr>
          <p:cNvPr id="36" name="Image 13" descr="Connection">    </p:cNvPr>
          <p:cNvPicPr>
            <a:picLocks noChangeAspect="1"/>
          </p:cNvPicPr>
          <p:nvPr/>
        </p:nvPicPr>
        <p:blipFill>
          <a:blip r:embed="rId14"/>
          <a:stretch>
            <a:fillRect/>
          </a:stretch>
        </p:blipFill>
        <p:spPr>
          <a:xfrm>
            <a:off x="7877556" y="5376672"/>
            <a:ext cx="457200" cy="457200"/>
          </a:xfrm>
          <a:prstGeom prst="rect">
            <a:avLst/>
          </a:prstGeom>
        </p:spPr>
      </p:pic>
      <p:sp>
        <p:nvSpPr>
          <p:cNvPr id="37" name="Bracket 109"/>
          <p:cNvSpPr/>
          <p:nvPr/>
        </p:nvSpPr>
        <p:spPr>
          <a:xfrm>
            <a:off x="9381744" y="2304288"/>
            <a:ext cx="0" cy="1060704"/>
          </a:xfrm>
          <a:prstGeom prst="line">
            <a:avLst/>
          </a:prstGeom>
          <a:noFill/>
          <a:ln w="19050">
            <a:solidFill>
              <a:srgbClr val="93A87B"/>
            </a:solidFill>
            <a:prstDash val="solid"/>
          </a:ln>
        </p:spPr>
      </p:sp>
      <p:sp>
        <p:nvSpPr>
          <p:cNvPr id="38" name="Bracket 110"/>
          <p:cNvSpPr/>
          <p:nvPr/>
        </p:nvSpPr>
        <p:spPr>
          <a:xfrm>
            <a:off x="9381744" y="2304288"/>
            <a:ext cx="109728" cy="0"/>
          </a:xfrm>
          <a:prstGeom prst="line">
            <a:avLst/>
          </a:prstGeom>
          <a:noFill/>
          <a:ln w="19050">
            <a:solidFill>
              <a:srgbClr val="93A87B"/>
            </a:solidFill>
            <a:prstDash val="solid"/>
          </a:ln>
        </p:spPr>
      </p:sp>
      <p:sp>
        <p:nvSpPr>
          <p:cNvPr id="39" name="Bracket 111"/>
          <p:cNvSpPr/>
          <p:nvPr/>
        </p:nvSpPr>
        <p:spPr>
          <a:xfrm>
            <a:off x="9381744" y="3364992"/>
            <a:ext cx="109728" cy="0"/>
          </a:xfrm>
          <a:prstGeom prst="line">
            <a:avLst/>
          </a:prstGeom>
          <a:noFill/>
          <a:ln w="19050">
            <a:solidFill>
              <a:srgbClr val="93A87B"/>
            </a:solidFill>
            <a:prstDash val="solid"/>
          </a:ln>
        </p:spPr>
      </p:sp>
      <p:pic>
        <p:nvPicPr>
          <p:cNvPr id="40" name="Image 14" descr="Connection">    </p:cNvPr>
          <p:cNvPicPr>
            <a:picLocks noChangeAspect="1"/>
          </p:cNvPicPr>
          <p:nvPr/>
        </p:nvPicPr>
        <p:blipFill>
          <a:blip r:embed="rId15"/>
          <a:stretch>
            <a:fillRect/>
          </a:stretch>
        </p:blipFill>
        <p:spPr>
          <a:xfrm>
            <a:off x="10062972" y="2386584"/>
            <a:ext cx="310896" cy="310896"/>
          </a:xfrm>
          <a:prstGeom prst="rect">
            <a:avLst/>
          </a:prstGeom>
        </p:spPr>
      </p:pic>
      <p:pic>
        <p:nvPicPr>
          <p:cNvPr id="41" name="Image 15" descr="Connection">    </p:cNvPr>
          <p:cNvPicPr>
            <a:picLocks noChangeAspect="1"/>
          </p:cNvPicPr>
          <p:nvPr/>
        </p:nvPicPr>
        <p:blipFill>
          <a:blip r:embed="rId16"/>
          <a:stretch>
            <a:fillRect/>
          </a:stretch>
        </p:blipFill>
        <p:spPr>
          <a:xfrm>
            <a:off x="10721340" y="2386584"/>
            <a:ext cx="310896" cy="310896"/>
          </a:xfrm>
          <a:prstGeom prst="rect">
            <a:avLst/>
          </a:prstGeom>
        </p:spPr>
      </p:pic>
      <p:pic>
        <p:nvPicPr>
          <p:cNvPr id="42" name="Image 16" descr="Connection">    </p:cNvPr>
          <p:cNvPicPr>
            <a:picLocks noChangeAspect="1"/>
          </p:cNvPicPr>
          <p:nvPr/>
        </p:nvPicPr>
        <p:blipFill>
          <a:blip r:embed="rId17"/>
          <a:stretch>
            <a:fillRect/>
          </a:stretch>
        </p:blipFill>
        <p:spPr>
          <a:xfrm>
            <a:off x="10392156" y="2679192"/>
            <a:ext cx="310896" cy="310896"/>
          </a:xfrm>
          <a:prstGeom prst="rect">
            <a:avLst/>
          </a:prstGeom>
        </p:spPr>
      </p:pic>
      <p:pic>
        <p:nvPicPr>
          <p:cNvPr id="43" name="Image 17" descr="Connection">    </p:cNvPr>
          <p:cNvPicPr>
            <a:picLocks noChangeAspect="1"/>
          </p:cNvPicPr>
          <p:nvPr/>
        </p:nvPicPr>
        <p:blipFill>
          <a:blip r:embed="rId18"/>
          <a:stretch>
            <a:fillRect/>
          </a:stretch>
        </p:blipFill>
        <p:spPr>
          <a:xfrm>
            <a:off x="10062972" y="2971800"/>
            <a:ext cx="310896" cy="310896"/>
          </a:xfrm>
          <a:prstGeom prst="rect">
            <a:avLst/>
          </a:prstGeom>
        </p:spPr>
      </p:pic>
      <p:pic>
        <p:nvPicPr>
          <p:cNvPr id="44" name="Image 18" descr="Connection">    </p:cNvPr>
          <p:cNvPicPr>
            <a:picLocks noChangeAspect="1"/>
          </p:cNvPicPr>
          <p:nvPr/>
        </p:nvPicPr>
        <p:blipFill>
          <a:blip r:embed="rId19"/>
          <a:stretch>
            <a:fillRect/>
          </a:stretch>
        </p:blipFill>
        <p:spPr>
          <a:xfrm>
            <a:off x="10721340" y="2971800"/>
            <a:ext cx="310896" cy="310896"/>
          </a:xfrm>
          <a:prstGeom prst="rect">
            <a:avLst/>
          </a:prstGeom>
        </p:spPr>
      </p:pic>
      <p:sp>
        <p:nvSpPr>
          <p:cNvPr id="45" name="Bracket 112"/>
          <p:cNvSpPr/>
          <p:nvPr/>
        </p:nvSpPr>
        <p:spPr>
          <a:xfrm>
            <a:off x="9381744" y="3630168"/>
            <a:ext cx="0" cy="1060704"/>
          </a:xfrm>
          <a:prstGeom prst="line">
            <a:avLst/>
          </a:prstGeom>
          <a:noFill/>
          <a:ln w="19050">
            <a:solidFill>
              <a:srgbClr val="93A87B"/>
            </a:solidFill>
            <a:prstDash val="solid"/>
          </a:ln>
        </p:spPr>
      </p:sp>
      <p:sp>
        <p:nvSpPr>
          <p:cNvPr id="46" name="Bracket 113"/>
          <p:cNvSpPr/>
          <p:nvPr/>
        </p:nvSpPr>
        <p:spPr>
          <a:xfrm>
            <a:off x="9381744" y="3630168"/>
            <a:ext cx="109728" cy="0"/>
          </a:xfrm>
          <a:prstGeom prst="line">
            <a:avLst/>
          </a:prstGeom>
          <a:noFill/>
          <a:ln w="19050">
            <a:solidFill>
              <a:srgbClr val="93A87B"/>
            </a:solidFill>
            <a:prstDash val="solid"/>
          </a:ln>
        </p:spPr>
      </p:sp>
      <p:sp>
        <p:nvSpPr>
          <p:cNvPr id="47" name="Bracket 114"/>
          <p:cNvSpPr/>
          <p:nvPr/>
        </p:nvSpPr>
        <p:spPr>
          <a:xfrm>
            <a:off x="9381744" y="4690872"/>
            <a:ext cx="109728" cy="0"/>
          </a:xfrm>
          <a:prstGeom prst="line">
            <a:avLst/>
          </a:prstGeom>
          <a:noFill/>
          <a:ln w="19050">
            <a:solidFill>
              <a:srgbClr val="93A87B"/>
            </a:solidFill>
            <a:prstDash val="solid"/>
          </a:ln>
        </p:spPr>
      </p:sp>
      <p:pic>
        <p:nvPicPr>
          <p:cNvPr id="48" name="Image 19" descr="Connection">    </p:cNvPr>
          <p:cNvPicPr>
            <a:picLocks noChangeAspect="1"/>
          </p:cNvPicPr>
          <p:nvPr/>
        </p:nvPicPr>
        <p:blipFill>
          <a:blip r:embed="rId20"/>
          <a:stretch>
            <a:fillRect/>
          </a:stretch>
        </p:blipFill>
        <p:spPr>
          <a:xfrm>
            <a:off x="10062972" y="3712464"/>
            <a:ext cx="310896" cy="310896"/>
          </a:xfrm>
          <a:prstGeom prst="rect">
            <a:avLst/>
          </a:prstGeom>
        </p:spPr>
      </p:pic>
      <p:pic>
        <p:nvPicPr>
          <p:cNvPr id="49" name="Image 20" descr="Connection">    </p:cNvPr>
          <p:cNvPicPr>
            <a:picLocks noChangeAspect="1"/>
          </p:cNvPicPr>
          <p:nvPr/>
        </p:nvPicPr>
        <p:blipFill>
          <a:blip r:embed="rId21"/>
          <a:stretch>
            <a:fillRect/>
          </a:stretch>
        </p:blipFill>
        <p:spPr>
          <a:xfrm>
            <a:off x="10721340" y="3712464"/>
            <a:ext cx="310896" cy="310896"/>
          </a:xfrm>
          <a:prstGeom prst="rect">
            <a:avLst/>
          </a:prstGeom>
        </p:spPr>
      </p:pic>
      <p:pic>
        <p:nvPicPr>
          <p:cNvPr id="50" name="Image 21" descr="Connection">    </p:cNvPr>
          <p:cNvPicPr>
            <a:picLocks noChangeAspect="1"/>
          </p:cNvPicPr>
          <p:nvPr/>
        </p:nvPicPr>
        <p:blipFill>
          <a:blip r:embed="rId22"/>
          <a:stretch>
            <a:fillRect/>
          </a:stretch>
        </p:blipFill>
        <p:spPr>
          <a:xfrm>
            <a:off x="10392156" y="4005072"/>
            <a:ext cx="310896" cy="310896"/>
          </a:xfrm>
          <a:prstGeom prst="rect">
            <a:avLst/>
          </a:prstGeom>
        </p:spPr>
      </p:pic>
      <p:pic>
        <p:nvPicPr>
          <p:cNvPr id="51" name="Image 22" descr="Connection">    </p:cNvPr>
          <p:cNvPicPr>
            <a:picLocks noChangeAspect="1"/>
          </p:cNvPicPr>
          <p:nvPr/>
        </p:nvPicPr>
        <p:blipFill>
          <a:blip r:embed="rId23"/>
          <a:stretch>
            <a:fillRect/>
          </a:stretch>
        </p:blipFill>
        <p:spPr>
          <a:xfrm>
            <a:off x="10062972" y="4297680"/>
            <a:ext cx="310896" cy="310896"/>
          </a:xfrm>
          <a:prstGeom prst="rect">
            <a:avLst/>
          </a:prstGeom>
        </p:spPr>
      </p:pic>
      <p:pic>
        <p:nvPicPr>
          <p:cNvPr id="52" name="Image 23" descr="Connection">    </p:cNvPr>
          <p:cNvPicPr>
            <a:picLocks noChangeAspect="1"/>
          </p:cNvPicPr>
          <p:nvPr/>
        </p:nvPicPr>
        <p:blipFill>
          <a:blip r:embed="rId24"/>
          <a:stretch>
            <a:fillRect/>
          </a:stretch>
        </p:blipFill>
        <p:spPr>
          <a:xfrm>
            <a:off x="10721340" y="4297680"/>
            <a:ext cx="310896" cy="310896"/>
          </a:xfrm>
          <a:prstGeom prst="rect">
            <a:avLst/>
          </a:prstGeom>
        </p:spPr>
      </p:pic>
      <p:sp>
        <p:nvSpPr>
          <p:cNvPr id="53" name="Bracket 115"/>
          <p:cNvSpPr/>
          <p:nvPr/>
        </p:nvSpPr>
        <p:spPr>
          <a:xfrm>
            <a:off x="9381744" y="4956048"/>
            <a:ext cx="0" cy="1060704"/>
          </a:xfrm>
          <a:prstGeom prst="line">
            <a:avLst/>
          </a:prstGeom>
          <a:noFill/>
          <a:ln w="19050">
            <a:solidFill>
              <a:srgbClr val="93A87B"/>
            </a:solidFill>
            <a:prstDash val="solid"/>
          </a:ln>
        </p:spPr>
      </p:sp>
      <p:sp>
        <p:nvSpPr>
          <p:cNvPr id="54" name="Bracket 116"/>
          <p:cNvSpPr/>
          <p:nvPr/>
        </p:nvSpPr>
        <p:spPr>
          <a:xfrm>
            <a:off x="9381744" y="4956048"/>
            <a:ext cx="109728" cy="0"/>
          </a:xfrm>
          <a:prstGeom prst="line">
            <a:avLst/>
          </a:prstGeom>
          <a:noFill/>
          <a:ln w="19050">
            <a:solidFill>
              <a:srgbClr val="93A87B"/>
            </a:solidFill>
            <a:prstDash val="solid"/>
          </a:ln>
        </p:spPr>
      </p:sp>
      <p:sp>
        <p:nvSpPr>
          <p:cNvPr id="55" name="Bracket 117"/>
          <p:cNvSpPr/>
          <p:nvPr/>
        </p:nvSpPr>
        <p:spPr>
          <a:xfrm>
            <a:off x="9381744" y="6016752"/>
            <a:ext cx="109728" cy="0"/>
          </a:xfrm>
          <a:prstGeom prst="line">
            <a:avLst/>
          </a:prstGeom>
          <a:noFill/>
          <a:ln w="19050">
            <a:solidFill>
              <a:srgbClr val="93A87B"/>
            </a:solidFill>
            <a:prstDash val="solid"/>
          </a:ln>
        </p:spPr>
      </p:sp>
      <p:pic>
        <p:nvPicPr>
          <p:cNvPr id="56" name="Image 24" descr="Connection">    </p:cNvPr>
          <p:cNvPicPr>
            <a:picLocks noChangeAspect="1"/>
          </p:cNvPicPr>
          <p:nvPr/>
        </p:nvPicPr>
        <p:blipFill>
          <a:blip r:embed="rId25"/>
          <a:stretch>
            <a:fillRect/>
          </a:stretch>
        </p:blipFill>
        <p:spPr>
          <a:xfrm>
            <a:off x="10062972" y="5038344"/>
            <a:ext cx="310896" cy="310896"/>
          </a:xfrm>
          <a:prstGeom prst="rect">
            <a:avLst/>
          </a:prstGeom>
        </p:spPr>
      </p:pic>
      <p:pic>
        <p:nvPicPr>
          <p:cNvPr id="57" name="Image 25" descr="Connection">    </p:cNvPr>
          <p:cNvPicPr>
            <a:picLocks noChangeAspect="1"/>
          </p:cNvPicPr>
          <p:nvPr/>
        </p:nvPicPr>
        <p:blipFill>
          <a:blip r:embed="rId26"/>
          <a:stretch>
            <a:fillRect/>
          </a:stretch>
        </p:blipFill>
        <p:spPr>
          <a:xfrm>
            <a:off x="10721340" y="5038344"/>
            <a:ext cx="310896" cy="310896"/>
          </a:xfrm>
          <a:prstGeom prst="rect">
            <a:avLst/>
          </a:prstGeom>
        </p:spPr>
      </p:pic>
      <p:pic>
        <p:nvPicPr>
          <p:cNvPr id="58" name="Image 26" descr="Connection">    </p:cNvPr>
          <p:cNvPicPr>
            <a:picLocks noChangeAspect="1"/>
          </p:cNvPicPr>
          <p:nvPr/>
        </p:nvPicPr>
        <p:blipFill>
          <a:blip r:embed="rId27"/>
          <a:stretch>
            <a:fillRect/>
          </a:stretch>
        </p:blipFill>
        <p:spPr>
          <a:xfrm>
            <a:off x="10392156" y="5330952"/>
            <a:ext cx="310896" cy="310896"/>
          </a:xfrm>
          <a:prstGeom prst="rect">
            <a:avLst/>
          </a:prstGeom>
        </p:spPr>
      </p:pic>
      <p:pic>
        <p:nvPicPr>
          <p:cNvPr id="59" name="Image 27" descr="Connection">    </p:cNvPr>
          <p:cNvPicPr>
            <a:picLocks noChangeAspect="1"/>
          </p:cNvPicPr>
          <p:nvPr/>
        </p:nvPicPr>
        <p:blipFill>
          <a:blip r:embed="rId28"/>
          <a:stretch>
            <a:fillRect/>
          </a:stretch>
        </p:blipFill>
        <p:spPr>
          <a:xfrm>
            <a:off x="10062972" y="5623560"/>
            <a:ext cx="310896" cy="310896"/>
          </a:xfrm>
          <a:prstGeom prst="rect">
            <a:avLst/>
          </a:prstGeom>
        </p:spPr>
      </p:pic>
      <p:pic>
        <p:nvPicPr>
          <p:cNvPr id="60" name="Image 28" descr="Connection">    </p:cNvPr>
          <p:cNvPicPr>
            <a:picLocks noChangeAspect="1"/>
          </p:cNvPicPr>
          <p:nvPr/>
        </p:nvPicPr>
        <p:blipFill>
          <a:blip r:embed="rId29"/>
          <a:stretch>
            <a:fillRect/>
          </a:stretch>
        </p:blipFill>
        <p:spPr>
          <a:xfrm>
            <a:off x="10721340" y="5623560"/>
            <a:ext cx="310896" cy="310896"/>
          </a:xfrm>
          <a:prstGeom prst="rect">
            <a:avLst/>
          </a:prstGeom>
        </p:spPr>
      </p:pic>
      <p:sp>
        <p:nvSpPr>
          <p:cNvPr id="61" name="Spacer"/>
          <p:cNvSpPr txBox="1"/>
          <p:nvPr/>
        </p:nvSpPr>
        <p:spPr>
          <a:xfrm>
            <a:off x="365760" y="6309360"/>
            <a:ext cx="8229600" cy="182880"/>
          </a:xfrm>
          <a:prstGeom prst="rect">
            <a:avLst/>
          </a:prstGeom>
          <a:noFill/>
          <a:ln/>
        </p:spPr>
        <p:txBody>
          <a:bodyPr wrap="square" lIns="0" tIns="0" rIns="0" bIns="0" rtlCol="0" anchor="ctr"/>
          <a:lstStyle/>
          <a:p>
            <a:pPr indent="0" marL="0">
              <a:buNone/>
            </a:pPr>
            <a:r>
              <a:rPr lang="en-US" sz="100" dirty="0">
                <a:solidFill>
                  <a:srgbClr val="F5F7F0"/>
                </a:solidFill>
              </a:rPr>
              <a:t>Every warm introduction unlocks the next ring of the network. The ask costs nothing; the reach compounds.</a:t>
            </a:r>
            <a:endParaRPr lang="en-US" sz="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LEVER 03  ·  REFERRALS  ·  CASE STUDY</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WorkWave: referrals from a standing start</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WorkWave, an IFS company, via Hg Growth Summit 2025</a:t>
            </a:r>
            <a:endParaRPr lang="en-US" sz="1000" dirty="0"/>
          </a:p>
        </p:txBody>
      </p:sp>
      <p:sp>
        <p:nvSpPr>
          <p:cNvPr id="5" name="Lead-in"/>
          <p:cNvSpPr txBox="1"/>
          <p:nvPr/>
        </p:nvSpPr>
        <p:spPr>
          <a:xfrm>
            <a:off x="365760" y="1828800"/>
            <a:ext cx="11457432" cy="548640"/>
          </a:xfrm>
          <a:prstGeom prst="rect">
            <a:avLst/>
          </a:prstGeom>
          <a:noFill/>
          <a:ln/>
        </p:spPr>
        <p:txBody>
          <a:bodyPr wrap="square" lIns="0" tIns="0" rIns="0" bIns="0" rtlCol="0" anchor="ctr"/>
          <a:lstStyle/>
          <a:p>
            <a:pPr algn="ctr" indent="0" marL="0">
              <a:buNone/>
            </a:pPr>
            <a:r>
              <a:rPr lang="en-US" sz="2400" dirty="0">
                <a:solidFill>
                  <a:schemeClr val="accent6"/>
                </a:solidFill>
              </a:rPr>
              <a:t>In one month, bookings from referrals increased</a:t>
            </a:r>
            <a:endParaRPr lang="en-US" sz="2400" dirty="0"/>
          </a:p>
        </p:txBody>
      </p:sp>
      <p:sp>
        <p:nvSpPr>
          <p:cNvPr id="6" name="Before"/>
          <p:cNvSpPr txBox="1"/>
          <p:nvPr/>
        </p:nvSpPr>
        <p:spPr>
          <a:xfrm>
            <a:off x="2011680" y="2560320"/>
            <a:ext cx="3108960" cy="2011680"/>
          </a:xfrm>
          <a:prstGeom prst="rect">
            <a:avLst/>
          </a:prstGeom>
          <a:noFill/>
          <a:ln/>
        </p:spPr>
        <p:txBody>
          <a:bodyPr wrap="square" lIns="0" tIns="0" rIns="0" bIns="0" rtlCol="0" anchor="ctr"/>
          <a:lstStyle/>
          <a:p>
            <a:pPr algn="r" indent="0" marL="0">
              <a:buNone/>
            </a:pPr>
            <a:r>
              <a:rPr lang="en-US" sz="14000" dirty="0">
                <a:solidFill>
                  <a:srgbClr val="C9D3C0"/>
                </a:solidFill>
                <a:latin typeface="Georgia" pitchFamily="34" charset="0"/>
                <a:ea typeface="Georgia" pitchFamily="34" charset="-122"/>
                <a:cs typeface="Georgia" pitchFamily="34" charset="-120"/>
              </a:rPr>
              <a:t>0%</a:t>
            </a:r>
            <a:endParaRPr lang="en-US" sz="14000" dirty="0"/>
          </a:p>
        </p:txBody>
      </p:sp>
      <p:pic>
        <p:nvPicPr>
          <p:cNvPr id="7" name="Image 0" descr="Increase arrow">    </p:cNvPr>
          <p:cNvPicPr>
            <a:picLocks noChangeAspect="1"/>
          </p:cNvPicPr>
          <p:nvPr/>
        </p:nvPicPr>
        <p:blipFill>
          <a:blip r:embed="rId1"/>
          <a:stretch>
            <a:fillRect/>
          </a:stretch>
        </p:blipFill>
        <p:spPr>
          <a:xfrm>
            <a:off x="5349240" y="3063240"/>
            <a:ext cx="1097280" cy="1097280"/>
          </a:xfrm>
          <a:prstGeom prst="rect">
            <a:avLst/>
          </a:prstGeom>
        </p:spPr>
      </p:pic>
      <p:sp>
        <p:nvSpPr>
          <p:cNvPr id="8" name="After"/>
          <p:cNvSpPr txBox="1"/>
          <p:nvPr/>
        </p:nvSpPr>
        <p:spPr>
          <a:xfrm>
            <a:off x="6583680" y="2560320"/>
            <a:ext cx="4023360" cy="2011680"/>
          </a:xfrm>
          <a:prstGeom prst="rect">
            <a:avLst/>
          </a:prstGeom>
          <a:noFill/>
          <a:ln/>
        </p:spPr>
        <p:txBody>
          <a:bodyPr wrap="square" lIns="0" tIns="0" rIns="0" bIns="0" rtlCol="0" anchor="ctr"/>
          <a:lstStyle/>
          <a:p>
            <a:pPr algn="l" indent="0" marL="0">
              <a:buNone/>
            </a:pPr>
            <a:r>
              <a:rPr lang="en-US" sz="14000" dirty="0">
                <a:solidFill>
                  <a:srgbClr val="93A87B"/>
                </a:solidFill>
                <a:latin typeface="Georgia" pitchFamily="34" charset="0"/>
                <a:ea typeface="Georgia" pitchFamily="34" charset="-122"/>
                <a:cs typeface="Georgia" pitchFamily="34" charset="-120"/>
              </a:rPr>
              <a:t>10%</a:t>
            </a:r>
            <a:endParaRPr lang="en-US" sz="14000" dirty="0"/>
          </a:p>
        </p:txBody>
      </p:sp>
      <p:sp>
        <p:nvSpPr>
          <p:cNvPr id="9" name="Insight"/>
          <p:cNvSpPr/>
          <p:nvPr/>
        </p:nvSpPr>
        <p:spPr>
          <a:xfrm>
            <a:off x="3813048" y="5074920"/>
            <a:ext cx="4572000" cy="548640"/>
          </a:xfrm>
          <a:prstGeom prst="roundRect">
            <a:avLst>
              <a:gd name="adj" fmla="val 50000"/>
            </a:avLst>
          </a:prstGeom>
          <a:solidFill>
            <a:srgbClr val="1F3529"/>
          </a:solidFill>
          <a:ln w="9525">
            <a:solidFill>
              <a:srgbClr val="93A87B">
                <a:alpha val="50000"/>
              </a:srgbClr>
            </a:solidFill>
          </a:ln>
        </p:spPr>
        <p:txBody>
          <a:bodyPr wrap="square" lIns="0" tIns="0" rIns="0" bIns="0" rtlCol="0" anchor="ctr"/>
          <a:lstStyle/>
          <a:p>
            <a:pPr algn="ctr" indent="0" marL="0">
              <a:buNone/>
            </a:pPr>
            <a:r>
              <a:rPr lang="en-US" sz="1500" dirty="0">
                <a:solidFill>
                  <a:schemeClr val="bg2"/>
                </a:solidFill>
              </a:rPr>
              <a:t>No new tools. Just a habit of asking.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04  ·  MULTI-TOUCH</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Use tech to get efficiency</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 Cadence reconstructed from the presented example.</a:t>
            </a:r>
            <a:endParaRPr lang="en-US" sz="1000" dirty="0"/>
          </a:p>
        </p:txBody>
      </p:sp>
      <p:sp>
        <p:nvSpPr>
          <p:cNvPr id="5" name="Panel 118"/>
          <p:cNvSpPr/>
          <p:nvPr/>
        </p:nvSpPr>
        <p:spPr>
          <a:xfrm>
            <a:off x="365760" y="1371600"/>
            <a:ext cx="2743200" cy="4892040"/>
          </a:xfrm>
          <a:prstGeom prst="roundRect">
            <a:avLst>
              <a:gd name="adj" fmla="val 4667"/>
            </a:avLst>
          </a:prstGeom>
          <a:solidFill>
            <a:srgbClr val="FFFFFF"/>
          </a:solidFill>
          <a:ln/>
          <a:effectLst>
            <a:outerShdw sx="100000" sy="100000" kx="0" ky="0" algn="bl" rotWithShape="0" blurRad="177800" dist="50800" dir="5400000">
              <a:srgbClr val="16261D">
                <a:alpha val="14000"/>
              </a:srgbClr>
            </a:outerShdw>
          </a:effectLst>
        </p:spPr>
      </p:sp>
      <p:sp>
        <p:nvSpPr>
          <p:cNvPr id="6" name="Panel title 119"/>
          <p:cNvSpPr txBox="1"/>
          <p:nvPr/>
        </p:nvSpPr>
        <p:spPr>
          <a:xfrm>
            <a:off x="640080" y="1554480"/>
            <a:ext cx="2194560" cy="411480"/>
          </a:xfrm>
          <a:prstGeom prst="rect">
            <a:avLst/>
          </a:prstGeom>
          <a:noFill/>
          <a:ln/>
        </p:spPr>
        <p:txBody>
          <a:bodyPr wrap="square" lIns="0" tIns="0" rIns="0" bIns="0" rtlCol="0" anchor="ctr"/>
          <a:lstStyle/>
          <a:p>
            <a:pPr indent="0" marL="0">
              <a:buNone/>
            </a:pPr>
            <a:r>
              <a:rPr lang="en-US" sz="1800" b="1" dirty="0">
                <a:solidFill>
                  <a:schemeClr val="tx1"/>
                </a:solidFill>
              </a:rPr>
              <a:t>Median tech stack</a:t>
            </a:r>
            <a:endParaRPr lang="en-US" sz="1800" dirty="0"/>
          </a:p>
        </p:txBody>
      </p:sp>
      <p:sp>
        <p:nvSpPr>
          <p:cNvPr id="7" name="Tool 120"/>
          <p:cNvSpPr/>
          <p:nvPr/>
        </p:nvSpPr>
        <p:spPr>
          <a:xfrm>
            <a:off x="640080" y="2148840"/>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Salesforce</a:t>
            </a:r>
            <a:endParaRPr lang="en-US" sz="1600" dirty="0"/>
          </a:p>
        </p:txBody>
      </p:sp>
      <p:sp>
        <p:nvSpPr>
          <p:cNvPr id="8" name="Tool 121"/>
          <p:cNvSpPr/>
          <p:nvPr/>
        </p:nvSpPr>
        <p:spPr>
          <a:xfrm>
            <a:off x="640080" y="2862072"/>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ZoomInfo</a:t>
            </a:r>
            <a:endParaRPr lang="en-US" sz="1600" dirty="0"/>
          </a:p>
        </p:txBody>
      </p:sp>
      <p:sp>
        <p:nvSpPr>
          <p:cNvPr id="9" name="Tool 122"/>
          <p:cNvSpPr/>
          <p:nvPr/>
        </p:nvSpPr>
        <p:spPr>
          <a:xfrm>
            <a:off x="640080" y="3575304"/>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6sense</a:t>
            </a:r>
            <a:endParaRPr lang="en-US" sz="1600" dirty="0"/>
          </a:p>
        </p:txBody>
      </p:sp>
      <p:sp>
        <p:nvSpPr>
          <p:cNvPr id="10" name="Tool 123"/>
          <p:cNvSpPr/>
          <p:nvPr/>
        </p:nvSpPr>
        <p:spPr>
          <a:xfrm>
            <a:off x="640080" y="4288536"/>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Gong</a:t>
            </a:r>
            <a:endParaRPr lang="en-US" sz="1600" dirty="0"/>
          </a:p>
        </p:txBody>
      </p:sp>
      <p:sp>
        <p:nvSpPr>
          <p:cNvPr id="11" name="Tool 124"/>
          <p:cNvSpPr/>
          <p:nvPr/>
        </p:nvSpPr>
        <p:spPr>
          <a:xfrm>
            <a:off x="640080" y="5001768"/>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Salesloft</a:t>
            </a:r>
            <a:endParaRPr lang="en-US" sz="1600" dirty="0"/>
          </a:p>
        </p:txBody>
      </p:sp>
      <p:sp>
        <p:nvSpPr>
          <p:cNvPr id="12" name="Panel 125"/>
          <p:cNvSpPr/>
          <p:nvPr/>
        </p:nvSpPr>
        <p:spPr>
          <a:xfrm>
            <a:off x="3291840" y="1371600"/>
            <a:ext cx="2743200" cy="4892040"/>
          </a:xfrm>
          <a:prstGeom prst="roundRect">
            <a:avLst>
              <a:gd name="adj" fmla="val 4667"/>
            </a:avLst>
          </a:prstGeom>
          <a:solidFill>
            <a:srgbClr val="FFFFFF"/>
          </a:solidFill>
          <a:ln/>
          <a:effectLst>
            <a:outerShdw sx="100000" sy="100000" kx="0" ky="0" algn="bl" rotWithShape="0" blurRad="177800" dist="50800" dir="5400000">
              <a:srgbClr val="16261D">
                <a:alpha val="14000"/>
              </a:srgbClr>
            </a:outerShdw>
          </a:effectLst>
        </p:spPr>
      </p:sp>
      <p:sp>
        <p:nvSpPr>
          <p:cNvPr id="13" name="Panel title 126"/>
          <p:cNvSpPr txBox="1"/>
          <p:nvPr/>
        </p:nvSpPr>
        <p:spPr>
          <a:xfrm>
            <a:off x="3566160" y="1554480"/>
            <a:ext cx="2194560" cy="411480"/>
          </a:xfrm>
          <a:prstGeom prst="rect">
            <a:avLst/>
          </a:prstGeom>
          <a:noFill/>
          <a:ln/>
        </p:spPr>
        <p:txBody>
          <a:bodyPr wrap="square" lIns="0" tIns="0" rIns="0" bIns="0" rtlCol="0" anchor="ctr"/>
          <a:lstStyle/>
          <a:p>
            <a:pPr indent="0" marL="0">
              <a:buNone/>
            </a:pPr>
            <a:r>
              <a:rPr lang="en-US" sz="1800" b="1" dirty="0">
                <a:solidFill>
                  <a:schemeClr val="tx1"/>
                </a:solidFill>
              </a:rPr>
              <a:t>AI automation</a:t>
            </a:r>
            <a:endParaRPr lang="en-US" sz="1800" dirty="0"/>
          </a:p>
        </p:txBody>
      </p:sp>
      <p:sp>
        <p:nvSpPr>
          <p:cNvPr id="14" name="Tool 127"/>
          <p:cNvSpPr/>
          <p:nvPr/>
        </p:nvSpPr>
        <p:spPr>
          <a:xfrm>
            <a:off x="3566160" y="2148840"/>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Salesforce</a:t>
            </a:r>
            <a:endParaRPr lang="en-US" sz="1600" dirty="0"/>
          </a:p>
        </p:txBody>
      </p:sp>
      <p:sp>
        <p:nvSpPr>
          <p:cNvPr id="15" name="Tool 128"/>
          <p:cNvSpPr/>
          <p:nvPr/>
        </p:nvSpPr>
        <p:spPr>
          <a:xfrm>
            <a:off x="3566160" y="2862072"/>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Clay</a:t>
            </a:r>
            <a:endParaRPr lang="en-US" sz="1600" dirty="0"/>
          </a:p>
        </p:txBody>
      </p:sp>
      <p:sp>
        <p:nvSpPr>
          <p:cNvPr id="16" name="Tool 129"/>
          <p:cNvSpPr/>
          <p:nvPr/>
        </p:nvSpPr>
        <p:spPr>
          <a:xfrm>
            <a:off x="3566160" y="3575304"/>
            <a:ext cx="2194560" cy="566928"/>
          </a:xfrm>
          <a:prstGeom prst="roundRect">
            <a:avLst>
              <a:gd name="adj" fmla="val 19355"/>
            </a:avLst>
          </a:prstGeom>
          <a:solidFill>
            <a:srgbClr val="F5F7F0"/>
          </a:solidFill>
          <a:ln w="9525">
            <a:solidFill>
              <a:srgbClr val="D2D8CD"/>
            </a:solidFill>
          </a:ln>
        </p:spPr>
        <p:txBody>
          <a:bodyPr wrap="square" lIns="0" tIns="0" rIns="0" bIns="0" rtlCol="0" anchor="ctr"/>
          <a:lstStyle/>
          <a:p>
            <a:pPr algn="ctr" indent="0" marL="0">
              <a:buNone/>
            </a:pPr>
            <a:r>
              <a:rPr lang="en-US" sz="1600" b="1" dirty="0">
                <a:solidFill>
                  <a:srgbClr val="1F3529"/>
                </a:solidFill>
              </a:rPr>
              <a:t>Ebsta</a:t>
            </a:r>
            <a:endParaRPr lang="en-US" sz="1600" dirty="0"/>
          </a:p>
        </p:txBody>
      </p:sp>
      <p:sp>
        <p:nvSpPr>
          <p:cNvPr id="17" name="Panel 130"/>
          <p:cNvSpPr/>
          <p:nvPr/>
        </p:nvSpPr>
        <p:spPr>
          <a:xfrm>
            <a:off x="6217920" y="1371600"/>
            <a:ext cx="5605272" cy="4892040"/>
          </a:xfrm>
          <a:prstGeom prst="roundRect">
            <a:avLst>
              <a:gd name="adj" fmla="val 2617"/>
            </a:avLst>
          </a:prstGeom>
          <a:solidFill>
            <a:srgbClr val="FFFFFF"/>
          </a:solidFill>
          <a:ln/>
          <a:effectLst>
            <a:outerShdw sx="100000" sy="100000" kx="0" ky="0" algn="bl" rotWithShape="0" blurRad="177800" dist="50800" dir="5400000">
              <a:srgbClr val="16261D">
                <a:alpha val="14000"/>
              </a:srgbClr>
            </a:outerShdw>
          </a:effectLst>
        </p:spPr>
      </p:sp>
      <p:sp>
        <p:nvSpPr>
          <p:cNvPr id="18" name="Panel title 131"/>
          <p:cNvSpPr txBox="1"/>
          <p:nvPr/>
        </p:nvSpPr>
        <p:spPr>
          <a:xfrm>
            <a:off x="6492240" y="1554480"/>
            <a:ext cx="5056632" cy="411480"/>
          </a:xfrm>
          <a:prstGeom prst="rect">
            <a:avLst/>
          </a:prstGeom>
          <a:noFill/>
          <a:ln/>
        </p:spPr>
        <p:txBody>
          <a:bodyPr wrap="square" lIns="0" tIns="0" rIns="0" bIns="0" rtlCol="0" anchor="ctr"/>
          <a:lstStyle/>
          <a:p>
            <a:pPr indent="0" marL="0">
              <a:buNone/>
            </a:pPr>
            <a:r>
              <a:rPr lang="en-US" sz="1800" b="1" dirty="0">
                <a:solidFill>
                  <a:schemeClr val="tx1"/>
                </a:solidFill>
              </a:rPr>
              <a:t>Cadences: a 21-day example</a:t>
            </a:r>
            <a:endParaRPr lang="en-US" sz="1800" dirty="0"/>
          </a:p>
        </p:txBody>
      </p:sp>
      <p:graphicFrame>
        <p:nvGraphicFramePr>
          <p:cNvPr id="12" name="Cadence table"/>
          <p:cNvGraphicFramePr>
            <a:graphicFrameLocks noGrp="1"/>
          </p:cNvGraphicFramePr>
          <p:nvPr>
            <p:extLst>
              <p:ext uri="{D42A27DB-BD31-4B8C-83A1-F6EECF244321}">
                <p14:modId xmlns:p14="http://schemas.microsoft.com/office/powerpoint/2010/main" val="1579011935"/>
              </p:ext>
            </p:extLst>
          </p:nvPr>
        </p:nvGraphicFramePr>
        <p:xfrm>
          <a:off x="6492240" y="2103120"/>
          <a:ext cx="5056632" cy="914400"/>
        </p:xfrm>
        <a:graphic>
          <a:graphicData uri="http://schemas.openxmlformats.org/drawingml/2006/table">
            <a:tbl>
              <a:tblPr/>
              <a:tblGrid>
                <a:gridCol w="1097280"/>
                <a:gridCol w="1280160"/>
                <a:gridCol w="2679192"/>
              </a:tblGrid>
              <a:tr h="329184">
                <a:tc>
                  <a:txBody>
                    <a:bodyPr/>
                    <a:lstStyle/>
                    <a:p>
                      <a:pPr indent="0" marL="0">
                        <a:buNone/>
                      </a:pPr>
                      <a:r>
                        <a:rPr lang="en-US" sz="1100" b="1" dirty="0">
                          <a:solidFill>
                            <a:srgbClr val="F5F7F0"/>
                          </a:solidFill>
                          <a:latin typeface="+mn-lt" pitchFamily="34" charset="0"/>
                          <a:ea typeface="+mn-lt" pitchFamily="34" charset="-122"/>
                          <a:cs typeface="+mn-lt" pitchFamily="34" charset="-120"/>
                        </a:rPr>
                        <a:t>Day</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100" b="1" dirty="0">
                          <a:solidFill>
                            <a:srgbClr val="F5F7F0"/>
                          </a:solidFill>
                          <a:latin typeface="+mn-lt" pitchFamily="34" charset="0"/>
                          <a:ea typeface="+mn-lt" pitchFamily="34" charset="-122"/>
                          <a:cs typeface="+mn-lt" pitchFamily="34" charset="-120"/>
                        </a:rPr>
                        <a:t>Channel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100" b="1" dirty="0">
                          <a:solidFill>
                            <a:srgbClr val="F5F7F0"/>
                          </a:solidFill>
                          <a:latin typeface="+mn-lt" pitchFamily="34" charset="0"/>
                          <a:ea typeface="+mn-lt" pitchFamily="34" charset="-122"/>
                          <a:cs typeface="+mn-lt" pitchFamily="34" charset="-120"/>
                        </a:rPr>
                        <a:t>Touch</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1F3529"/>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1</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LinkedIn</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Connection request</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2</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3</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Call + 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Cold call, voicemail and 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5</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Cold 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7</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Cold 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Days 7–10</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Video</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Personal video</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10</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13</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Cold call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15</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18</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Call + 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Cold call, voicemail and 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3529"/>
                          </a:solidFill>
                          <a:latin typeface="+mn-lt" pitchFamily="34" charset="0"/>
                          <a:ea typeface="+mn-lt" pitchFamily="34" charset="-122"/>
                          <a:cs typeface="+mn-lt" pitchFamily="34" charset="-120"/>
                        </a:rPr>
                        <a:t>Day 21</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100" dirty="0">
                          <a:solidFill>
                            <a:srgbClr val="20241F"/>
                          </a:solidFill>
                          <a:latin typeface="+mn-lt" pitchFamily="34" charset="0"/>
                          <a:ea typeface="+mn-lt" pitchFamily="34" charset="-122"/>
                          <a:cs typeface="+mn-lt" pitchFamily="34" charset="-120"/>
                        </a:rPr>
                        <a:t>Break-up email</a:t>
                      </a:r>
                      <a:endParaRPr lang="en-US" sz="1100" dirty="0">
                        <a:latin typeface="+mn-lt" charset="0"/>
                        <a:ea typeface="+mn-lt" charset="0"/>
                        <a:cs typeface="+mn-lt" charset="0"/>
                      </a:endParaRPr>
                    </a:p>
                  </a:txBody>
                  <a:tcPr marL="101600" marR="76200" marT="25400" marB="25400" anchor="ctr">
                    <a:lnL w="6350" cap="flat" cmpd="sng" algn="ctr">
                      <a:solidFill>
                        <a:srgbClr val="D2D8CD"/>
                      </a:solidFill>
                      <a:prstDash val="solid"/>
                      <a:round/>
                      <a:headEnd type="none" w="med" len="med"/>
                      <a:tailEnd type="none" w="med" len="med"/>
                    </a:lnL>
                    <a:lnR w="6350" cap="flat" cmpd="sng" algn="ctr">
                      <a:solidFill>
                        <a:srgbClr val="D2D8CD"/>
                      </a:solidFill>
                      <a:prstDash val="solid"/>
                      <a:round/>
                      <a:headEnd type="none" w="med" len="med"/>
                      <a:tailEnd type="none" w="med" len="med"/>
                    </a:lnR>
                    <a:lnT w="6350" cap="flat" cmpd="sng" algn="ctr">
                      <a:solidFill>
                        <a:srgbClr val="D2D8CD"/>
                      </a:solidFill>
                      <a:prstDash val="solid"/>
                      <a:round/>
                      <a:headEnd type="none" w="med" len="med"/>
                      <a:tailEnd type="none" w="med" len="med"/>
                    </a:lnT>
                    <a:lnB w="6350" cap="flat" cmpd="sng" algn="ctr">
                      <a:solidFill>
                        <a:srgbClr val="D2D8CD"/>
                      </a:solidFill>
                      <a:prstDash val="solid"/>
                      <a:round/>
                      <a:headEnd type="none" w="med" len="med"/>
                      <a:tailEnd type="none" w="med" len="med"/>
                    </a:lnB>
                    <a:solidFill>
                      <a:srgbClr val="F5F7F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LEVER 05–06  ·  MESSAGING AND PERSONALISATION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How to use AI today</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AI panel 132"/>
          <p:cNvSpPr/>
          <p:nvPr/>
        </p:nvSpPr>
        <p:spPr>
          <a:xfrm>
            <a:off x="365760" y="1417320"/>
            <a:ext cx="5605272" cy="4800600"/>
          </a:xfrm>
          <a:prstGeom prst="roundRect">
            <a:avLst>
              <a:gd name="adj" fmla="val 2667"/>
            </a:avLst>
          </a:prstGeom>
          <a:solidFill>
            <a:srgbClr val="1F3529"/>
          </a:solidFill>
          <a:ln w="12700">
            <a:solidFill>
              <a:srgbClr val="93A87B">
                <a:alpha val="40000"/>
              </a:srgbClr>
            </a:solidFill>
            <a:prstDash val="solid"/>
          </a:ln>
          <a:effectLst>
            <a:outerShdw sx="100000" sy="100000" kx="0" ky="0" algn="bl" rotWithShape="0" blurRad="304800" dist="50800" dir="5400000">
              <a:srgbClr val="16261D">
                <a:alpha val="35000"/>
              </a:srgbClr>
            </a:outerShdw>
          </a:effectLst>
        </p:spPr>
      </p:sp>
      <p:sp>
        <p:nvSpPr>
          <p:cNvPr id="6" name="Icon badge 133"/>
          <p:cNvSpPr/>
          <p:nvPr/>
        </p:nvSpPr>
        <p:spPr>
          <a:xfrm>
            <a:off x="731520" y="1737360"/>
            <a:ext cx="731520" cy="731520"/>
          </a:xfrm>
          <a:prstGeom prst="ellipse">
            <a:avLst/>
          </a:prstGeom>
          <a:solidFill>
            <a:srgbClr val="93A87B"/>
          </a:solidFill>
          <a:ln/>
        </p:spPr>
      </p:sp>
      <p:pic>
        <p:nvPicPr>
          <p:cNvPr id="7" name="Image 0" descr="Inbox icon">    </p:cNvPr>
          <p:cNvPicPr>
            <a:picLocks noChangeAspect="1"/>
          </p:cNvPicPr>
          <p:nvPr/>
        </p:nvPicPr>
        <p:blipFill>
          <a:blip r:embed="rId1"/>
          <a:stretch>
            <a:fillRect/>
          </a:stretch>
        </p:blipFill>
        <p:spPr>
          <a:xfrm>
            <a:off x="892454" y="1898294"/>
            <a:ext cx="409651" cy="409651"/>
          </a:xfrm>
          <a:prstGeom prst="rect">
            <a:avLst/>
          </a:prstGeom>
        </p:spPr>
      </p:pic>
      <p:sp>
        <p:nvSpPr>
          <p:cNvPr id="8" name="Side title 134"/>
          <p:cNvSpPr txBox="1"/>
          <p:nvPr/>
        </p:nvSpPr>
        <p:spPr>
          <a:xfrm>
            <a:off x="1645920" y="1737360"/>
            <a:ext cx="3657600" cy="731520"/>
          </a:xfrm>
          <a:prstGeom prst="rect">
            <a:avLst/>
          </a:prstGeom>
          <a:noFill/>
          <a:ln/>
        </p:spPr>
        <p:txBody>
          <a:bodyPr wrap="square" lIns="0" tIns="0" rIns="0" bIns="0" rtlCol="0" anchor="ctr"/>
          <a:lstStyle/>
          <a:p>
            <a:pPr indent="0" marL="0">
              <a:buNone/>
            </a:pPr>
            <a:r>
              <a:rPr lang="en-US" sz="3000" dirty="0">
                <a:solidFill>
                  <a:schemeClr val="bg2"/>
                </a:solidFill>
                <a:latin typeface="Georgia" pitchFamily="34" charset="0"/>
                <a:ea typeface="Georgia" pitchFamily="34" charset="-122"/>
                <a:cs typeface="Georgia" pitchFamily="34" charset="-120"/>
              </a:rPr>
              <a:t>Inbound</a:t>
            </a:r>
            <a:endParaRPr lang="en-US" sz="3000" dirty="0"/>
          </a:p>
        </p:txBody>
      </p:sp>
      <p:sp>
        <p:nvSpPr>
          <p:cNvPr id="9" name="Uses 135"/>
          <p:cNvSpPr txBox="1"/>
          <p:nvPr/>
        </p:nvSpPr>
        <p:spPr>
          <a:xfrm>
            <a:off x="731520" y="2743200"/>
            <a:ext cx="4873752" cy="18288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2"/>
                </a:solidFill>
              </a:rPr>
              <a:t>Automate qualification</a:t>
            </a:r>
            <a:endParaRPr lang="en-US" sz="1700" dirty="0"/>
          </a:p>
          <a:p>
            <a:pPr marL="228600" indent="-228600">
              <a:spcAft>
                <a:spcPts val="1000"/>
              </a:spcAft>
              <a:buSzPct val="100000"/>
              <a:buChar char="•"/>
            </a:pPr>
            <a:r>
              <a:rPr lang="en-US" sz="1700" dirty="0">
                <a:solidFill>
                  <a:schemeClr val="bg2"/>
                </a:solidFill>
              </a:rPr>
              <a:t>Train AI on your top-performing cadences</a:t>
            </a:r>
            <a:endParaRPr lang="en-US" sz="1700" dirty="0"/>
          </a:p>
          <a:p>
            <a:pPr marL="228600" indent="-228600">
              <a:spcAft>
                <a:spcPts val="1000"/>
              </a:spcAft>
              <a:buSzPct val="100000"/>
              <a:buChar char="•"/>
            </a:pPr>
            <a:r>
              <a:rPr lang="en-US" sz="1700" dirty="0">
                <a:solidFill>
                  <a:schemeClr val="bg2"/>
                </a:solidFill>
              </a:rPr>
              <a:t>Run nurture streams</a:t>
            </a:r>
            <a:endParaRPr lang="en-US" sz="1700" dirty="0"/>
          </a:p>
        </p:txBody>
      </p:sp>
      <p:sp>
        <p:nvSpPr>
          <p:cNvPr id="10" name="Tools label 136"/>
          <p:cNvSpPr txBox="1"/>
          <p:nvPr/>
        </p:nvSpPr>
        <p:spPr>
          <a:xfrm>
            <a:off x="731520" y="4937760"/>
            <a:ext cx="1828800" cy="228600"/>
          </a:xfrm>
          <a:prstGeom prst="rect">
            <a:avLst/>
          </a:prstGeom>
          <a:noFill/>
          <a:ln/>
        </p:spPr>
        <p:txBody>
          <a:bodyPr wrap="square" lIns="0" tIns="0" rIns="0" bIns="0" rtlCol="0" anchor="ctr"/>
          <a:lstStyle/>
          <a:p>
            <a:pPr indent="0" marL="0">
              <a:buNone/>
            </a:pPr>
            <a:r>
              <a:rPr lang="en-US" sz="900" b="1" spc="200" kern="0" dirty="0">
                <a:solidFill>
                  <a:schemeClr val="accent6"/>
                </a:solidFill>
              </a:rPr>
              <a:t>TOOLS</a:t>
            </a:r>
            <a:endParaRPr lang="en-US" sz="900" dirty="0"/>
          </a:p>
        </p:txBody>
      </p:sp>
      <p:sp>
        <p:nvSpPr>
          <p:cNvPr id="11" name="Tool 137"/>
          <p:cNvSpPr/>
          <p:nvPr/>
        </p:nvSpPr>
        <p:spPr>
          <a:xfrm>
            <a:off x="731520" y="5257800"/>
            <a:ext cx="1691640" cy="384048"/>
          </a:xfrm>
          <a:prstGeom prst="roundRect">
            <a:avLst>
              <a:gd name="adj" fmla="val 47619"/>
            </a:avLst>
          </a:prstGeom>
          <a:solidFill>
            <a:srgbClr val="F5F7F0"/>
          </a:solidFill>
          <a:ln/>
        </p:spPr>
        <p:txBody>
          <a:bodyPr wrap="square" lIns="0" tIns="0" rIns="0" bIns="0" rtlCol="0" anchor="ctr"/>
          <a:lstStyle/>
          <a:p>
            <a:pPr algn="ctr" indent="0" marL="0">
              <a:buNone/>
            </a:pPr>
            <a:r>
              <a:rPr lang="en-US" sz="1300" b="1" dirty="0">
                <a:solidFill>
                  <a:srgbClr val="16261D"/>
                </a:solidFill>
              </a:rPr>
              <a:t>Qualified</a:t>
            </a:r>
            <a:endParaRPr lang="en-US" sz="1300" dirty="0"/>
          </a:p>
        </p:txBody>
      </p:sp>
      <p:sp>
        <p:nvSpPr>
          <p:cNvPr id="12" name="Tool 138"/>
          <p:cNvSpPr/>
          <p:nvPr/>
        </p:nvSpPr>
        <p:spPr>
          <a:xfrm>
            <a:off x="2560320" y="5257800"/>
            <a:ext cx="1691640" cy="384048"/>
          </a:xfrm>
          <a:prstGeom prst="roundRect">
            <a:avLst>
              <a:gd name="adj" fmla="val 47619"/>
            </a:avLst>
          </a:prstGeom>
          <a:solidFill>
            <a:srgbClr val="F5F7F0"/>
          </a:solidFill>
          <a:ln/>
        </p:spPr>
        <p:txBody>
          <a:bodyPr wrap="square" lIns="0" tIns="0" rIns="0" bIns="0" rtlCol="0" anchor="ctr"/>
          <a:lstStyle/>
          <a:p>
            <a:pPr algn="ctr" indent="0" marL="0">
              <a:buNone/>
            </a:pPr>
            <a:r>
              <a:rPr lang="en-US" sz="1300" b="1" dirty="0">
                <a:solidFill>
                  <a:srgbClr val="16261D"/>
                </a:solidFill>
              </a:rPr>
              <a:t>Regie.ai</a:t>
            </a:r>
            <a:endParaRPr lang="en-US" sz="1300" dirty="0"/>
          </a:p>
        </p:txBody>
      </p:sp>
      <p:sp>
        <p:nvSpPr>
          <p:cNvPr id="13" name="AI panel 139"/>
          <p:cNvSpPr/>
          <p:nvPr/>
        </p:nvSpPr>
        <p:spPr>
          <a:xfrm>
            <a:off x="6217920" y="1417320"/>
            <a:ext cx="5605272" cy="4800600"/>
          </a:xfrm>
          <a:prstGeom prst="roundRect">
            <a:avLst>
              <a:gd name="adj" fmla="val 2667"/>
            </a:avLst>
          </a:prstGeom>
          <a:solidFill>
            <a:srgbClr val="56604E"/>
          </a:solidFill>
          <a:ln w="12700">
            <a:solidFill>
              <a:srgbClr val="93A87B">
                <a:alpha val="40000"/>
              </a:srgbClr>
            </a:solidFill>
            <a:prstDash val="solid"/>
          </a:ln>
          <a:effectLst>
            <a:outerShdw sx="100000" sy="100000" kx="0" ky="0" algn="bl" rotWithShape="0" blurRad="304800" dist="50800" dir="5400000">
              <a:srgbClr val="16261D">
                <a:alpha val="35000"/>
              </a:srgbClr>
            </a:outerShdw>
          </a:effectLst>
        </p:spPr>
      </p:sp>
      <p:sp>
        <p:nvSpPr>
          <p:cNvPr id="14" name="Icon badge 140"/>
          <p:cNvSpPr/>
          <p:nvPr/>
        </p:nvSpPr>
        <p:spPr>
          <a:xfrm>
            <a:off x="6583680" y="1737360"/>
            <a:ext cx="731520" cy="731520"/>
          </a:xfrm>
          <a:prstGeom prst="ellipse">
            <a:avLst/>
          </a:prstGeom>
          <a:solidFill>
            <a:srgbClr val="93A87B"/>
          </a:solidFill>
          <a:ln/>
        </p:spPr>
      </p:sp>
      <p:pic>
        <p:nvPicPr>
          <p:cNvPr id="15" name="Image 1" descr="Send icon">    </p:cNvPr>
          <p:cNvPicPr>
            <a:picLocks noChangeAspect="1"/>
          </p:cNvPicPr>
          <p:nvPr/>
        </p:nvPicPr>
        <p:blipFill>
          <a:blip r:embed="rId2"/>
          <a:stretch>
            <a:fillRect/>
          </a:stretch>
        </p:blipFill>
        <p:spPr>
          <a:xfrm>
            <a:off x="6744614" y="1898294"/>
            <a:ext cx="409651" cy="409651"/>
          </a:xfrm>
          <a:prstGeom prst="rect">
            <a:avLst/>
          </a:prstGeom>
        </p:spPr>
      </p:pic>
      <p:sp>
        <p:nvSpPr>
          <p:cNvPr id="16" name="Side title 141"/>
          <p:cNvSpPr txBox="1"/>
          <p:nvPr/>
        </p:nvSpPr>
        <p:spPr>
          <a:xfrm>
            <a:off x="7498080" y="1737360"/>
            <a:ext cx="3657600" cy="731520"/>
          </a:xfrm>
          <a:prstGeom prst="rect">
            <a:avLst/>
          </a:prstGeom>
          <a:noFill/>
          <a:ln/>
        </p:spPr>
        <p:txBody>
          <a:bodyPr wrap="square" lIns="0" tIns="0" rIns="0" bIns="0" rtlCol="0" anchor="ctr"/>
          <a:lstStyle/>
          <a:p>
            <a:pPr indent="0" marL="0">
              <a:buNone/>
            </a:pPr>
            <a:r>
              <a:rPr lang="en-US" sz="3000" dirty="0">
                <a:solidFill>
                  <a:schemeClr val="bg2"/>
                </a:solidFill>
                <a:latin typeface="Georgia" pitchFamily="34" charset="0"/>
                <a:ea typeface="Georgia" pitchFamily="34" charset="-122"/>
                <a:cs typeface="Georgia" pitchFamily="34" charset="-120"/>
              </a:rPr>
              <a:t>Outbound</a:t>
            </a:r>
            <a:endParaRPr lang="en-US" sz="3000" dirty="0"/>
          </a:p>
        </p:txBody>
      </p:sp>
      <p:sp>
        <p:nvSpPr>
          <p:cNvPr id="17" name="Uses 142"/>
          <p:cNvSpPr txBox="1"/>
          <p:nvPr/>
        </p:nvSpPr>
        <p:spPr>
          <a:xfrm>
            <a:off x="6583680" y="2743200"/>
            <a:ext cx="4873752" cy="18288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2"/>
                </a:solidFill>
              </a:rPr>
              <a:t>AI-aided targeting: who to call next?</a:t>
            </a:r>
            <a:endParaRPr lang="en-US" sz="1700" dirty="0"/>
          </a:p>
          <a:p>
            <a:pPr marL="228600" indent="-228600">
              <a:spcAft>
                <a:spcPts val="1000"/>
              </a:spcAft>
              <a:buSzPct val="100000"/>
              <a:buChar char="•"/>
            </a:pPr>
            <a:r>
              <a:rPr lang="en-US" sz="1700" dirty="0">
                <a:solidFill>
                  <a:schemeClr val="bg2"/>
                </a:solidFill>
              </a:rPr>
              <a:t>Personalisation at scale</a:t>
            </a:r>
            <a:endParaRPr lang="en-US" sz="1700" dirty="0"/>
          </a:p>
          <a:p>
            <a:pPr marL="228600" indent="-228600">
              <a:spcAft>
                <a:spcPts val="1000"/>
              </a:spcAft>
              <a:buSzPct val="100000"/>
              <a:buChar char="•"/>
            </a:pPr>
            <a:r>
              <a:rPr lang="en-US" sz="1700" dirty="0">
                <a:solidFill>
                  <a:schemeClr val="bg2"/>
                </a:solidFill>
              </a:rPr>
              <a:t>Analyse cadences for recurring themes</a:t>
            </a:r>
            <a:endParaRPr lang="en-US" sz="1700" dirty="0"/>
          </a:p>
        </p:txBody>
      </p:sp>
      <p:sp>
        <p:nvSpPr>
          <p:cNvPr id="18" name="Tools label 143"/>
          <p:cNvSpPr txBox="1"/>
          <p:nvPr/>
        </p:nvSpPr>
        <p:spPr>
          <a:xfrm>
            <a:off x="6583680" y="4937760"/>
            <a:ext cx="1828800" cy="228600"/>
          </a:xfrm>
          <a:prstGeom prst="rect">
            <a:avLst/>
          </a:prstGeom>
          <a:noFill/>
          <a:ln/>
        </p:spPr>
        <p:txBody>
          <a:bodyPr wrap="square" lIns="0" tIns="0" rIns="0" bIns="0" rtlCol="0" anchor="ctr"/>
          <a:lstStyle/>
          <a:p>
            <a:pPr indent="0" marL="0">
              <a:buNone/>
            </a:pPr>
            <a:r>
              <a:rPr lang="en-US" sz="900" b="1" spc="200" kern="0" dirty="0">
                <a:solidFill>
                  <a:schemeClr val="accent6"/>
                </a:solidFill>
              </a:rPr>
              <a:t>TOOLS</a:t>
            </a:r>
            <a:endParaRPr lang="en-US" sz="900" dirty="0"/>
          </a:p>
        </p:txBody>
      </p:sp>
      <p:sp>
        <p:nvSpPr>
          <p:cNvPr id="19" name="Tool 144"/>
          <p:cNvSpPr/>
          <p:nvPr/>
        </p:nvSpPr>
        <p:spPr>
          <a:xfrm>
            <a:off x="6583680" y="5257800"/>
            <a:ext cx="1691640" cy="384048"/>
          </a:xfrm>
          <a:prstGeom prst="roundRect">
            <a:avLst>
              <a:gd name="adj" fmla="val 47619"/>
            </a:avLst>
          </a:prstGeom>
          <a:solidFill>
            <a:srgbClr val="F5F7F0"/>
          </a:solidFill>
          <a:ln/>
        </p:spPr>
        <p:txBody>
          <a:bodyPr wrap="square" lIns="0" tIns="0" rIns="0" bIns="0" rtlCol="0" anchor="ctr"/>
          <a:lstStyle/>
          <a:p>
            <a:pPr algn="ctr" indent="0" marL="0">
              <a:buNone/>
            </a:pPr>
            <a:r>
              <a:rPr lang="en-US" sz="1300" b="1" dirty="0">
                <a:solidFill>
                  <a:srgbClr val="16261D"/>
                </a:solidFill>
              </a:rPr>
              <a:t>Common Room</a:t>
            </a:r>
            <a:endParaRPr lang="en-US" sz="1300" dirty="0"/>
          </a:p>
        </p:txBody>
      </p:sp>
      <p:sp>
        <p:nvSpPr>
          <p:cNvPr id="20" name="Tool 145"/>
          <p:cNvSpPr/>
          <p:nvPr/>
        </p:nvSpPr>
        <p:spPr>
          <a:xfrm>
            <a:off x="8412480" y="5257800"/>
            <a:ext cx="1691640" cy="384048"/>
          </a:xfrm>
          <a:prstGeom prst="roundRect">
            <a:avLst>
              <a:gd name="adj" fmla="val 47619"/>
            </a:avLst>
          </a:prstGeom>
          <a:solidFill>
            <a:srgbClr val="F5F7F0"/>
          </a:solidFill>
          <a:ln/>
        </p:spPr>
        <p:txBody>
          <a:bodyPr wrap="square" lIns="0" tIns="0" rIns="0" bIns="0" rtlCol="0" anchor="ctr"/>
          <a:lstStyle/>
          <a:p>
            <a:pPr algn="ctr" indent="0" marL="0">
              <a:buNone/>
            </a:pPr>
            <a:r>
              <a:rPr lang="en-US" sz="1300" b="1" dirty="0">
                <a:solidFill>
                  <a:srgbClr val="16261D"/>
                </a:solidFill>
              </a:rPr>
              <a:t>Claude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05  ·  MESSAGING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Messaging foundations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Card 1"/>
          <p:cNvSpPr/>
          <p:nvPr/>
        </p:nvSpPr>
        <p:spPr>
          <a:xfrm>
            <a:off x="365760" y="1371600"/>
            <a:ext cx="6949440" cy="4892040"/>
          </a:xfrm>
          <a:prstGeom prst="roundRect">
            <a:avLst>
              <a:gd name="adj" fmla="val 2243"/>
            </a:avLst>
          </a:prstGeom>
          <a:solidFill>
            <a:srgbClr val="FFFFFF"/>
          </a:solidFill>
          <a:ln/>
          <a:effectLst>
            <a:outerShdw sx="100000" sy="100000" kx="0" ky="0" algn="bl" rotWithShape="0" blurRad="177800" dist="50800" dir="5400000">
              <a:srgbClr val="16261D">
                <a:alpha val="14000"/>
              </a:srgbClr>
            </a:outerShdw>
          </a:effectLst>
        </p:spPr>
      </p:sp>
      <p:sp>
        <p:nvSpPr>
          <p:cNvPr id="6" name="Number 2"/>
          <p:cNvSpPr/>
          <p:nvPr/>
        </p:nvSpPr>
        <p:spPr>
          <a:xfrm>
            <a:off x="685800" y="1627632"/>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1</a:t>
            </a:r>
            <a:endParaRPr lang="en-US" sz="1400" dirty="0"/>
          </a:p>
        </p:txBody>
      </p:sp>
      <p:sp>
        <p:nvSpPr>
          <p:cNvPr id="7" name="Text 3"/>
          <p:cNvSpPr txBox="1"/>
          <p:nvPr/>
        </p:nvSpPr>
        <p:spPr>
          <a:xfrm>
            <a:off x="1371600" y="1627632"/>
            <a:ext cx="5669280" cy="457200"/>
          </a:xfrm>
          <a:prstGeom prst="rect">
            <a:avLst/>
          </a:prstGeom>
          <a:noFill/>
          <a:ln/>
        </p:spPr>
        <p:txBody>
          <a:bodyPr wrap="square" lIns="0" tIns="0" rIns="0" bIns="0" rtlCol="0" anchor="ctr"/>
          <a:lstStyle/>
          <a:p>
            <a:pPr indent="0" marL="0">
              <a:buNone/>
            </a:pPr>
            <a:r>
              <a:rPr lang="en-US" sz="1700" dirty="0">
                <a:solidFill>
                  <a:srgbClr val="20241F"/>
                </a:solidFill>
              </a:rPr>
              <a:t>Common executive priorities</a:t>
            </a:r>
            <a:endParaRPr lang="en-US" sz="1700" dirty="0"/>
          </a:p>
        </p:txBody>
      </p:sp>
      <p:sp>
        <p:nvSpPr>
          <p:cNvPr id="8" name="Line 4"/>
          <p:cNvSpPr/>
          <p:nvPr/>
        </p:nvSpPr>
        <p:spPr>
          <a:xfrm>
            <a:off x="1371600" y="2231136"/>
            <a:ext cx="5669280" cy="0"/>
          </a:xfrm>
          <a:prstGeom prst="line">
            <a:avLst/>
          </a:prstGeom>
          <a:noFill/>
          <a:ln w="9525">
            <a:solidFill>
              <a:srgbClr val="D2D8CD"/>
            </a:solidFill>
            <a:prstDash val="solid"/>
          </a:ln>
        </p:spPr>
      </p:sp>
      <p:sp>
        <p:nvSpPr>
          <p:cNvPr id="9" name="Number 5"/>
          <p:cNvSpPr/>
          <p:nvPr/>
        </p:nvSpPr>
        <p:spPr>
          <a:xfrm>
            <a:off x="685800" y="2377440"/>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2</a:t>
            </a:r>
            <a:endParaRPr lang="en-US" sz="1400" dirty="0"/>
          </a:p>
        </p:txBody>
      </p:sp>
      <p:sp>
        <p:nvSpPr>
          <p:cNvPr id="10" name="Text 6"/>
          <p:cNvSpPr txBox="1"/>
          <p:nvPr/>
        </p:nvSpPr>
        <p:spPr>
          <a:xfrm>
            <a:off x="1371600" y="2377440"/>
            <a:ext cx="5669280" cy="457200"/>
          </a:xfrm>
          <a:prstGeom prst="rect">
            <a:avLst/>
          </a:prstGeom>
          <a:noFill/>
          <a:ln/>
        </p:spPr>
        <p:txBody>
          <a:bodyPr wrap="square" lIns="0" tIns="0" rIns="0" bIns="0" rtlCol="0" anchor="ctr"/>
          <a:lstStyle/>
          <a:p>
            <a:pPr indent="0" marL="0">
              <a:buNone/>
            </a:pPr>
            <a:r>
              <a:rPr lang="en-US" sz="1700" dirty="0">
                <a:solidFill>
                  <a:srgbClr val="20241F"/>
                </a:solidFill>
              </a:rPr>
              <a:t>Top industry trends</a:t>
            </a:r>
            <a:endParaRPr lang="en-US" sz="1700" dirty="0"/>
          </a:p>
        </p:txBody>
      </p:sp>
      <p:sp>
        <p:nvSpPr>
          <p:cNvPr id="11" name="Line 7"/>
          <p:cNvSpPr/>
          <p:nvPr/>
        </p:nvSpPr>
        <p:spPr>
          <a:xfrm>
            <a:off x="1371600" y="2980944"/>
            <a:ext cx="5669280" cy="0"/>
          </a:xfrm>
          <a:prstGeom prst="line">
            <a:avLst/>
          </a:prstGeom>
          <a:noFill/>
          <a:ln w="9525">
            <a:solidFill>
              <a:srgbClr val="D2D8CD"/>
            </a:solidFill>
            <a:prstDash val="solid"/>
          </a:ln>
        </p:spPr>
      </p:sp>
      <p:sp>
        <p:nvSpPr>
          <p:cNvPr id="12" name="Number 8"/>
          <p:cNvSpPr/>
          <p:nvPr/>
        </p:nvSpPr>
        <p:spPr>
          <a:xfrm>
            <a:off x="685800" y="3127248"/>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3</a:t>
            </a:r>
            <a:endParaRPr lang="en-US" sz="1400" dirty="0"/>
          </a:p>
        </p:txBody>
      </p:sp>
      <p:sp>
        <p:nvSpPr>
          <p:cNvPr id="13" name="Text 9"/>
          <p:cNvSpPr txBox="1"/>
          <p:nvPr/>
        </p:nvSpPr>
        <p:spPr>
          <a:xfrm>
            <a:off x="1371600" y="3127248"/>
            <a:ext cx="5669280" cy="457200"/>
          </a:xfrm>
          <a:prstGeom prst="rect">
            <a:avLst/>
          </a:prstGeom>
          <a:noFill/>
          <a:ln/>
        </p:spPr>
        <p:txBody>
          <a:bodyPr wrap="square" lIns="0" tIns="0" rIns="0" bIns="0" rtlCol="0" anchor="ctr"/>
          <a:lstStyle/>
          <a:p>
            <a:pPr indent="0" marL="0">
              <a:buNone/>
            </a:pPr>
            <a:r>
              <a:rPr lang="en-US" sz="1700" dirty="0">
                <a:solidFill>
                  <a:srgbClr val="20241F"/>
                </a:solidFill>
              </a:rPr>
              <a:t>Impact of those trends on the customer</a:t>
            </a:r>
            <a:endParaRPr lang="en-US" sz="1700" dirty="0"/>
          </a:p>
        </p:txBody>
      </p:sp>
      <p:sp>
        <p:nvSpPr>
          <p:cNvPr id="14" name="Line 10"/>
          <p:cNvSpPr/>
          <p:nvPr/>
        </p:nvSpPr>
        <p:spPr>
          <a:xfrm>
            <a:off x="1371600" y="3730752"/>
            <a:ext cx="5669280" cy="0"/>
          </a:xfrm>
          <a:prstGeom prst="line">
            <a:avLst/>
          </a:prstGeom>
          <a:noFill/>
          <a:ln w="9525">
            <a:solidFill>
              <a:srgbClr val="D2D8CD"/>
            </a:solidFill>
            <a:prstDash val="solid"/>
          </a:ln>
        </p:spPr>
      </p:sp>
      <p:sp>
        <p:nvSpPr>
          <p:cNvPr id="15" name="Number 11"/>
          <p:cNvSpPr/>
          <p:nvPr/>
        </p:nvSpPr>
        <p:spPr>
          <a:xfrm>
            <a:off x="685800" y="3877056"/>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4</a:t>
            </a:r>
            <a:endParaRPr lang="en-US" sz="1400" dirty="0"/>
          </a:p>
        </p:txBody>
      </p:sp>
      <p:sp>
        <p:nvSpPr>
          <p:cNvPr id="16" name="Text 12"/>
          <p:cNvSpPr txBox="1"/>
          <p:nvPr/>
        </p:nvSpPr>
        <p:spPr>
          <a:xfrm>
            <a:off x="1371600" y="3877056"/>
            <a:ext cx="5669280" cy="457200"/>
          </a:xfrm>
          <a:prstGeom prst="rect">
            <a:avLst/>
          </a:prstGeom>
          <a:noFill/>
          <a:ln/>
        </p:spPr>
        <p:txBody>
          <a:bodyPr wrap="square" lIns="0" tIns="0" rIns="0" bIns="0" rtlCol="0" anchor="ctr"/>
          <a:lstStyle/>
          <a:p>
            <a:pPr indent="0" marL="0">
              <a:buNone/>
            </a:pPr>
            <a:r>
              <a:rPr lang="en-US" sz="1700" dirty="0">
                <a:solidFill>
                  <a:srgbClr val="20241F"/>
                </a:solidFill>
              </a:rPr>
              <a:t>Business value of your solution</a:t>
            </a:r>
            <a:endParaRPr lang="en-US" sz="1700" dirty="0"/>
          </a:p>
        </p:txBody>
      </p:sp>
      <p:sp>
        <p:nvSpPr>
          <p:cNvPr id="17" name="Line 13"/>
          <p:cNvSpPr/>
          <p:nvPr/>
        </p:nvSpPr>
        <p:spPr>
          <a:xfrm>
            <a:off x="1371600" y="4480560"/>
            <a:ext cx="5669280" cy="0"/>
          </a:xfrm>
          <a:prstGeom prst="line">
            <a:avLst/>
          </a:prstGeom>
          <a:noFill/>
          <a:ln w="9525">
            <a:solidFill>
              <a:srgbClr val="D2D8CD"/>
            </a:solidFill>
            <a:prstDash val="solid"/>
          </a:ln>
        </p:spPr>
      </p:sp>
      <p:sp>
        <p:nvSpPr>
          <p:cNvPr id="18" name="Number 14"/>
          <p:cNvSpPr/>
          <p:nvPr/>
        </p:nvSpPr>
        <p:spPr>
          <a:xfrm>
            <a:off x="685800" y="4626864"/>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5</a:t>
            </a:r>
            <a:endParaRPr lang="en-US" sz="1400" dirty="0"/>
          </a:p>
        </p:txBody>
      </p:sp>
      <p:sp>
        <p:nvSpPr>
          <p:cNvPr id="19" name="Text 15"/>
          <p:cNvSpPr txBox="1"/>
          <p:nvPr/>
        </p:nvSpPr>
        <p:spPr>
          <a:xfrm>
            <a:off x="1371600" y="4626864"/>
            <a:ext cx="5669280" cy="457200"/>
          </a:xfrm>
          <a:prstGeom prst="rect">
            <a:avLst/>
          </a:prstGeom>
          <a:noFill/>
          <a:ln/>
        </p:spPr>
        <p:txBody>
          <a:bodyPr wrap="square" lIns="0" tIns="0" rIns="0" bIns="0" rtlCol="0" anchor="ctr"/>
          <a:lstStyle/>
          <a:p>
            <a:pPr indent="0" marL="0">
              <a:buNone/>
            </a:pPr>
            <a:r>
              <a:rPr lang="en-US" sz="1700" dirty="0">
                <a:solidFill>
                  <a:srgbClr val="20241F"/>
                </a:solidFill>
              </a:rPr>
              <a:t>Differentiation of your solution</a:t>
            </a:r>
            <a:endParaRPr lang="en-US" sz="1700" dirty="0"/>
          </a:p>
        </p:txBody>
      </p:sp>
      <p:sp>
        <p:nvSpPr>
          <p:cNvPr id="20" name="Line 16"/>
          <p:cNvSpPr/>
          <p:nvPr/>
        </p:nvSpPr>
        <p:spPr>
          <a:xfrm>
            <a:off x="1371600" y="5230368"/>
            <a:ext cx="5669280" cy="0"/>
          </a:xfrm>
          <a:prstGeom prst="line">
            <a:avLst/>
          </a:prstGeom>
          <a:noFill/>
          <a:ln w="9525">
            <a:solidFill>
              <a:srgbClr val="D2D8CD"/>
            </a:solidFill>
            <a:prstDash val="solid"/>
          </a:ln>
        </p:spPr>
      </p:sp>
      <p:sp>
        <p:nvSpPr>
          <p:cNvPr id="21" name="Number 17"/>
          <p:cNvSpPr/>
          <p:nvPr/>
        </p:nvSpPr>
        <p:spPr>
          <a:xfrm>
            <a:off x="685800" y="5376672"/>
            <a:ext cx="457200" cy="457200"/>
          </a:xfrm>
          <a:prstGeom prst="ellipse">
            <a:avLst/>
          </a:prstGeom>
          <a:solidFill>
            <a:srgbClr val="1F3529"/>
          </a:solidFill>
          <a:ln/>
        </p:spPr>
        <p:txBody>
          <a:bodyPr wrap="square" lIns="0" tIns="0" rIns="0" bIns="0" rtlCol="0" anchor="ctr"/>
          <a:lstStyle/>
          <a:p>
            <a:pPr algn="ctr" indent="0" marL="0">
              <a:buNone/>
            </a:pPr>
            <a:r>
              <a:rPr lang="en-US" sz="1400" b="1" dirty="0">
                <a:solidFill>
                  <a:srgbClr val="F5F7F0"/>
                </a:solidFill>
              </a:rPr>
              <a:t>6</a:t>
            </a:r>
            <a:endParaRPr lang="en-US" sz="1400" dirty="0"/>
          </a:p>
        </p:txBody>
      </p:sp>
      <p:sp>
        <p:nvSpPr>
          <p:cNvPr id="22" name="Text 18"/>
          <p:cNvSpPr txBox="1"/>
          <p:nvPr/>
        </p:nvSpPr>
        <p:spPr>
          <a:xfrm>
            <a:off x="1371600" y="5376672"/>
            <a:ext cx="5669280" cy="457200"/>
          </a:xfrm>
          <a:prstGeom prst="rect">
            <a:avLst/>
          </a:prstGeom>
          <a:noFill/>
          <a:ln/>
        </p:spPr>
        <p:txBody>
          <a:bodyPr wrap="square" lIns="0" tIns="0" rIns="0" bIns="0" rtlCol="0" anchor="ctr"/>
          <a:lstStyle/>
          <a:p>
            <a:pPr indent="0" marL="0">
              <a:buNone/>
            </a:pPr>
            <a:r>
              <a:rPr lang="en-US" sz="1700" dirty="0">
                <a:solidFill>
                  <a:srgbClr val="20241F"/>
                </a:solidFill>
              </a:rPr>
              <a:t>Proof points</a:t>
            </a:r>
            <a:endParaRPr lang="en-US" sz="1700" dirty="0"/>
          </a:p>
        </p:txBody>
      </p:sp>
      <p:sp>
        <p:nvSpPr>
          <p:cNvPr id="23" name="Card 19"/>
          <p:cNvSpPr/>
          <p:nvPr/>
        </p:nvSpPr>
        <p:spPr>
          <a:xfrm>
            <a:off x="7589520" y="1371600"/>
            <a:ext cx="4233672" cy="4892040"/>
          </a:xfrm>
          <a:prstGeom prst="roundRect">
            <a:avLst>
              <a:gd name="adj" fmla="val 2592"/>
            </a:avLst>
          </a:prstGeom>
          <a:solidFill>
            <a:srgbClr val="16261D"/>
          </a:solidFill>
          <a:ln/>
          <a:effectLst>
            <a:outerShdw sx="100000" sy="100000" kx="0" ky="0" algn="bl" rotWithShape="0" blurRad="304800" dist="50800" dir="5400000">
              <a:srgbClr val="16261D">
                <a:alpha val="30000"/>
              </a:srgbClr>
            </a:outerShdw>
          </a:effectLst>
        </p:spPr>
      </p:sp>
      <p:sp>
        <p:nvSpPr>
          <p:cNvPr id="24" name="Icon badge 20"/>
          <p:cNvSpPr/>
          <p:nvPr/>
        </p:nvSpPr>
        <p:spPr>
          <a:xfrm>
            <a:off x="7955280" y="1737360"/>
            <a:ext cx="914400" cy="914400"/>
          </a:xfrm>
          <a:prstGeom prst="ellipse">
            <a:avLst/>
          </a:prstGeom>
          <a:solidFill>
            <a:srgbClr val="1F3529"/>
          </a:solidFill>
          <a:ln/>
        </p:spPr>
      </p:sp>
      <p:pic>
        <p:nvPicPr>
          <p:cNvPr id="25" name="Image 0" descr="NeedleThread icon">    </p:cNvPr>
          <p:cNvPicPr>
            <a:picLocks noChangeAspect="1"/>
          </p:cNvPicPr>
          <p:nvPr/>
        </p:nvPicPr>
        <p:blipFill>
          <a:blip r:embed="rId1"/>
          <a:stretch>
            <a:fillRect/>
          </a:stretch>
        </p:blipFill>
        <p:spPr>
          <a:xfrm>
            <a:off x="8156448" y="1938528"/>
            <a:ext cx="512064" cy="512064"/>
          </a:xfrm>
          <a:prstGeom prst="rect">
            <a:avLst/>
          </a:prstGeom>
        </p:spPr>
      </p:pic>
      <p:sp>
        <p:nvSpPr>
          <p:cNvPr id="26" name="Text 21"/>
          <p:cNvSpPr txBox="1"/>
          <p:nvPr/>
        </p:nvSpPr>
        <p:spPr>
          <a:xfrm>
            <a:off x="7955280" y="2880360"/>
            <a:ext cx="3566160" cy="1005840"/>
          </a:xfrm>
          <a:prstGeom prst="rect">
            <a:avLst/>
          </a:prstGeom>
          <a:noFill/>
          <a:ln/>
        </p:spPr>
        <p:txBody>
          <a:bodyPr wrap="square" lIns="0" tIns="0" rIns="0" bIns="0" rtlCol="0" anchor="t"/>
          <a:lstStyle/>
          <a:p>
            <a:pPr indent="0" marL="0">
              <a:buNone/>
            </a:pPr>
            <a:r>
              <a:rPr lang="en-US" sz="2800" dirty="0">
                <a:solidFill>
                  <a:srgbClr val="F5F7F0"/>
                </a:solidFill>
                <a:latin typeface="Georgia" pitchFamily="34" charset="0"/>
                <a:ea typeface="Georgia" pitchFamily="34" charset="-122"/>
                <a:cs typeface="Georgia" pitchFamily="34" charset="-120"/>
              </a:rPr>
              <a:t>Tailored, not off the peg</a:t>
            </a:r>
            <a:endParaRPr lang="en-US" sz="2800" dirty="0"/>
          </a:p>
        </p:txBody>
      </p:sp>
      <p:sp>
        <p:nvSpPr>
          <p:cNvPr id="27" name="Text 22"/>
          <p:cNvSpPr txBox="1"/>
          <p:nvPr/>
        </p:nvSpPr>
        <p:spPr>
          <a:xfrm>
            <a:off x="7955280" y="4023360"/>
            <a:ext cx="3566160" cy="2011680"/>
          </a:xfrm>
          <a:prstGeom prst="rect">
            <a:avLst/>
          </a:prstGeom>
          <a:noFill/>
          <a:ln/>
        </p:spPr>
        <p:txBody>
          <a:bodyPr wrap="square" lIns="0" tIns="0" rIns="0" bIns="0" rtlCol="0" anchor="t"/>
          <a:lstStyle/>
          <a:p>
            <a:pPr indent="0" marL="0">
              <a:buNone/>
            </a:pPr>
            <a:r>
              <a:rPr lang="en-US" sz="1400" dirty="0">
                <a:solidFill>
                  <a:srgbClr val="C9D3C0"/>
                </a:solidFill>
              </a:rPr>
              <a:t>Like a bespoke suit, the message is cut to the buyer: their priorities, their market and the proof that matters to them. Each layer builds on the one before.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05  ·  MESSAGING  ·  EXAMPLE</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Messaging example: Sovos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Message layer 23"/>
          <p:cNvSpPr/>
          <p:nvPr/>
        </p:nvSpPr>
        <p:spPr>
          <a:xfrm>
            <a:off x="365760" y="1417320"/>
            <a:ext cx="2148840" cy="4160520"/>
          </a:xfrm>
          <a:prstGeom prst="roundRect">
            <a:avLst>
              <a:gd name="adj" fmla="val 5106"/>
            </a:avLst>
          </a:prstGeom>
          <a:solidFill>
            <a:srgbClr val="FFFFFF"/>
          </a:solidFill>
          <a:ln/>
          <a:effectLst>
            <a:outerShdw sx="100000" sy="100000" kx="0" ky="0" algn="bl" rotWithShape="0" blurRad="177800" dist="50800" dir="5400000">
              <a:srgbClr val="16261D">
                <a:alpha val="14000"/>
              </a:srgbClr>
            </a:outerShdw>
          </a:effectLst>
        </p:spPr>
      </p:sp>
      <p:sp>
        <p:nvSpPr>
          <p:cNvPr id="6" name="Number 24"/>
          <p:cNvSpPr/>
          <p:nvPr/>
        </p:nvSpPr>
        <p:spPr>
          <a:xfrm>
            <a:off x="594360" y="1645920"/>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1</a:t>
            </a:r>
            <a:endParaRPr lang="en-US" sz="1300" dirty="0"/>
          </a:p>
        </p:txBody>
      </p:sp>
      <p:sp>
        <p:nvSpPr>
          <p:cNvPr id="7" name="Text 25"/>
          <p:cNvSpPr txBox="1"/>
          <p:nvPr/>
        </p:nvSpPr>
        <p:spPr>
          <a:xfrm>
            <a:off x="594360" y="2212848"/>
            <a:ext cx="1691640" cy="685800"/>
          </a:xfrm>
          <a:prstGeom prst="rect">
            <a:avLst/>
          </a:prstGeom>
          <a:noFill/>
          <a:ln/>
        </p:spPr>
        <p:txBody>
          <a:bodyPr wrap="square" lIns="0" tIns="0" rIns="0" bIns="0" rtlCol="0" anchor="t"/>
          <a:lstStyle/>
          <a:p>
            <a:pPr indent="0" marL="0">
              <a:buNone/>
            </a:pPr>
            <a:r>
              <a:rPr lang="en-US" sz="1500" b="1" dirty="0">
                <a:solidFill>
                  <a:srgbClr val="20241F"/>
                </a:solidFill>
              </a:rPr>
              <a:t>Executive priority</a:t>
            </a:r>
            <a:endParaRPr lang="en-US" sz="1500" dirty="0"/>
          </a:p>
        </p:txBody>
      </p:sp>
      <p:sp>
        <p:nvSpPr>
          <p:cNvPr id="8" name="Text 26"/>
          <p:cNvSpPr txBox="1"/>
          <p:nvPr/>
        </p:nvSpPr>
        <p:spPr>
          <a:xfrm>
            <a:off x="594360" y="2971800"/>
            <a:ext cx="1691640" cy="2468880"/>
          </a:xfrm>
          <a:prstGeom prst="rect">
            <a:avLst/>
          </a:prstGeom>
          <a:noFill/>
          <a:ln/>
        </p:spPr>
        <p:txBody>
          <a:bodyPr wrap="square" lIns="0" tIns="0" rIns="0" bIns="0" rtlCol="0" anchor="t"/>
          <a:lstStyle/>
          <a:p>
            <a:pPr indent="0" marL="0">
              <a:buNone/>
            </a:pPr>
            <a:r>
              <a:rPr lang="en-US" sz="1300" dirty="0">
                <a:solidFill>
                  <a:srgbClr val="56604E"/>
                </a:solidFill>
              </a:rPr>
              <a:t>Efficient processes and digital transformation</a:t>
            </a:r>
            <a:endParaRPr lang="en-US" sz="1300" dirty="0"/>
          </a:p>
        </p:txBody>
      </p:sp>
      <p:sp>
        <p:nvSpPr>
          <p:cNvPr id="9" name="Message layer 27"/>
          <p:cNvSpPr/>
          <p:nvPr/>
        </p:nvSpPr>
        <p:spPr>
          <a:xfrm>
            <a:off x="2692908" y="1417320"/>
            <a:ext cx="2148840" cy="4160520"/>
          </a:xfrm>
          <a:prstGeom prst="roundRect">
            <a:avLst>
              <a:gd name="adj" fmla="val 5106"/>
            </a:avLst>
          </a:prstGeom>
          <a:solidFill>
            <a:srgbClr val="FFFFFF"/>
          </a:solidFill>
          <a:ln/>
          <a:effectLst>
            <a:outerShdw sx="100000" sy="100000" kx="0" ky="0" algn="bl" rotWithShape="0" blurRad="177800" dist="50800" dir="5400000">
              <a:srgbClr val="16261D">
                <a:alpha val="14000"/>
              </a:srgbClr>
            </a:outerShdw>
          </a:effectLst>
        </p:spPr>
      </p:sp>
      <p:sp>
        <p:nvSpPr>
          <p:cNvPr id="10" name="Number 28"/>
          <p:cNvSpPr/>
          <p:nvPr/>
        </p:nvSpPr>
        <p:spPr>
          <a:xfrm>
            <a:off x="2921508" y="1645920"/>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2</a:t>
            </a:r>
            <a:endParaRPr lang="en-US" sz="1300" dirty="0"/>
          </a:p>
        </p:txBody>
      </p:sp>
      <p:sp>
        <p:nvSpPr>
          <p:cNvPr id="11" name="Text 29"/>
          <p:cNvSpPr txBox="1"/>
          <p:nvPr/>
        </p:nvSpPr>
        <p:spPr>
          <a:xfrm>
            <a:off x="2921508" y="2212848"/>
            <a:ext cx="1691640" cy="685800"/>
          </a:xfrm>
          <a:prstGeom prst="rect">
            <a:avLst/>
          </a:prstGeom>
          <a:noFill/>
          <a:ln/>
        </p:spPr>
        <p:txBody>
          <a:bodyPr wrap="square" lIns="0" tIns="0" rIns="0" bIns="0" rtlCol="0" anchor="t"/>
          <a:lstStyle/>
          <a:p>
            <a:pPr indent="0" marL="0">
              <a:buNone/>
            </a:pPr>
            <a:r>
              <a:rPr lang="en-US" sz="1500" b="1" dirty="0">
                <a:solidFill>
                  <a:srgbClr val="20241F"/>
                </a:solidFill>
              </a:rPr>
              <a:t>Industry trends</a:t>
            </a:r>
            <a:endParaRPr lang="en-US" sz="1500" dirty="0"/>
          </a:p>
        </p:txBody>
      </p:sp>
      <p:sp>
        <p:nvSpPr>
          <p:cNvPr id="12" name="Text 30"/>
          <p:cNvSpPr txBox="1"/>
          <p:nvPr/>
        </p:nvSpPr>
        <p:spPr>
          <a:xfrm>
            <a:off x="2921508" y="2971800"/>
            <a:ext cx="1691640" cy="2468880"/>
          </a:xfrm>
          <a:prstGeom prst="rect">
            <a:avLst/>
          </a:prstGeom>
          <a:noFill/>
          <a:ln/>
        </p:spPr>
        <p:txBody>
          <a:bodyPr wrap="square" lIns="0" tIns="0" rIns="0" bIns="0" rtlCol="0" anchor="t"/>
          <a:lstStyle/>
          <a:p>
            <a:pPr indent="0" marL="0">
              <a:buNone/>
            </a:pPr>
            <a:r>
              <a:rPr lang="en-US" sz="1300" dirty="0">
                <a:solidFill>
                  <a:srgbClr val="56604E"/>
                </a:solidFill>
              </a:rPr>
              <a:t>EU governments are digitising tax determination, replacing paper processes</a:t>
            </a:r>
            <a:endParaRPr lang="en-US" sz="1300" dirty="0"/>
          </a:p>
        </p:txBody>
      </p:sp>
      <p:sp>
        <p:nvSpPr>
          <p:cNvPr id="13" name="Message layer 31"/>
          <p:cNvSpPr/>
          <p:nvPr/>
        </p:nvSpPr>
        <p:spPr>
          <a:xfrm>
            <a:off x="5020056" y="1417320"/>
            <a:ext cx="2148840" cy="4160520"/>
          </a:xfrm>
          <a:prstGeom prst="roundRect">
            <a:avLst>
              <a:gd name="adj" fmla="val 5106"/>
            </a:avLst>
          </a:prstGeom>
          <a:solidFill>
            <a:srgbClr val="FFFFFF"/>
          </a:solidFill>
          <a:ln/>
          <a:effectLst>
            <a:outerShdw sx="100000" sy="100000" kx="0" ky="0" algn="bl" rotWithShape="0" blurRad="177800" dist="50800" dir="5400000">
              <a:srgbClr val="16261D">
                <a:alpha val="14000"/>
              </a:srgbClr>
            </a:outerShdw>
          </a:effectLst>
        </p:spPr>
      </p:sp>
      <p:sp>
        <p:nvSpPr>
          <p:cNvPr id="14" name="Number 32"/>
          <p:cNvSpPr/>
          <p:nvPr/>
        </p:nvSpPr>
        <p:spPr>
          <a:xfrm>
            <a:off x="5248656" y="1645920"/>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3</a:t>
            </a:r>
            <a:endParaRPr lang="en-US" sz="1300" dirty="0"/>
          </a:p>
        </p:txBody>
      </p:sp>
      <p:sp>
        <p:nvSpPr>
          <p:cNvPr id="15" name="Text 33"/>
          <p:cNvSpPr txBox="1"/>
          <p:nvPr/>
        </p:nvSpPr>
        <p:spPr>
          <a:xfrm>
            <a:off x="5248656" y="2212848"/>
            <a:ext cx="1691640" cy="685800"/>
          </a:xfrm>
          <a:prstGeom prst="rect">
            <a:avLst/>
          </a:prstGeom>
          <a:noFill/>
          <a:ln/>
        </p:spPr>
        <p:txBody>
          <a:bodyPr wrap="square" lIns="0" tIns="0" rIns="0" bIns="0" rtlCol="0" anchor="t"/>
          <a:lstStyle/>
          <a:p>
            <a:pPr indent="0" marL="0">
              <a:buNone/>
            </a:pPr>
            <a:r>
              <a:rPr lang="en-US" sz="1500" b="1" dirty="0">
                <a:solidFill>
                  <a:srgbClr val="20241F"/>
                </a:solidFill>
              </a:rPr>
              <a:t>Impact of trends</a:t>
            </a:r>
            <a:endParaRPr lang="en-US" sz="1500" dirty="0"/>
          </a:p>
        </p:txBody>
      </p:sp>
      <p:sp>
        <p:nvSpPr>
          <p:cNvPr id="16" name="Text 34"/>
          <p:cNvSpPr txBox="1"/>
          <p:nvPr/>
        </p:nvSpPr>
        <p:spPr>
          <a:xfrm>
            <a:off x="5248656" y="2971800"/>
            <a:ext cx="1691640" cy="2468880"/>
          </a:xfrm>
          <a:prstGeom prst="rect">
            <a:avLst/>
          </a:prstGeom>
          <a:noFill/>
          <a:ln/>
        </p:spPr>
        <p:txBody>
          <a:bodyPr wrap="square" lIns="0" tIns="0" rIns="0" bIns="0" rtlCol="0" anchor="t"/>
          <a:lstStyle/>
          <a:p>
            <a:pPr indent="0" marL="0">
              <a:buNone/>
            </a:pPr>
            <a:r>
              <a:rPr lang="en-US" sz="1300" dirty="0">
                <a:solidFill>
                  <a:srgbClr val="56604E"/>
                </a:solidFill>
              </a:rPr>
              <a:t>Some countries still run on paper, some have digitised and some are mid-way. Multinationals face constantly changing accounts payable processes</a:t>
            </a:r>
            <a:endParaRPr lang="en-US" sz="1300" dirty="0"/>
          </a:p>
        </p:txBody>
      </p:sp>
      <p:sp>
        <p:nvSpPr>
          <p:cNvPr id="17" name="Message layer 35"/>
          <p:cNvSpPr/>
          <p:nvPr/>
        </p:nvSpPr>
        <p:spPr>
          <a:xfrm>
            <a:off x="7347204" y="1417320"/>
            <a:ext cx="2148840" cy="4160520"/>
          </a:xfrm>
          <a:prstGeom prst="roundRect">
            <a:avLst>
              <a:gd name="adj" fmla="val 5106"/>
            </a:avLst>
          </a:prstGeom>
          <a:solidFill>
            <a:srgbClr val="FFFFFF"/>
          </a:solidFill>
          <a:ln/>
          <a:effectLst>
            <a:outerShdw sx="100000" sy="100000" kx="0" ky="0" algn="bl" rotWithShape="0" blurRad="177800" dist="50800" dir="5400000">
              <a:srgbClr val="16261D">
                <a:alpha val="14000"/>
              </a:srgbClr>
            </a:outerShdw>
          </a:effectLst>
        </p:spPr>
      </p:sp>
      <p:sp>
        <p:nvSpPr>
          <p:cNvPr id="18" name="Number 36"/>
          <p:cNvSpPr/>
          <p:nvPr/>
        </p:nvSpPr>
        <p:spPr>
          <a:xfrm>
            <a:off x="7575804" y="1645920"/>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4</a:t>
            </a:r>
            <a:endParaRPr lang="en-US" sz="1300" dirty="0"/>
          </a:p>
        </p:txBody>
      </p:sp>
      <p:sp>
        <p:nvSpPr>
          <p:cNvPr id="19" name="Text 37"/>
          <p:cNvSpPr txBox="1"/>
          <p:nvPr/>
        </p:nvSpPr>
        <p:spPr>
          <a:xfrm>
            <a:off x="7575804" y="2212848"/>
            <a:ext cx="1691640" cy="685800"/>
          </a:xfrm>
          <a:prstGeom prst="rect">
            <a:avLst/>
          </a:prstGeom>
          <a:noFill/>
          <a:ln/>
        </p:spPr>
        <p:txBody>
          <a:bodyPr wrap="square" lIns="0" tIns="0" rIns="0" bIns="0" rtlCol="0" anchor="t"/>
          <a:lstStyle/>
          <a:p>
            <a:pPr indent="0" marL="0">
              <a:buNone/>
            </a:pPr>
            <a:r>
              <a:rPr lang="en-US" sz="1500" b="1" dirty="0">
                <a:solidFill>
                  <a:srgbClr val="20241F"/>
                </a:solidFill>
              </a:rPr>
              <a:t>General solution</a:t>
            </a:r>
            <a:endParaRPr lang="en-US" sz="1500" dirty="0"/>
          </a:p>
        </p:txBody>
      </p:sp>
      <p:sp>
        <p:nvSpPr>
          <p:cNvPr id="20" name="Text 38"/>
          <p:cNvSpPr txBox="1"/>
          <p:nvPr/>
        </p:nvSpPr>
        <p:spPr>
          <a:xfrm>
            <a:off x="7575804" y="2971800"/>
            <a:ext cx="1691640" cy="2468880"/>
          </a:xfrm>
          <a:prstGeom prst="rect">
            <a:avLst/>
          </a:prstGeom>
          <a:noFill/>
          <a:ln/>
        </p:spPr>
        <p:txBody>
          <a:bodyPr wrap="square" lIns="0" tIns="0" rIns="0" bIns="0" rtlCol="0" anchor="t"/>
          <a:lstStyle/>
          <a:p>
            <a:pPr indent="0" marL="0">
              <a:buNone/>
            </a:pPr>
            <a:r>
              <a:rPr lang="en-US" sz="1300" dirty="0">
                <a:solidFill>
                  <a:srgbClr val="56604E"/>
                </a:solidFill>
              </a:rPr>
              <a:t>Centralise determination with a solution that bridges both worlds</a:t>
            </a:r>
            <a:endParaRPr lang="en-US" sz="1300" dirty="0"/>
          </a:p>
        </p:txBody>
      </p:sp>
      <p:sp>
        <p:nvSpPr>
          <p:cNvPr id="21" name="Message layer 39"/>
          <p:cNvSpPr/>
          <p:nvPr/>
        </p:nvSpPr>
        <p:spPr>
          <a:xfrm>
            <a:off x="9674352" y="1417320"/>
            <a:ext cx="2148840" cy="4160520"/>
          </a:xfrm>
          <a:prstGeom prst="roundRect">
            <a:avLst>
              <a:gd name="adj" fmla="val 5106"/>
            </a:avLst>
          </a:prstGeom>
          <a:solidFill>
            <a:srgbClr val="16261D"/>
          </a:solidFill>
          <a:ln/>
          <a:effectLst>
            <a:outerShdw sx="100000" sy="100000" kx="0" ky="0" algn="bl" rotWithShape="0" blurRad="177800" dist="50800" dir="5400000">
              <a:srgbClr val="16261D">
                <a:alpha val="14000"/>
              </a:srgbClr>
            </a:outerShdw>
          </a:effectLst>
        </p:spPr>
      </p:sp>
      <p:sp>
        <p:nvSpPr>
          <p:cNvPr id="22" name="Number 40"/>
          <p:cNvSpPr/>
          <p:nvPr/>
        </p:nvSpPr>
        <p:spPr>
          <a:xfrm>
            <a:off x="9902952" y="1645920"/>
            <a:ext cx="411480" cy="411480"/>
          </a:xfrm>
          <a:prstGeom prst="ellipse">
            <a:avLst/>
          </a:prstGeom>
          <a:solidFill>
            <a:srgbClr val="93A87B"/>
          </a:solidFill>
          <a:ln/>
        </p:spPr>
        <p:txBody>
          <a:bodyPr wrap="square" lIns="0" tIns="0" rIns="0" bIns="0" rtlCol="0" anchor="ctr"/>
          <a:lstStyle/>
          <a:p>
            <a:pPr algn="ctr" indent="0" marL="0">
              <a:buNone/>
            </a:pPr>
            <a:r>
              <a:rPr lang="en-US" sz="1300" b="1" dirty="0">
                <a:solidFill>
                  <a:srgbClr val="16261D"/>
                </a:solidFill>
              </a:rPr>
              <a:t>5</a:t>
            </a:r>
            <a:endParaRPr lang="en-US" sz="1300" dirty="0"/>
          </a:p>
        </p:txBody>
      </p:sp>
      <p:sp>
        <p:nvSpPr>
          <p:cNvPr id="23" name="Text 41"/>
          <p:cNvSpPr txBox="1"/>
          <p:nvPr/>
        </p:nvSpPr>
        <p:spPr>
          <a:xfrm>
            <a:off x="9902952" y="2212848"/>
            <a:ext cx="1691640" cy="685800"/>
          </a:xfrm>
          <a:prstGeom prst="rect">
            <a:avLst/>
          </a:prstGeom>
          <a:noFill/>
          <a:ln/>
        </p:spPr>
        <p:txBody>
          <a:bodyPr wrap="square" lIns="0" tIns="0" rIns="0" bIns="0" rtlCol="0" anchor="t"/>
          <a:lstStyle/>
          <a:p>
            <a:pPr indent="0" marL="0">
              <a:buNone/>
            </a:pPr>
            <a:r>
              <a:rPr lang="en-US" sz="1500" b="1" dirty="0">
                <a:solidFill>
                  <a:srgbClr val="F5F7F0"/>
                </a:solidFill>
              </a:rPr>
              <a:t>Your solution and differentiators</a:t>
            </a:r>
            <a:endParaRPr lang="en-US" sz="1500" dirty="0"/>
          </a:p>
        </p:txBody>
      </p:sp>
      <p:sp>
        <p:nvSpPr>
          <p:cNvPr id="24" name="Text 42"/>
          <p:cNvSpPr txBox="1"/>
          <p:nvPr/>
        </p:nvSpPr>
        <p:spPr>
          <a:xfrm>
            <a:off x="9902952" y="2971800"/>
            <a:ext cx="1691640" cy="2468880"/>
          </a:xfrm>
          <a:prstGeom prst="rect">
            <a:avLst/>
          </a:prstGeom>
          <a:noFill/>
          <a:ln/>
        </p:spPr>
        <p:txBody>
          <a:bodyPr wrap="square" lIns="0" tIns="0" rIns="0" bIns="0" rtlCol="0" anchor="t"/>
          <a:lstStyle/>
          <a:p>
            <a:pPr indent="0" marL="0">
              <a:buNone/>
            </a:pPr>
            <a:r>
              <a:rPr lang="en-US" sz="1300" dirty="0">
                <a:solidFill>
                  <a:srgbClr val="C9D3C0"/>
                </a:solidFill>
              </a:rPr>
              <a:t>Ernst &amp; Young recommends Sovos as the best determination and invoicing solution across EMEA, with case studies from Bridgestone and Verizon</a:t>
            </a:r>
            <a:endParaRPr lang="en-US" sz="1300" dirty="0"/>
          </a:p>
        </p:txBody>
      </p:sp>
      <p:sp>
        <p:nvSpPr>
          <p:cNvPr id="25" name="Text 43"/>
          <p:cNvSpPr txBox="1"/>
          <p:nvPr/>
        </p:nvSpPr>
        <p:spPr>
          <a:xfrm>
            <a:off x="365760" y="5806440"/>
            <a:ext cx="11430000" cy="411480"/>
          </a:xfrm>
          <a:prstGeom prst="rect">
            <a:avLst/>
          </a:prstGeom>
          <a:noFill/>
          <a:ln/>
        </p:spPr>
        <p:txBody>
          <a:bodyPr wrap="square" lIns="0" tIns="0" rIns="0" bIns="0" rtlCol="0" anchor="t"/>
          <a:lstStyle/>
          <a:p>
            <a:pPr indent="0" marL="0">
              <a:buNone/>
            </a:pPr>
            <a:r>
              <a:rPr lang="en-US" sz="1400" dirty="0">
                <a:solidFill>
                  <a:srgbClr val="56604E"/>
                </a:solidFill>
              </a:rPr>
              <a:t>Each column answers the one before it: why it matters, what is changing, what it costs the customer, how it is solved, and why you.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06  ·  PERSONALISATION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Personalisation: a little goes a long way</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Icon badge 44"/>
          <p:cNvSpPr/>
          <p:nvPr/>
        </p:nvSpPr>
        <p:spPr>
          <a:xfrm>
            <a:off x="365760" y="1965960"/>
            <a:ext cx="914400" cy="914400"/>
          </a:xfrm>
          <a:prstGeom prst="ellipse">
            <a:avLst/>
          </a:prstGeom>
          <a:solidFill>
            <a:srgbClr val="93A87B"/>
          </a:solidFill>
          <a:ln/>
        </p:spPr>
      </p:sp>
      <p:pic>
        <p:nvPicPr>
          <p:cNvPr id="6" name="Image 0" descr="ThumbUp icon">    </p:cNvPr>
          <p:cNvPicPr>
            <a:picLocks noChangeAspect="1"/>
          </p:cNvPicPr>
          <p:nvPr/>
        </p:nvPicPr>
        <p:blipFill>
          <a:blip r:embed="rId1"/>
          <a:stretch>
            <a:fillRect/>
          </a:stretch>
        </p:blipFill>
        <p:spPr>
          <a:xfrm>
            <a:off x="566928" y="2167128"/>
            <a:ext cx="512064" cy="512064"/>
          </a:xfrm>
          <a:prstGeom prst="rect">
            <a:avLst/>
          </a:prstGeom>
        </p:spPr>
      </p:pic>
      <p:sp>
        <p:nvSpPr>
          <p:cNvPr id="7" name="Good personalisation 45"/>
          <p:cNvSpPr/>
          <p:nvPr/>
        </p:nvSpPr>
        <p:spPr>
          <a:xfrm>
            <a:off x="1508760" y="1417320"/>
            <a:ext cx="10314432" cy="2011680"/>
          </a:xfrm>
          <a:prstGeom prst="roundRect">
            <a:avLst>
              <a:gd name="adj" fmla="val 5455"/>
            </a:avLst>
          </a:prstGeom>
          <a:solidFill>
            <a:srgbClr val="1F3529"/>
          </a:solidFill>
          <a:ln/>
          <a:effectLst>
            <a:outerShdw sx="100000" sy="100000" kx="0" ky="0" algn="bl" rotWithShape="0" blurRad="177800" dist="50800" dir="5400000">
              <a:srgbClr val="16261D">
                <a:alpha val="14000"/>
              </a:srgbClr>
            </a:outerShdw>
          </a:effectLst>
        </p:spPr>
      </p:sp>
      <p:sp>
        <p:nvSpPr>
          <p:cNvPr id="8" name="Text 46"/>
          <p:cNvSpPr txBox="1"/>
          <p:nvPr/>
        </p:nvSpPr>
        <p:spPr>
          <a:xfrm>
            <a:off x="1783080" y="1645920"/>
            <a:ext cx="5486400" cy="365760"/>
          </a:xfrm>
          <a:prstGeom prst="rect">
            <a:avLst/>
          </a:prstGeom>
          <a:noFill/>
          <a:ln/>
        </p:spPr>
        <p:txBody>
          <a:bodyPr wrap="square" lIns="0" tIns="0" rIns="0" bIns="0" rtlCol="0" anchor="t"/>
          <a:lstStyle/>
          <a:p>
            <a:pPr indent="0" marL="0">
              <a:buNone/>
            </a:pPr>
            <a:r>
              <a:rPr lang="en-US" sz="1700" b="1" dirty="0">
                <a:solidFill>
                  <a:srgbClr val="F5F7F0"/>
                </a:solidFill>
              </a:rPr>
              <a:t>Good personalisation</a:t>
            </a:r>
            <a:endParaRPr lang="en-US" sz="1700" dirty="0"/>
          </a:p>
        </p:txBody>
      </p:sp>
      <p:sp>
        <p:nvSpPr>
          <p:cNvPr id="9" name="Example Insight about their industry"/>
          <p:cNvSpPr/>
          <p:nvPr/>
        </p:nvSpPr>
        <p:spPr>
          <a:xfrm>
            <a:off x="1783080" y="2194560"/>
            <a:ext cx="3133344" cy="960120"/>
          </a:xfrm>
          <a:prstGeom prst="roundRect">
            <a:avLst>
              <a:gd name="adj" fmla="val 9524"/>
            </a:avLst>
          </a:prstGeom>
          <a:solidFill>
            <a:srgbClr val="F5F7F0"/>
          </a:solidFill>
          <a:ln/>
        </p:spPr>
        <p:txBody>
          <a:bodyPr wrap="square" lIns="76200" tIns="76200" rIns="76200" bIns="76200" rtlCol="0" anchor="ctr"/>
          <a:lstStyle/>
          <a:p>
            <a:pPr algn="ctr" indent="0" marL="0">
              <a:buNone/>
            </a:pPr>
            <a:r>
              <a:rPr lang="en-US" sz="1400" dirty="0">
                <a:solidFill>
                  <a:srgbClr val="1F3529"/>
                </a:solidFill>
              </a:rPr>
              <a:t>Insight about their industry</a:t>
            </a:r>
            <a:endParaRPr lang="en-US" sz="1400" dirty="0"/>
          </a:p>
        </p:txBody>
      </p:sp>
      <p:sp>
        <p:nvSpPr>
          <p:cNvPr id="10" name="Example Persona-based trends"/>
          <p:cNvSpPr/>
          <p:nvPr/>
        </p:nvSpPr>
        <p:spPr>
          <a:xfrm>
            <a:off x="5099304" y="2194560"/>
            <a:ext cx="3133344" cy="960120"/>
          </a:xfrm>
          <a:prstGeom prst="roundRect">
            <a:avLst>
              <a:gd name="adj" fmla="val 9524"/>
            </a:avLst>
          </a:prstGeom>
          <a:solidFill>
            <a:srgbClr val="F5F7F0"/>
          </a:solidFill>
          <a:ln/>
        </p:spPr>
        <p:txBody>
          <a:bodyPr wrap="square" lIns="76200" tIns="76200" rIns="76200" bIns="76200" rtlCol="0" anchor="ctr"/>
          <a:lstStyle/>
          <a:p>
            <a:pPr algn="ctr" indent="0" marL="0">
              <a:buNone/>
            </a:pPr>
            <a:r>
              <a:rPr lang="en-US" sz="1400" dirty="0">
                <a:solidFill>
                  <a:srgbClr val="1F3529"/>
                </a:solidFill>
              </a:rPr>
              <a:t>Persona-based trends</a:t>
            </a:r>
            <a:endParaRPr lang="en-US" sz="1400" dirty="0"/>
          </a:p>
        </p:txBody>
      </p:sp>
      <p:sp>
        <p:nvSpPr>
          <p:cNvPr id="11" name="Example Company-specific news"/>
          <p:cNvSpPr/>
          <p:nvPr/>
        </p:nvSpPr>
        <p:spPr>
          <a:xfrm>
            <a:off x="8415528" y="2194560"/>
            <a:ext cx="3133344" cy="960120"/>
          </a:xfrm>
          <a:prstGeom prst="roundRect">
            <a:avLst>
              <a:gd name="adj" fmla="val 9524"/>
            </a:avLst>
          </a:prstGeom>
          <a:solidFill>
            <a:srgbClr val="F5F7F0"/>
          </a:solidFill>
          <a:ln/>
        </p:spPr>
        <p:txBody>
          <a:bodyPr wrap="square" lIns="76200" tIns="76200" rIns="76200" bIns="76200" rtlCol="0" anchor="ctr"/>
          <a:lstStyle/>
          <a:p>
            <a:pPr algn="ctr" indent="0" marL="0">
              <a:buNone/>
            </a:pPr>
            <a:r>
              <a:rPr lang="en-US" sz="1400" dirty="0">
                <a:solidFill>
                  <a:srgbClr val="1F3529"/>
                </a:solidFill>
              </a:rPr>
              <a:t>Company-specific news</a:t>
            </a:r>
            <a:endParaRPr lang="en-US" sz="1400" dirty="0"/>
          </a:p>
        </p:txBody>
      </p:sp>
      <p:sp>
        <p:nvSpPr>
          <p:cNvPr id="12" name="Icon badge 47"/>
          <p:cNvSpPr/>
          <p:nvPr/>
        </p:nvSpPr>
        <p:spPr>
          <a:xfrm>
            <a:off x="365760" y="4503420"/>
            <a:ext cx="914400" cy="914400"/>
          </a:xfrm>
          <a:prstGeom prst="ellipse">
            <a:avLst/>
          </a:prstGeom>
          <a:solidFill>
            <a:srgbClr val="A2574A"/>
          </a:solidFill>
          <a:ln/>
        </p:spPr>
      </p:sp>
      <p:pic>
        <p:nvPicPr>
          <p:cNvPr id="13" name="Image 1" descr="ThumbDown icon">    </p:cNvPr>
          <p:cNvPicPr>
            <a:picLocks noChangeAspect="1"/>
          </p:cNvPicPr>
          <p:nvPr/>
        </p:nvPicPr>
        <p:blipFill>
          <a:blip r:embed="rId2"/>
          <a:stretch>
            <a:fillRect/>
          </a:stretch>
        </p:blipFill>
        <p:spPr>
          <a:xfrm>
            <a:off x="566928" y="4704588"/>
            <a:ext cx="512064" cy="512064"/>
          </a:xfrm>
          <a:prstGeom prst="rect">
            <a:avLst/>
          </a:prstGeom>
        </p:spPr>
      </p:pic>
      <p:sp>
        <p:nvSpPr>
          <p:cNvPr id="14" name="Bad personalisation 48"/>
          <p:cNvSpPr/>
          <p:nvPr/>
        </p:nvSpPr>
        <p:spPr>
          <a:xfrm>
            <a:off x="1508760" y="3703320"/>
            <a:ext cx="10314432" cy="2514600"/>
          </a:xfrm>
          <a:prstGeom prst="roundRect">
            <a:avLst>
              <a:gd name="adj" fmla="val 4364"/>
            </a:avLst>
          </a:prstGeom>
          <a:solidFill>
            <a:srgbClr val="FFFFFF"/>
          </a:solidFill>
          <a:ln/>
          <a:effectLst>
            <a:outerShdw sx="100000" sy="100000" kx="0" ky="0" algn="bl" rotWithShape="0" blurRad="177800" dist="50800" dir="5400000">
              <a:srgbClr val="16261D">
                <a:alpha val="14000"/>
              </a:srgbClr>
            </a:outerShdw>
          </a:effectLst>
        </p:spPr>
      </p:sp>
      <p:sp>
        <p:nvSpPr>
          <p:cNvPr id="15" name="Text 49"/>
          <p:cNvSpPr txBox="1"/>
          <p:nvPr/>
        </p:nvSpPr>
        <p:spPr>
          <a:xfrm>
            <a:off x="1783080" y="3931920"/>
            <a:ext cx="5486400" cy="365760"/>
          </a:xfrm>
          <a:prstGeom prst="rect">
            <a:avLst/>
          </a:prstGeom>
          <a:noFill/>
          <a:ln/>
        </p:spPr>
        <p:txBody>
          <a:bodyPr wrap="square" lIns="0" tIns="0" rIns="0" bIns="0" rtlCol="0" anchor="t"/>
          <a:lstStyle/>
          <a:p>
            <a:pPr indent="0" marL="0">
              <a:buNone/>
            </a:pPr>
            <a:r>
              <a:rPr lang="en-US" sz="1700" b="1" dirty="0">
                <a:solidFill>
                  <a:srgbClr val="A2574A"/>
                </a:solidFill>
              </a:rPr>
              <a:t>Bad personalisation</a:t>
            </a:r>
            <a:endParaRPr lang="en-US" sz="1700" dirty="0"/>
          </a:p>
        </p:txBody>
      </p:sp>
      <p:sp>
        <p:nvSpPr>
          <p:cNvPr id="16" name="Example Over 80% personalised outreach"/>
          <p:cNvSpPr/>
          <p:nvPr/>
        </p:nvSpPr>
        <p:spPr>
          <a:xfrm>
            <a:off x="1783080" y="4480560"/>
            <a:ext cx="1806854" cy="1463040"/>
          </a:xfrm>
          <a:prstGeom prst="roundRect">
            <a:avLst>
              <a:gd name="adj" fmla="val 6250"/>
            </a:avLst>
          </a:prstGeom>
          <a:solidFill>
            <a:srgbClr val="F6EDEB"/>
          </a:solidFill>
          <a:ln/>
        </p:spPr>
        <p:txBody>
          <a:bodyPr wrap="square" lIns="76200" tIns="76200" rIns="76200" bIns="76200" rtlCol="0" anchor="ctr"/>
          <a:lstStyle/>
          <a:p>
            <a:pPr algn="ctr" indent="0" marL="0">
              <a:buNone/>
            </a:pPr>
            <a:r>
              <a:rPr lang="en-US" sz="1400" dirty="0">
                <a:solidFill>
                  <a:srgbClr val="20241F"/>
                </a:solidFill>
              </a:rPr>
              <a:t>Over 80% personalised outreach</a:t>
            </a:r>
            <a:endParaRPr lang="en-US" sz="1400" dirty="0"/>
          </a:p>
        </p:txBody>
      </p:sp>
      <p:sp>
        <p:nvSpPr>
          <p:cNvPr id="17" name="Example Too familiar, or trying too hard"/>
          <p:cNvSpPr/>
          <p:nvPr/>
        </p:nvSpPr>
        <p:spPr>
          <a:xfrm>
            <a:off x="3772814" y="4480560"/>
            <a:ext cx="1806854" cy="1463040"/>
          </a:xfrm>
          <a:prstGeom prst="roundRect">
            <a:avLst>
              <a:gd name="adj" fmla="val 6250"/>
            </a:avLst>
          </a:prstGeom>
          <a:solidFill>
            <a:srgbClr val="F6EDEB"/>
          </a:solidFill>
          <a:ln/>
        </p:spPr>
        <p:txBody>
          <a:bodyPr wrap="square" lIns="76200" tIns="76200" rIns="76200" bIns="76200" rtlCol="0" anchor="ctr"/>
          <a:lstStyle/>
          <a:p>
            <a:pPr algn="ctr" indent="0" marL="0">
              <a:buNone/>
            </a:pPr>
            <a:r>
              <a:rPr lang="en-US" sz="1400" dirty="0">
                <a:solidFill>
                  <a:srgbClr val="20241F"/>
                </a:solidFill>
              </a:rPr>
              <a:t>Too familiar, or trying too hard</a:t>
            </a:r>
            <a:endParaRPr lang="en-US" sz="1400" dirty="0"/>
          </a:p>
        </p:txBody>
      </p:sp>
      <p:sp>
        <p:nvSpPr>
          <p:cNvPr id="18" name="Example Too breezy: alma mater alone"/>
          <p:cNvSpPr/>
          <p:nvPr/>
        </p:nvSpPr>
        <p:spPr>
          <a:xfrm>
            <a:off x="5762549" y="4480560"/>
            <a:ext cx="1806854" cy="1463040"/>
          </a:xfrm>
          <a:prstGeom prst="roundRect">
            <a:avLst>
              <a:gd name="adj" fmla="val 6250"/>
            </a:avLst>
          </a:prstGeom>
          <a:solidFill>
            <a:srgbClr val="F6EDEB"/>
          </a:solidFill>
          <a:ln/>
        </p:spPr>
        <p:txBody>
          <a:bodyPr wrap="square" lIns="76200" tIns="76200" rIns="76200" bIns="76200" rtlCol="0" anchor="ctr"/>
          <a:lstStyle/>
          <a:p>
            <a:pPr algn="ctr" indent="0" marL="0">
              <a:buNone/>
            </a:pPr>
            <a:r>
              <a:rPr lang="en-US" sz="1400" dirty="0">
                <a:solidFill>
                  <a:srgbClr val="20241F"/>
                </a:solidFill>
              </a:rPr>
              <a:t>Too breezy: alma mater alone</a:t>
            </a:r>
            <a:endParaRPr lang="en-US" sz="1400" dirty="0"/>
          </a:p>
        </p:txBody>
      </p:sp>
      <p:sp>
        <p:nvSpPr>
          <p:cNvPr id="19" name="Example Fails the “so what?” test"/>
          <p:cNvSpPr/>
          <p:nvPr/>
        </p:nvSpPr>
        <p:spPr>
          <a:xfrm>
            <a:off x="7752283" y="4480560"/>
            <a:ext cx="1806854" cy="1463040"/>
          </a:xfrm>
          <a:prstGeom prst="roundRect">
            <a:avLst>
              <a:gd name="adj" fmla="val 6250"/>
            </a:avLst>
          </a:prstGeom>
          <a:solidFill>
            <a:srgbClr val="F6EDEB"/>
          </a:solidFill>
          <a:ln/>
        </p:spPr>
        <p:txBody>
          <a:bodyPr wrap="square" lIns="76200" tIns="76200" rIns="76200" bIns="76200" rtlCol="0" anchor="ctr"/>
          <a:lstStyle/>
          <a:p>
            <a:pPr algn="ctr" indent="0" marL="0">
              <a:buNone/>
            </a:pPr>
            <a:r>
              <a:rPr lang="en-US" sz="1400" dirty="0">
                <a:solidFill>
                  <a:srgbClr val="20241F"/>
                </a:solidFill>
              </a:rPr>
              <a:t>Fails the “so what?” test</a:t>
            </a:r>
            <a:endParaRPr lang="en-US" sz="1400" dirty="0"/>
          </a:p>
        </p:txBody>
      </p:sp>
      <p:sp>
        <p:nvSpPr>
          <p:cNvPr id="20" name="Example Empty calories: no value or insight"/>
          <p:cNvSpPr/>
          <p:nvPr/>
        </p:nvSpPr>
        <p:spPr>
          <a:xfrm>
            <a:off x="9742018" y="4480560"/>
            <a:ext cx="1806854" cy="1463040"/>
          </a:xfrm>
          <a:prstGeom prst="roundRect">
            <a:avLst>
              <a:gd name="adj" fmla="val 6250"/>
            </a:avLst>
          </a:prstGeom>
          <a:solidFill>
            <a:srgbClr val="F6EDEB"/>
          </a:solidFill>
          <a:ln/>
        </p:spPr>
        <p:txBody>
          <a:bodyPr wrap="square" lIns="76200" tIns="76200" rIns="76200" bIns="76200" rtlCol="0" anchor="ctr"/>
          <a:lstStyle/>
          <a:p>
            <a:pPr algn="ctr" indent="0" marL="0">
              <a:buNone/>
            </a:pPr>
            <a:r>
              <a:rPr lang="en-US" sz="1400" dirty="0">
                <a:solidFill>
                  <a:srgbClr val="20241F"/>
                </a:solidFill>
              </a:rPr>
              <a:t>Empty calories: no value or insight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06  ·  PERSONALISATION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The most efficient personalisation</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Text 50"/>
          <p:cNvSpPr txBox="1"/>
          <p:nvPr/>
        </p:nvSpPr>
        <p:spPr>
          <a:xfrm>
            <a:off x="365760" y="1371600"/>
            <a:ext cx="4937760" cy="457200"/>
          </a:xfrm>
          <a:prstGeom prst="rect">
            <a:avLst/>
          </a:prstGeom>
          <a:noFill/>
          <a:ln/>
        </p:spPr>
        <p:txBody>
          <a:bodyPr wrap="square" lIns="0" tIns="0" rIns="0" bIns="0" rtlCol="0" anchor="t"/>
          <a:lstStyle/>
          <a:p>
            <a:pPr indent="0" marL="0">
              <a:buNone/>
            </a:pPr>
            <a:r>
              <a:rPr lang="en-US" sz="1500" dirty="0">
                <a:solidFill>
                  <a:srgbClr val="56604E"/>
                </a:solidFill>
              </a:rPr>
              <a:t>Personalise at the highest level that still lands, in this order:</a:t>
            </a:r>
            <a:endParaRPr lang="en-US" sz="1500" dirty="0"/>
          </a:p>
        </p:txBody>
      </p:sp>
      <p:sp>
        <p:nvSpPr>
          <p:cNvPr id="6" name="Level 51"/>
          <p:cNvSpPr/>
          <p:nvPr/>
        </p:nvSpPr>
        <p:spPr>
          <a:xfrm>
            <a:off x="365760" y="2011680"/>
            <a:ext cx="4937760" cy="1188720"/>
          </a:xfrm>
          <a:prstGeom prst="roundRect">
            <a:avLst>
              <a:gd name="adj" fmla="val 9231"/>
            </a:avLst>
          </a:prstGeom>
          <a:solidFill>
            <a:srgbClr val="FFFFFF"/>
          </a:solidFill>
          <a:ln/>
          <a:effectLst>
            <a:outerShdw sx="100000" sy="100000" kx="0" ky="0" algn="bl" rotWithShape="0" blurRad="177800" dist="50800" dir="5400000">
              <a:srgbClr val="16261D">
                <a:alpha val="14000"/>
              </a:srgbClr>
            </a:outerShdw>
          </a:effectLst>
        </p:spPr>
      </p:sp>
      <p:sp>
        <p:nvSpPr>
          <p:cNvPr id="7" name="Level number 1"/>
          <p:cNvSpPr txBox="1"/>
          <p:nvPr/>
        </p:nvSpPr>
        <p:spPr>
          <a:xfrm>
            <a:off x="548640" y="2148840"/>
            <a:ext cx="731520" cy="914400"/>
          </a:xfrm>
          <a:prstGeom prst="rect">
            <a:avLst/>
          </a:prstGeom>
          <a:noFill/>
          <a:ln/>
        </p:spPr>
        <p:txBody>
          <a:bodyPr wrap="square" lIns="0" tIns="0" rIns="0" bIns="0" rtlCol="0" anchor="ctr"/>
          <a:lstStyle/>
          <a:p>
            <a:pPr algn="ctr" indent="0" marL="0">
              <a:buNone/>
            </a:pPr>
            <a:r>
              <a:rPr lang="en-US" sz="4400" dirty="0">
                <a:solidFill>
                  <a:srgbClr val="93A87B"/>
                </a:solidFill>
                <a:latin typeface="Georgia" pitchFamily="34" charset="0"/>
                <a:ea typeface="Georgia" pitchFamily="34" charset="-122"/>
                <a:cs typeface="Georgia" pitchFamily="34" charset="-120"/>
              </a:rPr>
              <a:t>1</a:t>
            </a:r>
            <a:endParaRPr lang="en-US" sz="4400" dirty="0"/>
          </a:p>
        </p:txBody>
      </p:sp>
      <p:sp>
        <p:nvSpPr>
          <p:cNvPr id="8" name="Text 52"/>
          <p:cNvSpPr txBox="1"/>
          <p:nvPr/>
        </p:nvSpPr>
        <p:spPr>
          <a:xfrm>
            <a:off x="1463040" y="2212848"/>
            <a:ext cx="3657600" cy="365760"/>
          </a:xfrm>
          <a:prstGeom prst="rect">
            <a:avLst/>
          </a:prstGeom>
          <a:noFill/>
          <a:ln/>
        </p:spPr>
        <p:txBody>
          <a:bodyPr wrap="square" lIns="0" tIns="0" rIns="0" bIns="0" rtlCol="0" anchor="t"/>
          <a:lstStyle/>
          <a:p>
            <a:pPr indent="0" marL="0">
              <a:buNone/>
            </a:pPr>
            <a:r>
              <a:rPr lang="en-US" sz="1800" b="1" dirty="0">
                <a:solidFill>
                  <a:srgbClr val="20241F"/>
                </a:solidFill>
              </a:rPr>
              <a:t>Customer vertical</a:t>
            </a:r>
            <a:endParaRPr lang="en-US" sz="1800" dirty="0"/>
          </a:p>
        </p:txBody>
      </p:sp>
      <p:sp>
        <p:nvSpPr>
          <p:cNvPr id="9" name="Text 53"/>
          <p:cNvSpPr txBox="1"/>
          <p:nvPr/>
        </p:nvSpPr>
        <p:spPr>
          <a:xfrm>
            <a:off x="1463040" y="2606040"/>
            <a:ext cx="3657600" cy="457200"/>
          </a:xfrm>
          <a:prstGeom prst="rect">
            <a:avLst/>
          </a:prstGeom>
          <a:noFill/>
          <a:ln/>
        </p:spPr>
        <p:txBody>
          <a:bodyPr wrap="square" lIns="0" tIns="0" rIns="0" bIns="0" rtlCol="0" anchor="t"/>
          <a:lstStyle/>
          <a:p>
            <a:pPr indent="0" marL="0">
              <a:buNone/>
            </a:pPr>
            <a:r>
              <a:rPr lang="en-US" sz="1300" dirty="0">
                <a:solidFill>
                  <a:srgbClr val="56604E"/>
                </a:solidFill>
              </a:rPr>
              <a:t>One message serves a whole industry</a:t>
            </a:r>
            <a:endParaRPr lang="en-US" sz="1300" dirty="0"/>
          </a:p>
        </p:txBody>
      </p:sp>
      <p:sp>
        <p:nvSpPr>
          <p:cNvPr id="10" name="Level 54"/>
          <p:cNvSpPr/>
          <p:nvPr/>
        </p:nvSpPr>
        <p:spPr>
          <a:xfrm>
            <a:off x="365760" y="3383280"/>
            <a:ext cx="4937760" cy="1188720"/>
          </a:xfrm>
          <a:prstGeom prst="roundRect">
            <a:avLst>
              <a:gd name="adj" fmla="val 9231"/>
            </a:avLst>
          </a:prstGeom>
          <a:solidFill>
            <a:srgbClr val="FFFFFF"/>
          </a:solidFill>
          <a:ln/>
          <a:effectLst>
            <a:outerShdw sx="100000" sy="100000" kx="0" ky="0" algn="bl" rotWithShape="0" blurRad="177800" dist="50800" dir="5400000">
              <a:srgbClr val="16261D">
                <a:alpha val="14000"/>
              </a:srgbClr>
            </a:outerShdw>
          </a:effectLst>
        </p:spPr>
      </p:sp>
      <p:sp>
        <p:nvSpPr>
          <p:cNvPr id="11" name="Level number 2"/>
          <p:cNvSpPr txBox="1"/>
          <p:nvPr/>
        </p:nvSpPr>
        <p:spPr>
          <a:xfrm>
            <a:off x="548640" y="3520440"/>
            <a:ext cx="731520" cy="914400"/>
          </a:xfrm>
          <a:prstGeom prst="rect">
            <a:avLst/>
          </a:prstGeom>
          <a:noFill/>
          <a:ln/>
        </p:spPr>
        <p:txBody>
          <a:bodyPr wrap="square" lIns="0" tIns="0" rIns="0" bIns="0" rtlCol="0" anchor="ctr"/>
          <a:lstStyle/>
          <a:p>
            <a:pPr algn="ctr" indent="0" marL="0">
              <a:buNone/>
            </a:pPr>
            <a:r>
              <a:rPr lang="en-US" sz="4400" dirty="0">
                <a:solidFill>
                  <a:srgbClr val="93A87B"/>
                </a:solidFill>
                <a:latin typeface="Georgia" pitchFamily="34" charset="0"/>
                <a:ea typeface="Georgia" pitchFamily="34" charset="-122"/>
                <a:cs typeface="Georgia" pitchFamily="34" charset="-120"/>
              </a:rPr>
              <a:t>2</a:t>
            </a:r>
            <a:endParaRPr lang="en-US" sz="4400" dirty="0"/>
          </a:p>
        </p:txBody>
      </p:sp>
      <p:sp>
        <p:nvSpPr>
          <p:cNvPr id="12" name="Text 55"/>
          <p:cNvSpPr txBox="1"/>
          <p:nvPr/>
        </p:nvSpPr>
        <p:spPr>
          <a:xfrm>
            <a:off x="1463040" y="3584448"/>
            <a:ext cx="3657600" cy="365760"/>
          </a:xfrm>
          <a:prstGeom prst="rect">
            <a:avLst/>
          </a:prstGeom>
          <a:noFill/>
          <a:ln/>
        </p:spPr>
        <p:txBody>
          <a:bodyPr wrap="square" lIns="0" tIns="0" rIns="0" bIns="0" rtlCol="0" anchor="t"/>
          <a:lstStyle/>
          <a:p>
            <a:pPr indent="0" marL="0">
              <a:buNone/>
            </a:pPr>
            <a:r>
              <a:rPr lang="en-US" sz="1800" b="1" dirty="0">
                <a:solidFill>
                  <a:srgbClr val="20241F"/>
                </a:solidFill>
              </a:rPr>
              <a:t>Persona</a:t>
            </a:r>
            <a:endParaRPr lang="en-US" sz="1800" dirty="0"/>
          </a:p>
        </p:txBody>
      </p:sp>
      <p:sp>
        <p:nvSpPr>
          <p:cNvPr id="13" name="Text 56"/>
          <p:cNvSpPr txBox="1"/>
          <p:nvPr/>
        </p:nvSpPr>
        <p:spPr>
          <a:xfrm>
            <a:off x="1463040" y="3977640"/>
            <a:ext cx="3657600" cy="457200"/>
          </a:xfrm>
          <a:prstGeom prst="rect">
            <a:avLst/>
          </a:prstGeom>
          <a:noFill/>
          <a:ln/>
        </p:spPr>
        <p:txBody>
          <a:bodyPr wrap="square" lIns="0" tIns="0" rIns="0" bIns="0" rtlCol="0" anchor="t"/>
          <a:lstStyle/>
          <a:p>
            <a:pPr indent="0" marL="0">
              <a:buNone/>
            </a:pPr>
            <a:r>
              <a:rPr lang="en-US" sz="1300" dirty="0">
                <a:solidFill>
                  <a:srgbClr val="56604E"/>
                </a:solidFill>
              </a:rPr>
              <a:t>Then tune it to the role</a:t>
            </a:r>
            <a:endParaRPr lang="en-US" sz="1300" dirty="0"/>
          </a:p>
        </p:txBody>
      </p:sp>
      <p:sp>
        <p:nvSpPr>
          <p:cNvPr id="14" name="Level 57"/>
          <p:cNvSpPr/>
          <p:nvPr/>
        </p:nvSpPr>
        <p:spPr>
          <a:xfrm>
            <a:off x="365760" y="4754880"/>
            <a:ext cx="4937760" cy="1188720"/>
          </a:xfrm>
          <a:prstGeom prst="roundRect">
            <a:avLst>
              <a:gd name="adj" fmla="val 9231"/>
            </a:avLst>
          </a:prstGeom>
          <a:solidFill>
            <a:srgbClr val="FFFFFF"/>
          </a:solidFill>
          <a:ln/>
          <a:effectLst>
            <a:outerShdw sx="100000" sy="100000" kx="0" ky="0" algn="bl" rotWithShape="0" blurRad="177800" dist="50800" dir="5400000">
              <a:srgbClr val="16261D">
                <a:alpha val="14000"/>
              </a:srgbClr>
            </a:outerShdw>
          </a:effectLst>
        </p:spPr>
      </p:sp>
      <p:sp>
        <p:nvSpPr>
          <p:cNvPr id="15" name="Level number 3"/>
          <p:cNvSpPr txBox="1"/>
          <p:nvPr/>
        </p:nvSpPr>
        <p:spPr>
          <a:xfrm>
            <a:off x="548640" y="4892040"/>
            <a:ext cx="731520" cy="914400"/>
          </a:xfrm>
          <a:prstGeom prst="rect">
            <a:avLst/>
          </a:prstGeom>
          <a:noFill/>
          <a:ln/>
        </p:spPr>
        <p:txBody>
          <a:bodyPr wrap="square" lIns="0" tIns="0" rIns="0" bIns="0" rtlCol="0" anchor="ctr"/>
          <a:lstStyle/>
          <a:p>
            <a:pPr algn="ctr" indent="0" marL="0">
              <a:buNone/>
            </a:pPr>
            <a:r>
              <a:rPr lang="en-US" sz="4400" dirty="0">
                <a:solidFill>
                  <a:srgbClr val="93A87B"/>
                </a:solidFill>
                <a:latin typeface="Georgia" pitchFamily="34" charset="0"/>
                <a:ea typeface="Georgia" pitchFamily="34" charset="-122"/>
                <a:cs typeface="Georgia" pitchFamily="34" charset="-120"/>
              </a:rPr>
              <a:t>3</a:t>
            </a:r>
            <a:endParaRPr lang="en-US" sz="4400" dirty="0"/>
          </a:p>
        </p:txBody>
      </p:sp>
      <p:sp>
        <p:nvSpPr>
          <p:cNvPr id="16" name="Text 58"/>
          <p:cNvSpPr txBox="1"/>
          <p:nvPr/>
        </p:nvSpPr>
        <p:spPr>
          <a:xfrm>
            <a:off x="1463040" y="4956048"/>
            <a:ext cx="3657600" cy="365760"/>
          </a:xfrm>
          <a:prstGeom prst="rect">
            <a:avLst/>
          </a:prstGeom>
          <a:noFill/>
          <a:ln/>
        </p:spPr>
        <p:txBody>
          <a:bodyPr wrap="square" lIns="0" tIns="0" rIns="0" bIns="0" rtlCol="0" anchor="t"/>
          <a:lstStyle/>
          <a:p>
            <a:pPr indent="0" marL="0">
              <a:buNone/>
            </a:pPr>
            <a:r>
              <a:rPr lang="en-US" sz="1800" b="1" dirty="0">
                <a:solidFill>
                  <a:srgbClr val="20241F"/>
                </a:solidFill>
              </a:rPr>
              <a:t>Event</a:t>
            </a:r>
            <a:endParaRPr lang="en-US" sz="1800" dirty="0"/>
          </a:p>
        </p:txBody>
      </p:sp>
      <p:sp>
        <p:nvSpPr>
          <p:cNvPr id="17" name="Text 59"/>
          <p:cNvSpPr txBox="1"/>
          <p:nvPr/>
        </p:nvSpPr>
        <p:spPr>
          <a:xfrm>
            <a:off x="1463040" y="5349240"/>
            <a:ext cx="3657600" cy="457200"/>
          </a:xfrm>
          <a:prstGeom prst="rect">
            <a:avLst/>
          </a:prstGeom>
          <a:noFill/>
          <a:ln/>
        </p:spPr>
        <p:txBody>
          <a:bodyPr wrap="square" lIns="0" tIns="0" rIns="0" bIns="0" rtlCol="0" anchor="t"/>
          <a:lstStyle/>
          <a:p>
            <a:pPr indent="0" marL="0">
              <a:buNone/>
            </a:pPr>
            <a:r>
              <a:rPr lang="en-US" sz="1300" dirty="0">
                <a:solidFill>
                  <a:srgbClr val="56604E"/>
                </a:solidFill>
              </a:rPr>
              <a:t>Then add a trigger: funding, an acquisition, a new leader</a:t>
            </a:r>
            <a:endParaRPr lang="en-US" sz="1300" dirty="0"/>
          </a:p>
        </p:txBody>
      </p:sp>
      <p:sp>
        <p:nvSpPr>
          <p:cNvPr id="18" name="Example card 60"/>
          <p:cNvSpPr/>
          <p:nvPr/>
        </p:nvSpPr>
        <p:spPr>
          <a:xfrm>
            <a:off x="5669280" y="1371600"/>
            <a:ext cx="6153912" cy="4892040"/>
          </a:xfrm>
          <a:prstGeom prst="roundRect">
            <a:avLst>
              <a:gd name="adj" fmla="val 2243"/>
            </a:avLst>
          </a:prstGeom>
          <a:solidFill>
            <a:srgbClr val="FFFFFF"/>
          </a:solidFill>
          <a:ln/>
          <a:effectLst>
            <a:outerShdw sx="100000" sy="100000" kx="0" ky="0" algn="bl" rotWithShape="0" blurRad="279400" dist="50800" dir="5400000">
              <a:srgbClr val="16261D">
                <a:alpha val="18000"/>
              </a:srgbClr>
            </a:outerShdw>
          </a:effectLst>
        </p:spPr>
      </p:sp>
      <p:sp>
        <p:nvSpPr>
          <p:cNvPr id="19" name="Pill 61"/>
          <p:cNvSpPr/>
          <p:nvPr/>
        </p:nvSpPr>
        <p:spPr>
          <a:xfrm>
            <a:off x="5943600" y="1645920"/>
            <a:ext cx="4206240" cy="329184"/>
          </a:xfrm>
          <a:prstGeom prst="roundRect">
            <a:avLst>
              <a:gd name="adj" fmla="val 50000"/>
            </a:avLst>
          </a:prstGeom>
          <a:solidFill>
            <a:srgbClr val="1F3529"/>
          </a:solidFill>
          <a:ln/>
        </p:spPr>
        <p:txBody>
          <a:bodyPr wrap="square" lIns="0" tIns="0" rIns="0" bIns="0" rtlCol="0" anchor="ctr"/>
          <a:lstStyle/>
          <a:p>
            <a:pPr algn="ctr" indent="0" marL="0">
              <a:buNone/>
            </a:pPr>
            <a:r>
              <a:rPr lang="en-US" sz="1000" b="1" dirty="0">
                <a:solidFill>
                  <a:srgbClr val="F5F7F0"/>
                </a:solidFill>
              </a:rPr>
              <a:t>EXAMPLE  ·  MICRO FINANCE  ·  PERSONA: FINANCE</a:t>
            </a:r>
            <a:endParaRPr lang="en-US" sz="1000" dirty="0"/>
          </a:p>
        </p:txBody>
      </p:sp>
      <p:sp>
        <p:nvSpPr>
          <p:cNvPr id="20" name="Text 62"/>
          <p:cNvSpPr txBox="1"/>
          <p:nvPr/>
        </p:nvSpPr>
        <p:spPr>
          <a:xfrm>
            <a:off x="5943600" y="2194560"/>
            <a:ext cx="5577840" cy="2011680"/>
          </a:xfrm>
          <a:prstGeom prst="rect">
            <a:avLst/>
          </a:prstGeom>
          <a:noFill/>
          <a:ln/>
        </p:spPr>
        <p:txBody>
          <a:bodyPr wrap="square" lIns="0" tIns="0" rIns="0" bIns="0" rtlCol="0" anchor="t"/>
          <a:lstStyle/>
          <a:p>
            <a:pPr indent="0" marL="0">
              <a:buNone/>
            </a:pPr>
            <a:r>
              <a:rPr lang="en-US" sz="1700" i="1" dirty="0">
                <a:solidFill>
                  <a:srgbClr val="16261D"/>
                </a:solidFill>
                <a:latin typeface="Georgia" pitchFamily="34" charset="0"/>
                <a:ea typeface="Georgia" pitchFamily="34" charset="-122"/>
                <a:cs typeface="Georgia" pitchFamily="34" charset="-120"/>
              </a:rPr>
              <a:t>“We talk to finance leaders at small companies like yours frequently. Their top issues are usually access to financing, managing cash balances, or ESG reporting. Are any of those your top issue, or is it something else?”</a:t>
            </a:r>
            <a:endParaRPr lang="en-US" sz="1700" dirty="0"/>
          </a:p>
        </p:txBody>
      </p:sp>
      <p:sp>
        <p:nvSpPr>
          <p:cNvPr id="21" name="Issue 63"/>
          <p:cNvSpPr/>
          <p:nvPr/>
        </p:nvSpPr>
        <p:spPr>
          <a:xfrm>
            <a:off x="5943600" y="4434840"/>
            <a:ext cx="1737360" cy="1554480"/>
          </a:xfrm>
          <a:prstGeom prst="roundRect">
            <a:avLst>
              <a:gd name="adj" fmla="val 7059"/>
            </a:avLst>
          </a:prstGeom>
          <a:solidFill>
            <a:srgbClr val="F5F7F0"/>
          </a:solidFill>
          <a:ln/>
        </p:spPr>
      </p:sp>
      <p:sp>
        <p:nvSpPr>
          <p:cNvPr id="22" name="Icon badge 64"/>
          <p:cNvSpPr/>
          <p:nvPr/>
        </p:nvSpPr>
        <p:spPr>
          <a:xfrm>
            <a:off x="6492240" y="4572000"/>
            <a:ext cx="640080" cy="640080"/>
          </a:xfrm>
          <a:prstGeom prst="ellipse">
            <a:avLst/>
          </a:prstGeom>
          <a:solidFill>
            <a:srgbClr val="1F3529"/>
          </a:solidFill>
          <a:ln/>
        </p:spPr>
      </p:sp>
      <p:pic>
        <p:nvPicPr>
          <p:cNvPr id="23" name="Image 0" descr="BuildingBank icon">    </p:cNvPr>
          <p:cNvPicPr>
            <a:picLocks noChangeAspect="1"/>
          </p:cNvPicPr>
          <p:nvPr/>
        </p:nvPicPr>
        <p:blipFill>
          <a:blip r:embed="rId1"/>
          <a:stretch>
            <a:fillRect/>
          </a:stretch>
        </p:blipFill>
        <p:spPr>
          <a:xfrm>
            <a:off x="6633058" y="4712818"/>
            <a:ext cx="358445" cy="358445"/>
          </a:xfrm>
          <a:prstGeom prst="rect">
            <a:avLst/>
          </a:prstGeom>
        </p:spPr>
      </p:pic>
      <p:sp>
        <p:nvSpPr>
          <p:cNvPr id="24" name="Text 65"/>
          <p:cNvSpPr txBox="1"/>
          <p:nvPr/>
        </p:nvSpPr>
        <p:spPr>
          <a:xfrm>
            <a:off x="6035040" y="5303520"/>
            <a:ext cx="1554480" cy="548640"/>
          </a:xfrm>
          <a:prstGeom prst="rect">
            <a:avLst/>
          </a:prstGeom>
          <a:noFill/>
          <a:ln/>
        </p:spPr>
        <p:txBody>
          <a:bodyPr wrap="square" lIns="0" tIns="0" rIns="0" bIns="0" rtlCol="0" anchor="t"/>
          <a:lstStyle/>
          <a:p>
            <a:pPr algn="ctr" indent="0" marL="0">
              <a:buNone/>
            </a:pPr>
            <a:r>
              <a:rPr lang="en-US" sz="1200" b="1" dirty="0">
                <a:solidFill>
                  <a:srgbClr val="1F3529"/>
                </a:solidFill>
              </a:rPr>
              <a:t>Banking and financing</a:t>
            </a:r>
            <a:endParaRPr lang="en-US" sz="1200" dirty="0"/>
          </a:p>
        </p:txBody>
      </p:sp>
      <p:sp>
        <p:nvSpPr>
          <p:cNvPr id="25" name="Issue 66"/>
          <p:cNvSpPr/>
          <p:nvPr/>
        </p:nvSpPr>
        <p:spPr>
          <a:xfrm>
            <a:off x="7836408" y="4434840"/>
            <a:ext cx="1737360" cy="1554480"/>
          </a:xfrm>
          <a:prstGeom prst="roundRect">
            <a:avLst>
              <a:gd name="adj" fmla="val 7059"/>
            </a:avLst>
          </a:prstGeom>
          <a:solidFill>
            <a:srgbClr val="F5F7F0"/>
          </a:solidFill>
          <a:ln/>
        </p:spPr>
      </p:sp>
      <p:sp>
        <p:nvSpPr>
          <p:cNvPr id="26" name="Icon badge 67"/>
          <p:cNvSpPr/>
          <p:nvPr/>
        </p:nvSpPr>
        <p:spPr>
          <a:xfrm>
            <a:off x="8385048" y="4572000"/>
            <a:ext cx="640080" cy="640080"/>
          </a:xfrm>
          <a:prstGeom prst="ellipse">
            <a:avLst/>
          </a:prstGeom>
          <a:solidFill>
            <a:srgbClr val="1F3529"/>
          </a:solidFill>
          <a:ln/>
        </p:spPr>
      </p:sp>
      <p:pic>
        <p:nvPicPr>
          <p:cNvPr id="27" name="Image 1" descr="Cash icon">    </p:cNvPr>
          <p:cNvPicPr>
            <a:picLocks noChangeAspect="1"/>
          </p:cNvPicPr>
          <p:nvPr/>
        </p:nvPicPr>
        <p:blipFill>
          <a:blip r:embed="rId2"/>
          <a:stretch>
            <a:fillRect/>
          </a:stretch>
        </p:blipFill>
        <p:spPr>
          <a:xfrm>
            <a:off x="8525866" y="4712818"/>
            <a:ext cx="358445" cy="358445"/>
          </a:xfrm>
          <a:prstGeom prst="rect">
            <a:avLst/>
          </a:prstGeom>
        </p:spPr>
      </p:pic>
      <p:sp>
        <p:nvSpPr>
          <p:cNvPr id="28" name="Text 68"/>
          <p:cNvSpPr txBox="1"/>
          <p:nvPr/>
        </p:nvSpPr>
        <p:spPr>
          <a:xfrm>
            <a:off x="7927848" y="5303520"/>
            <a:ext cx="1554480" cy="548640"/>
          </a:xfrm>
          <a:prstGeom prst="rect">
            <a:avLst/>
          </a:prstGeom>
          <a:noFill/>
          <a:ln/>
        </p:spPr>
        <p:txBody>
          <a:bodyPr wrap="square" lIns="0" tIns="0" rIns="0" bIns="0" rtlCol="0" anchor="t"/>
          <a:lstStyle/>
          <a:p>
            <a:pPr algn="ctr" indent="0" marL="0">
              <a:buNone/>
            </a:pPr>
            <a:r>
              <a:rPr lang="en-US" sz="1200" b="1" dirty="0">
                <a:solidFill>
                  <a:srgbClr val="1F3529"/>
                </a:solidFill>
              </a:rPr>
              <a:t>Cash management</a:t>
            </a:r>
            <a:endParaRPr lang="en-US" sz="1200" dirty="0"/>
          </a:p>
        </p:txBody>
      </p:sp>
      <p:sp>
        <p:nvSpPr>
          <p:cNvPr id="29" name="Issue 69"/>
          <p:cNvSpPr/>
          <p:nvPr/>
        </p:nvSpPr>
        <p:spPr>
          <a:xfrm>
            <a:off x="9729216" y="4434840"/>
            <a:ext cx="1737360" cy="1554480"/>
          </a:xfrm>
          <a:prstGeom prst="roundRect">
            <a:avLst>
              <a:gd name="adj" fmla="val 7059"/>
            </a:avLst>
          </a:prstGeom>
          <a:solidFill>
            <a:srgbClr val="F5F7F0"/>
          </a:solidFill>
          <a:ln/>
        </p:spPr>
      </p:sp>
      <p:sp>
        <p:nvSpPr>
          <p:cNvPr id="30" name="Icon badge 70"/>
          <p:cNvSpPr/>
          <p:nvPr/>
        </p:nvSpPr>
        <p:spPr>
          <a:xfrm>
            <a:off x="10277856" y="4572000"/>
            <a:ext cx="640080" cy="640080"/>
          </a:xfrm>
          <a:prstGeom prst="ellipse">
            <a:avLst/>
          </a:prstGeom>
          <a:solidFill>
            <a:srgbClr val="1F3529"/>
          </a:solidFill>
          <a:ln/>
        </p:spPr>
      </p:sp>
      <p:pic>
        <p:nvPicPr>
          <p:cNvPr id="31" name="Image 2" descr="Leaf icon">    </p:cNvPr>
          <p:cNvPicPr>
            <a:picLocks noChangeAspect="1"/>
          </p:cNvPicPr>
          <p:nvPr/>
        </p:nvPicPr>
        <p:blipFill>
          <a:blip r:embed="rId3"/>
          <a:stretch>
            <a:fillRect/>
          </a:stretch>
        </p:blipFill>
        <p:spPr>
          <a:xfrm>
            <a:off x="10418674" y="4712818"/>
            <a:ext cx="358445" cy="358445"/>
          </a:xfrm>
          <a:prstGeom prst="rect">
            <a:avLst/>
          </a:prstGeom>
        </p:spPr>
      </p:pic>
      <p:sp>
        <p:nvSpPr>
          <p:cNvPr id="32" name="Text 71"/>
          <p:cNvSpPr txBox="1"/>
          <p:nvPr/>
        </p:nvSpPr>
        <p:spPr>
          <a:xfrm>
            <a:off x="9820656" y="5303520"/>
            <a:ext cx="1554480" cy="548640"/>
          </a:xfrm>
          <a:prstGeom prst="rect">
            <a:avLst/>
          </a:prstGeom>
          <a:noFill/>
          <a:ln/>
        </p:spPr>
        <p:txBody>
          <a:bodyPr wrap="square" lIns="0" tIns="0" rIns="0" bIns="0" rtlCol="0" anchor="t"/>
          <a:lstStyle/>
          <a:p>
            <a:pPr algn="ctr" indent="0" marL="0">
              <a:buNone/>
            </a:pPr>
            <a:r>
              <a:rPr lang="en-US" sz="1200" b="1" dirty="0">
                <a:solidFill>
                  <a:srgbClr val="1F3529"/>
                </a:solidFill>
              </a:rPr>
              <a:t>ESG and regulation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06  ·  PERSONALISATION  ·  USING AI</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Personalisation by issue, at scale</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 Company list as shown in the session.</a:t>
            </a:r>
            <a:endParaRPr lang="en-US" sz="1000" dirty="0"/>
          </a:p>
        </p:txBody>
      </p:sp>
      <p:sp>
        <p:nvSpPr>
          <p:cNvPr id="5" name="Step 72"/>
          <p:cNvSpPr/>
          <p:nvPr/>
        </p:nvSpPr>
        <p:spPr>
          <a:xfrm>
            <a:off x="365760" y="1417320"/>
            <a:ext cx="5120640" cy="1417320"/>
          </a:xfrm>
          <a:prstGeom prst="roundRect">
            <a:avLst>
              <a:gd name="adj" fmla="val 7742"/>
            </a:avLst>
          </a:prstGeom>
          <a:solidFill>
            <a:srgbClr val="FFFFFF"/>
          </a:solidFill>
          <a:ln/>
          <a:effectLst>
            <a:outerShdw sx="100000" sy="100000" kx="0" ky="0" algn="bl" rotWithShape="0" blurRad="177800" dist="50800" dir="5400000">
              <a:srgbClr val="16261D">
                <a:alpha val="14000"/>
              </a:srgbClr>
            </a:outerShdw>
          </a:effectLst>
        </p:spPr>
      </p:sp>
      <p:sp>
        <p:nvSpPr>
          <p:cNvPr id="6" name="Number 73"/>
          <p:cNvSpPr/>
          <p:nvPr/>
        </p:nvSpPr>
        <p:spPr>
          <a:xfrm>
            <a:off x="594360" y="1691640"/>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1</a:t>
            </a:r>
            <a:endParaRPr lang="en-US" sz="1500" dirty="0"/>
          </a:p>
        </p:txBody>
      </p:sp>
      <p:sp>
        <p:nvSpPr>
          <p:cNvPr id="7" name="Text 74"/>
          <p:cNvSpPr txBox="1"/>
          <p:nvPr/>
        </p:nvSpPr>
        <p:spPr>
          <a:xfrm>
            <a:off x="1325880" y="1645920"/>
            <a:ext cx="3977640" cy="548640"/>
          </a:xfrm>
          <a:prstGeom prst="rect">
            <a:avLst/>
          </a:prstGeom>
          <a:noFill/>
          <a:ln/>
        </p:spPr>
        <p:txBody>
          <a:bodyPr wrap="square" lIns="0" tIns="0" rIns="0" bIns="0" rtlCol="0" anchor="t"/>
          <a:lstStyle/>
          <a:p>
            <a:pPr indent="0" marL="0">
              <a:buNone/>
            </a:pPr>
            <a:r>
              <a:rPr lang="en-US" sz="1600" b="1" dirty="0">
                <a:solidFill>
                  <a:srgbClr val="20241F"/>
                </a:solidFill>
              </a:rPr>
              <a:t>Pick an issue you solve</a:t>
            </a:r>
            <a:endParaRPr lang="en-US" sz="1600" dirty="0"/>
          </a:p>
        </p:txBody>
      </p:sp>
      <p:sp>
        <p:nvSpPr>
          <p:cNvPr id="8" name="Text 75"/>
          <p:cNvSpPr txBox="1"/>
          <p:nvPr/>
        </p:nvSpPr>
        <p:spPr>
          <a:xfrm>
            <a:off x="1325880" y="2240280"/>
            <a:ext cx="3977640" cy="457200"/>
          </a:xfrm>
          <a:prstGeom prst="rect">
            <a:avLst/>
          </a:prstGeom>
          <a:noFill/>
          <a:ln/>
        </p:spPr>
        <p:txBody>
          <a:bodyPr wrap="square" lIns="0" tIns="0" rIns="0" bIns="0" rtlCol="0" anchor="t"/>
          <a:lstStyle/>
          <a:p>
            <a:pPr indent="0" marL="0">
              <a:buNone/>
            </a:pPr>
            <a:r>
              <a:rPr lang="en-US" sz="1300" dirty="0">
                <a:solidFill>
                  <a:srgbClr val="56604E"/>
                </a:solidFill>
              </a:rPr>
              <a:t>For example: growth by acquisition, or a restatement of earnings.</a:t>
            </a:r>
            <a:endParaRPr lang="en-US" sz="1300" dirty="0"/>
          </a:p>
        </p:txBody>
      </p:sp>
      <p:sp>
        <p:nvSpPr>
          <p:cNvPr id="9" name="Step 76"/>
          <p:cNvSpPr/>
          <p:nvPr/>
        </p:nvSpPr>
        <p:spPr>
          <a:xfrm>
            <a:off x="365760" y="3017520"/>
            <a:ext cx="5120640" cy="1417320"/>
          </a:xfrm>
          <a:prstGeom prst="roundRect">
            <a:avLst>
              <a:gd name="adj" fmla="val 7742"/>
            </a:avLst>
          </a:prstGeom>
          <a:solidFill>
            <a:srgbClr val="FFFFFF"/>
          </a:solidFill>
          <a:ln/>
          <a:effectLst>
            <a:outerShdw sx="100000" sy="100000" kx="0" ky="0" algn="bl" rotWithShape="0" blurRad="177800" dist="50800" dir="5400000">
              <a:srgbClr val="16261D">
                <a:alpha val="14000"/>
              </a:srgbClr>
            </a:outerShdw>
          </a:effectLst>
        </p:spPr>
      </p:sp>
      <p:sp>
        <p:nvSpPr>
          <p:cNvPr id="10" name="Number 77"/>
          <p:cNvSpPr/>
          <p:nvPr/>
        </p:nvSpPr>
        <p:spPr>
          <a:xfrm>
            <a:off x="594360" y="3291840"/>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2</a:t>
            </a:r>
            <a:endParaRPr lang="en-US" sz="1500" dirty="0"/>
          </a:p>
        </p:txBody>
      </p:sp>
      <p:sp>
        <p:nvSpPr>
          <p:cNvPr id="11" name="Text 78"/>
          <p:cNvSpPr txBox="1"/>
          <p:nvPr/>
        </p:nvSpPr>
        <p:spPr>
          <a:xfrm>
            <a:off x="1325880" y="3246120"/>
            <a:ext cx="3977640" cy="548640"/>
          </a:xfrm>
          <a:prstGeom prst="rect">
            <a:avLst/>
          </a:prstGeom>
          <a:noFill/>
          <a:ln/>
        </p:spPr>
        <p:txBody>
          <a:bodyPr wrap="square" lIns="0" tIns="0" rIns="0" bIns="0" rtlCol="0" anchor="t"/>
          <a:lstStyle/>
          <a:p>
            <a:pPr indent="0" marL="0">
              <a:buNone/>
            </a:pPr>
            <a:r>
              <a:rPr lang="en-US" sz="1600" b="1" dirty="0">
                <a:solidFill>
                  <a:srgbClr val="20241F"/>
                </a:solidFill>
              </a:rPr>
              <a:t>Ask an AI research tool which target accounts show it</a:t>
            </a:r>
            <a:endParaRPr lang="en-US" sz="1600" dirty="0"/>
          </a:p>
        </p:txBody>
      </p:sp>
      <p:sp>
        <p:nvSpPr>
          <p:cNvPr id="12" name="Text 79"/>
          <p:cNvSpPr txBox="1"/>
          <p:nvPr/>
        </p:nvSpPr>
        <p:spPr>
          <a:xfrm>
            <a:off x="1325880" y="3840480"/>
            <a:ext cx="3977640" cy="457200"/>
          </a:xfrm>
          <a:prstGeom prst="rect">
            <a:avLst/>
          </a:prstGeom>
          <a:noFill/>
          <a:ln/>
        </p:spPr>
        <p:txBody>
          <a:bodyPr wrap="square" lIns="0" tIns="0" rIns="0" bIns="0" rtlCol="0" anchor="t"/>
          <a:lstStyle/>
          <a:p>
            <a:pPr indent="0" marL="0">
              <a:buNone/>
            </a:pPr>
            <a:r>
              <a:rPr lang="en-US" sz="1300" dirty="0">
                <a:solidFill>
                  <a:srgbClr val="56604E"/>
                </a:solidFill>
              </a:rPr>
              <a:t>One prompt screens the whole list.</a:t>
            </a:r>
            <a:endParaRPr lang="en-US" sz="1300" dirty="0"/>
          </a:p>
        </p:txBody>
      </p:sp>
      <p:sp>
        <p:nvSpPr>
          <p:cNvPr id="13" name="Step 80"/>
          <p:cNvSpPr/>
          <p:nvPr/>
        </p:nvSpPr>
        <p:spPr>
          <a:xfrm>
            <a:off x="365760" y="4617720"/>
            <a:ext cx="5120640" cy="1417320"/>
          </a:xfrm>
          <a:prstGeom prst="roundRect">
            <a:avLst>
              <a:gd name="adj" fmla="val 7742"/>
            </a:avLst>
          </a:prstGeom>
          <a:solidFill>
            <a:srgbClr val="FFFFFF"/>
          </a:solidFill>
          <a:ln/>
          <a:effectLst>
            <a:outerShdw sx="100000" sy="100000" kx="0" ky="0" algn="bl" rotWithShape="0" blurRad="177800" dist="50800" dir="5400000">
              <a:srgbClr val="16261D">
                <a:alpha val="14000"/>
              </a:srgbClr>
            </a:outerShdw>
          </a:effectLst>
        </p:spPr>
      </p:sp>
      <p:sp>
        <p:nvSpPr>
          <p:cNvPr id="14" name="Number 81"/>
          <p:cNvSpPr/>
          <p:nvPr/>
        </p:nvSpPr>
        <p:spPr>
          <a:xfrm>
            <a:off x="594360" y="4892040"/>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3</a:t>
            </a:r>
            <a:endParaRPr lang="en-US" sz="1500" dirty="0"/>
          </a:p>
        </p:txBody>
      </p:sp>
      <p:sp>
        <p:nvSpPr>
          <p:cNvPr id="15" name="Text 82"/>
          <p:cNvSpPr txBox="1"/>
          <p:nvPr/>
        </p:nvSpPr>
        <p:spPr>
          <a:xfrm>
            <a:off x="1325880" y="4846320"/>
            <a:ext cx="3977640" cy="548640"/>
          </a:xfrm>
          <a:prstGeom prst="rect">
            <a:avLst/>
          </a:prstGeom>
          <a:noFill/>
          <a:ln/>
        </p:spPr>
        <p:txBody>
          <a:bodyPr wrap="square" lIns="0" tIns="0" rIns="0" bIns="0" rtlCol="0" anchor="t"/>
          <a:lstStyle/>
          <a:p>
            <a:pPr indent="0" marL="0">
              <a:buNone/>
            </a:pPr>
            <a:r>
              <a:rPr lang="en-US" sz="1600" b="1" dirty="0">
                <a:solidFill>
                  <a:srgbClr val="20241F"/>
                </a:solidFill>
              </a:rPr>
              <a:t>Open with their issue, not your product</a:t>
            </a:r>
            <a:endParaRPr lang="en-US" sz="1600" dirty="0"/>
          </a:p>
        </p:txBody>
      </p:sp>
      <p:sp>
        <p:nvSpPr>
          <p:cNvPr id="16" name="Text 83"/>
          <p:cNvSpPr txBox="1"/>
          <p:nvPr/>
        </p:nvSpPr>
        <p:spPr>
          <a:xfrm>
            <a:off x="1325880" y="5440680"/>
            <a:ext cx="3977640" cy="457200"/>
          </a:xfrm>
          <a:prstGeom prst="rect">
            <a:avLst/>
          </a:prstGeom>
          <a:noFill/>
          <a:ln/>
        </p:spPr>
        <p:txBody>
          <a:bodyPr wrap="square" lIns="0" tIns="0" rIns="0" bIns="0" rtlCol="0" anchor="t"/>
          <a:lstStyle/>
          <a:p>
            <a:pPr indent="0" marL="0">
              <a:buNone/>
            </a:pPr>
            <a:r>
              <a:rPr lang="en-US" sz="1300" dirty="0">
                <a:solidFill>
                  <a:srgbClr val="56604E"/>
                </a:solidFill>
              </a:rPr>
              <a:t>Every account gets a first line about its own event.</a:t>
            </a:r>
            <a:endParaRPr lang="en-US" sz="1300" dirty="0"/>
          </a:p>
        </p:txBody>
      </p:sp>
      <p:sp>
        <p:nvSpPr>
          <p:cNvPr id="17" name="Prompt card 84"/>
          <p:cNvSpPr/>
          <p:nvPr/>
        </p:nvSpPr>
        <p:spPr>
          <a:xfrm>
            <a:off x="5852160" y="1417320"/>
            <a:ext cx="5971032" cy="4800600"/>
          </a:xfrm>
          <a:prstGeom prst="roundRect">
            <a:avLst>
              <a:gd name="adj" fmla="val 2286"/>
            </a:avLst>
          </a:prstGeom>
          <a:solidFill>
            <a:srgbClr val="FFFFFF"/>
          </a:solidFill>
          <a:ln/>
          <a:effectLst>
            <a:outerShdw sx="100000" sy="100000" kx="0" ky="0" algn="bl" rotWithShape="0" blurRad="279400" dist="50800" dir="5400000">
              <a:srgbClr val="16261D">
                <a:alpha val="18000"/>
              </a:srgbClr>
            </a:outerShdw>
          </a:effectLst>
        </p:spPr>
      </p:sp>
      <p:sp>
        <p:nvSpPr>
          <p:cNvPr id="18" name="Prompt header"/>
          <p:cNvSpPr/>
          <p:nvPr/>
        </p:nvSpPr>
        <p:spPr>
          <a:xfrm>
            <a:off x="5852160" y="1417320"/>
            <a:ext cx="5971032" cy="502920"/>
          </a:xfrm>
          <a:prstGeom prst="roundRect">
            <a:avLst>
              <a:gd name="adj" fmla="val 21818"/>
            </a:avLst>
          </a:prstGeom>
          <a:solidFill>
            <a:srgbClr val="16261D"/>
          </a:solidFill>
          <a:ln/>
        </p:spPr>
      </p:sp>
      <p:sp>
        <p:nvSpPr>
          <p:cNvPr id="19" name="Prompt header base"/>
          <p:cNvSpPr/>
          <p:nvPr/>
        </p:nvSpPr>
        <p:spPr>
          <a:xfrm>
            <a:off x="5852160" y="1691640"/>
            <a:ext cx="5971032" cy="228600"/>
          </a:xfrm>
          <a:prstGeom prst="rect">
            <a:avLst/>
          </a:prstGeom>
          <a:solidFill>
            <a:srgbClr val="16261D"/>
          </a:solidFill>
          <a:ln/>
        </p:spPr>
      </p:sp>
      <p:sp>
        <p:nvSpPr>
          <p:cNvPr id="20" name="Text 85"/>
          <p:cNvSpPr txBox="1"/>
          <p:nvPr/>
        </p:nvSpPr>
        <p:spPr>
          <a:xfrm>
            <a:off x="6126480" y="1417320"/>
            <a:ext cx="3657600" cy="502920"/>
          </a:xfrm>
          <a:prstGeom prst="rect">
            <a:avLst/>
          </a:prstGeom>
          <a:noFill/>
          <a:ln/>
        </p:spPr>
        <p:txBody>
          <a:bodyPr wrap="square" lIns="0" tIns="0" rIns="0" bIns="0" rtlCol="0" anchor="ctr"/>
          <a:lstStyle/>
          <a:p>
            <a:pPr indent="0" marL="0">
              <a:buNone/>
            </a:pPr>
            <a:r>
              <a:rPr lang="en-US" sz="1100" b="1" spc="300" kern="0" dirty="0">
                <a:solidFill>
                  <a:srgbClr val="93A87B"/>
                </a:solidFill>
              </a:rPr>
              <a:t>AI RESEARCH PROMPT</a:t>
            </a:r>
            <a:endParaRPr lang="en-US" sz="1100" dirty="0"/>
          </a:p>
        </p:txBody>
      </p:sp>
      <p:sp>
        <p:nvSpPr>
          <p:cNvPr id="21" name="Text 86"/>
          <p:cNvSpPr txBox="1"/>
          <p:nvPr/>
        </p:nvSpPr>
        <p:spPr>
          <a:xfrm>
            <a:off x="6126480" y="2103120"/>
            <a:ext cx="5440680" cy="685800"/>
          </a:xfrm>
          <a:prstGeom prst="rect">
            <a:avLst/>
          </a:prstGeom>
          <a:noFill/>
          <a:ln/>
        </p:spPr>
        <p:txBody>
          <a:bodyPr wrap="square" lIns="0" tIns="0" rIns="0" bIns="0" rtlCol="0" anchor="t"/>
          <a:lstStyle/>
          <a:p>
            <a:pPr indent="0" marL="0">
              <a:buNone/>
            </a:pPr>
            <a:r>
              <a:rPr lang="en-US" sz="1500" b="1" dirty="0">
                <a:solidFill>
                  <a:srgbClr val="16261D"/>
                </a:solidFill>
              </a:rPr>
              <a:t>Have any of the following companies recently grown via acquisition or had to restate earnings?</a:t>
            </a:r>
            <a:endParaRPr lang="en-US" sz="1500" dirty="0"/>
          </a:p>
        </p:txBody>
      </p:sp>
      <p:sp>
        <p:nvSpPr>
          <p:cNvPr id="22" name="Text 87"/>
          <p:cNvSpPr txBox="1"/>
          <p:nvPr/>
        </p:nvSpPr>
        <p:spPr>
          <a:xfrm>
            <a:off x="6126480" y="2926080"/>
            <a:ext cx="2651760" cy="3017520"/>
          </a:xfrm>
          <a:prstGeom prst="rect">
            <a:avLst/>
          </a:prstGeom>
          <a:noFill/>
          <a:ln/>
        </p:spPr>
        <p:txBody>
          <a:bodyPr wrap="square" lIns="0" tIns="0" rIns="0" bIns="0" rtlCol="0" anchor="t"/>
          <a:lstStyle/>
          <a:p>
            <a:pPr indent="0" marL="0">
              <a:spcAft>
                <a:spcPts val="300"/>
              </a:spcAft>
              <a:buNone/>
            </a:pPr>
            <a:r>
              <a:rPr lang="en-US" sz="1300" dirty="0">
                <a:solidFill>
                  <a:srgbClr val="56604E"/>
                </a:solidFill>
              </a:rPr>
              <a:t>Sureserve Group</a:t>
            </a:r>
            <a:endParaRPr lang="en-US" sz="1300" dirty="0"/>
          </a:p>
          <a:p>
            <a:pPr indent="0" marL="0">
              <a:spcAft>
                <a:spcPts val="300"/>
              </a:spcAft>
              <a:buNone/>
            </a:pPr>
            <a:r>
              <a:rPr lang="en-US" sz="1300" dirty="0">
                <a:solidFill>
                  <a:srgbClr val="56604E"/>
                </a:solidFill>
              </a:rPr>
              <a:t>Harworth Group</a:t>
            </a:r>
            <a:endParaRPr lang="en-US" sz="1300" dirty="0"/>
          </a:p>
          <a:p>
            <a:pPr indent="0" marL="0">
              <a:spcAft>
                <a:spcPts val="300"/>
              </a:spcAft>
              <a:buNone/>
            </a:pPr>
            <a:r>
              <a:rPr lang="en-US" sz="1300" dirty="0">
                <a:solidFill>
                  <a:srgbClr val="56604E"/>
                </a:solidFill>
              </a:rPr>
              <a:t>ICG</a:t>
            </a:r>
            <a:endParaRPr lang="en-US" sz="1300" dirty="0"/>
          </a:p>
          <a:p>
            <a:pPr indent="0" marL="0">
              <a:spcAft>
                <a:spcPts val="300"/>
              </a:spcAft>
              <a:buNone/>
            </a:pPr>
            <a:r>
              <a:rPr lang="en-US" sz="1300" dirty="0">
                <a:solidFill>
                  <a:srgbClr val="56604E"/>
                </a:solidFill>
              </a:rPr>
              <a:t>Duke Street Capital</a:t>
            </a:r>
            <a:endParaRPr lang="en-US" sz="1300" dirty="0"/>
          </a:p>
          <a:p>
            <a:pPr indent="0" marL="0">
              <a:spcAft>
                <a:spcPts val="300"/>
              </a:spcAft>
              <a:buNone/>
            </a:pPr>
            <a:r>
              <a:rPr lang="en-US" sz="1300" dirty="0">
                <a:solidFill>
                  <a:srgbClr val="56604E"/>
                </a:solidFill>
              </a:rPr>
              <a:t>Leaders Romans Group</a:t>
            </a:r>
            <a:endParaRPr lang="en-US" sz="1300" dirty="0"/>
          </a:p>
          <a:p>
            <a:pPr indent="0" marL="0">
              <a:spcAft>
                <a:spcPts val="300"/>
              </a:spcAft>
              <a:buNone/>
            </a:pPr>
            <a:r>
              <a:rPr lang="en-US" sz="1300" dirty="0">
                <a:solidFill>
                  <a:srgbClr val="56604E"/>
                </a:solidFill>
              </a:rPr>
              <a:t>A&amp;M Capital</a:t>
            </a:r>
            <a:endParaRPr lang="en-US" sz="1300" dirty="0"/>
          </a:p>
          <a:p>
            <a:pPr indent="0" marL="0">
              <a:spcAft>
                <a:spcPts val="300"/>
              </a:spcAft>
              <a:buNone/>
            </a:pPr>
            <a:r>
              <a:rPr lang="en-US" sz="1300" dirty="0">
                <a:solidFill>
                  <a:srgbClr val="56604E"/>
                </a:solidFill>
              </a:rPr>
              <a:t>Rotork</a:t>
            </a:r>
            <a:endParaRPr lang="en-US" sz="1300" dirty="0"/>
          </a:p>
        </p:txBody>
      </p:sp>
      <p:sp>
        <p:nvSpPr>
          <p:cNvPr id="23" name="Text 88"/>
          <p:cNvSpPr txBox="1"/>
          <p:nvPr/>
        </p:nvSpPr>
        <p:spPr>
          <a:xfrm>
            <a:off x="8869680" y="2926080"/>
            <a:ext cx="2651760" cy="3017520"/>
          </a:xfrm>
          <a:prstGeom prst="rect">
            <a:avLst/>
          </a:prstGeom>
          <a:noFill/>
          <a:ln/>
        </p:spPr>
        <p:txBody>
          <a:bodyPr wrap="square" lIns="0" tIns="0" rIns="0" bIns="0" rtlCol="0" anchor="t"/>
          <a:lstStyle/>
          <a:p>
            <a:pPr indent="0" marL="0">
              <a:spcAft>
                <a:spcPts val="300"/>
              </a:spcAft>
              <a:buNone/>
            </a:pPr>
            <a:r>
              <a:rPr lang="en-US" sz="1300" dirty="0">
                <a:solidFill>
                  <a:srgbClr val="56604E"/>
                </a:solidFill>
              </a:rPr>
              <a:t>OCU</a:t>
            </a:r>
            <a:endParaRPr lang="en-US" sz="1300" dirty="0"/>
          </a:p>
          <a:p>
            <a:pPr indent="0" marL="0">
              <a:spcAft>
                <a:spcPts val="300"/>
              </a:spcAft>
              <a:buNone/>
            </a:pPr>
            <a:r>
              <a:rPr lang="en-US" sz="1300" dirty="0">
                <a:solidFill>
                  <a:srgbClr val="56604E"/>
                </a:solidFill>
              </a:rPr>
              <a:t>Avalere Health</a:t>
            </a:r>
            <a:endParaRPr lang="en-US" sz="1300" dirty="0"/>
          </a:p>
          <a:p>
            <a:pPr indent="0" marL="0">
              <a:spcAft>
                <a:spcPts val="300"/>
              </a:spcAft>
              <a:buNone/>
            </a:pPr>
            <a:r>
              <a:rPr lang="en-US" sz="1300" dirty="0">
                <a:solidFill>
                  <a:srgbClr val="56604E"/>
                </a:solidFill>
              </a:rPr>
              <a:t>ISG</a:t>
            </a:r>
            <a:endParaRPr lang="en-US" sz="1300" dirty="0"/>
          </a:p>
          <a:p>
            <a:pPr indent="0" marL="0">
              <a:spcAft>
                <a:spcPts val="300"/>
              </a:spcAft>
              <a:buNone/>
            </a:pPr>
            <a:r>
              <a:rPr lang="en-US" sz="1300" dirty="0">
                <a:solidFill>
                  <a:srgbClr val="56604E"/>
                </a:solidFill>
              </a:rPr>
              <a:t>Wates Group</a:t>
            </a:r>
            <a:endParaRPr lang="en-US" sz="1300" dirty="0"/>
          </a:p>
          <a:p>
            <a:pPr indent="0" marL="0">
              <a:spcAft>
                <a:spcPts val="300"/>
              </a:spcAft>
              <a:buNone/>
            </a:pPr>
            <a:r>
              <a:rPr lang="en-US" sz="1300" dirty="0">
                <a:solidFill>
                  <a:srgbClr val="56604E"/>
                </a:solidFill>
              </a:rPr>
              <a:t>Willmott Dixon</a:t>
            </a:r>
            <a:endParaRPr lang="en-US" sz="1300" dirty="0"/>
          </a:p>
          <a:p>
            <a:pPr indent="0" marL="0">
              <a:spcAft>
                <a:spcPts val="300"/>
              </a:spcAft>
              <a:buNone/>
            </a:pPr>
            <a:r>
              <a:rPr lang="en-US" sz="1300" dirty="0">
                <a:solidFill>
                  <a:srgbClr val="56604E"/>
                </a:solidFill>
              </a:rPr>
              <a:t>Spectris</a:t>
            </a:r>
            <a:endParaRPr lang="en-US" sz="1300" dirty="0"/>
          </a:p>
          <a:p>
            <a:pPr indent="0" marL="0">
              <a:spcAft>
                <a:spcPts val="300"/>
              </a:spcAft>
              <a:buNone/>
            </a:pPr>
            <a:r>
              <a:rPr lang="en-US" sz="1300" dirty="0">
                <a:solidFill>
                  <a:srgbClr val="56604E"/>
                </a:solidFill>
              </a:rPr>
              <a:t>Shaftesbury Capital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LEVER 05  ·  MESSAGING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Messaging best practices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 (Lucanet example email)</a:t>
            </a:r>
            <a:endParaRPr lang="en-US" sz="1000" dirty="0"/>
          </a:p>
        </p:txBody>
      </p:sp>
      <p:sp>
        <p:nvSpPr>
          <p:cNvPr id="5" name="Email 89"/>
          <p:cNvSpPr/>
          <p:nvPr/>
        </p:nvSpPr>
        <p:spPr>
          <a:xfrm>
            <a:off x="365760" y="1371600"/>
            <a:ext cx="6309360" cy="4892040"/>
          </a:xfrm>
          <a:prstGeom prst="roundRect">
            <a:avLst>
              <a:gd name="adj" fmla="val 2243"/>
            </a:avLst>
          </a:prstGeom>
          <a:solidFill>
            <a:srgbClr val="FFFFFF"/>
          </a:solidFill>
          <a:ln/>
          <a:effectLst>
            <a:outerShdw sx="100000" sy="100000" kx="0" ky="0" algn="bl" rotWithShape="0" blurRad="177800" dist="50800" dir="5400000">
              <a:srgbClr val="16261D">
                <a:alpha val="14000"/>
              </a:srgbClr>
            </a:outerShdw>
          </a:effectLst>
        </p:spPr>
      </p:sp>
      <p:sp>
        <p:nvSpPr>
          <p:cNvPr id="6" name="Text 90"/>
          <p:cNvSpPr txBox="1"/>
          <p:nvPr/>
        </p:nvSpPr>
        <p:spPr>
          <a:xfrm>
            <a:off x="640080" y="1554480"/>
            <a:ext cx="5760720" cy="365760"/>
          </a:xfrm>
          <a:prstGeom prst="rect">
            <a:avLst/>
          </a:prstGeom>
          <a:noFill/>
          <a:ln/>
        </p:spPr>
        <p:txBody>
          <a:bodyPr wrap="square" lIns="0" tIns="0" rIns="0" bIns="0" rtlCol="0" anchor="t"/>
          <a:lstStyle/>
          <a:p>
            <a:pPr indent="0" marL="0">
              <a:buNone/>
            </a:pPr>
            <a:r>
              <a:rPr lang="en-US" sz="1300" dirty="0">
                <a:solidFill>
                  <a:srgbClr val="56604E"/>
                </a:solidFill>
              </a:rPr>
              <a:t>Subject   </a:t>
            </a:r>
            <a:pPr indent="0" marL="0">
              <a:buNone/>
            </a:pPr>
            <a:r>
              <a:rPr lang="en-US" sz="1300" b="1" dirty="0">
                <a:solidFill>
                  <a:srgbClr val="20241F"/>
                </a:solidFill>
              </a:rPr>
              <a:t>Acquisition of Cheng LLC</a:t>
            </a:r>
            <a:endParaRPr lang="en-US" sz="1300" dirty="0"/>
          </a:p>
        </p:txBody>
      </p:sp>
      <p:sp>
        <p:nvSpPr>
          <p:cNvPr id="7" name="Line 91"/>
          <p:cNvSpPr/>
          <p:nvPr/>
        </p:nvSpPr>
        <p:spPr>
          <a:xfrm>
            <a:off x="640080" y="1965960"/>
            <a:ext cx="5760720" cy="0"/>
          </a:xfrm>
          <a:prstGeom prst="line">
            <a:avLst/>
          </a:prstGeom>
          <a:noFill/>
          <a:ln w="9525">
            <a:solidFill>
              <a:srgbClr val="D2D8CD"/>
            </a:solidFill>
            <a:prstDash val="solid"/>
          </a:ln>
        </p:spPr>
      </p:sp>
      <p:sp>
        <p:nvSpPr>
          <p:cNvPr id="8" name="Text 92"/>
          <p:cNvSpPr txBox="1"/>
          <p:nvPr/>
        </p:nvSpPr>
        <p:spPr>
          <a:xfrm>
            <a:off x="640080" y="2103120"/>
            <a:ext cx="5760720" cy="3566160"/>
          </a:xfrm>
          <a:prstGeom prst="rect">
            <a:avLst/>
          </a:prstGeom>
          <a:noFill/>
          <a:ln/>
        </p:spPr>
        <p:txBody>
          <a:bodyPr wrap="square" lIns="0" tIns="0" rIns="0" bIns="0" rtlCol="0" anchor="t"/>
          <a:lstStyle/>
          <a:p>
            <a:pPr indent="0" marL="0">
              <a:spcAft>
                <a:spcPts val="800"/>
              </a:spcAft>
              <a:buNone/>
            </a:pPr>
            <a:r>
              <a:rPr lang="en-US" sz="1200" dirty="0">
                <a:solidFill>
                  <a:srgbClr val="20241F"/>
                </a:solidFill>
              </a:rPr>
              <a:t>Jean-Claude,</a:t>
            </a:r>
            <a:endParaRPr lang="en-US" sz="1200" dirty="0"/>
          </a:p>
          <a:p>
            <a:pPr indent="0" marL="0">
              <a:spcAft>
                <a:spcPts val="800"/>
              </a:spcAft>
              <a:buNone/>
            </a:pPr>
            <a:r>
              <a:rPr lang="en-US" sz="1200" dirty="0">
                <a:solidFill>
                  <a:srgbClr val="20241F"/>
                </a:solidFill>
              </a:rPr>
              <a:t>I recently read that Double Impact LLC has expanded via the acquisition of Cheng LLC. That almost doubles your size and takes you into a new market, so I imagine it has made your finance processes much more complex.</a:t>
            </a:r>
            <a:endParaRPr lang="en-US" sz="1200" dirty="0"/>
          </a:p>
          <a:p>
            <a:pPr indent="0" marL="0">
              <a:spcAft>
                <a:spcPts val="800"/>
              </a:spcAft>
              <a:buNone/>
            </a:pPr>
            <a:r>
              <a:rPr lang="en-US" sz="1200" dirty="0">
                <a:solidFill>
                  <a:srgbClr val="20241F"/>
                </a:solidFill>
              </a:rPr>
              <a:t>By the time many other construction firms reach your size, they start to look for technology to streamline quarterly consolidation. Otherwise you end up dedicating too many expensive employee hours to manual processes, which is costly and error-prone.</a:t>
            </a:r>
            <a:endParaRPr lang="en-US" sz="1200" dirty="0"/>
          </a:p>
          <a:p>
            <a:pPr indent="0" marL="0">
              <a:spcAft>
                <a:spcPts val="800"/>
              </a:spcAft>
              <a:buNone/>
            </a:pPr>
            <a:r>
              <a:rPr lang="en-US" sz="1200" dirty="0">
                <a:solidFill>
                  <a:srgbClr val="20241F"/>
                </a:solidFill>
              </a:rPr>
              <a:t>A firm your size in Bavaria worked with us to get through tax season, and it helped them save costs permanently. If you’d like to hear more, schedule time with me here.</a:t>
            </a:r>
            <a:endParaRPr lang="en-US" sz="1200" dirty="0"/>
          </a:p>
        </p:txBody>
      </p:sp>
      <p:sp>
        <p:nvSpPr>
          <p:cNvPr id="9" name="Text 93"/>
          <p:cNvSpPr txBox="1"/>
          <p:nvPr/>
        </p:nvSpPr>
        <p:spPr>
          <a:xfrm>
            <a:off x="640080" y="5760720"/>
            <a:ext cx="5760720" cy="320040"/>
          </a:xfrm>
          <a:prstGeom prst="rect">
            <a:avLst/>
          </a:prstGeom>
          <a:noFill/>
          <a:ln/>
        </p:spPr>
        <p:txBody>
          <a:bodyPr wrap="square" lIns="0" tIns="0" rIns="0" bIns="0" rtlCol="0" anchor="t"/>
          <a:lstStyle/>
          <a:p>
            <a:pPr indent="0" marL="0">
              <a:buNone/>
            </a:pPr>
            <a:r>
              <a:rPr lang="en-US" sz="1200" b="1" dirty="0">
                <a:solidFill>
                  <a:srgbClr val="20241F"/>
                </a:solidFill>
              </a:rPr>
              <a:t>Peter Prospector</a:t>
            </a:r>
            <a:pPr indent="0" marL="0">
              <a:buNone/>
            </a:pPr>
            <a:r>
              <a:rPr lang="en-US" sz="1200" dirty="0">
                <a:solidFill>
                  <a:srgbClr val="56604E"/>
                </a:solidFill>
              </a:rPr>
              <a:t>   ·   Lucanet</a:t>
            </a:r>
            <a:endParaRPr lang="en-US" sz="1200" dirty="0"/>
          </a:p>
        </p:txBody>
      </p:sp>
      <p:sp>
        <p:nvSpPr>
          <p:cNvPr id="10" name="Practices 94"/>
          <p:cNvSpPr/>
          <p:nvPr/>
        </p:nvSpPr>
        <p:spPr>
          <a:xfrm>
            <a:off x="6949440" y="1371600"/>
            <a:ext cx="4873752" cy="4892040"/>
          </a:xfrm>
          <a:prstGeom prst="roundRect">
            <a:avLst>
              <a:gd name="adj" fmla="val 2251"/>
            </a:avLst>
          </a:prstGeom>
          <a:solidFill>
            <a:srgbClr val="16261D"/>
          </a:solidFill>
          <a:ln/>
          <a:effectLst>
            <a:outerShdw sx="100000" sy="100000" kx="0" ky="0" algn="bl" rotWithShape="0" blurRad="304800" dist="50800" dir="5400000">
              <a:srgbClr val="16261D">
                <a:alpha val="30000"/>
              </a:srgbClr>
            </a:outerShdw>
          </a:effectLst>
        </p:spPr>
      </p:sp>
      <p:sp>
        <p:nvSpPr>
          <p:cNvPr id="11" name="Number 95"/>
          <p:cNvSpPr/>
          <p:nvPr/>
        </p:nvSpPr>
        <p:spPr>
          <a:xfrm>
            <a:off x="7223760" y="1691640"/>
            <a:ext cx="457200" cy="457200"/>
          </a:xfrm>
          <a:prstGeom prst="ellipse">
            <a:avLst/>
          </a:prstGeom>
          <a:solidFill>
            <a:srgbClr val="93A87B"/>
          </a:solidFill>
          <a:ln/>
        </p:spPr>
        <p:txBody>
          <a:bodyPr wrap="square" lIns="0" tIns="0" rIns="0" bIns="0" rtlCol="0" anchor="ctr"/>
          <a:lstStyle/>
          <a:p>
            <a:pPr algn="ctr" indent="0" marL="0">
              <a:buNone/>
            </a:pPr>
            <a:r>
              <a:rPr lang="en-US" sz="1400" b="1" dirty="0">
                <a:solidFill>
                  <a:srgbClr val="16261D"/>
                </a:solidFill>
              </a:rPr>
              <a:t>1</a:t>
            </a:r>
            <a:endParaRPr lang="en-US" sz="1400" dirty="0"/>
          </a:p>
        </p:txBody>
      </p:sp>
      <p:sp>
        <p:nvSpPr>
          <p:cNvPr id="12" name="Text 96"/>
          <p:cNvSpPr txBox="1"/>
          <p:nvPr/>
        </p:nvSpPr>
        <p:spPr>
          <a:xfrm>
            <a:off x="7863840" y="1645920"/>
            <a:ext cx="3749040" cy="594360"/>
          </a:xfrm>
          <a:prstGeom prst="rect">
            <a:avLst/>
          </a:prstGeom>
          <a:noFill/>
          <a:ln/>
        </p:spPr>
        <p:txBody>
          <a:bodyPr wrap="square" lIns="0" tIns="0" rIns="0" bIns="0" rtlCol="0" anchor="ctr"/>
          <a:lstStyle/>
          <a:p>
            <a:pPr indent="0" marL="0">
              <a:buNone/>
            </a:pPr>
            <a:r>
              <a:rPr lang="en-US" sz="1500" dirty="0">
                <a:solidFill>
                  <a:srgbClr val="F5F7F0"/>
                </a:solidFill>
              </a:rPr>
              <a:t>Punchy subject line focused on the customer’s problem</a:t>
            </a:r>
            <a:endParaRPr lang="en-US" sz="1500" dirty="0"/>
          </a:p>
        </p:txBody>
      </p:sp>
      <p:sp>
        <p:nvSpPr>
          <p:cNvPr id="13" name="Number 97"/>
          <p:cNvSpPr/>
          <p:nvPr/>
        </p:nvSpPr>
        <p:spPr>
          <a:xfrm>
            <a:off x="7223760" y="2569464"/>
            <a:ext cx="457200" cy="457200"/>
          </a:xfrm>
          <a:prstGeom prst="ellipse">
            <a:avLst/>
          </a:prstGeom>
          <a:solidFill>
            <a:srgbClr val="93A87B"/>
          </a:solidFill>
          <a:ln/>
        </p:spPr>
        <p:txBody>
          <a:bodyPr wrap="square" lIns="0" tIns="0" rIns="0" bIns="0" rtlCol="0" anchor="ctr"/>
          <a:lstStyle/>
          <a:p>
            <a:pPr algn="ctr" indent="0" marL="0">
              <a:buNone/>
            </a:pPr>
            <a:r>
              <a:rPr lang="en-US" sz="1400" b="1" dirty="0">
                <a:solidFill>
                  <a:srgbClr val="16261D"/>
                </a:solidFill>
              </a:rPr>
              <a:t>2</a:t>
            </a:r>
            <a:endParaRPr lang="en-US" sz="1400" dirty="0"/>
          </a:p>
        </p:txBody>
      </p:sp>
      <p:sp>
        <p:nvSpPr>
          <p:cNvPr id="14" name="Text 98"/>
          <p:cNvSpPr txBox="1"/>
          <p:nvPr/>
        </p:nvSpPr>
        <p:spPr>
          <a:xfrm>
            <a:off x="7863840" y="2523744"/>
            <a:ext cx="3749040" cy="594360"/>
          </a:xfrm>
          <a:prstGeom prst="rect">
            <a:avLst/>
          </a:prstGeom>
          <a:noFill/>
          <a:ln/>
        </p:spPr>
        <p:txBody>
          <a:bodyPr wrap="square" lIns="0" tIns="0" rIns="0" bIns="0" rtlCol="0" anchor="ctr"/>
          <a:lstStyle/>
          <a:p>
            <a:pPr indent="0" marL="0">
              <a:buNone/>
            </a:pPr>
            <a:r>
              <a:rPr lang="en-US" sz="1500" dirty="0">
                <a:solidFill>
                  <a:srgbClr val="F5F7F0"/>
                </a:solidFill>
              </a:rPr>
              <a:t>First two lines personalised</a:t>
            </a:r>
            <a:endParaRPr lang="en-US" sz="1500" dirty="0"/>
          </a:p>
        </p:txBody>
      </p:sp>
      <p:sp>
        <p:nvSpPr>
          <p:cNvPr id="15" name="Number 99"/>
          <p:cNvSpPr/>
          <p:nvPr/>
        </p:nvSpPr>
        <p:spPr>
          <a:xfrm>
            <a:off x="7223760" y="3447288"/>
            <a:ext cx="457200" cy="457200"/>
          </a:xfrm>
          <a:prstGeom prst="ellipse">
            <a:avLst/>
          </a:prstGeom>
          <a:solidFill>
            <a:srgbClr val="93A87B"/>
          </a:solidFill>
          <a:ln/>
        </p:spPr>
        <p:txBody>
          <a:bodyPr wrap="square" lIns="0" tIns="0" rIns="0" bIns="0" rtlCol="0" anchor="ctr"/>
          <a:lstStyle/>
          <a:p>
            <a:pPr algn="ctr" indent="0" marL="0">
              <a:buNone/>
            </a:pPr>
            <a:r>
              <a:rPr lang="en-US" sz="1400" b="1" dirty="0">
                <a:solidFill>
                  <a:srgbClr val="16261D"/>
                </a:solidFill>
              </a:rPr>
              <a:t>3</a:t>
            </a:r>
            <a:endParaRPr lang="en-US" sz="1400" dirty="0"/>
          </a:p>
        </p:txBody>
      </p:sp>
      <p:sp>
        <p:nvSpPr>
          <p:cNvPr id="16" name="Text 100"/>
          <p:cNvSpPr txBox="1"/>
          <p:nvPr/>
        </p:nvSpPr>
        <p:spPr>
          <a:xfrm>
            <a:off x="7863840" y="3401568"/>
            <a:ext cx="3749040" cy="594360"/>
          </a:xfrm>
          <a:prstGeom prst="rect">
            <a:avLst/>
          </a:prstGeom>
          <a:noFill/>
          <a:ln/>
        </p:spPr>
        <p:txBody>
          <a:bodyPr wrap="square" lIns="0" tIns="0" rIns="0" bIns="0" rtlCol="0" anchor="ctr"/>
          <a:lstStyle/>
          <a:p>
            <a:pPr indent="0" marL="0">
              <a:buNone/>
            </a:pPr>
            <a:r>
              <a:rPr lang="en-US" sz="1500" dirty="0">
                <a:solidFill>
                  <a:srgbClr val="F5F7F0"/>
                </a:solidFill>
              </a:rPr>
              <a:t>Lead with the prospect’s challenge</a:t>
            </a:r>
            <a:endParaRPr lang="en-US" sz="1500" dirty="0"/>
          </a:p>
        </p:txBody>
      </p:sp>
      <p:sp>
        <p:nvSpPr>
          <p:cNvPr id="17" name="Number 101"/>
          <p:cNvSpPr/>
          <p:nvPr/>
        </p:nvSpPr>
        <p:spPr>
          <a:xfrm>
            <a:off x="7223760" y="4325112"/>
            <a:ext cx="457200" cy="457200"/>
          </a:xfrm>
          <a:prstGeom prst="ellipse">
            <a:avLst/>
          </a:prstGeom>
          <a:solidFill>
            <a:srgbClr val="93A87B"/>
          </a:solidFill>
          <a:ln/>
        </p:spPr>
        <p:txBody>
          <a:bodyPr wrap="square" lIns="0" tIns="0" rIns="0" bIns="0" rtlCol="0" anchor="ctr"/>
          <a:lstStyle/>
          <a:p>
            <a:pPr algn="ctr" indent="0" marL="0">
              <a:buNone/>
            </a:pPr>
            <a:r>
              <a:rPr lang="en-US" sz="1400" b="1" dirty="0">
                <a:solidFill>
                  <a:srgbClr val="16261D"/>
                </a:solidFill>
              </a:rPr>
              <a:t>4</a:t>
            </a:r>
            <a:endParaRPr lang="en-US" sz="1400" dirty="0"/>
          </a:p>
        </p:txBody>
      </p:sp>
      <p:sp>
        <p:nvSpPr>
          <p:cNvPr id="18" name="Text 102"/>
          <p:cNvSpPr txBox="1"/>
          <p:nvPr/>
        </p:nvSpPr>
        <p:spPr>
          <a:xfrm>
            <a:off x="7863840" y="4279392"/>
            <a:ext cx="3749040" cy="594360"/>
          </a:xfrm>
          <a:prstGeom prst="rect">
            <a:avLst/>
          </a:prstGeom>
          <a:noFill/>
          <a:ln/>
        </p:spPr>
        <p:txBody>
          <a:bodyPr wrap="square" lIns="0" tIns="0" rIns="0" bIns="0" rtlCol="0" anchor="ctr"/>
          <a:lstStyle/>
          <a:p>
            <a:pPr indent="0" marL="0">
              <a:buNone/>
            </a:pPr>
            <a:r>
              <a:rPr lang="en-US" sz="1500" dirty="0">
                <a:solidFill>
                  <a:srgbClr val="F5F7F0"/>
                </a:solidFill>
              </a:rPr>
              <a:t>Use social proof</a:t>
            </a:r>
            <a:endParaRPr lang="en-US" sz="1500" dirty="0"/>
          </a:p>
        </p:txBody>
      </p:sp>
      <p:sp>
        <p:nvSpPr>
          <p:cNvPr id="19" name="Number 103"/>
          <p:cNvSpPr/>
          <p:nvPr/>
        </p:nvSpPr>
        <p:spPr>
          <a:xfrm>
            <a:off x="7223760" y="5202936"/>
            <a:ext cx="457200" cy="457200"/>
          </a:xfrm>
          <a:prstGeom prst="ellipse">
            <a:avLst/>
          </a:prstGeom>
          <a:solidFill>
            <a:srgbClr val="93A87B"/>
          </a:solidFill>
          <a:ln/>
        </p:spPr>
        <p:txBody>
          <a:bodyPr wrap="square" lIns="0" tIns="0" rIns="0" bIns="0" rtlCol="0" anchor="ctr"/>
          <a:lstStyle/>
          <a:p>
            <a:pPr algn="ctr" indent="0" marL="0">
              <a:buNone/>
            </a:pPr>
            <a:r>
              <a:rPr lang="en-US" sz="1400" b="1" dirty="0">
                <a:solidFill>
                  <a:srgbClr val="16261D"/>
                </a:solidFill>
              </a:rPr>
              <a:t>5</a:t>
            </a:r>
            <a:endParaRPr lang="en-US" sz="1400" dirty="0"/>
          </a:p>
        </p:txBody>
      </p:sp>
      <p:sp>
        <p:nvSpPr>
          <p:cNvPr id="20" name="Text 104"/>
          <p:cNvSpPr txBox="1"/>
          <p:nvPr/>
        </p:nvSpPr>
        <p:spPr>
          <a:xfrm>
            <a:off x="7863840" y="5157216"/>
            <a:ext cx="3749040" cy="594360"/>
          </a:xfrm>
          <a:prstGeom prst="rect">
            <a:avLst/>
          </a:prstGeom>
          <a:noFill/>
          <a:ln/>
        </p:spPr>
        <p:txBody>
          <a:bodyPr wrap="square" lIns="0" tIns="0" rIns="0" bIns="0" rtlCol="0" anchor="ctr"/>
          <a:lstStyle/>
          <a:p>
            <a:pPr indent="0" marL="0">
              <a:buNone/>
            </a:pPr>
            <a:r>
              <a:rPr lang="en-US" sz="1500" dirty="0">
                <a:solidFill>
                  <a:srgbClr val="F5F7F0"/>
                </a:solidFill>
              </a:rPr>
              <a:t>A call to action that asks for interest, not business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FRAGMENTED, MYOPIC, INEFFICIENT</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The modern RevOps challenge</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Text 1"/>
          <p:cNvSpPr txBox="1"/>
          <p:nvPr/>
        </p:nvSpPr>
        <p:spPr>
          <a:xfrm>
            <a:off x="365760" y="1325880"/>
            <a:ext cx="11430000" cy="868680"/>
          </a:xfrm>
          <a:prstGeom prst="rect">
            <a:avLst/>
          </a:prstGeom>
          <a:noFill/>
          <a:ln/>
        </p:spPr>
        <p:txBody>
          <a:bodyPr wrap="square" lIns="0" tIns="0" rIns="0" bIns="0" rtlCol="0" anchor="t"/>
          <a:lstStyle/>
          <a:p>
            <a:pPr indent="0" marL="0">
              <a:buNone/>
            </a:pPr>
            <a:r>
              <a:rPr lang="en-US" sz="1600" dirty="0">
                <a:solidFill>
                  <a:srgbClr val="56604E"/>
                </a:solidFill>
              </a:rPr>
              <a:t>Fragmented, siloed tech stacks disconnect the data. Marketing, sales and customer success end up working in isolation, with less visibility and missed chances to collaborate. Revenue slows and long-term growth suffers.</a:t>
            </a:r>
            <a:endParaRPr lang="en-US" sz="1600" dirty="0"/>
          </a:p>
        </p:txBody>
      </p:sp>
      <p:sp>
        <p:nvSpPr>
          <p:cNvPr id="6" name="Tech market 2"/>
          <p:cNvSpPr/>
          <p:nvPr/>
        </p:nvSpPr>
        <p:spPr>
          <a:xfrm>
            <a:off x="365760" y="2423160"/>
            <a:ext cx="3666744" cy="3840480"/>
          </a:xfrm>
          <a:prstGeom prst="roundRect">
            <a:avLst>
              <a:gd name="adj" fmla="val 2993"/>
            </a:avLst>
          </a:prstGeom>
          <a:solidFill>
            <a:srgbClr val="16261D"/>
          </a:solidFill>
          <a:ln/>
          <a:effectLst>
            <a:outerShdw sx="100000" sy="100000" kx="0" ky="0" algn="bl" rotWithShape="0" blurRad="177800" dist="50800" dir="5400000">
              <a:srgbClr val="16261D">
                <a:alpha val="14000"/>
              </a:srgbClr>
            </a:outerShdw>
          </a:effectLst>
        </p:spPr>
      </p:sp>
      <p:sp>
        <p:nvSpPr>
          <p:cNvPr id="7" name="Text 3"/>
          <p:cNvSpPr txBox="1"/>
          <p:nvPr/>
        </p:nvSpPr>
        <p:spPr>
          <a:xfrm>
            <a:off x="685800" y="2697480"/>
            <a:ext cx="3017520" cy="274320"/>
          </a:xfrm>
          <a:prstGeom prst="rect">
            <a:avLst/>
          </a:prstGeom>
          <a:noFill/>
          <a:ln/>
        </p:spPr>
        <p:txBody>
          <a:bodyPr wrap="square" lIns="0" tIns="0" rIns="0" bIns="0" rtlCol="0" anchor="t"/>
          <a:lstStyle/>
          <a:p>
            <a:pPr indent="0" marL="0">
              <a:buNone/>
            </a:pPr>
            <a:r>
              <a:rPr lang="en-US" sz="1100" b="1" spc="300" kern="0" dirty="0">
                <a:solidFill>
                  <a:srgbClr val="93A87B"/>
                </a:solidFill>
              </a:rPr>
              <a:t>B2B TECH MARKET</a:t>
            </a:r>
            <a:endParaRPr lang="en-US" sz="1100" dirty="0"/>
          </a:p>
        </p:txBody>
      </p:sp>
      <p:sp>
        <p:nvSpPr>
          <p:cNvPr id="8" name="Text 4"/>
          <p:cNvSpPr txBox="1"/>
          <p:nvPr/>
        </p:nvSpPr>
        <p:spPr>
          <a:xfrm>
            <a:off x="685800" y="3063240"/>
            <a:ext cx="3017520" cy="1097280"/>
          </a:xfrm>
          <a:prstGeom prst="rect">
            <a:avLst/>
          </a:prstGeom>
          <a:noFill/>
          <a:ln/>
        </p:spPr>
        <p:txBody>
          <a:bodyPr wrap="square" lIns="0" tIns="0" rIns="0" bIns="0" rtlCol="0" anchor="t"/>
          <a:lstStyle/>
          <a:p>
            <a:pPr indent="0" marL="0">
              <a:buNone/>
            </a:pPr>
            <a:r>
              <a:rPr lang="en-US" sz="7200" dirty="0">
                <a:solidFill>
                  <a:srgbClr val="F5F7F0"/>
                </a:solidFill>
                <a:latin typeface="Georgia" pitchFamily="34" charset="0"/>
                <a:ea typeface="Georgia" pitchFamily="34" charset="-122"/>
                <a:cs typeface="Georgia" pitchFamily="34" charset="-120"/>
              </a:rPr>
              <a:t>20+</a:t>
            </a:r>
            <a:endParaRPr lang="en-US" sz="7200" dirty="0"/>
          </a:p>
        </p:txBody>
      </p:sp>
      <p:sp>
        <p:nvSpPr>
          <p:cNvPr id="9" name="Text 5"/>
          <p:cNvSpPr txBox="1"/>
          <p:nvPr/>
        </p:nvSpPr>
        <p:spPr>
          <a:xfrm>
            <a:off x="685800" y="4251960"/>
            <a:ext cx="3017520" cy="1280160"/>
          </a:xfrm>
          <a:prstGeom prst="rect">
            <a:avLst/>
          </a:prstGeom>
          <a:noFill/>
          <a:ln/>
        </p:spPr>
        <p:txBody>
          <a:bodyPr wrap="square" lIns="0" tIns="0" rIns="0" bIns="0" rtlCol="0" anchor="t"/>
          <a:lstStyle/>
          <a:p>
            <a:pPr indent="0" marL="0">
              <a:buNone/>
            </a:pPr>
            <a:r>
              <a:rPr lang="en-US" sz="1500" dirty="0">
                <a:solidFill>
                  <a:srgbClr val="C9D3C0"/>
                </a:solidFill>
              </a:rPr>
              <a:t>revenue tools owned by the average enterprise B2B company, at a projected $500k to $1m+ a year</a:t>
            </a:r>
            <a:endParaRPr lang="en-US" sz="1500" dirty="0"/>
          </a:p>
        </p:txBody>
      </p:sp>
      <p:sp>
        <p:nvSpPr>
          <p:cNvPr id="10" name="Types of opportunity 6"/>
          <p:cNvSpPr/>
          <p:nvPr/>
        </p:nvSpPr>
        <p:spPr>
          <a:xfrm>
            <a:off x="4261104" y="2423160"/>
            <a:ext cx="3666744" cy="384048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11" name="Icon badge 7"/>
          <p:cNvSpPr/>
          <p:nvPr/>
        </p:nvSpPr>
        <p:spPr>
          <a:xfrm>
            <a:off x="4581144" y="2697480"/>
            <a:ext cx="658368" cy="658368"/>
          </a:xfrm>
          <a:prstGeom prst="ellipse">
            <a:avLst/>
          </a:prstGeom>
          <a:solidFill>
            <a:srgbClr val="1F3529"/>
          </a:solidFill>
          <a:ln/>
        </p:spPr>
      </p:sp>
      <p:pic>
        <p:nvPicPr>
          <p:cNvPr id="12" name="Image 0" descr="Route icon">    </p:cNvPr>
          <p:cNvPicPr>
            <a:picLocks noChangeAspect="1"/>
          </p:cNvPicPr>
          <p:nvPr/>
        </p:nvPicPr>
        <p:blipFill>
          <a:blip r:embed="rId1"/>
          <a:stretch>
            <a:fillRect/>
          </a:stretch>
        </p:blipFill>
        <p:spPr>
          <a:xfrm>
            <a:off x="4725985" y="2842321"/>
            <a:ext cx="368686" cy="368686"/>
          </a:xfrm>
          <a:prstGeom prst="rect">
            <a:avLst/>
          </a:prstGeom>
        </p:spPr>
      </p:pic>
      <p:sp>
        <p:nvSpPr>
          <p:cNvPr id="13" name="Text 8"/>
          <p:cNvSpPr txBox="1"/>
          <p:nvPr/>
        </p:nvSpPr>
        <p:spPr>
          <a:xfrm>
            <a:off x="4581144" y="3520440"/>
            <a:ext cx="3017520" cy="731520"/>
          </a:xfrm>
          <a:prstGeom prst="rect">
            <a:avLst/>
          </a:prstGeom>
          <a:noFill/>
          <a:ln/>
        </p:spPr>
        <p:txBody>
          <a:bodyPr wrap="square" lIns="0" tIns="0" rIns="0" bIns="0" rtlCol="0" anchor="t"/>
          <a:lstStyle/>
          <a:p>
            <a:pPr indent="0" marL="0">
              <a:buNone/>
            </a:pPr>
            <a:r>
              <a:rPr lang="en-US" sz="1800" b="1" dirty="0">
                <a:solidFill>
                  <a:srgbClr val="20241F"/>
                </a:solidFill>
              </a:rPr>
              <a:t>Types of opportunity</a:t>
            </a:r>
            <a:endParaRPr lang="en-US" sz="1800" dirty="0"/>
          </a:p>
        </p:txBody>
      </p:sp>
      <p:sp>
        <p:nvSpPr>
          <p:cNvPr id="14" name="Text 9"/>
          <p:cNvSpPr txBox="1"/>
          <p:nvPr/>
        </p:nvSpPr>
        <p:spPr>
          <a:xfrm>
            <a:off x="4581144" y="4343400"/>
            <a:ext cx="3017520" cy="173736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56604E"/>
                </a:solidFill>
              </a:rPr>
              <a:t>Outbound: AI or SDR?</a:t>
            </a:r>
            <a:endParaRPr lang="en-US" sz="1500" dirty="0"/>
          </a:p>
          <a:p>
            <a:pPr marL="177800" indent="-177800">
              <a:spcAft>
                <a:spcPts val="1000"/>
              </a:spcAft>
              <a:buSzPct val="100000"/>
              <a:buChar char="•"/>
            </a:pPr>
            <a:r>
              <a:rPr lang="en-US" sz="1500" dirty="0">
                <a:solidFill>
                  <a:srgbClr val="56604E"/>
                </a:solidFill>
              </a:rPr>
              <a:t>Sales efficiency</a:t>
            </a:r>
            <a:endParaRPr lang="en-US" sz="1500" dirty="0"/>
          </a:p>
          <a:p>
            <a:pPr marL="177800" indent="-177800">
              <a:spcAft>
                <a:spcPts val="1000"/>
              </a:spcAft>
              <a:buSzPct val="100000"/>
              <a:buChar char="•"/>
            </a:pPr>
            <a:r>
              <a:rPr lang="en-US" sz="1500" dirty="0">
                <a:solidFill>
                  <a:srgbClr val="56604E"/>
                </a:solidFill>
              </a:rPr>
              <a:t>Nobody cares about post-sales</a:t>
            </a:r>
            <a:endParaRPr lang="en-US" sz="1500" dirty="0"/>
          </a:p>
        </p:txBody>
      </p:sp>
      <p:sp>
        <p:nvSpPr>
          <p:cNvPr id="15" name="AI headtrash is complicating everything 10"/>
          <p:cNvSpPr/>
          <p:nvPr/>
        </p:nvSpPr>
        <p:spPr>
          <a:xfrm>
            <a:off x="8156448" y="2423160"/>
            <a:ext cx="3666744" cy="384048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16" name="Icon badge 11"/>
          <p:cNvSpPr/>
          <p:nvPr/>
        </p:nvSpPr>
        <p:spPr>
          <a:xfrm>
            <a:off x="8476488" y="2697480"/>
            <a:ext cx="658368" cy="658368"/>
          </a:xfrm>
          <a:prstGeom prst="ellipse">
            <a:avLst/>
          </a:prstGeom>
          <a:solidFill>
            <a:srgbClr val="1F3529"/>
          </a:solidFill>
          <a:ln/>
        </p:spPr>
      </p:sp>
      <p:pic>
        <p:nvPicPr>
          <p:cNvPr id="17" name="Image 1" descr="Sparkles icon">    </p:cNvPr>
          <p:cNvPicPr>
            <a:picLocks noChangeAspect="1"/>
          </p:cNvPicPr>
          <p:nvPr/>
        </p:nvPicPr>
        <p:blipFill>
          <a:blip r:embed="rId2"/>
          <a:stretch>
            <a:fillRect/>
          </a:stretch>
        </p:blipFill>
        <p:spPr>
          <a:xfrm>
            <a:off x="8621329" y="2842321"/>
            <a:ext cx="368686" cy="368686"/>
          </a:xfrm>
          <a:prstGeom prst="rect">
            <a:avLst/>
          </a:prstGeom>
        </p:spPr>
      </p:pic>
      <p:sp>
        <p:nvSpPr>
          <p:cNvPr id="18" name="Text 12"/>
          <p:cNvSpPr txBox="1"/>
          <p:nvPr/>
        </p:nvSpPr>
        <p:spPr>
          <a:xfrm>
            <a:off x="8476488" y="3520440"/>
            <a:ext cx="3017520" cy="731520"/>
          </a:xfrm>
          <a:prstGeom prst="rect">
            <a:avLst/>
          </a:prstGeom>
          <a:noFill/>
          <a:ln/>
        </p:spPr>
        <p:txBody>
          <a:bodyPr wrap="square" lIns="0" tIns="0" rIns="0" bIns="0" rtlCol="0" anchor="t"/>
          <a:lstStyle/>
          <a:p>
            <a:pPr indent="0" marL="0">
              <a:buNone/>
            </a:pPr>
            <a:r>
              <a:rPr lang="en-US" sz="1800" b="1" dirty="0">
                <a:solidFill>
                  <a:srgbClr val="20241F"/>
                </a:solidFill>
              </a:rPr>
              <a:t>AI headtrash is complicating everything</a:t>
            </a:r>
            <a:endParaRPr lang="en-US" sz="1800" dirty="0"/>
          </a:p>
        </p:txBody>
      </p:sp>
      <p:sp>
        <p:nvSpPr>
          <p:cNvPr id="19" name="Text 13"/>
          <p:cNvSpPr txBox="1"/>
          <p:nvPr/>
        </p:nvSpPr>
        <p:spPr>
          <a:xfrm>
            <a:off x="8476488" y="4343400"/>
            <a:ext cx="3017520" cy="173736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56604E"/>
                </a:solidFill>
              </a:rPr>
              <a:t>Too many tools, creating confusion</a:t>
            </a:r>
            <a:endParaRPr lang="en-US" sz="1500" dirty="0"/>
          </a:p>
          <a:p>
            <a:pPr marL="177800" indent="-177800">
              <a:spcAft>
                <a:spcPts val="1000"/>
              </a:spcAft>
              <a:buSzPct val="100000"/>
              <a:buChar char="•"/>
            </a:pPr>
            <a:r>
              <a:rPr lang="en-US" sz="1500" dirty="0">
                <a:solidFill>
                  <a:srgbClr val="56604E"/>
                </a:solidFill>
              </a:rPr>
              <a:t>Everything we own now “has AI”</a:t>
            </a:r>
            <a:endParaRPr lang="en-US" sz="1500" dirty="0"/>
          </a:p>
          <a:p>
            <a:pPr marL="177800" indent="-177800">
              <a:spcAft>
                <a:spcPts val="1000"/>
              </a:spcAft>
              <a:buSzPct val="100000"/>
              <a:buChar char="•"/>
            </a:pPr>
            <a:r>
              <a:rPr lang="en-US" sz="1500" dirty="0">
                <a:solidFill>
                  <a:srgbClr val="56604E"/>
                </a:solidFill>
              </a:rPr>
              <a:t>Our data is not ready for AI</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SYMPTOMS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Where revenue operations break down</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Pill 14"/>
          <p:cNvSpPr/>
          <p:nvPr/>
        </p:nvSpPr>
        <p:spPr>
          <a:xfrm>
            <a:off x="365760" y="1371600"/>
            <a:ext cx="5605272" cy="411480"/>
          </a:xfrm>
          <a:prstGeom prst="roundRect">
            <a:avLst>
              <a:gd name="adj" fmla="val 50000"/>
            </a:avLst>
          </a:prstGeom>
          <a:solidFill>
            <a:srgbClr val="1F3529"/>
          </a:solidFill>
          <a:ln/>
        </p:spPr>
        <p:txBody>
          <a:bodyPr wrap="square" lIns="0" tIns="0" rIns="0" bIns="0" rtlCol="0" anchor="ctr"/>
          <a:lstStyle/>
          <a:p>
            <a:pPr algn="ctr" indent="0" marL="0">
              <a:buNone/>
            </a:pPr>
            <a:r>
              <a:rPr lang="en-US" sz="1100" b="1" dirty="0">
                <a:solidFill>
                  <a:srgbClr val="F5F7F0"/>
                </a:solidFill>
              </a:rPr>
              <a:t>REVENUE OPERATIONAL INEFFICIENCIES</a:t>
            </a:r>
            <a:endParaRPr lang="en-US" sz="1100" dirty="0"/>
          </a:p>
        </p:txBody>
      </p:sp>
      <p:sp>
        <p:nvSpPr>
          <p:cNvPr id="6" name="Siloed tech, fragmented data 15"/>
          <p:cNvSpPr/>
          <p:nvPr/>
        </p:nvSpPr>
        <p:spPr>
          <a:xfrm>
            <a:off x="365760" y="2011680"/>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7" name="Icon badge 16"/>
          <p:cNvSpPr/>
          <p:nvPr/>
        </p:nvSpPr>
        <p:spPr>
          <a:xfrm>
            <a:off x="594360" y="2286000"/>
            <a:ext cx="685800" cy="685800"/>
          </a:xfrm>
          <a:prstGeom prst="ellipse">
            <a:avLst/>
          </a:prstGeom>
          <a:solidFill>
            <a:srgbClr val="1F3529"/>
          </a:solidFill>
          <a:ln/>
        </p:spPr>
      </p:sp>
      <p:pic>
        <p:nvPicPr>
          <p:cNvPr id="8" name="Image 0" descr="PlugConnectedX icon">    </p:cNvPr>
          <p:cNvPicPr>
            <a:picLocks noChangeAspect="1"/>
          </p:cNvPicPr>
          <p:nvPr/>
        </p:nvPicPr>
        <p:blipFill>
          <a:blip r:embed="rId1"/>
          <a:stretch>
            <a:fillRect/>
          </a:stretch>
        </p:blipFill>
        <p:spPr>
          <a:xfrm>
            <a:off x="745236" y="2436876"/>
            <a:ext cx="384048" cy="384048"/>
          </a:xfrm>
          <a:prstGeom prst="rect">
            <a:avLst/>
          </a:prstGeom>
        </p:spPr>
      </p:pic>
      <p:sp>
        <p:nvSpPr>
          <p:cNvPr id="9" name="Text 17"/>
          <p:cNvSpPr txBox="1"/>
          <p:nvPr/>
        </p:nvSpPr>
        <p:spPr>
          <a:xfrm>
            <a:off x="1508760" y="2194560"/>
            <a:ext cx="4233672" cy="365760"/>
          </a:xfrm>
          <a:prstGeom prst="rect">
            <a:avLst/>
          </a:prstGeom>
          <a:noFill/>
          <a:ln/>
        </p:spPr>
        <p:txBody>
          <a:bodyPr wrap="square" lIns="0" tIns="0" rIns="0" bIns="0" rtlCol="0" anchor="t"/>
          <a:lstStyle/>
          <a:p>
            <a:pPr indent="0" marL="0">
              <a:buNone/>
            </a:pPr>
            <a:r>
              <a:rPr lang="en-US" sz="1600" b="1" dirty="0">
                <a:solidFill>
                  <a:srgbClr val="20241F"/>
                </a:solidFill>
              </a:rPr>
              <a:t>Siloed tech, fragmented data</a:t>
            </a:r>
            <a:endParaRPr lang="en-US" sz="1600" dirty="0"/>
          </a:p>
        </p:txBody>
      </p:sp>
      <p:sp>
        <p:nvSpPr>
          <p:cNvPr id="10" name="Text 18"/>
          <p:cNvSpPr txBox="1"/>
          <p:nvPr/>
        </p:nvSpPr>
        <p:spPr>
          <a:xfrm>
            <a:off x="1508760" y="2578608"/>
            <a:ext cx="4233672" cy="640080"/>
          </a:xfrm>
          <a:prstGeom prst="rect">
            <a:avLst/>
          </a:prstGeom>
          <a:noFill/>
          <a:ln/>
        </p:spPr>
        <p:txBody>
          <a:bodyPr wrap="square" lIns="0" tIns="0" rIns="0" bIns="0" rtlCol="0" anchor="t"/>
          <a:lstStyle/>
          <a:p>
            <a:pPr indent="0" marL="0">
              <a:buNone/>
            </a:pPr>
            <a:r>
              <a:rPr lang="en-US" sz="1250" dirty="0">
                <a:solidFill>
                  <a:srgbClr val="56604E"/>
                </a:solidFill>
              </a:rPr>
              <a:t>Disconnected tools block data flow and collaboration between teams, delaying and misaligning GTM processes.</a:t>
            </a:r>
            <a:endParaRPr lang="en-US" sz="1250" dirty="0"/>
          </a:p>
        </p:txBody>
      </p:sp>
      <p:sp>
        <p:nvSpPr>
          <p:cNvPr id="11" name="Complex, inefficient processes 19"/>
          <p:cNvSpPr/>
          <p:nvPr/>
        </p:nvSpPr>
        <p:spPr>
          <a:xfrm>
            <a:off x="365760" y="3447288"/>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12" name="Icon badge 20"/>
          <p:cNvSpPr/>
          <p:nvPr/>
        </p:nvSpPr>
        <p:spPr>
          <a:xfrm>
            <a:off x="594360" y="3721608"/>
            <a:ext cx="685800" cy="685800"/>
          </a:xfrm>
          <a:prstGeom prst="ellipse">
            <a:avLst/>
          </a:prstGeom>
          <a:solidFill>
            <a:srgbClr val="1F3529"/>
          </a:solidFill>
          <a:ln/>
        </p:spPr>
      </p:sp>
      <p:pic>
        <p:nvPicPr>
          <p:cNvPr id="13" name="Image 1" descr="Stack2 icon">    </p:cNvPr>
          <p:cNvPicPr>
            <a:picLocks noChangeAspect="1"/>
          </p:cNvPicPr>
          <p:nvPr/>
        </p:nvPicPr>
        <p:blipFill>
          <a:blip r:embed="rId2"/>
          <a:stretch>
            <a:fillRect/>
          </a:stretch>
        </p:blipFill>
        <p:spPr>
          <a:xfrm>
            <a:off x="745236" y="3872484"/>
            <a:ext cx="384048" cy="384048"/>
          </a:xfrm>
          <a:prstGeom prst="rect">
            <a:avLst/>
          </a:prstGeom>
        </p:spPr>
      </p:pic>
      <p:sp>
        <p:nvSpPr>
          <p:cNvPr id="14" name="Text 21"/>
          <p:cNvSpPr txBox="1"/>
          <p:nvPr/>
        </p:nvSpPr>
        <p:spPr>
          <a:xfrm>
            <a:off x="1508760" y="3630168"/>
            <a:ext cx="4233672" cy="365760"/>
          </a:xfrm>
          <a:prstGeom prst="rect">
            <a:avLst/>
          </a:prstGeom>
          <a:noFill/>
          <a:ln/>
        </p:spPr>
        <p:txBody>
          <a:bodyPr wrap="square" lIns="0" tIns="0" rIns="0" bIns="0" rtlCol="0" anchor="t"/>
          <a:lstStyle/>
          <a:p>
            <a:pPr indent="0" marL="0">
              <a:buNone/>
            </a:pPr>
            <a:r>
              <a:rPr lang="en-US" sz="1600" b="1" dirty="0">
                <a:solidFill>
                  <a:srgbClr val="20241F"/>
                </a:solidFill>
              </a:rPr>
              <a:t>Complex, inefficient processes</a:t>
            </a:r>
            <a:endParaRPr lang="en-US" sz="1600" dirty="0"/>
          </a:p>
        </p:txBody>
      </p:sp>
      <p:sp>
        <p:nvSpPr>
          <p:cNvPr id="15" name="Text 22"/>
          <p:cNvSpPr txBox="1"/>
          <p:nvPr/>
        </p:nvSpPr>
        <p:spPr>
          <a:xfrm>
            <a:off x="1508760" y="4014216"/>
            <a:ext cx="4233672" cy="640080"/>
          </a:xfrm>
          <a:prstGeom prst="rect">
            <a:avLst/>
          </a:prstGeom>
          <a:noFill/>
          <a:ln/>
        </p:spPr>
        <p:txBody>
          <a:bodyPr wrap="square" lIns="0" tIns="0" rIns="0" bIns="0" rtlCol="0" anchor="t"/>
          <a:lstStyle/>
          <a:p>
            <a:pPr indent="0" marL="0">
              <a:buNone/>
            </a:pPr>
            <a:r>
              <a:rPr lang="en-US" sz="1250" dirty="0">
                <a:solidFill>
                  <a:srgbClr val="56604E"/>
                </a:solidFill>
              </a:rPr>
              <a:t>Too many platforms create redundancy, confusion and cost without proportional value.</a:t>
            </a:r>
            <a:endParaRPr lang="en-US" sz="1250" dirty="0"/>
          </a:p>
        </p:txBody>
      </p:sp>
      <p:sp>
        <p:nvSpPr>
          <p:cNvPr id="16" name="Delayed time to value 23"/>
          <p:cNvSpPr/>
          <p:nvPr/>
        </p:nvSpPr>
        <p:spPr>
          <a:xfrm>
            <a:off x="365760" y="4882896"/>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17" name="Icon badge 24"/>
          <p:cNvSpPr/>
          <p:nvPr/>
        </p:nvSpPr>
        <p:spPr>
          <a:xfrm>
            <a:off x="594360" y="5157216"/>
            <a:ext cx="685800" cy="685800"/>
          </a:xfrm>
          <a:prstGeom prst="ellipse">
            <a:avLst/>
          </a:prstGeom>
          <a:solidFill>
            <a:srgbClr val="1F3529"/>
          </a:solidFill>
          <a:ln/>
        </p:spPr>
      </p:sp>
      <p:pic>
        <p:nvPicPr>
          <p:cNvPr id="18" name="Image 2" descr="ClockHour4 icon">    </p:cNvPr>
          <p:cNvPicPr>
            <a:picLocks noChangeAspect="1"/>
          </p:cNvPicPr>
          <p:nvPr/>
        </p:nvPicPr>
        <p:blipFill>
          <a:blip r:embed="rId3"/>
          <a:stretch>
            <a:fillRect/>
          </a:stretch>
        </p:blipFill>
        <p:spPr>
          <a:xfrm>
            <a:off x="745236" y="5308092"/>
            <a:ext cx="384048" cy="384048"/>
          </a:xfrm>
          <a:prstGeom prst="rect">
            <a:avLst/>
          </a:prstGeom>
        </p:spPr>
      </p:pic>
      <p:sp>
        <p:nvSpPr>
          <p:cNvPr id="19" name="Text 25"/>
          <p:cNvSpPr txBox="1"/>
          <p:nvPr/>
        </p:nvSpPr>
        <p:spPr>
          <a:xfrm>
            <a:off x="1508760" y="5065776"/>
            <a:ext cx="4233672" cy="365760"/>
          </a:xfrm>
          <a:prstGeom prst="rect">
            <a:avLst/>
          </a:prstGeom>
          <a:noFill/>
          <a:ln/>
        </p:spPr>
        <p:txBody>
          <a:bodyPr wrap="square" lIns="0" tIns="0" rIns="0" bIns="0" rtlCol="0" anchor="t"/>
          <a:lstStyle/>
          <a:p>
            <a:pPr indent="0" marL="0">
              <a:buNone/>
            </a:pPr>
            <a:r>
              <a:rPr lang="en-US" sz="1600" b="1" dirty="0">
                <a:solidFill>
                  <a:srgbClr val="20241F"/>
                </a:solidFill>
              </a:rPr>
              <a:t>Delayed time to value</a:t>
            </a:r>
            <a:endParaRPr lang="en-US" sz="1600" dirty="0"/>
          </a:p>
        </p:txBody>
      </p:sp>
      <p:sp>
        <p:nvSpPr>
          <p:cNvPr id="20" name="Text 26"/>
          <p:cNvSpPr txBox="1"/>
          <p:nvPr/>
        </p:nvSpPr>
        <p:spPr>
          <a:xfrm>
            <a:off x="1508760" y="5449824"/>
            <a:ext cx="4233672" cy="640080"/>
          </a:xfrm>
          <a:prstGeom prst="rect">
            <a:avLst/>
          </a:prstGeom>
          <a:noFill/>
          <a:ln/>
        </p:spPr>
        <p:txBody>
          <a:bodyPr wrap="square" lIns="0" tIns="0" rIns="0" bIns="0" rtlCol="0" anchor="t"/>
          <a:lstStyle/>
          <a:p>
            <a:pPr indent="0" marL="0">
              <a:buNone/>
            </a:pPr>
            <a:r>
              <a:rPr lang="en-US" sz="1250" dirty="0">
                <a:solidFill>
                  <a:srgbClr val="56604E"/>
                </a:solidFill>
              </a:rPr>
              <a:t>Integrating disparate systems slows implementation and ramp-up, delaying the return on technology.</a:t>
            </a:r>
            <a:endParaRPr lang="en-US" sz="1250" dirty="0"/>
          </a:p>
        </p:txBody>
      </p:sp>
      <p:sp>
        <p:nvSpPr>
          <p:cNvPr id="21" name="Pill 27"/>
          <p:cNvSpPr/>
          <p:nvPr/>
        </p:nvSpPr>
        <p:spPr>
          <a:xfrm>
            <a:off x="6217920" y="1371600"/>
            <a:ext cx="5605272" cy="411480"/>
          </a:xfrm>
          <a:prstGeom prst="roundRect">
            <a:avLst>
              <a:gd name="adj" fmla="val 50000"/>
            </a:avLst>
          </a:prstGeom>
          <a:solidFill>
            <a:srgbClr val="56604E"/>
          </a:solidFill>
          <a:ln/>
        </p:spPr>
        <p:txBody>
          <a:bodyPr wrap="square" lIns="0" tIns="0" rIns="0" bIns="0" rtlCol="0" anchor="ctr"/>
          <a:lstStyle/>
          <a:p>
            <a:pPr algn="ctr" indent="0" marL="0">
              <a:buNone/>
            </a:pPr>
            <a:r>
              <a:rPr lang="en-US" sz="1100" b="1" dirty="0">
                <a:solidFill>
                  <a:srgbClr val="F5F7F0"/>
                </a:solidFill>
              </a:rPr>
              <a:t>MISALIGNED GTM STRATEGY</a:t>
            </a:r>
            <a:endParaRPr lang="en-US" sz="1100" dirty="0"/>
          </a:p>
        </p:txBody>
      </p:sp>
      <p:sp>
        <p:nvSpPr>
          <p:cNvPr id="22" name="Poor cross-functional visibility 28"/>
          <p:cNvSpPr/>
          <p:nvPr/>
        </p:nvSpPr>
        <p:spPr>
          <a:xfrm>
            <a:off x="6217920" y="2011680"/>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23" name="Icon badge 29"/>
          <p:cNvSpPr/>
          <p:nvPr/>
        </p:nvSpPr>
        <p:spPr>
          <a:xfrm>
            <a:off x="6446520" y="2286000"/>
            <a:ext cx="685800" cy="685800"/>
          </a:xfrm>
          <a:prstGeom prst="ellipse">
            <a:avLst/>
          </a:prstGeom>
          <a:solidFill>
            <a:srgbClr val="56604E"/>
          </a:solidFill>
          <a:ln/>
        </p:spPr>
      </p:sp>
      <p:pic>
        <p:nvPicPr>
          <p:cNvPr id="24" name="Image 3" descr="EyeOff icon">    </p:cNvPr>
          <p:cNvPicPr>
            <a:picLocks noChangeAspect="1"/>
          </p:cNvPicPr>
          <p:nvPr/>
        </p:nvPicPr>
        <p:blipFill>
          <a:blip r:embed="rId4"/>
          <a:stretch>
            <a:fillRect/>
          </a:stretch>
        </p:blipFill>
        <p:spPr>
          <a:xfrm>
            <a:off x="6597396" y="2436876"/>
            <a:ext cx="384048" cy="384048"/>
          </a:xfrm>
          <a:prstGeom prst="rect">
            <a:avLst/>
          </a:prstGeom>
        </p:spPr>
      </p:pic>
      <p:sp>
        <p:nvSpPr>
          <p:cNvPr id="25" name="Text 30"/>
          <p:cNvSpPr txBox="1"/>
          <p:nvPr/>
        </p:nvSpPr>
        <p:spPr>
          <a:xfrm>
            <a:off x="7360920" y="2194560"/>
            <a:ext cx="4233672" cy="365760"/>
          </a:xfrm>
          <a:prstGeom prst="rect">
            <a:avLst/>
          </a:prstGeom>
          <a:noFill/>
          <a:ln/>
        </p:spPr>
        <p:txBody>
          <a:bodyPr wrap="square" lIns="0" tIns="0" rIns="0" bIns="0" rtlCol="0" anchor="t"/>
          <a:lstStyle/>
          <a:p>
            <a:pPr indent="0" marL="0">
              <a:buNone/>
            </a:pPr>
            <a:r>
              <a:rPr lang="en-US" sz="1600" b="1" dirty="0">
                <a:solidFill>
                  <a:srgbClr val="20241F"/>
                </a:solidFill>
              </a:rPr>
              <a:t>Poor cross-functional visibility</a:t>
            </a:r>
            <a:endParaRPr lang="en-US" sz="1600" dirty="0"/>
          </a:p>
        </p:txBody>
      </p:sp>
      <p:sp>
        <p:nvSpPr>
          <p:cNvPr id="26" name="Text 31"/>
          <p:cNvSpPr txBox="1"/>
          <p:nvPr/>
        </p:nvSpPr>
        <p:spPr>
          <a:xfrm>
            <a:off x="7360920" y="2578608"/>
            <a:ext cx="4233672" cy="640080"/>
          </a:xfrm>
          <a:prstGeom prst="rect">
            <a:avLst/>
          </a:prstGeom>
          <a:noFill/>
          <a:ln/>
        </p:spPr>
        <p:txBody>
          <a:bodyPr wrap="square" lIns="0" tIns="0" rIns="0" bIns="0" rtlCol="0" anchor="t"/>
          <a:lstStyle/>
          <a:p>
            <a:pPr indent="0" marL="0">
              <a:buNone/>
            </a:pPr>
            <a:r>
              <a:rPr lang="en-US" sz="1250" dirty="0">
                <a:solidFill>
                  <a:srgbClr val="56604E"/>
                </a:solidFill>
              </a:rPr>
              <a:t>Siloed stacks limit insight across marketing, sales and customer success, so chances to align are missed.</a:t>
            </a:r>
            <a:endParaRPr lang="en-US" sz="1250" dirty="0"/>
          </a:p>
        </p:txBody>
      </p:sp>
      <p:sp>
        <p:nvSpPr>
          <p:cNvPr id="27" name="Ineffective customer engagement 32"/>
          <p:cNvSpPr/>
          <p:nvPr/>
        </p:nvSpPr>
        <p:spPr>
          <a:xfrm>
            <a:off x="6217920" y="3447288"/>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28" name="Icon badge 33"/>
          <p:cNvSpPr/>
          <p:nvPr/>
        </p:nvSpPr>
        <p:spPr>
          <a:xfrm>
            <a:off x="6446520" y="3721608"/>
            <a:ext cx="685800" cy="685800"/>
          </a:xfrm>
          <a:prstGeom prst="ellipse">
            <a:avLst/>
          </a:prstGeom>
          <a:solidFill>
            <a:srgbClr val="56604E"/>
          </a:solidFill>
          <a:ln/>
        </p:spPr>
      </p:sp>
      <p:pic>
        <p:nvPicPr>
          <p:cNvPr id="29" name="Image 4" descr="Users icon">    </p:cNvPr>
          <p:cNvPicPr>
            <a:picLocks noChangeAspect="1"/>
          </p:cNvPicPr>
          <p:nvPr/>
        </p:nvPicPr>
        <p:blipFill>
          <a:blip r:embed="rId5"/>
          <a:stretch>
            <a:fillRect/>
          </a:stretch>
        </p:blipFill>
        <p:spPr>
          <a:xfrm>
            <a:off x="6597396" y="3872484"/>
            <a:ext cx="384048" cy="384048"/>
          </a:xfrm>
          <a:prstGeom prst="rect">
            <a:avLst/>
          </a:prstGeom>
        </p:spPr>
      </p:pic>
      <p:sp>
        <p:nvSpPr>
          <p:cNvPr id="30" name="Text 34"/>
          <p:cNvSpPr txBox="1"/>
          <p:nvPr/>
        </p:nvSpPr>
        <p:spPr>
          <a:xfrm>
            <a:off x="7360920" y="3630168"/>
            <a:ext cx="4233672" cy="365760"/>
          </a:xfrm>
          <a:prstGeom prst="rect">
            <a:avLst/>
          </a:prstGeom>
          <a:noFill/>
          <a:ln/>
        </p:spPr>
        <p:txBody>
          <a:bodyPr wrap="square" lIns="0" tIns="0" rIns="0" bIns="0" rtlCol="0" anchor="t"/>
          <a:lstStyle/>
          <a:p>
            <a:pPr indent="0" marL="0">
              <a:buNone/>
            </a:pPr>
            <a:r>
              <a:rPr lang="en-US" sz="1600" b="1" dirty="0">
                <a:solidFill>
                  <a:srgbClr val="20241F"/>
                </a:solidFill>
              </a:rPr>
              <a:t>Ineffective customer engagement</a:t>
            </a:r>
            <a:endParaRPr lang="en-US" sz="1600" dirty="0"/>
          </a:p>
        </p:txBody>
      </p:sp>
      <p:sp>
        <p:nvSpPr>
          <p:cNvPr id="31" name="Text 35"/>
          <p:cNvSpPr txBox="1"/>
          <p:nvPr/>
        </p:nvSpPr>
        <p:spPr>
          <a:xfrm>
            <a:off x="7360920" y="4014216"/>
            <a:ext cx="4233672" cy="640080"/>
          </a:xfrm>
          <a:prstGeom prst="rect">
            <a:avLst/>
          </a:prstGeom>
          <a:noFill/>
          <a:ln/>
        </p:spPr>
        <p:txBody>
          <a:bodyPr wrap="square" lIns="0" tIns="0" rIns="0" bIns="0" rtlCol="0" anchor="t"/>
          <a:lstStyle/>
          <a:p>
            <a:pPr indent="0" marL="0">
              <a:buNone/>
            </a:pPr>
            <a:r>
              <a:rPr lang="en-US" sz="1250" dirty="0">
                <a:solidFill>
                  <a:srgbClr val="56604E"/>
                </a:solidFill>
              </a:rPr>
              <a:t>Disjointed systems and handoffs make it hard to track and act on customer interactions.</a:t>
            </a:r>
            <a:endParaRPr lang="en-US" sz="1250" dirty="0"/>
          </a:p>
        </p:txBody>
      </p:sp>
      <p:sp>
        <p:nvSpPr>
          <p:cNvPr id="32" name="(Bad) decision making 36"/>
          <p:cNvSpPr/>
          <p:nvPr/>
        </p:nvSpPr>
        <p:spPr>
          <a:xfrm>
            <a:off x="6217920" y="4882896"/>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33" name="Icon badge 37"/>
          <p:cNvSpPr/>
          <p:nvPr/>
        </p:nvSpPr>
        <p:spPr>
          <a:xfrm>
            <a:off x="6446520" y="5157216"/>
            <a:ext cx="685800" cy="685800"/>
          </a:xfrm>
          <a:prstGeom prst="ellipse">
            <a:avLst/>
          </a:prstGeom>
          <a:solidFill>
            <a:srgbClr val="56604E"/>
          </a:solidFill>
          <a:ln/>
        </p:spPr>
      </p:sp>
      <p:pic>
        <p:nvPicPr>
          <p:cNvPr id="34" name="Image 5" descr="ThumbDown icon">    </p:cNvPr>
          <p:cNvPicPr>
            <a:picLocks noChangeAspect="1"/>
          </p:cNvPicPr>
          <p:nvPr/>
        </p:nvPicPr>
        <p:blipFill>
          <a:blip r:embed="rId6"/>
          <a:stretch>
            <a:fillRect/>
          </a:stretch>
        </p:blipFill>
        <p:spPr>
          <a:xfrm>
            <a:off x="6597396" y="5308092"/>
            <a:ext cx="384048" cy="384048"/>
          </a:xfrm>
          <a:prstGeom prst="rect">
            <a:avLst/>
          </a:prstGeom>
        </p:spPr>
      </p:pic>
      <p:sp>
        <p:nvSpPr>
          <p:cNvPr id="35" name="Text 38"/>
          <p:cNvSpPr txBox="1"/>
          <p:nvPr/>
        </p:nvSpPr>
        <p:spPr>
          <a:xfrm>
            <a:off x="7360920" y="5065776"/>
            <a:ext cx="4233672" cy="365760"/>
          </a:xfrm>
          <a:prstGeom prst="rect">
            <a:avLst/>
          </a:prstGeom>
          <a:noFill/>
          <a:ln/>
        </p:spPr>
        <p:txBody>
          <a:bodyPr wrap="square" lIns="0" tIns="0" rIns="0" bIns="0" rtlCol="0" anchor="t"/>
          <a:lstStyle/>
          <a:p>
            <a:pPr indent="0" marL="0">
              <a:buNone/>
            </a:pPr>
            <a:r>
              <a:rPr lang="en-US" sz="1600" b="1" dirty="0">
                <a:solidFill>
                  <a:srgbClr val="20241F"/>
                </a:solidFill>
              </a:rPr>
              <a:t>(Bad) decision making</a:t>
            </a:r>
            <a:endParaRPr lang="en-US" sz="1600" dirty="0"/>
          </a:p>
        </p:txBody>
      </p:sp>
      <p:sp>
        <p:nvSpPr>
          <p:cNvPr id="36" name="Text 39"/>
          <p:cNvSpPr txBox="1"/>
          <p:nvPr/>
        </p:nvSpPr>
        <p:spPr>
          <a:xfrm>
            <a:off x="7360920" y="5449824"/>
            <a:ext cx="4233672" cy="640080"/>
          </a:xfrm>
          <a:prstGeom prst="rect">
            <a:avLst/>
          </a:prstGeom>
          <a:noFill/>
          <a:ln/>
        </p:spPr>
        <p:txBody>
          <a:bodyPr wrap="square" lIns="0" tIns="0" rIns="0" bIns="0" rtlCol="0" anchor="t"/>
          <a:lstStyle/>
          <a:p>
            <a:pPr indent="0" marL="0">
              <a:buNone/>
            </a:pPr>
            <a:r>
              <a:rPr lang="en-US" sz="1250" dirty="0">
                <a:solidFill>
                  <a:srgbClr val="56604E"/>
                </a:solidFill>
              </a:rPr>
              <a:t>Different readings of the data stop teams executing one GTM strategy for growth and efficiency.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OBJECTIONS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“Why we aren’t fixing it”</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Objection 40"/>
          <p:cNvSpPr/>
          <p:nvPr/>
        </p:nvSpPr>
        <p:spPr>
          <a:xfrm>
            <a:off x="365760" y="14173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6" name="Text 41"/>
          <p:cNvSpPr txBox="1"/>
          <p:nvPr/>
        </p:nvSpPr>
        <p:spPr>
          <a:xfrm>
            <a:off x="594360" y="14630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7" name="Text 42"/>
          <p:cNvSpPr txBox="1"/>
          <p:nvPr/>
        </p:nvSpPr>
        <p:spPr>
          <a:xfrm>
            <a:off x="1143000" y="16002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We don’t have the time right now</a:t>
            </a:r>
            <a:endParaRPr lang="en-US" sz="1700" dirty="0"/>
          </a:p>
        </p:txBody>
      </p:sp>
      <p:sp>
        <p:nvSpPr>
          <p:cNvPr id="8" name="Objection 43"/>
          <p:cNvSpPr/>
          <p:nvPr/>
        </p:nvSpPr>
        <p:spPr>
          <a:xfrm>
            <a:off x="4261104" y="14173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9" name="Text 44"/>
          <p:cNvSpPr txBox="1"/>
          <p:nvPr/>
        </p:nvSpPr>
        <p:spPr>
          <a:xfrm>
            <a:off x="4489704" y="14630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10" name="Text 45"/>
          <p:cNvSpPr txBox="1"/>
          <p:nvPr/>
        </p:nvSpPr>
        <p:spPr>
          <a:xfrm>
            <a:off x="5038344" y="16002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It’s too expensive to implement changes</a:t>
            </a:r>
            <a:endParaRPr lang="en-US" sz="1700" dirty="0"/>
          </a:p>
        </p:txBody>
      </p:sp>
      <p:sp>
        <p:nvSpPr>
          <p:cNvPr id="11" name="Objection 46"/>
          <p:cNvSpPr/>
          <p:nvPr/>
        </p:nvSpPr>
        <p:spPr>
          <a:xfrm>
            <a:off x="8156448" y="14173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12" name="Text 47"/>
          <p:cNvSpPr txBox="1"/>
          <p:nvPr/>
        </p:nvSpPr>
        <p:spPr>
          <a:xfrm>
            <a:off x="8385048" y="14630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13" name="Text 48"/>
          <p:cNvSpPr txBox="1"/>
          <p:nvPr/>
        </p:nvSpPr>
        <p:spPr>
          <a:xfrm>
            <a:off x="8933688" y="16002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The problem will fix itself as we grow</a:t>
            </a:r>
            <a:endParaRPr lang="en-US" sz="1700" dirty="0"/>
          </a:p>
        </p:txBody>
      </p:sp>
      <p:sp>
        <p:nvSpPr>
          <p:cNvPr id="14" name="Objection 49"/>
          <p:cNvSpPr/>
          <p:nvPr/>
        </p:nvSpPr>
        <p:spPr>
          <a:xfrm>
            <a:off x="365760" y="30175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15" name="Text 50"/>
          <p:cNvSpPr txBox="1"/>
          <p:nvPr/>
        </p:nvSpPr>
        <p:spPr>
          <a:xfrm>
            <a:off x="594360" y="30632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16" name="Text 51"/>
          <p:cNvSpPr txBox="1"/>
          <p:nvPr/>
        </p:nvSpPr>
        <p:spPr>
          <a:xfrm>
            <a:off x="1143000" y="32004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Our sales team just needs to work harder</a:t>
            </a:r>
            <a:endParaRPr lang="en-US" sz="1700" dirty="0"/>
          </a:p>
        </p:txBody>
      </p:sp>
      <p:sp>
        <p:nvSpPr>
          <p:cNvPr id="17" name="Objection 52"/>
          <p:cNvSpPr/>
          <p:nvPr/>
        </p:nvSpPr>
        <p:spPr>
          <a:xfrm>
            <a:off x="4261104" y="30175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18" name="Text 53"/>
          <p:cNvSpPr txBox="1"/>
          <p:nvPr/>
        </p:nvSpPr>
        <p:spPr>
          <a:xfrm>
            <a:off x="4489704" y="30632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19" name="Text 54"/>
          <p:cNvSpPr txBox="1"/>
          <p:nvPr/>
        </p:nvSpPr>
        <p:spPr>
          <a:xfrm>
            <a:off x="5038344" y="32004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We’ve always done it this way</a:t>
            </a:r>
            <a:endParaRPr lang="en-US" sz="1700" dirty="0"/>
          </a:p>
        </p:txBody>
      </p:sp>
      <p:sp>
        <p:nvSpPr>
          <p:cNvPr id="20" name="Objection 55"/>
          <p:cNvSpPr/>
          <p:nvPr/>
        </p:nvSpPr>
        <p:spPr>
          <a:xfrm>
            <a:off x="8156448" y="30175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21" name="Text 56"/>
          <p:cNvSpPr txBox="1"/>
          <p:nvPr/>
        </p:nvSpPr>
        <p:spPr>
          <a:xfrm>
            <a:off x="8385048" y="30632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22" name="Text 57"/>
          <p:cNvSpPr txBox="1"/>
          <p:nvPr/>
        </p:nvSpPr>
        <p:spPr>
          <a:xfrm>
            <a:off x="8933688" y="32004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We’ll look into it next quarter</a:t>
            </a:r>
            <a:endParaRPr lang="en-US" sz="1700" dirty="0"/>
          </a:p>
        </p:txBody>
      </p:sp>
      <p:sp>
        <p:nvSpPr>
          <p:cNvPr id="23" name="Objection 58"/>
          <p:cNvSpPr/>
          <p:nvPr/>
        </p:nvSpPr>
        <p:spPr>
          <a:xfrm>
            <a:off x="365760" y="46177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24" name="Text 59"/>
          <p:cNvSpPr txBox="1"/>
          <p:nvPr/>
        </p:nvSpPr>
        <p:spPr>
          <a:xfrm>
            <a:off x="594360" y="46634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25" name="Text 60"/>
          <p:cNvSpPr txBox="1"/>
          <p:nvPr/>
        </p:nvSpPr>
        <p:spPr>
          <a:xfrm>
            <a:off x="1143000" y="48006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We’re already using a CRM. What more do we need?</a:t>
            </a:r>
            <a:endParaRPr lang="en-US" sz="1700" dirty="0"/>
          </a:p>
        </p:txBody>
      </p:sp>
      <p:sp>
        <p:nvSpPr>
          <p:cNvPr id="26" name="Objection 61"/>
          <p:cNvSpPr/>
          <p:nvPr/>
        </p:nvSpPr>
        <p:spPr>
          <a:xfrm>
            <a:off x="4261104" y="46177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27" name="Text 62"/>
          <p:cNvSpPr txBox="1"/>
          <p:nvPr/>
        </p:nvSpPr>
        <p:spPr>
          <a:xfrm>
            <a:off x="4489704" y="46634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28" name="Text 63"/>
          <p:cNvSpPr txBox="1"/>
          <p:nvPr/>
        </p:nvSpPr>
        <p:spPr>
          <a:xfrm>
            <a:off x="5038344" y="48006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Our reps know what they’re doing</a:t>
            </a:r>
            <a:endParaRPr lang="en-US" sz="1700" dirty="0"/>
          </a:p>
        </p:txBody>
      </p:sp>
      <p:sp>
        <p:nvSpPr>
          <p:cNvPr id="29" name="Objection 64"/>
          <p:cNvSpPr/>
          <p:nvPr/>
        </p:nvSpPr>
        <p:spPr>
          <a:xfrm>
            <a:off x="8156448" y="4617720"/>
            <a:ext cx="3666744" cy="1417320"/>
          </a:xfrm>
          <a:prstGeom prst="roundRect">
            <a:avLst>
              <a:gd name="adj" fmla="val 7742"/>
            </a:avLst>
          </a:prstGeom>
          <a:solidFill>
            <a:srgbClr val="1F3529"/>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30" name="Text 65"/>
          <p:cNvSpPr txBox="1"/>
          <p:nvPr/>
        </p:nvSpPr>
        <p:spPr>
          <a:xfrm>
            <a:off x="8385048" y="4663440"/>
            <a:ext cx="548640" cy="731520"/>
          </a:xfrm>
          <a:prstGeom prst="rect">
            <a:avLst/>
          </a:prstGeom>
          <a:noFill/>
          <a:ln/>
        </p:spPr>
        <p:txBody>
          <a:bodyPr wrap="square" lIns="0" tIns="0" rIns="0" bIns="0" rtlCol="0" anchor="t"/>
          <a:lstStyle/>
          <a:p>
            <a:pPr indent="0" marL="0">
              <a:buNone/>
            </a:pPr>
            <a:r>
              <a:rPr lang="en-US" sz="4800" dirty="0">
                <a:solidFill>
                  <a:srgbClr val="93A87B"/>
                </a:solidFill>
                <a:latin typeface="Georgia" pitchFamily="34" charset="0"/>
                <a:ea typeface="Georgia" pitchFamily="34" charset="-122"/>
                <a:cs typeface="Georgia" pitchFamily="34" charset="-120"/>
              </a:rPr>
              <a:t>“</a:t>
            </a:r>
            <a:endParaRPr lang="en-US" sz="4800" dirty="0"/>
          </a:p>
        </p:txBody>
      </p:sp>
      <p:sp>
        <p:nvSpPr>
          <p:cNvPr id="31" name="Text 66"/>
          <p:cNvSpPr txBox="1"/>
          <p:nvPr/>
        </p:nvSpPr>
        <p:spPr>
          <a:xfrm>
            <a:off x="8933688" y="4800600"/>
            <a:ext cx="2697480" cy="1051560"/>
          </a:xfrm>
          <a:prstGeom prst="rect">
            <a:avLst/>
          </a:prstGeom>
          <a:noFill/>
          <a:ln/>
        </p:spPr>
        <p:txBody>
          <a:bodyPr wrap="square" lIns="0" tIns="0" rIns="0" bIns="0" rtlCol="0" anchor="ctr"/>
          <a:lstStyle/>
          <a:p>
            <a:pPr indent="0" marL="0">
              <a:buNone/>
            </a:pPr>
            <a:r>
              <a:rPr lang="en-US" sz="1700" i="1" dirty="0">
                <a:solidFill>
                  <a:srgbClr val="F5F7F0"/>
                </a:solidFill>
                <a:latin typeface="Georgia" pitchFamily="34" charset="0"/>
                <a:ea typeface="Georgia" pitchFamily="34" charset="-122"/>
                <a:cs typeface="Georgia" pitchFamily="34" charset="-120"/>
              </a:rPr>
              <a:t>We’ll hire more reps to fix the problem</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FRAMEWORK</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The SPORT of growth</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Text 67"/>
          <p:cNvSpPr txBox="1"/>
          <p:nvPr/>
        </p:nvSpPr>
        <p:spPr>
          <a:xfrm>
            <a:off x="365760" y="1280160"/>
            <a:ext cx="11430000" cy="411480"/>
          </a:xfrm>
          <a:prstGeom prst="rect">
            <a:avLst/>
          </a:prstGeom>
          <a:noFill/>
          <a:ln/>
        </p:spPr>
        <p:txBody>
          <a:bodyPr wrap="square" lIns="0" tIns="0" rIns="0" bIns="0" rtlCol="0" anchor="t"/>
          <a:lstStyle/>
          <a:p>
            <a:pPr indent="0" marL="0">
              <a:buNone/>
            </a:pPr>
            <a:r>
              <a:rPr lang="en-US" sz="1600" dirty="0">
                <a:solidFill>
                  <a:srgbClr val="C9D3C0"/>
                </a:solidFill>
              </a:rPr>
              <a:t>A framework for helping organisations reach their full growth potential.</a:t>
            </a:r>
            <a:endParaRPr lang="en-US" sz="1600" dirty="0"/>
          </a:p>
        </p:txBody>
      </p:sp>
      <p:sp>
        <p:nvSpPr>
          <p:cNvPr id="6" name="SPORT Strategy 68"/>
          <p:cNvSpPr/>
          <p:nvPr/>
        </p:nvSpPr>
        <p:spPr>
          <a:xfrm>
            <a:off x="365760" y="1965960"/>
            <a:ext cx="2148840" cy="4251960"/>
          </a:xfrm>
          <a:prstGeom prst="roundRect">
            <a:avLst>
              <a:gd name="adj" fmla="val 5106"/>
            </a:avLst>
          </a:prstGeom>
          <a:solidFill>
            <a:srgbClr val="1F3529">
              <a:alpha val="85000"/>
            </a:srgbClr>
          </a:solidFill>
          <a:ln w="12700">
            <a:solidFill>
              <a:srgbClr val="93A87B">
                <a:alpha val="30000"/>
              </a:srgbClr>
            </a:solidFill>
            <a:prstDash val="solid"/>
          </a:ln>
          <a:effectLst>
            <a:outerShdw sx="100000" sy="100000" kx="0" ky="0" algn="bl" rotWithShape="0" blurRad="254000" dist="50800" dir="5400000">
              <a:srgbClr val="16261D">
                <a:alpha val="30000"/>
              </a:srgbClr>
            </a:outerShdw>
          </a:effectLst>
        </p:spPr>
      </p:sp>
      <p:sp>
        <p:nvSpPr>
          <p:cNvPr id="7" name="Text 69"/>
          <p:cNvSpPr txBox="1"/>
          <p:nvPr/>
        </p:nvSpPr>
        <p:spPr>
          <a:xfrm>
            <a:off x="365760" y="2103120"/>
            <a:ext cx="2148840" cy="1645920"/>
          </a:xfrm>
          <a:prstGeom prst="rect">
            <a:avLst/>
          </a:prstGeom>
          <a:noFill/>
          <a:ln/>
        </p:spPr>
        <p:txBody>
          <a:bodyPr wrap="square" lIns="0" tIns="0" rIns="0" bIns="0" rtlCol="0" anchor="ctr"/>
          <a:lstStyle/>
          <a:p>
            <a:pPr algn="ctr" indent="0" marL="0">
              <a:buNone/>
            </a:pPr>
            <a:r>
              <a:rPr lang="en-US" sz="11000" dirty="0">
                <a:solidFill>
                  <a:srgbClr val="93A87B"/>
                </a:solidFill>
                <a:latin typeface="Georgia" pitchFamily="34" charset="0"/>
                <a:ea typeface="Georgia" pitchFamily="34" charset="-122"/>
                <a:cs typeface="Georgia" pitchFamily="34" charset="-120"/>
              </a:rPr>
              <a:t>S</a:t>
            </a:r>
            <a:endParaRPr lang="en-US" sz="11000" dirty="0"/>
          </a:p>
        </p:txBody>
      </p:sp>
      <p:sp>
        <p:nvSpPr>
          <p:cNvPr id="8" name="Text 70"/>
          <p:cNvSpPr txBox="1"/>
          <p:nvPr/>
        </p:nvSpPr>
        <p:spPr>
          <a:xfrm>
            <a:off x="548640" y="3886200"/>
            <a:ext cx="1783080" cy="411480"/>
          </a:xfrm>
          <a:prstGeom prst="rect">
            <a:avLst/>
          </a:prstGeom>
          <a:noFill/>
          <a:ln/>
        </p:spPr>
        <p:txBody>
          <a:bodyPr wrap="square" lIns="0" tIns="0" rIns="0" bIns="0" rtlCol="0" anchor="t"/>
          <a:lstStyle/>
          <a:p>
            <a:pPr algn="ctr" indent="0" marL="0">
              <a:buNone/>
            </a:pPr>
            <a:r>
              <a:rPr lang="en-US" sz="1900" b="1" dirty="0">
                <a:solidFill>
                  <a:srgbClr val="F5F7F0"/>
                </a:solidFill>
              </a:rPr>
              <a:t>Strategy</a:t>
            </a:r>
            <a:endParaRPr lang="en-US" sz="1900" dirty="0"/>
          </a:p>
        </p:txBody>
      </p:sp>
      <p:sp>
        <p:nvSpPr>
          <p:cNvPr id="9" name="Text 71"/>
          <p:cNvSpPr txBox="1"/>
          <p:nvPr/>
        </p:nvSpPr>
        <p:spPr>
          <a:xfrm>
            <a:off x="548640" y="4434840"/>
            <a:ext cx="1783080" cy="1280160"/>
          </a:xfrm>
          <a:prstGeom prst="rect">
            <a:avLst/>
          </a:prstGeom>
          <a:noFill/>
          <a:ln/>
        </p:spPr>
        <p:txBody>
          <a:bodyPr wrap="square" lIns="0" tIns="0" rIns="0" bIns="0" rtlCol="0" anchor="t"/>
          <a:lstStyle/>
          <a:p>
            <a:pPr algn="ctr" indent="0" marL="0">
              <a:buNone/>
            </a:pPr>
            <a:r>
              <a:rPr lang="en-US" sz="1400" dirty="0">
                <a:solidFill>
                  <a:srgbClr val="C9D3C0"/>
                </a:solidFill>
              </a:rPr>
              <a:t>Where are we trying to go?</a:t>
            </a:r>
            <a:endParaRPr lang="en-US" sz="1400" dirty="0"/>
          </a:p>
        </p:txBody>
      </p:sp>
      <p:sp>
        <p:nvSpPr>
          <p:cNvPr id="10" name="SPORT Process 72"/>
          <p:cNvSpPr/>
          <p:nvPr/>
        </p:nvSpPr>
        <p:spPr>
          <a:xfrm>
            <a:off x="2692908" y="1965960"/>
            <a:ext cx="2148840" cy="4251960"/>
          </a:xfrm>
          <a:prstGeom prst="roundRect">
            <a:avLst>
              <a:gd name="adj" fmla="val 5106"/>
            </a:avLst>
          </a:prstGeom>
          <a:solidFill>
            <a:srgbClr val="1F3529">
              <a:alpha val="85000"/>
            </a:srgbClr>
          </a:solidFill>
          <a:ln w="12700">
            <a:solidFill>
              <a:srgbClr val="93A87B">
                <a:alpha val="30000"/>
              </a:srgbClr>
            </a:solidFill>
            <a:prstDash val="solid"/>
          </a:ln>
          <a:effectLst>
            <a:outerShdw sx="100000" sy="100000" kx="0" ky="0" algn="bl" rotWithShape="0" blurRad="254000" dist="50800" dir="5400000">
              <a:srgbClr val="16261D">
                <a:alpha val="30000"/>
              </a:srgbClr>
            </a:outerShdw>
          </a:effectLst>
        </p:spPr>
      </p:sp>
      <p:sp>
        <p:nvSpPr>
          <p:cNvPr id="11" name="Text 73"/>
          <p:cNvSpPr txBox="1"/>
          <p:nvPr/>
        </p:nvSpPr>
        <p:spPr>
          <a:xfrm>
            <a:off x="2692908" y="2103120"/>
            <a:ext cx="2148840" cy="1645920"/>
          </a:xfrm>
          <a:prstGeom prst="rect">
            <a:avLst/>
          </a:prstGeom>
          <a:noFill/>
          <a:ln/>
        </p:spPr>
        <p:txBody>
          <a:bodyPr wrap="square" lIns="0" tIns="0" rIns="0" bIns="0" rtlCol="0" anchor="ctr"/>
          <a:lstStyle/>
          <a:p>
            <a:pPr algn="ctr" indent="0" marL="0">
              <a:buNone/>
            </a:pPr>
            <a:r>
              <a:rPr lang="en-US" sz="11000" dirty="0">
                <a:solidFill>
                  <a:srgbClr val="93A87B"/>
                </a:solidFill>
                <a:latin typeface="Georgia" pitchFamily="34" charset="0"/>
                <a:ea typeface="Georgia" pitchFamily="34" charset="-122"/>
                <a:cs typeface="Georgia" pitchFamily="34" charset="-120"/>
              </a:rPr>
              <a:t>P</a:t>
            </a:r>
            <a:endParaRPr lang="en-US" sz="11000" dirty="0"/>
          </a:p>
        </p:txBody>
      </p:sp>
      <p:sp>
        <p:nvSpPr>
          <p:cNvPr id="12" name="Text 74"/>
          <p:cNvSpPr txBox="1"/>
          <p:nvPr/>
        </p:nvSpPr>
        <p:spPr>
          <a:xfrm>
            <a:off x="2875788" y="3886200"/>
            <a:ext cx="1783080" cy="411480"/>
          </a:xfrm>
          <a:prstGeom prst="rect">
            <a:avLst/>
          </a:prstGeom>
          <a:noFill/>
          <a:ln/>
        </p:spPr>
        <p:txBody>
          <a:bodyPr wrap="square" lIns="0" tIns="0" rIns="0" bIns="0" rtlCol="0" anchor="t"/>
          <a:lstStyle/>
          <a:p>
            <a:pPr algn="ctr" indent="0" marL="0">
              <a:buNone/>
            </a:pPr>
            <a:r>
              <a:rPr lang="en-US" sz="1900" b="1" dirty="0">
                <a:solidFill>
                  <a:srgbClr val="F5F7F0"/>
                </a:solidFill>
              </a:rPr>
              <a:t>Process</a:t>
            </a:r>
            <a:endParaRPr lang="en-US" sz="1900" dirty="0"/>
          </a:p>
        </p:txBody>
      </p:sp>
      <p:sp>
        <p:nvSpPr>
          <p:cNvPr id="13" name="Text 75"/>
          <p:cNvSpPr txBox="1"/>
          <p:nvPr/>
        </p:nvSpPr>
        <p:spPr>
          <a:xfrm>
            <a:off x="2875788" y="4434840"/>
            <a:ext cx="1783080" cy="1280160"/>
          </a:xfrm>
          <a:prstGeom prst="rect">
            <a:avLst/>
          </a:prstGeom>
          <a:noFill/>
          <a:ln/>
        </p:spPr>
        <p:txBody>
          <a:bodyPr wrap="square" lIns="0" tIns="0" rIns="0" bIns="0" rtlCol="0" anchor="t"/>
          <a:lstStyle/>
          <a:p>
            <a:pPr algn="ctr" indent="0" marL="0">
              <a:buNone/>
            </a:pPr>
            <a:r>
              <a:rPr lang="en-US" sz="1400" dirty="0">
                <a:solidFill>
                  <a:srgbClr val="C9D3C0"/>
                </a:solidFill>
              </a:rPr>
              <a:t>How do we plan to get there?</a:t>
            </a:r>
            <a:endParaRPr lang="en-US" sz="1400" dirty="0"/>
          </a:p>
        </p:txBody>
      </p:sp>
      <p:sp>
        <p:nvSpPr>
          <p:cNvPr id="14" name="SPORT Organisation 76"/>
          <p:cNvSpPr/>
          <p:nvPr/>
        </p:nvSpPr>
        <p:spPr>
          <a:xfrm>
            <a:off x="5020056" y="1965960"/>
            <a:ext cx="2148840" cy="4251960"/>
          </a:xfrm>
          <a:prstGeom prst="roundRect">
            <a:avLst>
              <a:gd name="adj" fmla="val 5106"/>
            </a:avLst>
          </a:prstGeom>
          <a:solidFill>
            <a:srgbClr val="1F3529">
              <a:alpha val="85000"/>
            </a:srgbClr>
          </a:solidFill>
          <a:ln w="12700">
            <a:solidFill>
              <a:srgbClr val="93A87B">
                <a:alpha val="30000"/>
              </a:srgbClr>
            </a:solidFill>
            <a:prstDash val="solid"/>
          </a:ln>
          <a:effectLst>
            <a:outerShdw sx="100000" sy="100000" kx="0" ky="0" algn="bl" rotWithShape="0" blurRad="254000" dist="50800" dir="5400000">
              <a:srgbClr val="16261D">
                <a:alpha val="30000"/>
              </a:srgbClr>
            </a:outerShdw>
          </a:effectLst>
        </p:spPr>
      </p:sp>
      <p:sp>
        <p:nvSpPr>
          <p:cNvPr id="15" name="Text 77"/>
          <p:cNvSpPr txBox="1"/>
          <p:nvPr/>
        </p:nvSpPr>
        <p:spPr>
          <a:xfrm>
            <a:off x="5020056" y="2103120"/>
            <a:ext cx="2148840" cy="1645920"/>
          </a:xfrm>
          <a:prstGeom prst="rect">
            <a:avLst/>
          </a:prstGeom>
          <a:noFill/>
          <a:ln/>
        </p:spPr>
        <p:txBody>
          <a:bodyPr wrap="square" lIns="0" tIns="0" rIns="0" bIns="0" rtlCol="0" anchor="ctr"/>
          <a:lstStyle/>
          <a:p>
            <a:pPr algn="ctr" indent="0" marL="0">
              <a:buNone/>
            </a:pPr>
            <a:r>
              <a:rPr lang="en-US" sz="11000" dirty="0">
                <a:solidFill>
                  <a:srgbClr val="93A87B"/>
                </a:solidFill>
                <a:latin typeface="Georgia" pitchFamily="34" charset="0"/>
                <a:ea typeface="Georgia" pitchFamily="34" charset="-122"/>
                <a:cs typeface="Georgia" pitchFamily="34" charset="-120"/>
              </a:rPr>
              <a:t>O</a:t>
            </a:r>
            <a:endParaRPr lang="en-US" sz="11000" dirty="0"/>
          </a:p>
        </p:txBody>
      </p:sp>
      <p:sp>
        <p:nvSpPr>
          <p:cNvPr id="16" name="Text 78"/>
          <p:cNvSpPr txBox="1"/>
          <p:nvPr/>
        </p:nvSpPr>
        <p:spPr>
          <a:xfrm>
            <a:off x="5202936" y="3886200"/>
            <a:ext cx="1783080" cy="411480"/>
          </a:xfrm>
          <a:prstGeom prst="rect">
            <a:avLst/>
          </a:prstGeom>
          <a:noFill/>
          <a:ln/>
        </p:spPr>
        <p:txBody>
          <a:bodyPr wrap="square" lIns="0" tIns="0" rIns="0" bIns="0" rtlCol="0" anchor="t"/>
          <a:lstStyle/>
          <a:p>
            <a:pPr algn="ctr" indent="0" marL="0">
              <a:buNone/>
            </a:pPr>
            <a:r>
              <a:rPr lang="en-US" sz="1900" b="1" dirty="0">
                <a:solidFill>
                  <a:srgbClr val="F5F7F0"/>
                </a:solidFill>
              </a:rPr>
              <a:t>Organisation</a:t>
            </a:r>
            <a:endParaRPr lang="en-US" sz="1900" dirty="0"/>
          </a:p>
        </p:txBody>
      </p:sp>
      <p:sp>
        <p:nvSpPr>
          <p:cNvPr id="17" name="Text 79"/>
          <p:cNvSpPr txBox="1"/>
          <p:nvPr/>
        </p:nvSpPr>
        <p:spPr>
          <a:xfrm>
            <a:off x="5202936" y="4434840"/>
            <a:ext cx="1783080" cy="1280160"/>
          </a:xfrm>
          <a:prstGeom prst="rect">
            <a:avLst/>
          </a:prstGeom>
          <a:noFill/>
          <a:ln/>
        </p:spPr>
        <p:txBody>
          <a:bodyPr wrap="square" lIns="0" tIns="0" rIns="0" bIns="0" rtlCol="0" anchor="t"/>
          <a:lstStyle/>
          <a:p>
            <a:pPr algn="ctr" indent="0" marL="0">
              <a:buNone/>
            </a:pPr>
            <a:r>
              <a:rPr lang="en-US" sz="1400" dirty="0">
                <a:solidFill>
                  <a:srgbClr val="C9D3C0"/>
                </a:solidFill>
              </a:rPr>
              <a:t>Who will help us get there?</a:t>
            </a:r>
            <a:endParaRPr lang="en-US" sz="1400" dirty="0"/>
          </a:p>
        </p:txBody>
      </p:sp>
      <p:sp>
        <p:nvSpPr>
          <p:cNvPr id="18" name="SPORT Results 80"/>
          <p:cNvSpPr/>
          <p:nvPr/>
        </p:nvSpPr>
        <p:spPr>
          <a:xfrm>
            <a:off x="7347204" y="1965960"/>
            <a:ext cx="2148840" cy="4251960"/>
          </a:xfrm>
          <a:prstGeom prst="roundRect">
            <a:avLst>
              <a:gd name="adj" fmla="val 5106"/>
            </a:avLst>
          </a:prstGeom>
          <a:solidFill>
            <a:srgbClr val="1F3529">
              <a:alpha val="85000"/>
            </a:srgbClr>
          </a:solidFill>
          <a:ln w="12700">
            <a:solidFill>
              <a:srgbClr val="93A87B">
                <a:alpha val="30000"/>
              </a:srgbClr>
            </a:solidFill>
            <a:prstDash val="solid"/>
          </a:ln>
          <a:effectLst>
            <a:outerShdw sx="100000" sy="100000" kx="0" ky="0" algn="bl" rotWithShape="0" blurRad="254000" dist="50800" dir="5400000">
              <a:srgbClr val="16261D">
                <a:alpha val="30000"/>
              </a:srgbClr>
            </a:outerShdw>
          </a:effectLst>
        </p:spPr>
      </p:sp>
      <p:sp>
        <p:nvSpPr>
          <p:cNvPr id="19" name="Text 81"/>
          <p:cNvSpPr txBox="1"/>
          <p:nvPr/>
        </p:nvSpPr>
        <p:spPr>
          <a:xfrm>
            <a:off x="7347204" y="2103120"/>
            <a:ext cx="2148840" cy="1645920"/>
          </a:xfrm>
          <a:prstGeom prst="rect">
            <a:avLst/>
          </a:prstGeom>
          <a:noFill/>
          <a:ln/>
        </p:spPr>
        <p:txBody>
          <a:bodyPr wrap="square" lIns="0" tIns="0" rIns="0" bIns="0" rtlCol="0" anchor="ctr"/>
          <a:lstStyle/>
          <a:p>
            <a:pPr algn="ctr" indent="0" marL="0">
              <a:buNone/>
            </a:pPr>
            <a:r>
              <a:rPr lang="en-US" sz="11000" dirty="0">
                <a:solidFill>
                  <a:srgbClr val="93A87B"/>
                </a:solidFill>
                <a:latin typeface="Georgia" pitchFamily="34" charset="0"/>
                <a:ea typeface="Georgia" pitchFamily="34" charset="-122"/>
                <a:cs typeface="Georgia" pitchFamily="34" charset="-120"/>
              </a:rPr>
              <a:t>R</a:t>
            </a:r>
            <a:endParaRPr lang="en-US" sz="11000" dirty="0"/>
          </a:p>
        </p:txBody>
      </p:sp>
      <p:sp>
        <p:nvSpPr>
          <p:cNvPr id="20" name="Text 82"/>
          <p:cNvSpPr txBox="1"/>
          <p:nvPr/>
        </p:nvSpPr>
        <p:spPr>
          <a:xfrm>
            <a:off x="7530084" y="3886200"/>
            <a:ext cx="1783080" cy="411480"/>
          </a:xfrm>
          <a:prstGeom prst="rect">
            <a:avLst/>
          </a:prstGeom>
          <a:noFill/>
          <a:ln/>
        </p:spPr>
        <p:txBody>
          <a:bodyPr wrap="square" lIns="0" tIns="0" rIns="0" bIns="0" rtlCol="0" anchor="t"/>
          <a:lstStyle/>
          <a:p>
            <a:pPr algn="ctr" indent="0" marL="0">
              <a:buNone/>
            </a:pPr>
            <a:r>
              <a:rPr lang="en-US" sz="1900" b="1" dirty="0">
                <a:solidFill>
                  <a:srgbClr val="F5F7F0"/>
                </a:solidFill>
              </a:rPr>
              <a:t>Results</a:t>
            </a:r>
            <a:endParaRPr lang="en-US" sz="1900" dirty="0"/>
          </a:p>
        </p:txBody>
      </p:sp>
      <p:sp>
        <p:nvSpPr>
          <p:cNvPr id="21" name="Text 83"/>
          <p:cNvSpPr txBox="1"/>
          <p:nvPr/>
        </p:nvSpPr>
        <p:spPr>
          <a:xfrm>
            <a:off x="7530084" y="4434840"/>
            <a:ext cx="1783080" cy="1280160"/>
          </a:xfrm>
          <a:prstGeom prst="rect">
            <a:avLst/>
          </a:prstGeom>
          <a:noFill/>
          <a:ln/>
        </p:spPr>
        <p:txBody>
          <a:bodyPr wrap="square" lIns="0" tIns="0" rIns="0" bIns="0" rtlCol="0" anchor="t"/>
          <a:lstStyle/>
          <a:p>
            <a:pPr algn="ctr" indent="0" marL="0">
              <a:buNone/>
            </a:pPr>
            <a:r>
              <a:rPr lang="en-US" sz="1400" dirty="0">
                <a:solidFill>
                  <a:srgbClr val="C9D3C0"/>
                </a:solidFill>
              </a:rPr>
              <a:t>What indicators tell us we are on track?</a:t>
            </a:r>
            <a:endParaRPr lang="en-US" sz="1400" dirty="0"/>
          </a:p>
        </p:txBody>
      </p:sp>
      <p:sp>
        <p:nvSpPr>
          <p:cNvPr id="22" name="SPORT Technology 84"/>
          <p:cNvSpPr/>
          <p:nvPr/>
        </p:nvSpPr>
        <p:spPr>
          <a:xfrm>
            <a:off x="9674352" y="1965960"/>
            <a:ext cx="2148840" cy="4251960"/>
          </a:xfrm>
          <a:prstGeom prst="roundRect">
            <a:avLst>
              <a:gd name="adj" fmla="val 5106"/>
            </a:avLst>
          </a:prstGeom>
          <a:solidFill>
            <a:srgbClr val="1F3529">
              <a:alpha val="85000"/>
            </a:srgbClr>
          </a:solidFill>
          <a:ln w="12700">
            <a:solidFill>
              <a:srgbClr val="93A87B">
                <a:alpha val="30000"/>
              </a:srgbClr>
            </a:solidFill>
            <a:prstDash val="solid"/>
          </a:ln>
          <a:effectLst>
            <a:outerShdw sx="100000" sy="100000" kx="0" ky="0" algn="bl" rotWithShape="0" blurRad="254000" dist="50800" dir="5400000">
              <a:srgbClr val="16261D">
                <a:alpha val="30000"/>
              </a:srgbClr>
            </a:outerShdw>
          </a:effectLst>
        </p:spPr>
      </p:sp>
      <p:sp>
        <p:nvSpPr>
          <p:cNvPr id="23" name="Text 85"/>
          <p:cNvSpPr txBox="1"/>
          <p:nvPr/>
        </p:nvSpPr>
        <p:spPr>
          <a:xfrm>
            <a:off x="9674352" y="2103120"/>
            <a:ext cx="2148840" cy="1645920"/>
          </a:xfrm>
          <a:prstGeom prst="rect">
            <a:avLst/>
          </a:prstGeom>
          <a:noFill/>
          <a:ln/>
        </p:spPr>
        <p:txBody>
          <a:bodyPr wrap="square" lIns="0" tIns="0" rIns="0" bIns="0" rtlCol="0" anchor="ctr"/>
          <a:lstStyle/>
          <a:p>
            <a:pPr algn="ctr" indent="0" marL="0">
              <a:buNone/>
            </a:pPr>
            <a:r>
              <a:rPr lang="en-US" sz="11000" dirty="0">
                <a:solidFill>
                  <a:srgbClr val="93A87B"/>
                </a:solidFill>
                <a:latin typeface="Georgia" pitchFamily="34" charset="0"/>
                <a:ea typeface="Georgia" pitchFamily="34" charset="-122"/>
                <a:cs typeface="Georgia" pitchFamily="34" charset="-120"/>
              </a:rPr>
              <a:t>T</a:t>
            </a:r>
            <a:endParaRPr lang="en-US" sz="11000" dirty="0"/>
          </a:p>
        </p:txBody>
      </p:sp>
      <p:sp>
        <p:nvSpPr>
          <p:cNvPr id="24" name="Text 86"/>
          <p:cNvSpPr txBox="1"/>
          <p:nvPr/>
        </p:nvSpPr>
        <p:spPr>
          <a:xfrm>
            <a:off x="9857232" y="3886200"/>
            <a:ext cx="1783080" cy="411480"/>
          </a:xfrm>
          <a:prstGeom prst="rect">
            <a:avLst/>
          </a:prstGeom>
          <a:noFill/>
          <a:ln/>
        </p:spPr>
        <p:txBody>
          <a:bodyPr wrap="square" lIns="0" tIns="0" rIns="0" bIns="0" rtlCol="0" anchor="t"/>
          <a:lstStyle/>
          <a:p>
            <a:pPr algn="ctr" indent="0" marL="0">
              <a:buNone/>
            </a:pPr>
            <a:r>
              <a:rPr lang="en-US" sz="1900" b="1" dirty="0">
                <a:solidFill>
                  <a:srgbClr val="F5F7F0"/>
                </a:solidFill>
              </a:rPr>
              <a:t>Technology</a:t>
            </a:r>
            <a:endParaRPr lang="en-US" sz="1900" dirty="0"/>
          </a:p>
        </p:txBody>
      </p:sp>
      <p:sp>
        <p:nvSpPr>
          <p:cNvPr id="25" name="Text 87"/>
          <p:cNvSpPr txBox="1"/>
          <p:nvPr/>
        </p:nvSpPr>
        <p:spPr>
          <a:xfrm>
            <a:off x="9857232" y="4434840"/>
            <a:ext cx="1783080" cy="1280160"/>
          </a:xfrm>
          <a:prstGeom prst="rect">
            <a:avLst/>
          </a:prstGeom>
          <a:noFill/>
          <a:ln/>
        </p:spPr>
        <p:txBody>
          <a:bodyPr wrap="square" lIns="0" tIns="0" rIns="0" bIns="0" rtlCol="0" anchor="t"/>
          <a:lstStyle/>
          <a:p>
            <a:pPr algn="ctr" indent="0" marL="0">
              <a:buNone/>
            </a:pPr>
            <a:r>
              <a:rPr lang="en-US" sz="1400" dirty="0">
                <a:solidFill>
                  <a:srgbClr val="C9D3C0"/>
                </a:solidFill>
              </a:rPr>
              <a:t>Are there tools that get us there faster or more easily?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SPORT: STRATEGY, PROCESS, ORGANISATION, RESULTS, TECHNOLOGY</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The RevOps operating model</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Strategy 88"/>
          <p:cNvSpPr/>
          <p:nvPr/>
        </p:nvSpPr>
        <p:spPr>
          <a:xfrm>
            <a:off x="365760" y="1371600"/>
            <a:ext cx="11457432" cy="850392"/>
          </a:xfrm>
          <a:prstGeom prst="roundRect">
            <a:avLst>
              <a:gd name="adj" fmla="val 12903"/>
            </a:avLst>
          </a:prstGeom>
          <a:solidFill>
            <a:srgbClr val="FFFFFF"/>
          </a:solidFill>
          <a:ln/>
          <a:effectLst>
            <a:outerShdw sx="100000" sy="100000" kx="0" ky="0" algn="bl" rotWithShape="0" blurRad="177800" dist="50800" dir="5400000">
              <a:srgbClr val="16261D">
                <a:alpha val="14000"/>
              </a:srgbClr>
            </a:outerShdw>
          </a:effectLst>
        </p:spPr>
      </p:sp>
      <p:sp>
        <p:nvSpPr>
          <p:cNvPr id="6" name="Number 89"/>
          <p:cNvSpPr/>
          <p:nvPr/>
        </p:nvSpPr>
        <p:spPr>
          <a:xfrm>
            <a:off x="548640" y="1527048"/>
            <a:ext cx="548640" cy="548640"/>
          </a:xfrm>
          <a:prstGeom prst="ellipse">
            <a:avLst/>
          </a:prstGeom>
          <a:solidFill>
            <a:srgbClr val="1F3529"/>
          </a:solidFill>
          <a:ln/>
        </p:spPr>
        <p:txBody>
          <a:bodyPr wrap="square" lIns="0" tIns="0" rIns="0" bIns="0" rtlCol="0" anchor="ctr"/>
          <a:lstStyle/>
          <a:p>
            <a:pPr algn="ctr" indent="0" marL="0">
              <a:buNone/>
            </a:pPr>
            <a:r>
              <a:rPr lang="en-US" sz="2000" b="1" dirty="0">
                <a:solidFill>
                  <a:srgbClr val="93A87B"/>
                </a:solidFill>
              </a:rPr>
              <a:t>S</a:t>
            </a:r>
            <a:endParaRPr lang="en-US" sz="2000" dirty="0"/>
          </a:p>
        </p:txBody>
      </p:sp>
      <p:sp>
        <p:nvSpPr>
          <p:cNvPr id="7" name="Text 90"/>
          <p:cNvSpPr txBox="1"/>
          <p:nvPr/>
        </p:nvSpPr>
        <p:spPr>
          <a:xfrm>
            <a:off x="1325880" y="1371600"/>
            <a:ext cx="2377440" cy="850392"/>
          </a:xfrm>
          <a:prstGeom prst="rect">
            <a:avLst/>
          </a:prstGeom>
          <a:noFill/>
          <a:ln/>
        </p:spPr>
        <p:txBody>
          <a:bodyPr wrap="square" lIns="0" tIns="0" rIns="0" bIns="0" rtlCol="0" anchor="ctr"/>
          <a:lstStyle/>
          <a:p>
            <a:pPr indent="0" marL="0">
              <a:buNone/>
            </a:pPr>
            <a:r>
              <a:rPr lang="en-US" sz="1600" b="1" dirty="0">
                <a:solidFill>
                  <a:srgbClr val="20241F"/>
                </a:solidFill>
              </a:rPr>
              <a:t>Strategy</a:t>
            </a:r>
            <a:endParaRPr lang="en-US" sz="1600" dirty="0"/>
          </a:p>
        </p:txBody>
      </p:sp>
      <p:sp>
        <p:nvSpPr>
          <p:cNvPr id="8" name="Text 91"/>
          <p:cNvSpPr txBox="1"/>
          <p:nvPr/>
        </p:nvSpPr>
        <p:spPr>
          <a:xfrm>
            <a:off x="3749040" y="1371600"/>
            <a:ext cx="7863840" cy="850392"/>
          </a:xfrm>
          <a:prstGeom prst="rect">
            <a:avLst/>
          </a:prstGeom>
          <a:noFill/>
          <a:ln/>
        </p:spPr>
        <p:txBody>
          <a:bodyPr wrap="square" lIns="0" tIns="0" rIns="0" bIns="0" rtlCol="0" anchor="ctr"/>
          <a:lstStyle/>
          <a:p>
            <a:pPr indent="0" marL="0">
              <a:buNone/>
            </a:pPr>
            <a:r>
              <a:rPr lang="en-US" sz="1350" dirty="0">
                <a:solidFill>
                  <a:srgbClr val="56604E"/>
                </a:solidFill>
              </a:rPr>
              <a:t>OKRs, customer journey, ICP, TAM/SAM/SOM, pipeline council, QBRs.</a:t>
            </a:r>
            <a:endParaRPr lang="en-US" sz="1350" dirty="0"/>
          </a:p>
        </p:txBody>
      </p:sp>
      <p:sp>
        <p:nvSpPr>
          <p:cNvPr id="9" name="Process 92"/>
          <p:cNvSpPr/>
          <p:nvPr/>
        </p:nvSpPr>
        <p:spPr>
          <a:xfrm>
            <a:off x="365760" y="2350008"/>
            <a:ext cx="11457432" cy="850392"/>
          </a:xfrm>
          <a:prstGeom prst="roundRect">
            <a:avLst>
              <a:gd name="adj" fmla="val 12903"/>
            </a:avLst>
          </a:prstGeom>
          <a:solidFill>
            <a:srgbClr val="FFFFFF"/>
          </a:solidFill>
          <a:ln/>
          <a:effectLst>
            <a:outerShdw sx="100000" sy="100000" kx="0" ky="0" algn="bl" rotWithShape="0" blurRad="177800" dist="50800" dir="5400000">
              <a:srgbClr val="16261D">
                <a:alpha val="14000"/>
              </a:srgbClr>
            </a:outerShdw>
          </a:effectLst>
        </p:spPr>
      </p:sp>
      <p:sp>
        <p:nvSpPr>
          <p:cNvPr id="10" name="Number 93"/>
          <p:cNvSpPr/>
          <p:nvPr/>
        </p:nvSpPr>
        <p:spPr>
          <a:xfrm>
            <a:off x="548640" y="2505456"/>
            <a:ext cx="548640" cy="548640"/>
          </a:xfrm>
          <a:prstGeom prst="ellipse">
            <a:avLst/>
          </a:prstGeom>
          <a:solidFill>
            <a:srgbClr val="1F3529"/>
          </a:solidFill>
          <a:ln/>
        </p:spPr>
        <p:txBody>
          <a:bodyPr wrap="square" lIns="0" tIns="0" rIns="0" bIns="0" rtlCol="0" anchor="ctr"/>
          <a:lstStyle/>
          <a:p>
            <a:pPr algn="ctr" indent="0" marL="0">
              <a:buNone/>
            </a:pPr>
            <a:r>
              <a:rPr lang="en-US" sz="2000" b="1" dirty="0">
                <a:solidFill>
                  <a:srgbClr val="93A87B"/>
                </a:solidFill>
              </a:rPr>
              <a:t>P</a:t>
            </a:r>
            <a:endParaRPr lang="en-US" sz="2000" dirty="0"/>
          </a:p>
        </p:txBody>
      </p:sp>
      <p:sp>
        <p:nvSpPr>
          <p:cNvPr id="11" name="Text 94"/>
          <p:cNvSpPr txBox="1"/>
          <p:nvPr/>
        </p:nvSpPr>
        <p:spPr>
          <a:xfrm>
            <a:off x="1325880" y="2350008"/>
            <a:ext cx="2377440" cy="850392"/>
          </a:xfrm>
          <a:prstGeom prst="rect">
            <a:avLst/>
          </a:prstGeom>
          <a:noFill/>
          <a:ln/>
        </p:spPr>
        <p:txBody>
          <a:bodyPr wrap="square" lIns="0" tIns="0" rIns="0" bIns="0" rtlCol="0" anchor="ctr"/>
          <a:lstStyle/>
          <a:p>
            <a:pPr indent="0" marL="0">
              <a:buNone/>
            </a:pPr>
            <a:r>
              <a:rPr lang="en-US" sz="1600" b="1" dirty="0">
                <a:solidFill>
                  <a:srgbClr val="20241F"/>
                </a:solidFill>
              </a:rPr>
              <a:t>Process</a:t>
            </a:r>
            <a:endParaRPr lang="en-US" sz="1600" dirty="0"/>
          </a:p>
        </p:txBody>
      </p:sp>
      <p:sp>
        <p:nvSpPr>
          <p:cNvPr id="12" name="Text 95"/>
          <p:cNvSpPr txBox="1"/>
          <p:nvPr/>
        </p:nvSpPr>
        <p:spPr>
          <a:xfrm>
            <a:off x="3749040" y="2350008"/>
            <a:ext cx="7863840" cy="850392"/>
          </a:xfrm>
          <a:prstGeom prst="rect">
            <a:avLst/>
          </a:prstGeom>
          <a:noFill/>
          <a:ln/>
        </p:spPr>
        <p:txBody>
          <a:bodyPr wrap="square" lIns="0" tIns="0" rIns="0" bIns="0" rtlCol="0" anchor="ctr"/>
          <a:lstStyle/>
          <a:p>
            <a:pPr indent="0" marL="0">
              <a:buNone/>
            </a:pPr>
            <a:r>
              <a:rPr lang="en-US" sz="1350" dirty="0">
                <a:solidFill>
                  <a:srgbClr val="56604E"/>
                </a:solidFill>
              </a:rPr>
              <a:t>ILAER customer journey, lead and deal management, SLAs and SOPs, deal-stage entry and exit criteria, renewal and expansion plays, sales methodology and enablement.</a:t>
            </a:r>
            <a:endParaRPr lang="en-US" sz="1350" dirty="0"/>
          </a:p>
        </p:txBody>
      </p:sp>
      <p:sp>
        <p:nvSpPr>
          <p:cNvPr id="13" name="Organisation 96"/>
          <p:cNvSpPr/>
          <p:nvPr/>
        </p:nvSpPr>
        <p:spPr>
          <a:xfrm>
            <a:off x="365760" y="3328416"/>
            <a:ext cx="11457432" cy="850392"/>
          </a:xfrm>
          <a:prstGeom prst="roundRect">
            <a:avLst>
              <a:gd name="adj" fmla="val 12903"/>
            </a:avLst>
          </a:prstGeom>
          <a:solidFill>
            <a:srgbClr val="FFFFFF"/>
          </a:solidFill>
          <a:ln/>
          <a:effectLst>
            <a:outerShdw sx="100000" sy="100000" kx="0" ky="0" algn="bl" rotWithShape="0" blurRad="177800" dist="50800" dir="5400000">
              <a:srgbClr val="16261D">
                <a:alpha val="14000"/>
              </a:srgbClr>
            </a:outerShdw>
          </a:effectLst>
        </p:spPr>
      </p:sp>
      <p:sp>
        <p:nvSpPr>
          <p:cNvPr id="14" name="Number 97"/>
          <p:cNvSpPr/>
          <p:nvPr/>
        </p:nvSpPr>
        <p:spPr>
          <a:xfrm>
            <a:off x="548640" y="3483864"/>
            <a:ext cx="548640" cy="548640"/>
          </a:xfrm>
          <a:prstGeom prst="ellipse">
            <a:avLst/>
          </a:prstGeom>
          <a:solidFill>
            <a:srgbClr val="1F3529"/>
          </a:solidFill>
          <a:ln/>
        </p:spPr>
        <p:txBody>
          <a:bodyPr wrap="square" lIns="0" tIns="0" rIns="0" bIns="0" rtlCol="0" anchor="ctr"/>
          <a:lstStyle/>
          <a:p>
            <a:pPr algn="ctr" indent="0" marL="0">
              <a:buNone/>
            </a:pPr>
            <a:r>
              <a:rPr lang="en-US" sz="2000" b="1" dirty="0">
                <a:solidFill>
                  <a:srgbClr val="93A87B"/>
                </a:solidFill>
              </a:rPr>
              <a:t>O</a:t>
            </a:r>
            <a:endParaRPr lang="en-US" sz="2000" dirty="0"/>
          </a:p>
        </p:txBody>
      </p:sp>
      <p:sp>
        <p:nvSpPr>
          <p:cNvPr id="15" name="Text 98"/>
          <p:cNvSpPr txBox="1"/>
          <p:nvPr/>
        </p:nvSpPr>
        <p:spPr>
          <a:xfrm>
            <a:off x="1325880" y="3328416"/>
            <a:ext cx="2377440" cy="850392"/>
          </a:xfrm>
          <a:prstGeom prst="rect">
            <a:avLst/>
          </a:prstGeom>
          <a:noFill/>
          <a:ln/>
        </p:spPr>
        <p:txBody>
          <a:bodyPr wrap="square" lIns="0" tIns="0" rIns="0" bIns="0" rtlCol="0" anchor="ctr"/>
          <a:lstStyle/>
          <a:p>
            <a:pPr indent="0" marL="0">
              <a:buNone/>
            </a:pPr>
            <a:r>
              <a:rPr lang="en-US" sz="1600" b="1" dirty="0">
                <a:solidFill>
                  <a:srgbClr val="20241F"/>
                </a:solidFill>
              </a:rPr>
              <a:t>Organisation</a:t>
            </a:r>
            <a:endParaRPr lang="en-US" sz="1600" dirty="0"/>
          </a:p>
        </p:txBody>
      </p:sp>
      <p:sp>
        <p:nvSpPr>
          <p:cNvPr id="16" name="Text 99"/>
          <p:cNvSpPr txBox="1"/>
          <p:nvPr/>
        </p:nvSpPr>
        <p:spPr>
          <a:xfrm>
            <a:off x="3749040" y="3328416"/>
            <a:ext cx="7863840" cy="850392"/>
          </a:xfrm>
          <a:prstGeom prst="rect">
            <a:avLst/>
          </a:prstGeom>
          <a:noFill/>
          <a:ln/>
        </p:spPr>
        <p:txBody>
          <a:bodyPr wrap="square" lIns="0" tIns="0" rIns="0" bIns="0" rtlCol="0" anchor="ctr"/>
          <a:lstStyle/>
          <a:p>
            <a:pPr indent="0" marL="0">
              <a:buNone/>
            </a:pPr>
            <a:r>
              <a:rPr lang="en-US" sz="1350" dirty="0">
                <a:solidFill>
                  <a:srgbClr val="56604E"/>
                </a:solidFill>
              </a:rPr>
              <a:t>Team structure, RACI and clear ownership across sales, CS, marketing, finance and RevOps; centralised intake and backlog for projects and triage.</a:t>
            </a:r>
            <a:endParaRPr lang="en-US" sz="1350" dirty="0"/>
          </a:p>
        </p:txBody>
      </p:sp>
      <p:sp>
        <p:nvSpPr>
          <p:cNvPr id="17" name="Results and reporting 100"/>
          <p:cNvSpPr/>
          <p:nvPr/>
        </p:nvSpPr>
        <p:spPr>
          <a:xfrm>
            <a:off x="365760" y="4306824"/>
            <a:ext cx="11457432" cy="850392"/>
          </a:xfrm>
          <a:prstGeom prst="roundRect">
            <a:avLst>
              <a:gd name="adj" fmla="val 12903"/>
            </a:avLst>
          </a:prstGeom>
          <a:solidFill>
            <a:srgbClr val="FFFFFF"/>
          </a:solidFill>
          <a:ln/>
          <a:effectLst>
            <a:outerShdw sx="100000" sy="100000" kx="0" ky="0" algn="bl" rotWithShape="0" blurRad="177800" dist="50800" dir="5400000">
              <a:srgbClr val="16261D">
                <a:alpha val="14000"/>
              </a:srgbClr>
            </a:outerShdw>
          </a:effectLst>
        </p:spPr>
      </p:sp>
      <p:sp>
        <p:nvSpPr>
          <p:cNvPr id="18" name="Number 101"/>
          <p:cNvSpPr/>
          <p:nvPr/>
        </p:nvSpPr>
        <p:spPr>
          <a:xfrm>
            <a:off x="548640" y="4462272"/>
            <a:ext cx="548640" cy="548640"/>
          </a:xfrm>
          <a:prstGeom prst="ellipse">
            <a:avLst/>
          </a:prstGeom>
          <a:solidFill>
            <a:srgbClr val="1F3529"/>
          </a:solidFill>
          <a:ln/>
        </p:spPr>
        <p:txBody>
          <a:bodyPr wrap="square" lIns="0" tIns="0" rIns="0" bIns="0" rtlCol="0" anchor="ctr"/>
          <a:lstStyle/>
          <a:p>
            <a:pPr algn="ctr" indent="0" marL="0">
              <a:buNone/>
            </a:pPr>
            <a:r>
              <a:rPr lang="en-US" sz="2000" b="1" dirty="0">
                <a:solidFill>
                  <a:srgbClr val="93A87B"/>
                </a:solidFill>
              </a:rPr>
              <a:t>R</a:t>
            </a:r>
            <a:endParaRPr lang="en-US" sz="2000" dirty="0"/>
          </a:p>
        </p:txBody>
      </p:sp>
      <p:sp>
        <p:nvSpPr>
          <p:cNvPr id="19" name="Text 102"/>
          <p:cNvSpPr txBox="1"/>
          <p:nvPr/>
        </p:nvSpPr>
        <p:spPr>
          <a:xfrm>
            <a:off x="1325880" y="4306824"/>
            <a:ext cx="2377440" cy="850392"/>
          </a:xfrm>
          <a:prstGeom prst="rect">
            <a:avLst/>
          </a:prstGeom>
          <a:noFill/>
          <a:ln/>
        </p:spPr>
        <p:txBody>
          <a:bodyPr wrap="square" lIns="0" tIns="0" rIns="0" bIns="0" rtlCol="0" anchor="ctr"/>
          <a:lstStyle/>
          <a:p>
            <a:pPr indent="0" marL="0">
              <a:buNone/>
            </a:pPr>
            <a:r>
              <a:rPr lang="en-US" sz="1600" b="1" dirty="0">
                <a:solidFill>
                  <a:srgbClr val="20241F"/>
                </a:solidFill>
              </a:rPr>
              <a:t>Results and reporting</a:t>
            </a:r>
            <a:endParaRPr lang="en-US" sz="1600" dirty="0"/>
          </a:p>
        </p:txBody>
      </p:sp>
      <p:sp>
        <p:nvSpPr>
          <p:cNvPr id="20" name="Text 103"/>
          <p:cNvSpPr txBox="1"/>
          <p:nvPr/>
        </p:nvSpPr>
        <p:spPr>
          <a:xfrm>
            <a:off x="3749040" y="4306824"/>
            <a:ext cx="7863840" cy="850392"/>
          </a:xfrm>
          <a:prstGeom prst="rect">
            <a:avLst/>
          </a:prstGeom>
          <a:noFill/>
          <a:ln/>
        </p:spPr>
        <p:txBody>
          <a:bodyPr wrap="square" lIns="0" tIns="0" rIns="0" bIns="0" rtlCol="0" anchor="ctr"/>
          <a:lstStyle/>
          <a:p>
            <a:pPr indent="0" marL="0">
              <a:buNone/>
            </a:pPr>
            <a:r>
              <a:rPr lang="en-US" sz="1350" dirty="0">
                <a:solidFill>
                  <a:srgbClr val="56604E"/>
                </a:solidFill>
              </a:rPr>
              <a:t>Mission-critical reporting, data reviews and hygiene, leading and lagging indicators, analysis, roadmap prioritisation.</a:t>
            </a:r>
            <a:endParaRPr lang="en-US" sz="1350" dirty="0"/>
          </a:p>
        </p:txBody>
      </p:sp>
      <p:sp>
        <p:nvSpPr>
          <p:cNvPr id="21" name="Technology 104"/>
          <p:cNvSpPr/>
          <p:nvPr/>
        </p:nvSpPr>
        <p:spPr>
          <a:xfrm>
            <a:off x="365760" y="5285232"/>
            <a:ext cx="11457432" cy="850392"/>
          </a:xfrm>
          <a:prstGeom prst="roundRect">
            <a:avLst>
              <a:gd name="adj" fmla="val 12903"/>
            </a:avLst>
          </a:prstGeom>
          <a:solidFill>
            <a:srgbClr val="FFFFFF"/>
          </a:solidFill>
          <a:ln/>
          <a:effectLst>
            <a:outerShdw sx="100000" sy="100000" kx="0" ky="0" algn="bl" rotWithShape="0" blurRad="177800" dist="50800" dir="5400000">
              <a:srgbClr val="16261D">
                <a:alpha val="14000"/>
              </a:srgbClr>
            </a:outerShdw>
          </a:effectLst>
        </p:spPr>
      </p:sp>
      <p:sp>
        <p:nvSpPr>
          <p:cNvPr id="22" name="Number 105"/>
          <p:cNvSpPr/>
          <p:nvPr/>
        </p:nvSpPr>
        <p:spPr>
          <a:xfrm>
            <a:off x="548640" y="5440680"/>
            <a:ext cx="548640" cy="548640"/>
          </a:xfrm>
          <a:prstGeom prst="ellipse">
            <a:avLst/>
          </a:prstGeom>
          <a:solidFill>
            <a:srgbClr val="1F3529"/>
          </a:solidFill>
          <a:ln/>
        </p:spPr>
        <p:txBody>
          <a:bodyPr wrap="square" lIns="0" tIns="0" rIns="0" bIns="0" rtlCol="0" anchor="ctr"/>
          <a:lstStyle/>
          <a:p>
            <a:pPr algn="ctr" indent="0" marL="0">
              <a:buNone/>
            </a:pPr>
            <a:r>
              <a:rPr lang="en-US" sz="2000" b="1" dirty="0">
                <a:solidFill>
                  <a:srgbClr val="93A87B"/>
                </a:solidFill>
              </a:rPr>
              <a:t>T</a:t>
            </a:r>
            <a:endParaRPr lang="en-US" sz="2000" dirty="0"/>
          </a:p>
        </p:txBody>
      </p:sp>
      <p:sp>
        <p:nvSpPr>
          <p:cNvPr id="23" name="Text 106"/>
          <p:cNvSpPr txBox="1"/>
          <p:nvPr/>
        </p:nvSpPr>
        <p:spPr>
          <a:xfrm>
            <a:off x="1325880" y="5285232"/>
            <a:ext cx="2377440" cy="850392"/>
          </a:xfrm>
          <a:prstGeom prst="rect">
            <a:avLst/>
          </a:prstGeom>
          <a:noFill/>
          <a:ln/>
        </p:spPr>
        <p:txBody>
          <a:bodyPr wrap="square" lIns="0" tIns="0" rIns="0" bIns="0" rtlCol="0" anchor="ctr"/>
          <a:lstStyle/>
          <a:p>
            <a:pPr indent="0" marL="0">
              <a:buNone/>
            </a:pPr>
            <a:r>
              <a:rPr lang="en-US" sz="1600" b="1" dirty="0">
                <a:solidFill>
                  <a:srgbClr val="20241F"/>
                </a:solidFill>
              </a:rPr>
              <a:t>Technology</a:t>
            </a:r>
            <a:endParaRPr lang="en-US" sz="1600" dirty="0"/>
          </a:p>
        </p:txBody>
      </p:sp>
      <p:sp>
        <p:nvSpPr>
          <p:cNvPr id="24" name="Text 107"/>
          <p:cNvSpPr txBox="1"/>
          <p:nvPr/>
        </p:nvSpPr>
        <p:spPr>
          <a:xfrm>
            <a:off x="3749040" y="5285232"/>
            <a:ext cx="7863840" cy="850392"/>
          </a:xfrm>
          <a:prstGeom prst="rect">
            <a:avLst/>
          </a:prstGeom>
          <a:noFill/>
          <a:ln/>
        </p:spPr>
        <p:txBody>
          <a:bodyPr wrap="square" lIns="0" tIns="0" rIns="0" bIns="0" rtlCol="0" anchor="ctr"/>
          <a:lstStyle/>
          <a:p>
            <a:pPr indent="0" marL="0">
              <a:buNone/>
            </a:pPr>
            <a:r>
              <a:rPr lang="en-US" sz="1350" dirty="0">
                <a:solidFill>
                  <a:srgbClr val="56604E"/>
                </a:solidFill>
              </a:rPr>
              <a:t>CRM (HubSpot or Salesforce), ERP, conversation intelligence, data model, integrations, governance.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PRIORITISATION WHERE YOU NEED IT, WHEN YOU NEED IT</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SPORT in practice</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Strategy 108"/>
          <p:cNvSpPr/>
          <p:nvPr/>
        </p:nvSpPr>
        <p:spPr>
          <a:xfrm>
            <a:off x="365760" y="137160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6" name="Number 109"/>
          <p:cNvSpPr/>
          <p:nvPr/>
        </p:nvSpPr>
        <p:spPr>
          <a:xfrm>
            <a:off x="594360" y="1572768"/>
            <a:ext cx="457200" cy="457200"/>
          </a:xfrm>
          <a:prstGeom prst="ellipse">
            <a:avLst/>
          </a:prstGeom>
          <a:solidFill>
            <a:srgbClr val="1F3529"/>
          </a:solidFill>
          <a:ln/>
        </p:spPr>
        <p:txBody>
          <a:bodyPr wrap="square" lIns="0" tIns="0" rIns="0" bIns="0" rtlCol="0" anchor="ctr"/>
          <a:lstStyle/>
          <a:p>
            <a:pPr algn="ctr" indent="0" marL="0">
              <a:buNone/>
            </a:pPr>
            <a:r>
              <a:rPr lang="en-US" sz="1600" b="1" dirty="0">
                <a:solidFill>
                  <a:srgbClr val="93A87B"/>
                </a:solidFill>
              </a:rPr>
              <a:t>S</a:t>
            </a:r>
            <a:endParaRPr lang="en-US" sz="1600" dirty="0"/>
          </a:p>
        </p:txBody>
      </p:sp>
      <p:sp>
        <p:nvSpPr>
          <p:cNvPr id="7" name="Text 110"/>
          <p:cNvSpPr txBox="1"/>
          <p:nvPr/>
        </p:nvSpPr>
        <p:spPr>
          <a:xfrm>
            <a:off x="1188720" y="1572768"/>
            <a:ext cx="2660904" cy="457200"/>
          </a:xfrm>
          <a:prstGeom prst="rect">
            <a:avLst/>
          </a:prstGeom>
          <a:noFill/>
          <a:ln/>
        </p:spPr>
        <p:txBody>
          <a:bodyPr wrap="square" lIns="0" tIns="0" rIns="0" bIns="0" rtlCol="0" anchor="ctr"/>
          <a:lstStyle/>
          <a:p>
            <a:pPr indent="0" marL="0">
              <a:buNone/>
            </a:pPr>
            <a:r>
              <a:rPr lang="en-US" sz="1600" b="1" dirty="0">
                <a:solidFill>
                  <a:srgbClr val="20241F"/>
                </a:solidFill>
              </a:rPr>
              <a:t>Strategy</a:t>
            </a:r>
            <a:endParaRPr lang="en-US" sz="1600" dirty="0"/>
          </a:p>
        </p:txBody>
      </p:sp>
      <p:sp>
        <p:nvSpPr>
          <p:cNvPr id="8" name="Text 111"/>
          <p:cNvSpPr txBox="1"/>
          <p:nvPr/>
        </p:nvSpPr>
        <p:spPr>
          <a:xfrm>
            <a:off x="594360" y="2103120"/>
            <a:ext cx="3209544" cy="411480"/>
          </a:xfrm>
          <a:prstGeom prst="rect">
            <a:avLst/>
          </a:prstGeom>
          <a:noFill/>
          <a:ln/>
        </p:spPr>
        <p:txBody>
          <a:bodyPr wrap="square" lIns="0" tIns="0" rIns="0" bIns="0" rtlCol="0" anchor="t"/>
          <a:lstStyle/>
          <a:p>
            <a:pPr indent="0" marL="0">
              <a:buNone/>
            </a:pPr>
            <a:r>
              <a:rPr lang="en-US" sz="1100" i="1" dirty="0">
                <a:solidFill>
                  <a:srgbClr val="56604E"/>
                </a:solidFill>
              </a:rPr>
              <a:t>Develop a unified GTM and customer journey strategy</a:t>
            </a:r>
            <a:endParaRPr lang="en-US" sz="1100" dirty="0"/>
          </a:p>
        </p:txBody>
      </p:sp>
      <p:sp>
        <p:nvSpPr>
          <p:cNvPr id="9" name="Text 112"/>
          <p:cNvSpPr txBox="1"/>
          <p:nvPr/>
        </p:nvSpPr>
        <p:spPr>
          <a:xfrm>
            <a:off x="594360" y="256032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20241F"/>
                </a:solidFill>
              </a:rPr>
              <a:t>ICP refinement and segmentation (TAM/SAM/SOM)</a:t>
            </a:r>
            <a:endParaRPr lang="en-US" sz="1100" dirty="0"/>
          </a:p>
          <a:p>
            <a:pPr marL="139700" indent="-139700">
              <a:spcAft>
                <a:spcPts val="300"/>
              </a:spcAft>
              <a:buSzPct val="100000"/>
              <a:buChar char="•"/>
            </a:pPr>
            <a:r>
              <a:rPr lang="en-US" sz="1100" dirty="0">
                <a:solidFill>
                  <a:srgbClr val="20241F"/>
                </a:solidFill>
              </a:rPr>
              <a:t>Bowtie funnel, top of funnel and customer success prioritisation</a:t>
            </a:r>
            <a:endParaRPr lang="en-US" sz="1100" dirty="0"/>
          </a:p>
          <a:p>
            <a:pPr marL="139700" indent="-139700">
              <a:spcAft>
                <a:spcPts val="300"/>
              </a:spcAft>
              <a:buSzPct val="100000"/>
              <a:buChar char="•"/>
            </a:pPr>
            <a:r>
              <a:rPr lang="en-US" sz="1100" dirty="0">
                <a:solidFill>
                  <a:srgbClr val="20241F"/>
                </a:solidFill>
              </a:rPr>
              <a:t>GTM masterplan aligned to OKRs and revenue targets</a:t>
            </a:r>
            <a:endParaRPr lang="en-US" sz="1100" dirty="0"/>
          </a:p>
        </p:txBody>
      </p:sp>
      <p:sp>
        <p:nvSpPr>
          <p:cNvPr id="10" name="Process 113"/>
          <p:cNvSpPr/>
          <p:nvPr/>
        </p:nvSpPr>
        <p:spPr>
          <a:xfrm>
            <a:off x="4261104" y="137160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11" name="Number 114"/>
          <p:cNvSpPr/>
          <p:nvPr/>
        </p:nvSpPr>
        <p:spPr>
          <a:xfrm>
            <a:off x="4489704" y="1572768"/>
            <a:ext cx="457200" cy="457200"/>
          </a:xfrm>
          <a:prstGeom prst="ellipse">
            <a:avLst/>
          </a:prstGeom>
          <a:solidFill>
            <a:srgbClr val="1F3529"/>
          </a:solidFill>
          <a:ln/>
        </p:spPr>
        <p:txBody>
          <a:bodyPr wrap="square" lIns="0" tIns="0" rIns="0" bIns="0" rtlCol="0" anchor="ctr"/>
          <a:lstStyle/>
          <a:p>
            <a:pPr algn="ctr" indent="0" marL="0">
              <a:buNone/>
            </a:pPr>
            <a:r>
              <a:rPr lang="en-US" sz="1600" b="1" dirty="0">
                <a:solidFill>
                  <a:srgbClr val="93A87B"/>
                </a:solidFill>
              </a:rPr>
              <a:t>P</a:t>
            </a:r>
            <a:endParaRPr lang="en-US" sz="1600" dirty="0"/>
          </a:p>
        </p:txBody>
      </p:sp>
      <p:sp>
        <p:nvSpPr>
          <p:cNvPr id="12" name="Text 115"/>
          <p:cNvSpPr txBox="1"/>
          <p:nvPr/>
        </p:nvSpPr>
        <p:spPr>
          <a:xfrm>
            <a:off x="5084064" y="1572768"/>
            <a:ext cx="2660904" cy="457200"/>
          </a:xfrm>
          <a:prstGeom prst="rect">
            <a:avLst/>
          </a:prstGeom>
          <a:noFill/>
          <a:ln/>
        </p:spPr>
        <p:txBody>
          <a:bodyPr wrap="square" lIns="0" tIns="0" rIns="0" bIns="0" rtlCol="0" anchor="ctr"/>
          <a:lstStyle/>
          <a:p>
            <a:pPr indent="0" marL="0">
              <a:buNone/>
            </a:pPr>
            <a:r>
              <a:rPr lang="en-US" sz="1600" b="1" dirty="0">
                <a:solidFill>
                  <a:srgbClr val="20241F"/>
                </a:solidFill>
              </a:rPr>
              <a:t>Process</a:t>
            </a:r>
            <a:endParaRPr lang="en-US" sz="1600" dirty="0"/>
          </a:p>
        </p:txBody>
      </p:sp>
      <p:sp>
        <p:nvSpPr>
          <p:cNvPr id="13" name="Text 116"/>
          <p:cNvSpPr txBox="1"/>
          <p:nvPr/>
        </p:nvSpPr>
        <p:spPr>
          <a:xfrm>
            <a:off x="4489704" y="2103120"/>
            <a:ext cx="3209544" cy="411480"/>
          </a:xfrm>
          <a:prstGeom prst="rect">
            <a:avLst/>
          </a:prstGeom>
          <a:noFill/>
          <a:ln/>
        </p:spPr>
        <p:txBody>
          <a:bodyPr wrap="square" lIns="0" tIns="0" rIns="0" bIns="0" rtlCol="0" anchor="t"/>
          <a:lstStyle/>
          <a:p>
            <a:pPr indent="0" marL="0">
              <a:buNone/>
            </a:pPr>
            <a:r>
              <a:rPr lang="en-US" sz="1100" i="1" dirty="0">
                <a:solidFill>
                  <a:srgbClr val="56604E"/>
                </a:solidFill>
              </a:rPr>
              <a:t>Design and optimise processes across the funnel</a:t>
            </a:r>
            <a:endParaRPr lang="en-US" sz="1100" dirty="0"/>
          </a:p>
        </p:txBody>
      </p:sp>
      <p:sp>
        <p:nvSpPr>
          <p:cNvPr id="14" name="Text 117"/>
          <p:cNvSpPr txBox="1"/>
          <p:nvPr/>
        </p:nvSpPr>
        <p:spPr>
          <a:xfrm>
            <a:off x="4489704" y="256032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20241F"/>
                </a:solidFill>
              </a:rPr>
              <a:t>Sales: SPICED qualification, pipeline stages, outbound plays</a:t>
            </a:r>
            <a:endParaRPr lang="en-US" sz="1100" dirty="0"/>
          </a:p>
          <a:p>
            <a:pPr marL="139700" indent="-139700">
              <a:spcAft>
                <a:spcPts val="300"/>
              </a:spcAft>
              <a:buSzPct val="100000"/>
              <a:buChar char="•"/>
            </a:pPr>
            <a:r>
              <a:rPr lang="en-US" sz="1100" dirty="0">
                <a:solidFill>
                  <a:srgbClr val="20241F"/>
                </a:solidFill>
              </a:rPr>
              <a:t>Marketing: full-funnel campaign workflows and attribution</a:t>
            </a:r>
            <a:endParaRPr lang="en-US" sz="1100" dirty="0"/>
          </a:p>
          <a:p>
            <a:pPr marL="139700" indent="-139700">
              <a:spcAft>
                <a:spcPts val="300"/>
              </a:spcAft>
              <a:buSzPct val="100000"/>
              <a:buChar char="•"/>
            </a:pPr>
            <a:r>
              <a:rPr lang="en-US" sz="1100" dirty="0">
                <a:solidFill>
                  <a:srgbClr val="20241F"/>
                </a:solidFill>
              </a:rPr>
              <a:t>CS: health scoring, renewals and expansion playbooks</a:t>
            </a:r>
            <a:endParaRPr lang="en-US" sz="1100" dirty="0"/>
          </a:p>
        </p:txBody>
      </p:sp>
      <p:sp>
        <p:nvSpPr>
          <p:cNvPr id="15" name="Organisation 118"/>
          <p:cNvSpPr/>
          <p:nvPr/>
        </p:nvSpPr>
        <p:spPr>
          <a:xfrm>
            <a:off x="8156448" y="137160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16" name="Number 119"/>
          <p:cNvSpPr/>
          <p:nvPr/>
        </p:nvSpPr>
        <p:spPr>
          <a:xfrm>
            <a:off x="8385048" y="1572768"/>
            <a:ext cx="457200" cy="457200"/>
          </a:xfrm>
          <a:prstGeom prst="ellipse">
            <a:avLst/>
          </a:prstGeom>
          <a:solidFill>
            <a:srgbClr val="1F3529"/>
          </a:solidFill>
          <a:ln/>
        </p:spPr>
        <p:txBody>
          <a:bodyPr wrap="square" lIns="0" tIns="0" rIns="0" bIns="0" rtlCol="0" anchor="ctr"/>
          <a:lstStyle/>
          <a:p>
            <a:pPr algn="ctr" indent="0" marL="0">
              <a:buNone/>
            </a:pPr>
            <a:r>
              <a:rPr lang="en-US" sz="1600" b="1" dirty="0">
                <a:solidFill>
                  <a:srgbClr val="93A87B"/>
                </a:solidFill>
              </a:rPr>
              <a:t>O</a:t>
            </a:r>
            <a:endParaRPr lang="en-US" sz="1600" dirty="0"/>
          </a:p>
        </p:txBody>
      </p:sp>
      <p:sp>
        <p:nvSpPr>
          <p:cNvPr id="17" name="Text 120"/>
          <p:cNvSpPr txBox="1"/>
          <p:nvPr/>
        </p:nvSpPr>
        <p:spPr>
          <a:xfrm>
            <a:off x="8979408" y="1572768"/>
            <a:ext cx="2660904" cy="457200"/>
          </a:xfrm>
          <a:prstGeom prst="rect">
            <a:avLst/>
          </a:prstGeom>
          <a:noFill/>
          <a:ln/>
        </p:spPr>
        <p:txBody>
          <a:bodyPr wrap="square" lIns="0" tIns="0" rIns="0" bIns="0" rtlCol="0" anchor="ctr"/>
          <a:lstStyle/>
          <a:p>
            <a:pPr indent="0" marL="0">
              <a:buNone/>
            </a:pPr>
            <a:r>
              <a:rPr lang="en-US" sz="1600" b="1" dirty="0">
                <a:solidFill>
                  <a:srgbClr val="20241F"/>
                </a:solidFill>
              </a:rPr>
              <a:t>Organisation</a:t>
            </a:r>
            <a:endParaRPr lang="en-US" sz="1600" dirty="0"/>
          </a:p>
        </p:txBody>
      </p:sp>
      <p:sp>
        <p:nvSpPr>
          <p:cNvPr id="18" name="Text 121"/>
          <p:cNvSpPr txBox="1"/>
          <p:nvPr/>
        </p:nvSpPr>
        <p:spPr>
          <a:xfrm>
            <a:off x="8385048" y="2103120"/>
            <a:ext cx="3209544" cy="411480"/>
          </a:xfrm>
          <a:prstGeom prst="rect">
            <a:avLst/>
          </a:prstGeom>
          <a:noFill/>
          <a:ln/>
        </p:spPr>
        <p:txBody>
          <a:bodyPr wrap="square" lIns="0" tIns="0" rIns="0" bIns="0" rtlCol="0" anchor="t"/>
          <a:lstStyle/>
          <a:p>
            <a:pPr indent="0" marL="0">
              <a:buNone/>
            </a:pPr>
            <a:r>
              <a:rPr lang="en-US" sz="1100" i="1" dirty="0">
                <a:solidFill>
                  <a:srgbClr val="56604E"/>
                </a:solidFill>
              </a:rPr>
              <a:t>Align GTM teams and roles for scale</a:t>
            </a:r>
            <a:endParaRPr lang="en-US" sz="1100" dirty="0"/>
          </a:p>
        </p:txBody>
      </p:sp>
      <p:sp>
        <p:nvSpPr>
          <p:cNvPr id="19" name="Text 122"/>
          <p:cNvSpPr txBox="1"/>
          <p:nvPr/>
        </p:nvSpPr>
        <p:spPr>
          <a:xfrm>
            <a:off x="8385048" y="256032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20241F"/>
                </a:solidFill>
              </a:rPr>
              <a:t>Define swimlanes, cadences and cross-functional collaboration</a:t>
            </a:r>
            <a:endParaRPr lang="en-US" sz="1100" dirty="0"/>
          </a:p>
          <a:p>
            <a:pPr marL="139700" indent="-139700">
              <a:spcAft>
                <a:spcPts val="300"/>
              </a:spcAft>
              <a:buSzPct val="100000"/>
              <a:buChar char="•"/>
            </a:pPr>
            <a:r>
              <a:rPr lang="en-US" sz="1100" dirty="0">
                <a:solidFill>
                  <a:srgbClr val="20241F"/>
                </a:solidFill>
              </a:rPr>
              <a:t>Launch GTM engineering to connect strategy with execution</a:t>
            </a:r>
            <a:endParaRPr lang="en-US" sz="1100" dirty="0"/>
          </a:p>
          <a:p>
            <a:pPr marL="139700" indent="-139700">
              <a:spcAft>
                <a:spcPts val="300"/>
              </a:spcAft>
              <a:buSzPct val="100000"/>
              <a:buChar char="•"/>
            </a:pPr>
            <a:r>
              <a:rPr lang="en-US" sz="1100" dirty="0">
                <a:solidFill>
                  <a:srgbClr val="20241F"/>
                </a:solidFill>
              </a:rPr>
              <a:t>Build CS and SDR operating models integrated with AEs</a:t>
            </a:r>
            <a:endParaRPr lang="en-US" sz="1100" dirty="0"/>
          </a:p>
        </p:txBody>
      </p:sp>
      <p:sp>
        <p:nvSpPr>
          <p:cNvPr id="20" name="Reporting 123"/>
          <p:cNvSpPr/>
          <p:nvPr/>
        </p:nvSpPr>
        <p:spPr>
          <a:xfrm>
            <a:off x="365760" y="384048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21" name="Number 124"/>
          <p:cNvSpPr/>
          <p:nvPr/>
        </p:nvSpPr>
        <p:spPr>
          <a:xfrm>
            <a:off x="594360" y="4041648"/>
            <a:ext cx="457200" cy="457200"/>
          </a:xfrm>
          <a:prstGeom prst="ellipse">
            <a:avLst/>
          </a:prstGeom>
          <a:solidFill>
            <a:srgbClr val="1F3529"/>
          </a:solidFill>
          <a:ln/>
        </p:spPr>
        <p:txBody>
          <a:bodyPr wrap="square" lIns="0" tIns="0" rIns="0" bIns="0" rtlCol="0" anchor="ctr"/>
          <a:lstStyle/>
          <a:p>
            <a:pPr algn="ctr" indent="0" marL="0">
              <a:buNone/>
            </a:pPr>
            <a:r>
              <a:rPr lang="en-US" sz="1600" b="1" dirty="0">
                <a:solidFill>
                  <a:srgbClr val="93A87B"/>
                </a:solidFill>
              </a:rPr>
              <a:t>R</a:t>
            </a:r>
            <a:endParaRPr lang="en-US" sz="1600" dirty="0"/>
          </a:p>
        </p:txBody>
      </p:sp>
      <p:sp>
        <p:nvSpPr>
          <p:cNvPr id="22" name="Text 125"/>
          <p:cNvSpPr txBox="1"/>
          <p:nvPr/>
        </p:nvSpPr>
        <p:spPr>
          <a:xfrm>
            <a:off x="1188720" y="4041648"/>
            <a:ext cx="2660904" cy="457200"/>
          </a:xfrm>
          <a:prstGeom prst="rect">
            <a:avLst/>
          </a:prstGeom>
          <a:noFill/>
          <a:ln/>
        </p:spPr>
        <p:txBody>
          <a:bodyPr wrap="square" lIns="0" tIns="0" rIns="0" bIns="0" rtlCol="0" anchor="ctr"/>
          <a:lstStyle/>
          <a:p>
            <a:pPr indent="0" marL="0">
              <a:buNone/>
            </a:pPr>
            <a:r>
              <a:rPr lang="en-US" sz="1600" b="1" dirty="0">
                <a:solidFill>
                  <a:srgbClr val="20241F"/>
                </a:solidFill>
              </a:rPr>
              <a:t>Reporting</a:t>
            </a:r>
            <a:endParaRPr lang="en-US" sz="1600" dirty="0"/>
          </a:p>
        </p:txBody>
      </p:sp>
      <p:sp>
        <p:nvSpPr>
          <p:cNvPr id="23" name="Text 126"/>
          <p:cNvSpPr txBox="1"/>
          <p:nvPr/>
        </p:nvSpPr>
        <p:spPr>
          <a:xfrm>
            <a:off x="594360" y="4572000"/>
            <a:ext cx="3209544" cy="411480"/>
          </a:xfrm>
          <a:prstGeom prst="rect">
            <a:avLst/>
          </a:prstGeom>
          <a:noFill/>
          <a:ln/>
        </p:spPr>
        <p:txBody>
          <a:bodyPr wrap="square" lIns="0" tIns="0" rIns="0" bIns="0" rtlCol="0" anchor="t"/>
          <a:lstStyle/>
          <a:p>
            <a:pPr indent="0" marL="0">
              <a:buNone/>
            </a:pPr>
            <a:r>
              <a:rPr lang="en-US" sz="1100" i="1" dirty="0">
                <a:solidFill>
                  <a:srgbClr val="56604E"/>
                </a:solidFill>
              </a:rPr>
              <a:t>Install revenue intelligence for visibility and coaching</a:t>
            </a:r>
            <a:endParaRPr lang="en-US" sz="1100" dirty="0"/>
          </a:p>
        </p:txBody>
      </p:sp>
      <p:sp>
        <p:nvSpPr>
          <p:cNvPr id="24" name="Text 127"/>
          <p:cNvSpPr txBox="1"/>
          <p:nvPr/>
        </p:nvSpPr>
        <p:spPr>
          <a:xfrm>
            <a:off x="594360" y="502920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20241F"/>
                </a:solidFill>
              </a:rPr>
              <a:t>Executive scorecards, cohort analysis and KPI dashboards</a:t>
            </a:r>
            <a:endParaRPr lang="en-US" sz="1100" dirty="0"/>
          </a:p>
          <a:p>
            <a:pPr marL="139700" indent="-139700">
              <a:spcAft>
                <a:spcPts val="300"/>
              </a:spcAft>
              <a:buSzPct val="100000"/>
              <a:buChar char="•"/>
            </a:pPr>
            <a:r>
              <a:rPr lang="en-US" sz="1100" dirty="0">
                <a:solidFill>
                  <a:srgbClr val="20241F"/>
                </a:solidFill>
              </a:rPr>
              <a:t>RevOps maturity matrix and benchmark tracking</a:t>
            </a:r>
            <a:endParaRPr lang="en-US" sz="1100" dirty="0"/>
          </a:p>
          <a:p>
            <a:pPr marL="139700" indent="-139700">
              <a:spcAft>
                <a:spcPts val="300"/>
              </a:spcAft>
              <a:buSzPct val="100000"/>
              <a:buChar char="•"/>
            </a:pPr>
            <a:r>
              <a:rPr lang="en-US" sz="1100" dirty="0">
                <a:solidFill>
                  <a:srgbClr val="20241F"/>
                </a:solidFill>
              </a:rPr>
              <a:t>Real-time telemetry from Salesforce, HubSpot and Gong</a:t>
            </a:r>
            <a:endParaRPr lang="en-US" sz="1100" dirty="0"/>
          </a:p>
        </p:txBody>
      </p:sp>
      <p:sp>
        <p:nvSpPr>
          <p:cNvPr id="25" name="Technology 128"/>
          <p:cNvSpPr/>
          <p:nvPr/>
        </p:nvSpPr>
        <p:spPr>
          <a:xfrm>
            <a:off x="4261104" y="384048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26" name="Number 129"/>
          <p:cNvSpPr/>
          <p:nvPr/>
        </p:nvSpPr>
        <p:spPr>
          <a:xfrm>
            <a:off x="4489704" y="4041648"/>
            <a:ext cx="457200" cy="457200"/>
          </a:xfrm>
          <a:prstGeom prst="ellipse">
            <a:avLst/>
          </a:prstGeom>
          <a:solidFill>
            <a:srgbClr val="1F3529"/>
          </a:solidFill>
          <a:ln/>
        </p:spPr>
        <p:txBody>
          <a:bodyPr wrap="square" lIns="0" tIns="0" rIns="0" bIns="0" rtlCol="0" anchor="ctr"/>
          <a:lstStyle/>
          <a:p>
            <a:pPr algn="ctr" indent="0" marL="0">
              <a:buNone/>
            </a:pPr>
            <a:r>
              <a:rPr lang="en-US" sz="1600" b="1" dirty="0">
                <a:solidFill>
                  <a:srgbClr val="93A87B"/>
                </a:solidFill>
              </a:rPr>
              <a:t>T</a:t>
            </a:r>
            <a:endParaRPr lang="en-US" sz="1600" dirty="0"/>
          </a:p>
        </p:txBody>
      </p:sp>
      <p:sp>
        <p:nvSpPr>
          <p:cNvPr id="27" name="Text 130"/>
          <p:cNvSpPr txBox="1"/>
          <p:nvPr/>
        </p:nvSpPr>
        <p:spPr>
          <a:xfrm>
            <a:off x="5084064" y="4041648"/>
            <a:ext cx="2660904" cy="457200"/>
          </a:xfrm>
          <a:prstGeom prst="rect">
            <a:avLst/>
          </a:prstGeom>
          <a:noFill/>
          <a:ln/>
        </p:spPr>
        <p:txBody>
          <a:bodyPr wrap="square" lIns="0" tIns="0" rIns="0" bIns="0" rtlCol="0" anchor="ctr"/>
          <a:lstStyle/>
          <a:p>
            <a:pPr indent="0" marL="0">
              <a:buNone/>
            </a:pPr>
            <a:r>
              <a:rPr lang="en-US" sz="1600" b="1" dirty="0">
                <a:solidFill>
                  <a:srgbClr val="20241F"/>
                </a:solidFill>
              </a:rPr>
              <a:t>Technology</a:t>
            </a:r>
            <a:endParaRPr lang="en-US" sz="1600" dirty="0"/>
          </a:p>
        </p:txBody>
      </p:sp>
      <p:sp>
        <p:nvSpPr>
          <p:cNvPr id="28" name="Text 131"/>
          <p:cNvSpPr txBox="1"/>
          <p:nvPr/>
        </p:nvSpPr>
        <p:spPr>
          <a:xfrm>
            <a:off x="4489704" y="4572000"/>
            <a:ext cx="3209544" cy="411480"/>
          </a:xfrm>
          <a:prstGeom prst="rect">
            <a:avLst/>
          </a:prstGeom>
          <a:noFill/>
          <a:ln/>
        </p:spPr>
        <p:txBody>
          <a:bodyPr wrap="square" lIns="0" tIns="0" rIns="0" bIns="0" rtlCol="0" anchor="t"/>
          <a:lstStyle/>
          <a:p>
            <a:pPr indent="0" marL="0">
              <a:buNone/>
            </a:pPr>
            <a:r>
              <a:rPr lang="en-US" sz="1100" i="1" dirty="0">
                <a:solidFill>
                  <a:srgbClr val="56604E"/>
                </a:solidFill>
              </a:rPr>
              <a:t>Architect and integrate a scalable RevTech stack</a:t>
            </a:r>
            <a:endParaRPr lang="en-US" sz="1100" dirty="0"/>
          </a:p>
        </p:txBody>
      </p:sp>
      <p:sp>
        <p:nvSpPr>
          <p:cNvPr id="29" name="Text 132"/>
          <p:cNvSpPr txBox="1"/>
          <p:nvPr/>
        </p:nvSpPr>
        <p:spPr>
          <a:xfrm>
            <a:off x="4489704" y="502920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20241F"/>
                </a:solidFill>
              </a:rPr>
              <a:t>Audit and optimise Salesforce, HubSpot, Gong and Clay</a:t>
            </a:r>
            <a:endParaRPr lang="en-US" sz="1100" dirty="0"/>
          </a:p>
          <a:p>
            <a:pPr marL="139700" indent="-139700">
              <a:spcAft>
                <a:spcPts val="300"/>
              </a:spcAft>
              <a:buSzPct val="100000"/>
              <a:buChar char="•"/>
            </a:pPr>
            <a:r>
              <a:rPr lang="en-US" sz="1100" dirty="0">
                <a:solidFill>
                  <a:srgbClr val="20241F"/>
                </a:solidFill>
              </a:rPr>
              <a:t>Design automation flows and lead-routing logic</a:t>
            </a:r>
            <a:endParaRPr lang="en-US" sz="1100" dirty="0"/>
          </a:p>
          <a:p>
            <a:pPr marL="139700" indent="-139700">
              <a:spcAft>
                <a:spcPts val="300"/>
              </a:spcAft>
              <a:buSzPct val="100000"/>
              <a:buChar char="•"/>
            </a:pPr>
            <a:r>
              <a:rPr lang="en-US" sz="1100" dirty="0">
                <a:solidFill>
                  <a:srgbClr val="20241F"/>
                </a:solidFill>
              </a:rPr>
              <a:t>One source of truth for pipeline and lifecycle data</a:t>
            </a:r>
            <a:endParaRPr lang="en-US" sz="1100" dirty="0"/>
          </a:p>
        </p:txBody>
      </p:sp>
      <p:sp>
        <p:nvSpPr>
          <p:cNvPr id="30" name="Programme management 133"/>
          <p:cNvSpPr/>
          <p:nvPr/>
        </p:nvSpPr>
        <p:spPr>
          <a:xfrm>
            <a:off x="8156448" y="3840480"/>
            <a:ext cx="3666744" cy="2286000"/>
          </a:xfrm>
          <a:prstGeom prst="roundRect">
            <a:avLst>
              <a:gd name="adj" fmla="val 4800"/>
            </a:avLst>
          </a:prstGeom>
          <a:solidFill>
            <a:srgbClr val="16261D"/>
          </a:solidFill>
          <a:ln/>
          <a:effectLst>
            <a:outerShdw sx="100000" sy="100000" kx="0" ky="0" algn="bl" rotWithShape="0" blurRad="177800" dist="50800" dir="5400000">
              <a:srgbClr val="16261D">
                <a:alpha val="14000"/>
              </a:srgbClr>
            </a:outerShdw>
          </a:effectLst>
        </p:spPr>
      </p:sp>
      <p:sp>
        <p:nvSpPr>
          <p:cNvPr id="31" name="Number 134"/>
          <p:cNvSpPr/>
          <p:nvPr/>
        </p:nvSpPr>
        <p:spPr>
          <a:xfrm>
            <a:off x="8385048" y="4041648"/>
            <a:ext cx="457200" cy="457200"/>
          </a:xfrm>
          <a:prstGeom prst="ellipse">
            <a:avLst/>
          </a:prstGeom>
          <a:solidFill>
            <a:srgbClr val="93A87B"/>
          </a:solidFill>
          <a:ln/>
        </p:spPr>
        <p:txBody>
          <a:bodyPr wrap="square" lIns="0" tIns="0" rIns="0" bIns="0" rtlCol="0" anchor="ctr"/>
          <a:lstStyle/>
          <a:p>
            <a:pPr algn="ctr" indent="0" marL="0">
              <a:buNone/>
            </a:pPr>
            <a:r>
              <a:rPr lang="en-US" sz="1600" b="1" dirty="0">
                <a:solidFill>
                  <a:srgbClr val="16261D"/>
                </a:solidFill>
              </a:rPr>
              <a:t>+</a:t>
            </a:r>
            <a:endParaRPr lang="en-US" sz="1600" dirty="0"/>
          </a:p>
        </p:txBody>
      </p:sp>
      <p:sp>
        <p:nvSpPr>
          <p:cNvPr id="32" name="Text 135"/>
          <p:cNvSpPr txBox="1"/>
          <p:nvPr/>
        </p:nvSpPr>
        <p:spPr>
          <a:xfrm>
            <a:off x="8979408" y="4041648"/>
            <a:ext cx="2660904" cy="457200"/>
          </a:xfrm>
          <a:prstGeom prst="rect">
            <a:avLst/>
          </a:prstGeom>
          <a:noFill/>
          <a:ln/>
        </p:spPr>
        <p:txBody>
          <a:bodyPr wrap="square" lIns="0" tIns="0" rIns="0" bIns="0" rtlCol="0" anchor="ctr"/>
          <a:lstStyle/>
          <a:p>
            <a:pPr indent="0" marL="0">
              <a:buNone/>
            </a:pPr>
            <a:r>
              <a:rPr lang="en-US" sz="1600" b="1" dirty="0">
                <a:solidFill>
                  <a:srgbClr val="F5F7F0"/>
                </a:solidFill>
              </a:rPr>
              <a:t>Programme management</a:t>
            </a:r>
            <a:endParaRPr lang="en-US" sz="1600" dirty="0"/>
          </a:p>
        </p:txBody>
      </p:sp>
      <p:sp>
        <p:nvSpPr>
          <p:cNvPr id="33" name="Text 136"/>
          <p:cNvSpPr txBox="1"/>
          <p:nvPr/>
        </p:nvSpPr>
        <p:spPr>
          <a:xfrm>
            <a:off x="8385048" y="4572000"/>
            <a:ext cx="3209544" cy="411480"/>
          </a:xfrm>
          <a:prstGeom prst="rect">
            <a:avLst/>
          </a:prstGeom>
          <a:noFill/>
          <a:ln/>
        </p:spPr>
        <p:txBody>
          <a:bodyPr wrap="square" lIns="0" tIns="0" rIns="0" bIns="0" rtlCol="0" anchor="t"/>
          <a:lstStyle/>
          <a:p>
            <a:pPr indent="0" marL="0">
              <a:buNone/>
            </a:pPr>
            <a:r>
              <a:rPr lang="en-US" sz="1100" i="1" dirty="0">
                <a:solidFill>
                  <a:srgbClr val="C9D3C0"/>
                </a:solidFill>
              </a:rPr>
              <a:t>Run agile two-week sprints and iterative roadmapping</a:t>
            </a:r>
            <a:endParaRPr lang="en-US" sz="1100" dirty="0"/>
          </a:p>
        </p:txBody>
      </p:sp>
      <p:sp>
        <p:nvSpPr>
          <p:cNvPr id="34" name="Text 137"/>
          <p:cNvSpPr txBox="1"/>
          <p:nvPr/>
        </p:nvSpPr>
        <p:spPr>
          <a:xfrm>
            <a:off x="8385048" y="5029200"/>
            <a:ext cx="3255264" cy="1051560"/>
          </a:xfrm>
          <a:prstGeom prst="rect">
            <a:avLst/>
          </a:prstGeom>
          <a:noFill/>
          <a:ln/>
        </p:spPr>
        <p:txBody>
          <a:bodyPr wrap="square" lIns="0" tIns="0" rIns="0" bIns="0" rtlCol="0" anchor="t"/>
          <a:lstStyle/>
          <a:p>
            <a:pPr marL="139700" indent="-139700">
              <a:spcAft>
                <a:spcPts val="300"/>
              </a:spcAft>
              <a:buSzPct val="100000"/>
              <a:buChar char="•"/>
            </a:pPr>
            <a:r>
              <a:rPr lang="en-US" sz="1100" dirty="0">
                <a:solidFill>
                  <a:srgbClr val="F5F7F0"/>
                </a:solidFill>
              </a:rPr>
              <a:t>Weekly stand-ups and readouts</a:t>
            </a:r>
            <a:endParaRPr lang="en-US" sz="1100" dirty="0"/>
          </a:p>
          <a:p>
            <a:pPr marL="139700" indent="-139700">
              <a:spcAft>
                <a:spcPts val="300"/>
              </a:spcAft>
              <a:buSzPct val="100000"/>
              <a:buChar char="•"/>
            </a:pPr>
            <a:r>
              <a:rPr lang="en-US" sz="1100" dirty="0">
                <a:solidFill>
                  <a:srgbClr val="F5F7F0"/>
                </a:solidFill>
              </a:rPr>
              <a:t>Clear sprint goals tied to business outcomes</a:t>
            </a:r>
            <a:endParaRPr lang="en-US" sz="1100" dirty="0"/>
          </a:p>
          <a:p>
            <a:pPr marL="139700" indent="-139700">
              <a:spcAft>
                <a:spcPts val="300"/>
              </a:spcAft>
              <a:buSzPct val="100000"/>
              <a:buChar char="•"/>
            </a:pPr>
            <a:r>
              <a:rPr lang="en-US" sz="1100" dirty="0">
                <a:solidFill>
                  <a:srgbClr val="F5F7F0"/>
                </a:solidFill>
              </a:rPr>
              <a:t>A shared roadmap with clear accountability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PRACTICAL TIPS FOR STRUCTURING THE TEAM</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Building your RevOps organisation</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Start with clear goals 138"/>
          <p:cNvSpPr/>
          <p:nvPr/>
        </p:nvSpPr>
        <p:spPr>
          <a:xfrm>
            <a:off x="365760" y="1463040"/>
            <a:ext cx="2697480" cy="4754880"/>
          </a:xfrm>
          <a:prstGeom prst="roundRect">
            <a:avLst>
              <a:gd name="adj" fmla="val 4068"/>
            </a:avLst>
          </a:prstGeom>
          <a:solidFill>
            <a:srgbClr val="FFFFFF"/>
          </a:solidFill>
          <a:ln/>
          <a:effectLst>
            <a:outerShdw sx="100000" sy="100000" kx="0" ky="0" algn="bl" rotWithShape="0" blurRad="177800" dist="50800" dir="5400000">
              <a:srgbClr val="16261D">
                <a:alpha val="14000"/>
              </a:srgbClr>
            </a:outerShdw>
          </a:effectLst>
        </p:spPr>
      </p:sp>
      <p:sp>
        <p:nvSpPr>
          <p:cNvPr id="6" name="Text 139"/>
          <p:cNvSpPr txBox="1"/>
          <p:nvPr/>
        </p:nvSpPr>
        <p:spPr>
          <a:xfrm>
            <a:off x="640080" y="1691640"/>
            <a:ext cx="914400" cy="411480"/>
          </a:xfrm>
          <a:prstGeom prst="rect">
            <a:avLst/>
          </a:prstGeom>
          <a:noFill/>
          <a:ln/>
        </p:spPr>
        <p:txBody>
          <a:bodyPr wrap="square" lIns="0" tIns="0" rIns="0" bIns="0" rtlCol="0" anchor="t"/>
          <a:lstStyle/>
          <a:p>
            <a:pPr indent="0" marL="0">
              <a:buNone/>
            </a:pPr>
            <a:r>
              <a:rPr lang="en-US" sz="2400" dirty="0">
                <a:solidFill>
                  <a:srgbClr val="56604E"/>
                </a:solidFill>
                <a:latin typeface="Georgia" pitchFamily="34" charset="0"/>
                <a:ea typeface="Georgia" pitchFamily="34" charset="-122"/>
                <a:cs typeface="Georgia" pitchFamily="34" charset="-120"/>
              </a:rPr>
              <a:t>01</a:t>
            </a:r>
            <a:endParaRPr lang="en-US" sz="2400" dirty="0"/>
          </a:p>
        </p:txBody>
      </p:sp>
      <p:sp>
        <p:nvSpPr>
          <p:cNvPr id="7" name="Icon badge 140"/>
          <p:cNvSpPr/>
          <p:nvPr/>
        </p:nvSpPr>
        <p:spPr>
          <a:xfrm>
            <a:off x="640080" y="2331720"/>
            <a:ext cx="914400" cy="914400"/>
          </a:xfrm>
          <a:prstGeom prst="ellipse">
            <a:avLst/>
          </a:prstGeom>
          <a:solidFill>
            <a:srgbClr val="1F3529"/>
          </a:solidFill>
          <a:ln/>
        </p:spPr>
      </p:sp>
      <p:pic>
        <p:nvPicPr>
          <p:cNvPr id="8" name="Image 0" descr="Target icon">    </p:cNvPr>
          <p:cNvPicPr>
            <a:picLocks noChangeAspect="1"/>
          </p:cNvPicPr>
          <p:nvPr/>
        </p:nvPicPr>
        <p:blipFill>
          <a:blip r:embed="rId1"/>
          <a:stretch>
            <a:fillRect/>
          </a:stretch>
        </p:blipFill>
        <p:spPr>
          <a:xfrm>
            <a:off x="841248" y="2532888"/>
            <a:ext cx="512064" cy="512064"/>
          </a:xfrm>
          <a:prstGeom prst="rect">
            <a:avLst/>
          </a:prstGeom>
        </p:spPr>
      </p:pic>
      <p:sp>
        <p:nvSpPr>
          <p:cNvPr id="9" name="Text 141"/>
          <p:cNvSpPr txBox="1"/>
          <p:nvPr/>
        </p:nvSpPr>
        <p:spPr>
          <a:xfrm>
            <a:off x="640080" y="3474720"/>
            <a:ext cx="2148840" cy="731520"/>
          </a:xfrm>
          <a:prstGeom prst="rect">
            <a:avLst/>
          </a:prstGeom>
          <a:noFill/>
          <a:ln/>
        </p:spPr>
        <p:txBody>
          <a:bodyPr wrap="square" lIns="0" tIns="0" rIns="0" bIns="0" rtlCol="0" anchor="t"/>
          <a:lstStyle/>
          <a:p>
            <a:pPr indent="0" marL="0">
              <a:buNone/>
            </a:pPr>
            <a:r>
              <a:rPr lang="en-US" sz="1800" b="1" dirty="0">
                <a:solidFill>
                  <a:srgbClr val="20241F"/>
                </a:solidFill>
              </a:rPr>
              <a:t>Start with clear goals</a:t>
            </a:r>
            <a:endParaRPr lang="en-US" sz="1800" dirty="0"/>
          </a:p>
        </p:txBody>
      </p:sp>
      <p:sp>
        <p:nvSpPr>
          <p:cNvPr id="10" name="Text 142"/>
          <p:cNvSpPr txBox="1"/>
          <p:nvPr/>
        </p:nvSpPr>
        <p:spPr>
          <a:xfrm>
            <a:off x="640080" y="4297680"/>
            <a:ext cx="2148840" cy="1737360"/>
          </a:xfrm>
          <a:prstGeom prst="rect">
            <a:avLst/>
          </a:prstGeom>
          <a:noFill/>
          <a:ln/>
        </p:spPr>
        <p:txBody>
          <a:bodyPr wrap="square" lIns="0" tIns="0" rIns="0" bIns="0" rtlCol="0" anchor="t"/>
          <a:lstStyle/>
          <a:p>
            <a:pPr indent="0" marL="0">
              <a:buNone/>
            </a:pPr>
            <a:r>
              <a:rPr lang="en-US" sz="1400" dirty="0">
                <a:solidFill>
                  <a:srgbClr val="56604E"/>
                </a:solidFill>
              </a:rPr>
              <a:t>Define what success looks like for RevOps and align the structure to those goals.</a:t>
            </a:r>
            <a:endParaRPr lang="en-US" sz="1400" dirty="0"/>
          </a:p>
        </p:txBody>
      </p:sp>
      <p:sp>
        <p:nvSpPr>
          <p:cNvPr id="11" name="Prioritise cross-functional roles 143"/>
          <p:cNvSpPr/>
          <p:nvPr/>
        </p:nvSpPr>
        <p:spPr>
          <a:xfrm>
            <a:off x="3264408" y="1463040"/>
            <a:ext cx="2697480" cy="4754880"/>
          </a:xfrm>
          <a:prstGeom prst="roundRect">
            <a:avLst>
              <a:gd name="adj" fmla="val 4068"/>
            </a:avLst>
          </a:prstGeom>
          <a:solidFill>
            <a:srgbClr val="FFFFFF"/>
          </a:solidFill>
          <a:ln/>
          <a:effectLst>
            <a:outerShdw sx="100000" sy="100000" kx="0" ky="0" algn="bl" rotWithShape="0" blurRad="177800" dist="50800" dir="5400000">
              <a:srgbClr val="16261D">
                <a:alpha val="14000"/>
              </a:srgbClr>
            </a:outerShdw>
          </a:effectLst>
        </p:spPr>
      </p:sp>
      <p:sp>
        <p:nvSpPr>
          <p:cNvPr id="12" name="Text 144"/>
          <p:cNvSpPr txBox="1"/>
          <p:nvPr/>
        </p:nvSpPr>
        <p:spPr>
          <a:xfrm>
            <a:off x="3538728" y="1691640"/>
            <a:ext cx="914400" cy="411480"/>
          </a:xfrm>
          <a:prstGeom prst="rect">
            <a:avLst/>
          </a:prstGeom>
          <a:noFill/>
          <a:ln/>
        </p:spPr>
        <p:txBody>
          <a:bodyPr wrap="square" lIns="0" tIns="0" rIns="0" bIns="0" rtlCol="0" anchor="t"/>
          <a:lstStyle/>
          <a:p>
            <a:pPr indent="0" marL="0">
              <a:buNone/>
            </a:pPr>
            <a:r>
              <a:rPr lang="en-US" sz="2400" dirty="0">
                <a:solidFill>
                  <a:srgbClr val="56604E"/>
                </a:solidFill>
                <a:latin typeface="Georgia" pitchFamily="34" charset="0"/>
                <a:ea typeface="Georgia" pitchFamily="34" charset="-122"/>
                <a:cs typeface="Georgia" pitchFamily="34" charset="-120"/>
              </a:rPr>
              <a:t>02</a:t>
            </a:r>
            <a:endParaRPr lang="en-US" sz="2400" dirty="0"/>
          </a:p>
        </p:txBody>
      </p:sp>
      <p:sp>
        <p:nvSpPr>
          <p:cNvPr id="13" name="Icon badge 145"/>
          <p:cNvSpPr/>
          <p:nvPr/>
        </p:nvSpPr>
        <p:spPr>
          <a:xfrm>
            <a:off x="3538728" y="2331720"/>
            <a:ext cx="914400" cy="914400"/>
          </a:xfrm>
          <a:prstGeom prst="ellipse">
            <a:avLst/>
          </a:prstGeom>
          <a:solidFill>
            <a:srgbClr val="1F3529"/>
          </a:solidFill>
          <a:ln/>
        </p:spPr>
      </p:sp>
      <p:pic>
        <p:nvPicPr>
          <p:cNvPr id="14" name="Image 1" descr="UsersGroup icon">    </p:cNvPr>
          <p:cNvPicPr>
            <a:picLocks noChangeAspect="1"/>
          </p:cNvPicPr>
          <p:nvPr/>
        </p:nvPicPr>
        <p:blipFill>
          <a:blip r:embed="rId2"/>
          <a:stretch>
            <a:fillRect/>
          </a:stretch>
        </p:blipFill>
        <p:spPr>
          <a:xfrm>
            <a:off x="3739896" y="2532888"/>
            <a:ext cx="512064" cy="512064"/>
          </a:xfrm>
          <a:prstGeom prst="rect">
            <a:avLst/>
          </a:prstGeom>
        </p:spPr>
      </p:pic>
      <p:sp>
        <p:nvSpPr>
          <p:cNvPr id="15" name="Text 146"/>
          <p:cNvSpPr txBox="1"/>
          <p:nvPr/>
        </p:nvSpPr>
        <p:spPr>
          <a:xfrm>
            <a:off x="3538728" y="3474720"/>
            <a:ext cx="2148840" cy="731520"/>
          </a:xfrm>
          <a:prstGeom prst="rect">
            <a:avLst/>
          </a:prstGeom>
          <a:noFill/>
          <a:ln/>
        </p:spPr>
        <p:txBody>
          <a:bodyPr wrap="square" lIns="0" tIns="0" rIns="0" bIns="0" rtlCol="0" anchor="t"/>
          <a:lstStyle/>
          <a:p>
            <a:pPr indent="0" marL="0">
              <a:buNone/>
            </a:pPr>
            <a:r>
              <a:rPr lang="en-US" sz="1800" b="1" dirty="0">
                <a:solidFill>
                  <a:srgbClr val="20241F"/>
                </a:solidFill>
              </a:rPr>
              <a:t>Prioritise cross-functional roles</a:t>
            </a:r>
            <a:endParaRPr lang="en-US" sz="1800" dirty="0"/>
          </a:p>
        </p:txBody>
      </p:sp>
      <p:sp>
        <p:nvSpPr>
          <p:cNvPr id="16" name="Text 147"/>
          <p:cNvSpPr txBox="1"/>
          <p:nvPr/>
        </p:nvSpPr>
        <p:spPr>
          <a:xfrm>
            <a:off x="3538728" y="4297680"/>
            <a:ext cx="2148840" cy="1737360"/>
          </a:xfrm>
          <a:prstGeom prst="rect">
            <a:avLst/>
          </a:prstGeom>
          <a:noFill/>
          <a:ln/>
        </p:spPr>
        <p:txBody>
          <a:bodyPr wrap="square" lIns="0" tIns="0" rIns="0" bIns="0" rtlCol="0" anchor="t"/>
          <a:lstStyle/>
          <a:p>
            <a:pPr indent="0" marL="0">
              <a:buNone/>
            </a:pPr>
            <a:r>
              <a:rPr lang="en-US" sz="1400" dirty="0">
                <a:solidFill>
                  <a:srgbClr val="56604E"/>
                </a:solidFill>
              </a:rPr>
              <a:t>Hire project managers and analysts who connect systems, processes and people.</a:t>
            </a:r>
            <a:endParaRPr lang="en-US" sz="1400" dirty="0"/>
          </a:p>
        </p:txBody>
      </p:sp>
      <p:sp>
        <p:nvSpPr>
          <p:cNvPr id="17" name="Invest in enablement 148"/>
          <p:cNvSpPr/>
          <p:nvPr/>
        </p:nvSpPr>
        <p:spPr>
          <a:xfrm>
            <a:off x="6163056" y="1463040"/>
            <a:ext cx="2697480" cy="4754880"/>
          </a:xfrm>
          <a:prstGeom prst="roundRect">
            <a:avLst>
              <a:gd name="adj" fmla="val 4068"/>
            </a:avLst>
          </a:prstGeom>
          <a:solidFill>
            <a:srgbClr val="FFFFFF"/>
          </a:solidFill>
          <a:ln/>
          <a:effectLst>
            <a:outerShdw sx="100000" sy="100000" kx="0" ky="0" algn="bl" rotWithShape="0" blurRad="177800" dist="50800" dir="5400000">
              <a:srgbClr val="16261D">
                <a:alpha val="14000"/>
              </a:srgbClr>
            </a:outerShdw>
          </a:effectLst>
        </p:spPr>
      </p:sp>
      <p:sp>
        <p:nvSpPr>
          <p:cNvPr id="18" name="Text 149"/>
          <p:cNvSpPr txBox="1"/>
          <p:nvPr/>
        </p:nvSpPr>
        <p:spPr>
          <a:xfrm>
            <a:off x="6437376" y="1691640"/>
            <a:ext cx="914400" cy="411480"/>
          </a:xfrm>
          <a:prstGeom prst="rect">
            <a:avLst/>
          </a:prstGeom>
          <a:noFill/>
          <a:ln/>
        </p:spPr>
        <p:txBody>
          <a:bodyPr wrap="square" lIns="0" tIns="0" rIns="0" bIns="0" rtlCol="0" anchor="t"/>
          <a:lstStyle/>
          <a:p>
            <a:pPr indent="0" marL="0">
              <a:buNone/>
            </a:pPr>
            <a:r>
              <a:rPr lang="en-US" sz="2400" dirty="0">
                <a:solidFill>
                  <a:srgbClr val="56604E"/>
                </a:solidFill>
                <a:latin typeface="Georgia" pitchFamily="34" charset="0"/>
                <a:ea typeface="Georgia" pitchFamily="34" charset="-122"/>
                <a:cs typeface="Georgia" pitchFamily="34" charset="-120"/>
              </a:rPr>
              <a:t>03</a:t>
            </a:r>
            <a:endParaRPr lang="en-US" sz="2400" dirty="0"/>
          </a:p>
        </p:txBody>
      </p:sp>
      <p:sp>
        <p:nvSpPr>
          <p:cNvPr id="19" name="Icon badge 150"/>
          <p:cNvSpPr/>
          <p:nvPr/>
        </p:nvSpPr>
        <p:spPr>
          <a:xfrm>
            <a:off x="6437376" y="2331720"/>
            <a:ext cx="914400" cy="914400"/>
          </a:xfrm>
          <a:prstGeom prst="ellipse">
            <a:avLst/>
          </a:prstGeom>
          <a:solidFill>
            <a:srgbClr val="1F3529"/>
          </a:solidFill>
          <a:ln/>
        </p:spPr>
      </p:sp>
      <p:pic>
        <p:nvPicPr>
          <p:cNvPr id="20" name="Image 2" descr="School icon">    </p:cNvPr>
          <p:cNvPicPr>
            <a:picLocks noChangeAspect="1"/>
          </p:cNvPicPr>
          <p:nvPr/>
        </p:nvPicPr>
        <p:blipFill>
          <a:blip r:embed="rId3"/>
          <a:stretch>
            <a:fillRect/>
          </a:stretch>
        </p:blipFill>
        <p:spPr>
          <a:xfrm>
            <a:off x="6638544" y="2532888"/>
            <a:ext cx="512064" cy="512064"/>
          </a:xfrm>
          <a:prstGeom prst="rect">
            <a:avLst/>
          </a:prstGeom>
        </p:spPr>
      </p:pic>
      <p:sp>
        <p:nvSpPr>
          <p:cNvPr id="21" name="Text 151"/>
          <p:cNvSpPr txBox="1"/>
          <p:nvPr/>
        </p:nvSpPr>
        <p:spPr>
          <a:xfrm>
            <a:off x="6437376" y="3474720"/>
            <a:ext cx="2148840" cy="731520"/>
          </a:xfrm>
          <a:prstGeom prst="rect">
            <a:avLst/>
          </a:prstGeom>
          <a:noFill/>
          <a:ln/>
        </p:spPr>
        <p:txBody>
          <a:bodyPr wrap="square" lIns="0" tIns="0" rIns="0" bIns="0" rtlCol="0" anchor="t"/>
          <a:lstStyle/>
          <a:p>
            <a:pPr indent="0" marL="0">
              <a:buNone/>
            </a:pPr>
            <a:r>
              <a:rPr lang="en-US" sz="1800" b="1" dirty="0">
                <a:solidFill>
                  <a:srgbClr val="20241F"/>
                </a:solidFill>
              </a:rPr>
              <a:t>Invest in enablement</a:t>
            </a:r>
            <a:endParaRPr lang="en-US" sz="1800" dirty="0"/>
          </a:p>
        </p:txBody>
      </p:sp>
      <p:sp>
        <p:nvSpPr>
          <p:cNvPr id="22" name="Text 152"/>
          <p:cNvSpPr txBox="1"/>
          <p:nvPr/>
        </p:nvSpPr>
        <p:spPr>
          <a:xfrm>
            <a:off x="6437376" y="4297680"/>
            <a:ext cx="2148840" cy="1737360"/>
          </a:xfrm>
          <a:prstGeom prst="rect">
            <a:avLst/>
          </a:prstGeom>
          <a:noFill/>
          <a:ln/>
        </p:spPr>
        <p:txBody>
          <a:bodyPr wrap="square" lIns="0" tIns="0" rIns="0" bIns="0" rtlCol="0" anchor="t"/>
          <a:lstStyle/>
          <a:p>
            <a:pPr indent="0" marL="0">
              <a:buNone/>
            </a:pPr>
            <a:r>
              <a:rPr lang="en-US" sz="1400" dirty="0">
                <a:solidFill>
                  <a:srgbClr val="56604E"/>
                </a:solidFill>
              </a:rPr>
              <a:t>Give the team what it needs to succeed, from tools to training programmes.</a:t>
            </a:r>
            <a:endParaRPr lang="en-US" sz="1400" dirty="0"/>
          </a:p>
        </p:txBody>
      </p:sp>
      <p:sp>
        <p:nvSpPr>
          <p:cNvPr id="23" name="Foster collaboration 153"/>
          <p:cNvSpPr/>
          <p:nvPr/>
        </p:nvSpPr>
        <p:spPr>
          <a:xfrm>
            <a:off x="9061704" y="1463040"/>
            <a:ext cx="2697480" cy="4754880"/>
          </a:xfrm>
          <a:prstGeom prst="roundRect">
            <a:avLst>
              <a:gd name="adj" fmla="val 4068"/>
            </a:avLst>
          </a:prstGeom>
          <a:solidFill>
            <a:srgbClr val="FFFFFF"/>
          </a:solidFill>
          <a:ln/>
          <a:effectLst>
            <a:outerShdw sx="100000" sy="100000" kx="0" ky="0" algn="bl" rotWithShape="0" blurRad="177800" dist="50800" dir="5400000">
              <a:srgbClr val="16261D">
                <a:alpha val="14000"/>
              </a:srgbClr>
            </a:outerShdw>
          </a:effectLst>
        </p:spPr>
      </p:sp>
      <p:sp>
        <p:nvSpPr>
          <p:cNvPr id="24" name="Text 154"/>
          <p:cNvSpPr txBox="1"/>
          <p:nvPr/>
        </p:nvSpPr>
        <p:spPr>
          <a:xfrm>
            <a:off x="9336024" y="1691640"/>
            <a:ext cx="914400" cy="411480"/>
          </a:xfrm>
          <a:prstGeom prst="rect">
            <a:avLst/>
          </a:prstGeom>
          <a:noFill/>
          <a:ln/>
        </p:spPr>
        <p:txBody>
          <a:bodyPr wrap="square" lIns="0" tIns="0" rIns="0" bIns="0" rtlCol="0" anchor="t"/>
          <a:lstStyle/>
          <a:p>
            <a:pPr indent="0" marL="0">
              <a:buNone/>
            </a:pPr>
            <a:r>
              <a:rPr lang="en-US" sz="2400" dirty="0">
                <a:solidFill>
                  <a:srgbClr val="56604E"/>
                </a:solidFill>
                <a:latin typeface="Georgia" pitchFamily="34" charset="0"/>
                <a:ea typeface="Georgia" pitchFamily="34" charset="-122"/>
                <a:cs typeface="Georgia" pitchFamily="34" charset="-120"/>
              </a:rPr>
              <a:t>04</a:t>
            </a:r>
            <a:endParaRPr lang="en-US" sz="2400" dirty="0"/>
          </a:p>
        </p:txBody>
      </p:sp>
      <p:sp>
        <p:nvSpPr>
          <p:cNvPr id="25" name="Icon badge 155"/>
          <p:cNvSpPr/>
          <p:nvPr/>
        </p:nvSpPr>
        <p:spPr>
          <a:xfrm>
            <a:off x="9336024" y="2331720"/>
            <a:ext cx="914400" cy="914400"/>
          </a:xfrm>
          <a:prstGeom prst="ellipse">
            <a:avLst/>
          </a:prstGeom>
          <a:solidFill>
            <a:srgbClr val="1F3529"/>
          </a:solidFill>
          <a:ln/>
        </p:spPr>
      </p:sp>
      <p:pic>
        <p:nvPicPr>
          <p:cNvPr id="26" name="Image 3" descr="HeartHandshake icon">    </p:cNvPr>
          <p:cNvPicPr>
            <a:picLocks noChangeAspect="1"/>
          </p:cNvPicPr>
          <p:nvPr/>
        </p:nvPicPr>
        <p:blipFill>
          <a:blip r:embed="rId4"/>
          <a:stretch>
            <a:fillRect/>
          </a:stretch>
        </p:blipFill>
        <p:spPr>
          <a:xfrm>
            <a:off x="9537192" y="2532888"/>
            <a:ext cx="512064" cy="512064"/>
          </a:xfrm>
          <a:prstGeom prst="rect">
            <a:avLst/>
          </a:prstGeom>
        </p:spPr>
      </p:pic>
      <p:sp>
        <p:nvSpPr>
          <p:cNvPr id="27" name="Text 156"/>
          <p:cNvSpPr txBox="1"/>
          <p:nvPr/>
        </p:nvSpPr>
        <p:spPr>
          <a:xfrm>
            <a:off x="9336024" y="3474720"/>
            <a:ext cx="2148840" cy="731520"/>
          </a:xfrm>
          <a:prstGeom prst="rect">
            <a:avLst/>
          </a:prstGeom>
          <a:noFill/>
          <a:ln/>
        </p:spPr>
        <p:txBody>
          <a:bodyPr wrap="square" lIns="0" tIns="0" rIns="0" bIns="0" rtlCol="0" anchor="t"/>
          <a:lstStyle/>
          <a:p>
            <a:pPr indent="0" marL="0">
              <a:buNone/>
            </a:pPr>
            <a:r>
              <a:rPr lang="en-US" sz="1800" b="1" dirty="0">
                <a:solidFill>
                  <a:srgbClr val="20241F"/>
                </a:solidFill>
              </a:rPr>
              <a:t>Foster collaboration</a:t>
            </a:r>
            <a:endParaRPr lang="en-US" sz="1800" dirty="0"/>
          </a:p>
        </p:txBody>
      </p:sp>
      <p:sp>
        <p:nvSpPr>
          <p:cNvPr id="28" name="Text 157"/>
          <p:cNvSpPr txBox="1"/>
          <p:nvPr/>
        </p:nvSpPr>
        <p:spPr>
          <a:xfrm>
            <a:off x="9336024" y="4297680"/>
            <a:ext cx="2148840" cy="1737360"/>
          </a:xfrm>
          <a:prstGeom prst="rect">
            <a:avLst/>
          </a:prstGeom>
          <a:noFill/>
          <a:ln/>
        </p:spPr>
        <p:txBody>
          <a:bodyPr wrap="square" lIns="0" tIns="0" rIns="0" bIns="0" rtlCol="0" anchor="t"/>
          <a:lstStyle/>
          <a:p>
            <a:pPr indent="0" marL="0">
              <a:buNone/>
            </a:pPr>
            <a:r>
              <a:rPr lang="en-US" sz="1400" dirty="0">
                <a:solidFill>
                  <a:srgbClr val="56604E"/>
                </a:solidFill>
              </a:rPr>
              <a:t>Regular cross-functional meetings, shared lunch-and-learns and ride-alongs build trust and understanding.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SET THE MISSION EVERY YEAR, CALL OUT BARRIERS, QUANTIFY IMPACT</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“Why we should fix it”</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Mission 158"/>
          <p:cNvSpPr/>
          <p:nvPr/>
        </p:nvSpPr>
        <p:spPr>
          <a:xfrm>
            <a:off x="365760" y="1417320"/>
            <a:ext cx="6766560" cy="4800600"/>
          </a:xfrm>
          <a:prstGeom prst="roundRect">
            <a:avLst>
              <a:gd name="adj" fmla="val 2286"/>
            </a:avLst>
          </a:prstGeom>
          <a:solidFill>
            <a:srgbClr val="16261D"/>
          </a:solidFill>
          <a:ln/>
          <a:effectLst>
            <a:outerShdw sx="100000" sy="100000" kx="0" ky="0" algn="bl" rotWithShape="0" blurRad="304800" dist="50800" dir="5400000">
              <a:srgbClr val="16261D">
                <a:alpha val="30000"/>
              </a:srgbClr>
            </a:outerShdw>
          </a:effectLst>
        </p:spPr>
      </p:sp>
      <p:sp>
        <p:nvSpPr>
          <p:cNvPr id="6" name="Text 159"/>
          <p:cNvSpPr txBox="1"/>
          <p:nvPr/>
        </p:nvSpPr>
        <p:spPr>
          <a:xfrm>
            <a:off x="731520" y="1737360"/>
            <a:ext cx="6035040" cy="274320"/>
          </a:xfrm>
          <a:prstGeom prst="rect">
            <a:avLst/>
          </a:prstGeom>
          <a:noFill/>
          <a:ln/>
        </p:spPr>
        <p:txBody>
          <a:bodyPr wrap="square" lIns="0" tIns="0" rIns="0" bIns="0" rtlCol="0" anchor="t"/>
          <a:lstStyle/>
          <a:p>
            <a:pPr indent="0" marL="0">
              <a:buNone/>
            </a:pPr>
            <a:r>
              <a:rPr lang="en-US" sz="1100" b="1" spc="300" kern="0" dirty="0">
                <a:solidFill>
                  <a:srgbClr val="93A87B"/>
                </a:solidFill>
              </a:rPr>
              <a:t>EXAMPLE MISSION STATEMENT</a:t>
            </a:r>
            <a:endParaRPr lang="en-US" sz="1100" dirty="0"/>
          </a:p>
        </p:txBody>
      </p:sp>
      <p:sp>
        <p:nvSpPr>
          <p:cNvPr id="7" name="Text 160"/>
          <p:cNvSpPr txBox="1"/>
          <p:nvPr/>
        </p:nvSpPr>
        <p:spPr>
          <a:xfrm>
            <a:off x="731520" y="2148840"/>
            <a:ext cx="6035040" cy="3840480"/>
          </a:xfrm>
          <a:prstGeom prst="rect">
            <a:avLst/>
          </a:prstGeom>
          <a:noFill/>
          <a:ln/>
        </p:spPr>
        <p:txBody>
          <a:bodyPr wrap="square" lIns="0" tIns="0" rIns="0" bIns="0" rtlCol="0" anchor="t"/>
          <a:lstStyle/>
          <a:p>
            <a:pPr indent="0" marL="0">
              <a:buNone/>
            </a:pPr>
            <a:r>
              <a:rPr lang="en-US" sz="1800" dirty="0">
                <a:solidFill>
                  <a:srgbClr val="F5F7F0"/>
                </a:solidFill>
                <a:latin typeface="Georgia" pitchFamily="34" charset="0"/>
                <a:ea typeface="Georgia" pitchFamily="34" charset="-122"/>
                <a:cs typeface="Georgia" pitchFamily="34" charset="-120"/>
              </a:rPr>
              <a:t>Company X has an exciting opportunity to accelerate its position in the emerging AI-powered warehouse management market. But pipeline growth and speed are limited by the effort needed to support its current outbound sales strategy, process and technology. The result is a slow, thin top of funnel and lagging progress as it moves from mid-market to upmarket.</a:t>
            </a:r>
            <a:endParaRPr lang="en-US" sz="1800" dirty="0"/>
          </a:p>
        </p:txBody>
      </p:sp>
      <p:sp>
        <p:nvSpPr>
          <p:cNvPr id="8" name="Text 161"/>
          <p:cNvSpPr txBox="1"/>
          <p:nvPr/>
        </p:nvSpPr>
        <p:spPr>
          <a:xfrm>
            <a:off x="7589520" y="1463040"/>
            <a:ext cx="4114800" cy="320040"/>
          </a:xfrm>
          <a:prstGeom prst="rect">
            <a:avLst/>
          </a:prstGeom>
          <a:noFill/>
          <a:ln/>
        </p:spPr>
        <p:txBody>
          <a:bodyPr wrap="square" lIns="0" tIns="0" rIns="0" bIns="0" rtlCol="0" anchor="t"/>
          <a:lstStyle/>
          <a:p>
            <a:pPr indent="0" marL="0">
              <a:buNone/>
            </a:pPr>
            <a:r>
              <a:rPr lang="en-US" sz="1200" b="1" spc="400" kern="0" dirty="0">
                <a:solidFill>
                  <a:srgbClr val="56604E"/>
                </a:solidFill>
              </a:rPr>
              <a:t>START WITH WHY</a:t>
            </a:r>
            <a:endParaRPr lang="en-US" sz="1200" dirty="0"/>
          </a:p>
        </p:txBody>
      </p:sp>
      <p:sp>
        <p:nvSpPr>
          <p:cNvPr id="9" name="Ring 162"/>
          <p:cNvSpPr/>
          <p:nvPr/>
        </p:nvSpPr>
        <p:spPr>
          <a:xfrm>
            <a:off x="6949440" y="2377440"/>
            <a:ext cx="3200400" cy="3200400"/>
          </a:xfrm>
          <a:prstGeom prst="ellipse">
            <a:avLst/>
          </a:prstGeom>
          <a:solidFill>
            <a:srgbClr val="93A87B"/>
          </a:solidFill>
          <a:ln w="25400">
            <a:solidFill>
              <a:srgbClr val="FFFFFF"/>
            </a:solidFill>
            <a:prstDash val="solid"/>
          </a:ln>
        </p:spPr>
      </p:sp>
      <p:sp>
        <p:nvSpPr>
          <p:cNvPr id="10" name="Ring 163"/>
          <p:cNvSpPr/>
          <p:nvPr/>
        </p:nvSpPr>
        <p:spPr>
          <a:xfrm>
            <a:off x="7479792" y="2907792"/>
            <a:ext cx="2139696" cy="2139696"/>
          </a:xfrm>
          <a:prstGeom prst="ellipse">
            <a:avLst/>
          </a:prstGeom>
          <a:solidFill>
            <a:srgbClr val="B4C4A3"/>
          </a:solidFill>
          <a:ln w="25400">
            <a:solidFill>
              <a:srgbClr val="FFFFFF"/>
            </a:solidFill>
            <a:prstDash val="solid"/>
          </a:ln>
        </p:spPr>
      </p:sp>
      <p:sp>
        <p:nvSpPr>
          <p:cNvPr id="11" name="Ring 164"/>
          <p:cNvSpPr/>
          <p:nvPr/>
        </p:nvSpPr>
        <p:spPr>
          <a:xfrm>
            <a:off x="8001000" y="3429000"/>
            <a:ext cx="1097280" cy="1097280"/>
          </a:xfrm>
          <a:prstGeom prst="ellipse">
            <a:avLst/>
          </a:prstGeom>
          <a:solidFill>
            <a:srgbClr val="F5F7F0"/>
          </a:solidFill>
          <a:ln w="25400">
            <a:solidFill>
              <a:srgbClr val="FFFFFF"/>
            </a:solidFill>
            <a:prstDash val="solid"/>
          </a:ln>
        </p:spPr>
      </p:sp>
      <p:sp>
        <p:nvSpPr>
          <p:cNvPr id="12" name="Line 165"/>
          <p:cNvSpPr/>
          <p:nvPr/>
        </p:nvSpPr>
        <p:spPr>
          <a:xfrm>
            <a:off x="8549640" y="3703320"/>
            <a:ext cx="1691640" cy="0"/>
          </a:xfrm>
          <a:prstGeom prst="line">
            <a:avLst/>
          </a:prstGeom>
          <a:noFill/>
          <a:ln w="12700">
            <a:solidFill>
              <a:srgbClr val="16261D">
                <a:alpha val="80000"/>
              </a:srgbClr>
            </a:solidFill>
            <a:prstDash val="dash"/>
          </a:ln>
        </p:spPr>
      </p:sp>
      <p:sp>
        <p:nvSpPr>
          <p:cNvPr id="13" name="Dot 166"/>
          <p:cNvSpPr/>
          <p:nvPr/>
        </p:nvSpPr>
        <p:spPr>
          <a:xfrm>
            <a:off x="8494776" y="3648456"/>
            <a:ext cx="109728" cy="109728"/>
          </a:xfrm>
          <a:prstGeom prst="ellipse">
            <a:avLst/>
          </a:prstGeom>
          <a:solidFill>
            <a:srgbClr val="16261D"/>
          </a:solidFill>
          <a:ln/>
        </p:spPr>
      </p:sp>
      <p:sp>
        <p:nvSpPr>
          <p:cNvPr id="14" name="Text 167"/>
          <p:cNvSpPr txBox="1"/>
          <p:nvPr/>
        </p:nvSpPr>
        <p:spPr>
          <a:xfrm>
            <a:off x="10287000" y="3520440"/>
            <a:ext cx="1554480" cy="365760"/>
          </a:xfrm>
          <a:prstGeom prst="rect">
            <a:avLst/>
          </a:prstGeom>
          <a:noFill/>
          <a:ln/>
        </p:spPr>
        <p:txBody>
          <a:bodyPr wrap="square" lIns="0" tIns="0" rIns="0" bIns="0" rtlCol="0" anchor="ctr"/>
          <a:lstStyle/>
          <a:p>
            <a:pPr indent="0" marL="0">
              <a:buNone/>
            </a:pPr>
            <a:r>
              <a:rPr lang="en-US" sz="1200" b="1" dirty="0">
                <a:solidFill>
                  <a:srgbClr val="20241F"/>
                </a:solidFill>
              </a:rPr>
              <a:t>Why: </a:t>
            </a:r>
            <a:pPr indent="0" marL="0">
              <a:buNone/>
            </a:pPr>
            <a:r>
              <a:rPr lang="en-US" sz="1200" dirty="0">
                <a:solidFill>
                  <a:srgbClr val="20241F"/>
                </a:solidFill>
              </a:rPr>
              <a:t>Purpose</a:t>
            </a:r>
            <a:endParaRPr lang="en-US" sz="1200" dirty="0"/>
          </a:p>
        </p:txBody>
      </p:sp>
      <p:sp>
        <p:nvSpPr>
          <p:cNvPr id="15" name="Line 168"/>
          <p:cNvSpPr/>
          <p:nvPr/>
        </p:nvSpPr>
        <p:spPr>
          <a:xfrm>
            <a:off x="9326880" y="4480560"/>
            <a:ext cx="914400" cy="0"/>
          </a:xfrm>
          <a:prstGeom prst="line">
            <a:avLst/>
          </a:prstGeom>
          <a:noFill/>
          <a:ln w="12700">
            <a:solidFill>
              <a:srgbClr val="16261D">
                <a:alpha val="80000"/>
              </a:srgbClr>
            </a:solidFill>
            <a:prstDash val="dash"/>
          </a:ln>
        </p:spPr>
      </p:sp>
      <p:sp>
        <p:nvSpPr>
          <p:cNvPr id="16" name="Dot 169"/>
          <p:cNvSpPr/>
          <p:nvPr/>
        </p:nvSpPr>
        <p:spPr>
          <a:xfrm>
            <a:off x="9272016" y="4425696"/>
            <a:ext cx="109728" cy="109728"/>
          </a:xfrm>
          <a:prstGeom prst="ellipse">
            <a:avLst/>
          </a:prstGeom>
          <a:solidFill>
            <a:srgbClr val="16261D"/>
          </a:solidFill>
          <a:ln/>
        </p:spPr>
      </p:sp>
      <p:sp>
        <p:nvSpPr>
          <p:cNvPr id="17" name="Text 170"/>
          <p:cNvSpPr txBox="1"/>
          <p:nvPr/>
        </p:nvSpPr>
        <p:spPr>
          <a:xfrm>
            <a:off x="10287000" y="4297680"/>
            <a:ext cx="1554480" cy="365760"/>
          </a:xfrm>
          <a:prstGeom prst="rect">
            <a:avLst/>
          </a:prstGeom>
          <a:noFill/>
          <a:ln/>
        </p:spPr>
        <p:txBody>
          <a:bodyPr wrap="square" lIns="0" tIns="0" rIns="0" bIns="0" rtlCol="0" anchor="ctr"/>
          <a:lstStyle/>
          <a:p>
            <a:pPr indent="0" marL="0">
              <a:buNone/>
            </a:pPr>
            <a:r>
              <a:rPr lang="en-US" sz="1200" b="1" dirty="0">
                <a:solidFill>
                  <a:srgbClr val="20241F"/>
                </a:solidFill>
              </a:rPr>
              <a:t>How: </a:t>
            </a:r>
            <a:pPr indent="0" marL="0">
              <a:buNone/>
            </a:pPr>
            <a:r>
              <a:rPr lang="en-US" sz="1200" dirty="0">
                <a:solidFill>
                  <a:srgbClr val="20241F"/>
                </a:solidFill>
              </a:rPr>
              <a:t>Infrastructure</a:t>
            </a:r>
            <a:endParaRPr lang="en-US" sz="1200" dirty="0"/>
          </a:p>
        </p:txBody>
      </p:sp>
      <p:sp>
        <p:nvSpPr>
          <p:cNvPr id="18" name="Line 171"/>
          <p:cNvSpPr/>
          <p:nvPr/>
        </p:nvSpPr>
        <p:spPr>
          <a:xfrm>
            <a:off x="9875520" y="5257800"/>
            <a:ext cx="365760" cy="0"/>
          </a:xfrm>
          <a:prstGeom prst="line">
            <a:avLst/>
          </a:prstGeom>
          <a:noFill/>
          <a:ln w="12700">
            <a:solidFill>
              <a:srgbClr val="16261D">
                <a:alpha val="80000"/>
              </a:srgbClr>
            </a:solidFill>
            <a:prstDash val="dash"/>
          </a:ln>
        </p:spPr>
      </p:sp>
      <p:sp>
        <p:nvSpPr>
          <p:cNvPr id="19" name="Dot 172"/>
          <p:cNvSpPr/>
          <p:nvPr/>
        </p:nvSpPr>
        <p:spPr>
          <a:xfrm>
            <a:off x="9820656" y="5202936"/>
            <a:ext cx="109728" cy="109728"/>
          </a:xfrm>
          <a:prstGeom prst="ellipse">
            <a:avLst/>
          </a:prstGeom>
          <a:solidFill>
            <a:srgbClr val="16261D"/>
          </a:solidFill>
          <a:ln/>
        </p:spPr>
      </p:sp>
      <p:sp>
        <p:nvSpPr>
          <p:cNvPr id="20" name="Text 173"/>
          <p:cNvSpPr txBox="1"/>
          <p:nvPr/>
        </p:nvSpPr>
        <p:spPr>
          <a:xfrm>
            <a:off x="10287000" y="5074920"/>
            <a:ext cx="1554480" cy="365760"/>
          </a:xfrm>
          <a:prstGeom prst="rect">
            <a:avLst/>
          </a:prstGeom>
          <a:noFill/>
          <a:ln/>
        </p:spPr>
        <p:txBody>
          <a:bodyPr wrap="square" lIns="0" tIns="0" rIns="0" bIns="0" rtlCol="0" anchor="ctr"/>
          <a:lstStyle/>
          <a:p>
            <a:pPr indent="0" marL="0">
              <a:buNone/>
            </a:pPr>
            <a:r>
              <a:rPr lang="en-US" sz="1200" b="1" dirty="0">
                <a:solidFill>
                  <a:srgbClr val="20241F"/>
                </a:solidFill>
              </a:rPr>
              <a:t>What: </a:t>
            </a:r>
            <a:pPr indent="0" marL="0">
              <a:buNone/>
            </a:pPr>
            <a:r>
              <a:rPr lang="en-US" sz="1200" dirty="0">
                <a:solidFill>
                  <a:srgbClr val="20241F"/>
                </a:solidFill>
              </a:rPr>
              <a:t>Solution(s)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STRUCTURING REVOPS  ·  OPTION 1</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A functional RevOps structure</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Line 174"/>
          <p:cNvSpPr/>
          <p:nvPr/>
        </p:nvSpPr>
        <p:spPr>
          <a:xfrm>
            <a:off x="7360920" y="1783080"/>
            <a:ext cx="0" cy="228600"/>
          </a:xfrm>
          <a:prstGeom prst="line">
            <a:avLst/>
          </a:prstGeom>
          <a:noFill/>
          <a:ln w="15875">
            <a:solidFill>
              <a:srgbClr val="56604E">
                <a:alpha val="70000"/>
              </a:srgbClr>
            </a:solidFill>
            <a:prstDash val="solid"/>
          </a:ln>
        </p:spPr>
      </p:sp>
      <p:sp>
        <p:nvSpPr>
          <p:cNvPr id="6" name="Line 175"/>
          <p:cNvSpPr/>
          <p:nvPr/>
        </p:nvSpPr>
        <p:spPr>
          <a:xfrm>
            <a:off x="3703320" y="2011680"/>
            <a:ext cx="7315200" cy="0"/>
          </a:xfrm>
          <a:prstGeom prst="line">
            <a:avLst/>
          </a:prstGeom>
          <a:noFill/>
          <a:ln w="15875">
            <a:solidFill>
              <a:srgbClr val="56604E">
                <a:alpha val="70000"/>
              </a:srgbClr>
            </a:solidFill>
            <a:prstDash val="solid"/>
          </a:ln>
        </p:spPr>
      </p:sp>
      <p:sp>
        <p:nvSpPr>
          <p:cNvPr id="7" name="Line 176"/>
          <p:cNvSpPr/>
          <p:nvPr/>
        </p:nvSpPr>
        <p:spPr>
          <a:xfrm>
            <a:off x="3703320" y="2011680"/>
            <a:ext cx="0" cy="228600"/>
          </a:xfrm>
          <a:prstGeom prst="line">
            <a:avLst/>
          </a:prstGeom>
          <a:noFill/>
          <a:ln w="15875">
            <a:solidFill>
              <a:srgbClr val="56604E">
                <a:alpha val="70000"/>
              </a:srgbClr>
            </a:solidFill>
            <a:prstDash val="solid"/>
          </a:ln>
        </p:spPr>
      </p:sp>
      <p:sp>
        <p:nvSpPr>
          <p:cNvPr id="8" name="Line 177"/>
          <p:cNvSpPr/>
          <p:nvPr/>
        </p:nvSpPr>
        <p:spPr>
          <a:xfrm>
            <a:off x="8001000" y="2011680"/>
            <a:ext cx="0" cy="228600"/>
          </a:xfrm>
          <a:prstGeom prst="line">
            <a:avLst/>
          </a:prstGeom>
          <a:noFill/>
          <a:ln w="15875">
            <a:solidFill>
              <a:srgbClr val="56604E">
                <a:alpha val="70000"/>
              </a:srgbClr>
            </a:solidFill>
            <a:prstDash val="solid"/>
          </a:ln>
        </p:spPr>
      </p:sp>
      <p:sp>
        <p:nvSpPr>
          <p:cNvPr id="9" name="Line 178"/>
          <p:cNvSpPr/>
          <p:nvPr/>
        </p:nvSpPr>
        <p:spPr>
          <a:xfrm>
            <a:off x="9509760" y="2011680"/>
            <a:ext cx="0" cy="228600"/>
          </a:xfrm>
          <a:prstGeom prst="line">
            <a:avLst/>
          </a:prstGeom>
          <a:noFill/>
          <a:ln w="15875">
            <a:solidFill>
              <a:srgbClr val="56604E">
                <a:alpha val="70000"/>
              </a:srgbClr>
            </a:solidFill>
            <a:prstDash val="solid"/>
          </a:ln>
        </p:spPr>
      </p:sp>
      <p:sp>
        <p:nvSpPr>
          <p:cNvPr id="10" name="Line 179"/>
          <p:cNvSpPr/>
          <p:nvPr/>
        </p:nvSpPr>
        <p:spPr>
          <a:xfrm>
            <a:off x="11018520" y="2011680"/>
            <a:ext cx="0" cy="228600"/>
          </a:xfrm>
          <a:prstGeom prst="line">
            <a:avLst/>
          </a:prstGeom>
          <a:noFill/>
          <a:ln w="15875">
            <a:solidFill>
              <a:srgbClr val="56604E">
                <a:alpha val="70000"/>
              </a:srgbClr>
            </a:solidFill>
            <a:prstDash val="solid"/>
          </a:ln>
        </p:spPr>
      </p:sp>
      <p:sp>
        <p:nvSpPr>
          <p:cNvPr id="11" name="Pill 180"/>
          <p:cNvSpPr/>
          <p:nvPr/>
        </p:nvSpPr>
        <p:spPr>
          <a:xfrm>
            <a:off x="6629400" y="1371600"/>
            <a:ext cx="1463040" cy="41148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400" b="1" dirty="0">
                <a:solidFill>
                  <a:srgbClr val="F5F7F0"/>
                </a:solidFill>
              </a:rPr>
              <a:t>CXO</a:t>
            </a:r>
            <a:endParaRPr lang="en-US" sz="1400" dirty="0"/>
          </a:p>
        </p:txBody>
      </p:sp>
      <p:sp>
        <p:nvSpPr>
          <p:cNvPr id="12" name="Pill 181"/>
          <p:cNvSpPr/>
          <p:nvPr/>
        </p:nvSpPr>
        <p:spPr>
          <a:xfrm>
            <a:off x="2834640" y="2240280"/>
            <a:ext cx="1737360"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200" b="1" dirty="0">
                <a:solidFill>
                  <a:srgbClr val="F5F7F0"/>
                </a:solidFill>
              </a:rPr>
              <a:t>Head of RevOps</a:t>
            </a:r>
            <a:endParaRPr lang="en-US" sz="1200" dirty="0"/>
          </a:p>
        </p:txBody>
      </p:sp>
      <p:sp>
        <p:nvSpPr>
          <p:cNvPr id="13" name="Line 182"/>
          <p:cNvSpPr/>
          <p:nvPr/>
        </p:nvSpPr>
        <p:spPr>
          <a:xfrm>
            <a:off x="3703320" y="2697480"/>
            <a:ext cx="0" cy="274320"/>
          </a:xfrm>
          <a:prstGeom prst="line">
            <a:avLst/>
          </a:prstGeom>
          <a:noFill/>
          <a:ln w="15875">
            <a:solidFill>
              <a:srgbClr val="56604E">
                <a:alpha val="70000"/>
              </a:srgbClr>
            </a:solidFill>
            <a:prstDash val="solid"/>
          </a:ln>
        </p:spPr>
      </p:sp>
      <p:sp>
        <p:nvSpPr>
          <p:cNvPr id="14" name="Line 183"/>
          <p:cNvSpPr/>
          <p:nvPr/>
        </p:nvSpPr>
        <p:spPr>
          <a:xfrm>
            <a:off x="1200150" y="2971800"/>
            <a:ext cx="5006340" cy="0"/>
          </a:xfrm>
          <a:prstGeom prst="line">
            <a:avLst/>
          </a:prstGeom>
          <a:noFill/>
          <a:ln w="15875">
            <a:solidFill>
              <a:srgbClr val="56604E">
                <a:alpha val="70000"/>
              </a:srgbClr>
            </a:solidFill>
            <a:prstDash val="solid"/>
          </a:ln>
        </p:spPr>
      </p:sp>
      <p:sp>
        <p:nvSpPr>
          <p:cNvPr id="15" name="Line 184"/>
          <p:cNvSpPr/>
          <p:nvPr/>
        </p:nvSpPr>
        <p:spPr>
          <a:xfrm>
            <a:off x="1200150" y="2971800"/>
            <a:ext cx="0" cy="182880"/>
          </a:xfrm>
          <a:prstGeom prst="line">
            <a:avLst/>
          </a:prstGeom>
          <a:noFill/>
          <a:ln w="15875">
            <a:solidFill>
              <a:srgbClr val="56604E">
                <a:alpha val="70000"/>
              </a:srgbClr>
            </a:solidFill>
            <a:prstDash val="solid"/>
          </a:ln>
        </p:spPr>
      </p:sp>
      <p:sp>
        <p:nvSpPr>
          <p:cNvPr id="16" name="Line 185"/>
          <p:cNvSpPr/>
          <p:nvPr/>
        </p:nvSpPr>
        <p:spPr>
          <a:xfrm>
            <a:off x="2868930" y="2971800"/>
            <a:ext cx="0" cy="182880"/>
          </a:xfrm>
          <a:prstGeom prst="line">
            <a:avLst/>
          </a:prstGeom>
          <a:noFill/>
          <a:ln w="15875">
            <a:solidFill>
              <a:srgbClr val="56604E">
                <a:alpha val="70000"/>
              </a:srgbClr>
            </a:solidFill>
            <a:prstDash val="solid"/>
          </a:ln>
        </p:spPr>
      </p:sp>
      <p:sp>
        <p:nvSpPr>
          <p:cNvPr id="17" name="Line 186"/>
          <p:cNvSpPr/>
          <p:nvPr/>
        </p:nvSpPr>
        <p:spPr>
          <a:xfrm>
            <a:off x="4537710" y="2971800"/>
            <a:ext cx="0" cy="182880"/>
          </a:xfrm>
          <a:prstGeom prst="line">
            <a:avLst/>
          </a:prstGeom>
          <a:noFill/>
          <a:ln w="15875">
            <a:solidFill>
              <a:srgbClr val="56604E">
                <a:alpha val="70000"/>
              </a:srgbClr>
            </a:solidFill>
            <a:prstDash val="solid"/>
          </a:ln>
        </p:spPr>
      </p:sp>
      <p:sp>
        <p:nvSpPr>
          <p:cNvPr id="18" name="Line 187"/>
          <p:cNvSpPr/>
          <p:nvPr/>
        </p:nvSpPr>
        <p:spPr>
          <a:xfrm>
            <a:off x="6206490" y="2971800"/>
            <a:ext cx="0" cy="182880"/>
          </a:xfrm>
          <a:prstGeom prst="line">
            <a:avLst/>
          </a:prstGeom>
          <a:noFill/>
          <a:ln w="15875">
            <a:solidFill>
              <a:srgbClr val="56604E">
                <a:alpha val="70000"/>
              </a:srgbClr>
            </a:solidFill>
            <a:prstDash val="solid"/>
          </a:ln>
        </p:spPr>
      </p:sp>
      <p:sp>
        <p:nvSpPr>
          <p:cNvPr id="19" name="Pill 188"/>
          <p:cNvSpPr/>
          <p:nvPr/>
        </p:nvSpPr>
        <p:spPr>
          <a:xfrm>
            <a:off x="434340" y="3154680"/>
            <a:ext cx="1531620" cy="384048"/>
          </a:xfrm>
          <a:prstGeom prst="roundRect">
            <a:avLst>
              <a:gd name="adj" fmla="val 50000"/>
            </a:avLst>
          </a:prstGeom>
          <a:solidFill>
            <a:srgbClr val="56604E"/>
          </a:solidFill>
          <a:ln/>
        </p:spPr>
        <p:txBody>
          <a:bodyPr wrap="square" lIns="0" tIns="0" rIns="0" bIns="0" rtlCol="0" anchor="ctr"/>
          <a:lstStyle/>
          <a:p>
            <a:pPr algn="ctr" indent="0" marL="0">
              <a:buNone/>
            </a:pPr>
            <a:r>
              <a:rPr lang="en-US" sz="1150" b="1" dirty="0">
                <a:solidFill>
                  <a:srgbClr val="F5F7F0"/>
                </a:solidFill>
              </a:rPr>
              <a:t>Enablement</a:t>
            </a:r>
            <a:endParaRPr lang="en-US" sz="1150" dirty="0"/>
          </a:p>
        </p:txBody>
      </p:sp>
      <p:sp>
        <p:nvSpPr>
          <p:cNvPr id="20" name="Line 189"/>
          <p:cNvSpPr/>
          <p:nvPr/>
        </p:nvSpPr>
        <p:spPr>
          <a:xfrm>
            <a:off x="1200150" y="3538728"/>
            <a:ext cx="0" cy="228600"/>
          </a:xfrm>
          <a:prstGeom prst="line">
            <a:avLst/>
          </a:prstGeom>
          <a:noFill/>
          <a:ln w="15875">
            <a:solidFill>
              <a:srgbClr val="56604E">
                <a:alpha val="50000"/>
              </a:srgbClr>
            </a:solidFill>
            <a:prstDash val="solid"/>
          </a:ln>
        </p:spPr>
      </p:sp>
      <p:sp>
        <p:nvSpPr>
          <p:cNvPr id="21" name="Role 190"/>
          <p:cNvSpPr/>
          <p:nvPr/>
        </p:nvSpPr>
        <p:spPr>
          <a:xfrm>
            <a:off x="434340" y="3767328"/>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Sales enablement</a:t>
            </a:r>
            <a:endParaRPr lang="en-US" sz="1000" dirty="0"/>
          </a:p>
        </p:txBody>
      </p:sp>
      <p:sp>
        <p:nvSpPr>
          <p:cNvPr id="22" name="Line 191"/>
          <p:cNvSpPr/>
          <p:nvPr/>
        </p:nvSpPr>
        <p:spPr>
          <a:xfrm>
            <a:off x="1200150" y="4151376"/>
            <a:ext cx="0" cy="100584"/>
          </a:xfrm>
          <a:prstGeom prst="line">
            <a:avLst/>
          </a:prstGeom>
          <a:noFill/>
          <a:ln w="15875">
            <a:solidFill>
              <a:srgbClr val="56604E">
                <a:alpha val="50000"/>
              </a:srgbClr>
            </a:solidFill>
            <a:prstDash val="solid"/>
          </a:ln>
        </p:spPr>
      </p:sp>
      <p:sp>
        <p:nvSpPr>
          <p:cNvPr id="23" name="Role 192"/>
          <p:cNvSpPr/>
          <p:nvPr/>
        </p:nvSpPr>
        <p:spPr>
          <a:xfrm>
            <a:off x="434340" y="4251960"/>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Change management</a:t>
            </a:r>
            <a:endParaRPr lang="en-US" sz="1000" dirty="0"/>
          </a:p>
        </p:txBody>
      </p:sp>
      <p:sp>
        <p:nvSpPr>
          <p:cNvPr id="24" name="Line 193"/>
          <p:cNvSpPr/>
          <p:nvPr/>
        </p:nvSpPr>
        <p:spPr>
          <a:xfrm>
            <a:off x="1200150" y="4636008"/>
            <a:ext cx="0" cy="100584"/>
          </a:xfrm>
          <a:prstGeom prst="line">
            <a:avLst/>
          </a:prstGeom>
          <a:noFill/>
          <a:ln w="15875">
            <a:solidFill>
              <a:srgbClr val="56604E">
                <a:alpha val="50000"/>
              </a:srgbClr>
            </a:solidFill>
            <a:prstDash val="solid"/>
          </a:ln>
        </p:spPr>
      </p:sp>
      <p:sp>
        <p:nvSpPr>
          <p:cNvPr id="25" name="Role 194"/>
          <p:cNvSpPr/>
          <p:nvPr/>
        </p:nvSpPr>
        <p:spPr>
          <a:xfrm>
            <a:off x="434340" y="4736592"/>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Content manager</a:t>
            </a:r>
            <a:endParaRPr lang="en-US" sz="1000" dirty="0"/>
          </a:p>
        </p:txBody>
      </p:sp>
      <p:sp>
        <p:nvSpPr>
          <p:cNvPr id="26" name="Pill 195"/>
          <p:cNvSpPr/>
          <p:nvPr/>
        </p:nvSpPr>
        <p:spPr>
          <a:xfrm>
            <a:off x="2103120" y="3154680"/>
            <a:ext cx="1531620" cy="384048"/>
          </a:xfrm>
          <a:prstGeom prst="roundRect">
            <a:avLst>
              <a:gd name="adj" fmla="val 50000"/>
            </a:avLst>
          </a:prstGeom>
          <a:solidFill>
            <a:srgbClr val="93A87B"/>
          </a:solidFill>
          <a:ln/>
        </p:spPr>
        <p:txBody>
          <a:bodyPr wrap="square" lIns="0" tIns="0" rIns="0" bIns="0" rtlCol="0" anchor="ctr"/>
          <a:lstStyle/>
          <a:p>
            <a:pPr algn="ctr" indent="0" marL="0">
              <a:buNone/>
            </a:pPr>
            <a:r>
              <a:rPr lang="en-US" sz="1150" b="1" dirty="0">
                <a:solidFill>
                  <a:srgbClr val="16261D"/>
                </a:solidFill>
              </a:rPr>
              <a:t>Insights</a:t>
            </a:r>
            <a:endParaRPr lang="en-US" sz="1150" dirty="0"/>
          </a:p>
        </p:txBody>
      </p:sp>
      <p:sp>
        <p:nvSpPr>
          <p:cNvPr id="27" name="Line 196"/>
          <p:cNvSpPr/>
          <p:nvPr/>
        </p:nvSpPr>
        <p:spPr>
          <a:xfrm>
            <a:off x="2868930" y="3538728"/>
            <a:ext cx="0" cy="228600"/>
          </a:xfrm>
          <a:prstGeom prst="line">
            <a:avLst/>
          </a:prstGeom>
          <a:noFill/>
          <a:ln w="15875">
            <a:solidFill>
              <a:srgbClr val="56604E">
                <a:alpha val="50000"/>
              </a:srgbClr>
            </a:solidFill>
            <a:prstDash val="solid"/>
          </a:ln>
        </p:spPr>
      </p:sp>
      <p:sp>
        <p:nvSpPr>
          <p:cNvPr id="28" name="Role 197"/>
          <p:cNvSpPr/>
          <p:nvPr/>
        </p:nvSpPr>
        <p:spPr>
          <a:xfrm>
            <a:off x="2103120" y="3767328"/>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Marketing data analyst</a:t>
            </a:r>
            <a:endParaRPr lang="en-US" sz="1000" dirty="0"/>
          </a:p>
        </p:txBody>
      </p:sp>
      <p:sp>
        <p:nvSpPr>
          <p:cNvPr id="29" name="Line 198"/>
          <p:cNvSpPr/>
          <p:nvPr/>
        </p:nvSpPr>
        <p:spPr>
          <a:xfrm>
            <a:off x="2868930" y="4151376"/>
            <a:ext cx="0" cy="100584"/>
          </a:xfrm>
          <a:prstGeom prst="line">
            <a:avLst/>
          </a:prstGeom>
          <a:noFill/>
          <a:ln w="15875">
            <a:solidFill>
              <a:srgbClr val="56604E">
                <a:alpha val="50000"/>
              </a:srgbClr>
            </a:solidFill>
            <a:prstDash val="solid"/>
          </a:ln>
        </p:spPr>
      </p:sp>
      <p:sp>
        <p:nvSpPr>
          <p:cNvPr id="30" name="Role 199"/>
          <p:cNvSpPr/>
          <p:nvPr/>
        </p:nvSpPr>
        <p:spPr>
          <a:xfrm>
            <a:off x="2103120" y="4251960"/>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Sales data analyst</a:t>
            </a:r>
            <a:endParaRPr lang="en-US" sz="1000" dirty="0"/>
          </a:p>
        </p:txBody>
      </p:sp>
      <p:sp>
        <p:nvSpPr>
          <p:cNvPr id="31" name="Line 200"/>
          <p:cNvSpPr/>
          <p:nvPr/>
        </p:nvSpPr>
        <p:spPr>
          <a:xfrm>
            <a:off x="2868930" y="4636008"/>
            <a:ext cx="0" cy="100584"/>
          </a:xfrm>
          <a:prstGeom prst="line">
            <a:avLst/>
          </a:prstGeom>
          <a:noFill/>
          <a:ln w="15875">
            <a:solidFill>
              <a:srgbClr val="56604E">
                <a:alpha val="50000"/>
              </a:srgbClr>
            </a:solidFill>
            <a:prstDash val="solid"/>
          </a:ln>
        </p:spPr>
      </p:sp>
      <p:sp>
        <p:nvSpPr>
          <p:cNvPr id="32" name="Role 201"/>
          <p:cNvSpPr/>
          <p:nvPr/>
        </p:nvSpPr>
        <p:spPr>
          <a:xfrm>
            <a:off x="2103120" y="4736592"/>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CS data analyst</a:t>
            </a:r>
            <a:endParaRPr lang="en-US" sz="1000" dirty="0"/>
          </a:p>
        </p:txBody>
      </p:sp>
      <p:sp>
        <p:nvSpPr>
          <p:cNvPr id="33" name="Pill 202"/>
          <p:cNvSpPr/>
          <p:nvPr/>
        </p:nvSpPr>
        <p:spPr>
          <a:xfrm>
            <a:off x="3771900" y="3154680"/>
            <a:ext cx="1531620" cy="384048"/>
          </a:xfrm>
          <a:prstGeom prst="roundRect">
            <a:avLst>
              <a:gd name="adj" fmla="val 50000"/>
            </a:avLst>
          </a:prstGeom>
          <a:solidFill>
            <a:srgbClr val="1F3529"/>
          </a:solidFill>
          <a:ln/>
        </p:spPr>
        <p:txBody>
          <a:bodyPr wrap="square" lIns="0" tIns="0" rIns="0" bIns="0" rtlCol="0" anchor="ctr"/>
          <a:lstStyle/>
          <a:p>
            <a:pPr algn="ctr" indent="0" marL="0">
              <a:buNone/>
            </a:pPr>
            <a:r>
              <a:rPr lang="en-US" sz="1150" b="1" dirty="0">
                <a:solidFill>
                  <a:srgbClr val="F5F7F0"/>
                </a:solidFill>
              </a:rPr>
              <a:t>Systems</a:t>
            </a:r>
            <a:endParaRPr lang="en-US" sz="1150" dirty="0"/>
          </a:p>
        </p:txBody>
      </p:sp>
      <p:sp>
        <p:nvSpPr>
          <p:cNvPr id="34" name="Line 203"/>
          <p:cNvSpPr/>
          <p:nvPr/>
        </p:nvSpPr>
        <p:spPr>
          <a:xfrm>
            <a:off x="4537710" y="3538728"/>
            <a:ext cx="0" cy="228600"/>
          </a:xfrm>
          <a:prstGeom prst="line">
            <a:avLst/>
          </a:prstGeom>
          <a:noFill/>
          <a:ln w="15875">
            <a:solidFill>
              <a:srgbClr val="56604E">
                <a:alpha val="50000"/>
              </a:srgbClr>
            </a:solidFill>
            <a:prstDash val="solid"/>
          </a:ln>
        </p:spPr>
      </p:sp>
      <p:sp>
        <p:nvSpPr>
          <p:cNvPr id="35" name="Role 204"/>
          <p:cNvSpPr/>
          <p:nvPr/>
        </p:nvSpPr>
        <p:spPr>
          <a:xfrm>
            <a:off x="3771900" y="3767328"/>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CRM admin</a:t>
            </a:r>
            <a:endParaRPr lang="en-US" sz="1000" dirty="0"/>
          </a:p>
        </p:txBody>
      </p:sp>
      <p:sp>
        <p:nvSpPr>
          <p:cNvPr id="36" name="Line 205"/>
          <p:cNvSpPr/>
          <p:nvPr/>
        </p:nvSpPr>
        <p:spPr>
          <a:xfrm>
            <a:off x="4537710" y="4151376"/>
            <a:ext cx="0" cy="100584"/>
          </a:xfrm>
          <a:prstGeom prst="line">
            <a:avLst/>
          </a:prstGeom>
          <a:noFill/>
          <a:ln w="15875">
            <a:solidFill>
              <a:srgbClr val="56604E">
                <a:alpha val="50000"/>
              </a:srgbClr>
            </a:solidFill>
            <a:prstDash val="solid"/>
          </a:ln>
        </p:spPr>
      </p:sp>
      <p:sp>
        <p:nvSpPr>
          <p:cNvPr id="37" name="Role 206"/>
          <p:cNvSpPr/>
          <p:nvPr/>
        </p:nvSpPr>
        <p:spPr>
          <a:xfrm>
            <a:off x="3771900" y="4251960"/>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Marketing automation admin</a:t>
            </a:r>
            <a:endParaRPr lang="en-US" sz="1000" dirty="0"/>
          </a:p>
        </p:txBody>
      </p:sp>
      <p:sp>
        <p:nvSpPr>
          <p:cNvPr id="38" name="Line 207"/>
          <p:cNvSpPr/>
          <p:nvPr/>
        </p:nvSpPr>
        <p:spPr>
          <a:xfrm>
            <a:off x="4537710" y="4636008"/>
            <a:ext cx="0" cy="100584"/>
          </a:xfrm>
          <a:prstGeom prst="line">
            <a:avLst/>
          </a:prstGeom>
          <a:noFill/>
          <a:ln w="15875">
            <a:solidFill>
              <a:srgbClr val="56604E">
                <a:alpha val="50000"/>
              </a:srgbClr>
            </a:solidFill>
            <a:prstDash val="solid"/>
          </a:ln>
        </p:spPr>
      </p:sp>
      <p:sp>
        <p:nvSpPr>
          <p:cNvPr id="39" name="Role 208"/>
          <p:cNvSpPr/>
          <p:nvPr/>
        </p:nvSpPr>
        <p:spPr>
          <a:xfrm>
            <a:off x="3771900" y="4736592"/>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CX admin</a:t>
            </a:r>
            <a:endParaRPr lang="en-US" sz="1000" dirty="0"/>
          </a:p>
        </p:txBody>
      </p:sp>
      <p:sp>
        <p:nvSpPr>
          <p:cNvPr id="40" name="Line 209"/>
          <p:cNvSpPr/>
          <p:nvPr/>
        </p:nvSpPr>
        <p:spPr>
          <a:xfrm>
            <a:off x="4537710" y="5120640"/>
            <a:ext cx="0" cy="100584"/>
          </a:xfrm>
          <a:prstGeom prst="line">
            <a:avLst/>
          </a:prstGeom>
          <a:noFill/>
          <a:ln w="15875">
            <a:solidFill>
              <a:srgbClr val="56604E">
                <a:alpha val="50000"/>
              </a:srgbClr>
            </a:solidFill>
            <a:prstDash val="solid"/>
          </a:ln>
        </p:spPr>
      </p:sp>
      <p:sp>
        <p:nvSpPr>
          <p:cNvPr id="41" name="Role 210"/>
          <p:cNvSpPr/>
          <p:nvPr/>
        </p:nvSpPr>
        <p:spPr>
          <a:xfrm>
            <a:off x="3771900" y="5221224"/>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Systems engineer</a:t>
            </a:r>
            <a:endParaRPr lang="en-US" sz="1000" dirty="0"/>
          </a:p>
        </p:txBody>
      </p:sp>
      <p:sp>
        <p:nvSpPr>
          <p:cNvPr id="42" name="Pill 211"/>
          <p:cNvSpPr/>
          <p:nvPr/>
        </p:nvSpPr>
        <p:spPr>
          <a:xfrm>
            <a:off x="5440680" y="3154680"/>
            <a:ext cx="1531620" cy="384048"/>
          </a:xfrm>
          <a:prstGeom prst="roundRect">
            <a:avLst>
              <a:gd name="adj" fmla="val 50000"/>
            </a:avLst>
          </a:prstGeom>
          <a:solidFill>
            <a:srgbClr val="7E8C70"/>
          </a:solidFill>
          <a:ln/>
        </p:spPr>
        <p:txBody>
          <a:bodyPr wrap="square" lIns="0" tIns="0" rIns="0" bIns="0" rtlCol="0" anchor="ctr"/>
          <a:lstStyle/>
          <a:p>
            <a:pPr algn="ctr" indent="0" marL="0">
              <a:buNone/>
            </a:pPr>
            <a:r>
              <a:rPr lang="en-US" sz="1150" b="1" dirty="0">
                <a:solidFill>
                  <a:srgbClr val="F5F7F0"/>
                </a:solidFill>
              </a:rPr>
              <a:t>Strategy and process</a:t>
            </a:r>
            <a:endParaRPr lang="en-US" sz="1150" dirty="0"/>
          </a:p>
        </p:txBody>
      </p:sp>
      <p:sp>
        <p:nvSpPr>
          <p:cNvPr id="43" name="Line 212"/>
          <p:cNvSpPr/>
          <p:nvPr/>
        </p:nvSpPr>
        <p:spPr>
          <a:xfrm>
            <a:off x="6206490" y="3538728"/>
            <a:ext cx="0" cy="228600"/>
          </a:xfrm>
          <a:prstGeom prst="line">
            <a:avLst/>
          </a:prstGeom>
          <a:noFill/>
          <a:ln w="15875">
            <a:solidFill>
              <a:srgbClr val="56604E">
                <a:alpha val="50000"/>
              </a:srgbClr>
            </a:solidFill>
            <a:prstDash val="solid"/>
          </a:ln>
        </p:spPr>
      </p:sp>
      <p:sp>
        <p:nvSpPr>
          <p:cNvPr id="44" name="Role 213"/>
          <p:cNvSpPr/>
          <p:nvPr/>
        </p:nvSpPr>
        <p:spPr>
          <a:xfrm>
            <a:off x="5440680" y="3767328"/>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Deal desk</a:t>
            </a:r>
            <a:endParaRPr lang="en-US" sz="1000" dirty="0"/>
          </a:p>
        </p:txBody>
      </p:sp>
      <p:sp>
        <p:nvSpPr>
          <p:cNvPr id="45" name="Line 214"/>
          <p:cNvSpPr/>
          <p:nvPr/>
        </p:nvSpPr>
        <p:spPr>
          <a:xfrm>
            <a:off x="6206490" y="4151376"/>
            <a:ext cx="0" cy="100584"/>
          </a:xfrm>
          <a:prstGeom prst="line">
            <a:avLst/>
          </a:prstGeom>
          <a:noFill/>
          <a:ln w="15875">
            <a:solidFill>
              <a:srgbClr val="56604E">
                <a:alpha val="50000"/>
              </a:srgbClr>
            </a:solidFill>
            <a:prstDash val="solid"/>
          </a:ln>
        </p:spPr>
      </p:sp>
      <p:sp>
        <p:nvSpPr>
          <p:cNvPr id="46" name="Role 215"/>
          <p:cNvSpPr/>
          <p:nvPr/>
        </p:nvSpPr>
        <p:spPr>
          <a:xfrm>
            <a:off x="5440680" y="4251960"/>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Compensation manager</a:t>
            </a:r>
            <a:endParaRPr lang="en-US" sz="1000" dirty="0"/>
          </a:p>
        </p:txBody>
      </p:sp>
      <p:sp>
        <p:nvSpPr>
          <p:cNvPr id="47" name="Line 216"/>
          <p:cNvSpPr/>
          <p:nvPr/>
        </p:nvSpPr>
        <p:spPr>
          <a:xfrm>
            <a:off x="6206490" y="4636008"/>
            <a:ext cx="0" cy="100584"/>
          </a:xfrm>
          <a:prstGeom prst="line">
            <a:avLst/>
          </a:prstGeom>
          <a:noFill/>
          <a:ln w="15875">
            <a:solidFill>
              <a:srgbClr val="56604E">
                <a:alpha val="50000"/>
              </a:srgbClr>
            </a:solidFill>
            <a:prstDash val="solid"/>
          </a:ln>
        </p:spPr>
      </p:sp>
      <p:sp>
        <p:nvSpPr>
          <p:cNvPr id="48" name="Role 217"/>
          <p:cNvSpPr/>
          <p:nvPr/>
        </p:nvSpPr>
        <p:spPr>
          <a:xfrm>
            <a:off x="5440680" y="4736592"/>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RevOps analyst</a:t>
            </a:r>
            <a:endParaRPr lang="en-US" sz="1000" dirty="0"/>
          </a:p>
        </p:txBody>
      </p:sp>
      <p:sp>
        <p:nvSpPr>
          <p:cNvPr id="49" name="Line 218"/>
          <p:cNvSpPr/>
          <p:nvPr/>
        </p:nvSpPr>
        <p:spPr>
          <a:xfrm>
            <a:off x="6206490" y="5120640"/>
            <a:ext cx="0" cy="100584"/>
          </a:xfrm>
          <a:prstGeom prst="line">
            <a:avLst/>
          </a:prstGeom>
          <a:noFill/>
          <a:ln w="15875">
            <a:solidFill>
              <a:srgbClr val="56604E">
                <a:alpha val="50000"/>
              </a:srgbClr>
            </a:solidFill>
            <a:prstDash val="solid"/>
          </a:ln>
        </p:spPr>
      </p:sp>
      <p:sp>
        <p:nvSpPr>
          <p:cNvPr id="50" name="Role 219"/>
          <p:cNvSpPr/>
          <p:nvPr/>
        </p:nvSpPr>
        <p:spPr>
          <a:xfrm>
            <a:off x="5440680" y="5221224"/>
            <a:ext cx="153162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GTM engineer</a:t>
            </a:r>
            <a:endParaRPr lang="en-US" sz="1000" dirty="0"/>
          </a:p>
        </p:txBody>
      </p:sp>
      <p:sp>
        <p:nvSpPr>
          <p:cNvPr id="51" name="Pill 220"/>
          <p:cNvSpPr/>
          <p:nvPr/>
        </p:nvSpPr>
        <p:spPr>
          <a:xfrm>
            <a:off x="728776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Marketing</a:t>
            </a:r>
            <a:endParaRPr lang="en-US" sz="1100" dirty="0"/>
          </a:p>
        </p:txBody>
      </p:sp>
      <p:sp>
        <p:nvSpPr>
          <p:cNvPr id="52" name="Line 221"/>
          <p:cNvSpPr/>
          <p:nvPr/>
        </p:nvSpPr>
        <p:spPr>
          <a:xfrm>
            <a:off x="8001000" y="2697480"/>
            <a:ext cx="0" cy="457200"/>
          </a:xfrm>
          <a:prstGeom prst="line">
            <a:avLst/>
          </a:prstGeom>
          <a:noFill/>
          <a:ln w="15875">
            <a:solidFill>
              <a:srgbClr val="56604E">
                <a:alpha val="70000"/>
              </a:srgbClr>
            </a:solidFill>
            <a:prstDash val="solid"/>
          </a:ln>
        </p:spPr>
      </p:sp>
      <p:sp>
        <p:nvSpPr>
          <p:cNvPr id="53" name="Pill 222"/>
          <p:cNvSpPr/>
          <p:nvPr/>
        </p:nvSpPr>
        <p:spPr>
          <a:xfrm>
            <a:off x="731520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Marketing team</a:t>
            </a:r>
            <a:endParaRPr lang="en-US" sz="1100" dirty="0"/>
          </a:p>
        </p:txBody>
      </p:sp>
      <p:sp>
        <p:nvSpPr>
          <p:cNvPr id="54" name="Line 223"/>
          <p:cNvSpPr/>
          <p:nvPr/>
        </p:nvSpPr>
        <p:spPr>
          <a:xfrm>
            <a:off x="8001000" y="3538728"/>
            <a:ext cx="0" cy="1874520"/>
          </a:xfrm>
          <a:prstGeom prst="line">
            <a:avLst/>
          </a:prstGeom>
          <a:noFill/>
          <a:ln w="22225">
            <a:solidFill>
              <a:srgbClr val="93A87B"/>
            </a:solidFill>
            <a:prstDash val="sysDot"/>
          </a:ln>
        </p:spPr>
      </p:sp>
      <p:sp>
        <p:nvSpPr>
          <p:cNvPr id="55" name="Pill 224"/>
          <p:cNvSpPr/>
          <p:nvPr/>
        </p:nvSpPr>
        <p:spPr>
          <a:xfrm>
            <a:off x="879652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Sales</a:t>
            </a:r>
            <a:endParaRPr lang="en-US" sz="1100" dirty="0"/>
          </a:p>
        </p:txBody>
      </p:sp>
      <p:sp>
        <p:nvSpPr>
          <p:cNvPr id="56" name="Line 225"/>
          <p:cNvSpPr/>
          <p:nvPr/>
        </p:nvSpPr>
        <p:spPr>
          <a:xfrm>
            <a:off x="9509760" y="2697480"/>
            <a:ext cx="0" cy="457200"/>
          </a:xfrm>
          <a:prstGeom prst="line">
            <a:avLst/>
          </a:prstGeom>
          <a:noFill/>
          <a:ln w="15875">
            <a:solidFill>
              <a:srgbClr val="56604E">
                <a:alpha val="70000"/>
              </a:srgbClr>
            </a:solidFill>
            <a:prstDash val="solid"/>
          </a:ln>
        </p:spPr>
      </p:sp>
      <p:sp>
        <p:nvSpPr>
          <p:cNvPr id="57" name="Pill 226"/>
          <p:cNvSpPr/>
          <p:nvPr/>
        </p:nvSpPr>
        <p:spPr>
          <a:xfrm>
            <a:off x="882396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Sales team</a:t>
            </a:r>
            <a:endParaRPr lang="en-US" sz="1100" dirty="0"/>
          </a:p>
        </p:txBody>
      </p:sp>
      <p:sp>
        <p:nvSpPr>
          <p:cNvPr id="58" name="Line 227"/>
          <p:cNvSpPr/>
          <p:nvPr/>
        </p:nvSpPr>
        <p:spPr>
          <a:xfrm>
            <a:off x="9509760" y="3538728"/>
            <a:ext cx="0" cy="1874520"/>
          </a:xfrm>
          <a:prstGeom prst="line">
            <a:avLst/>
          </a:prstGeom>
          <a:noFill/>
          <a:ln w="22225">
            <a:solidFill>
              <a:srgbClr val="93A87B"/>
            </a:solidFill>
            <a:prstDash val="sysDot"/>
          </a:ln>
        </p:spPr>
      </p:sp>
      <p:sp>
        <p:nvSpPr>
          <p:cNvPr id="59" name="Pill 228"/>
          <p:cNvSpPr/>
          <p:nvPr/>
        </p:nvSpPr>
        <p:spPr>
          <a:xfrm>
            <a:off x="1030528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CS</a:t>
            </a:r>
            <a:endParaRPr lang="en-US" sz="1100" dirty="0"/>
          </a:p>
        </p:txBody>
      </p:sp>
      <p:sp>
        <p:nvSpPr>
          <p:cNvPr id="60" name="Line 229"/>
          <p:cNvSpPr/>
          <p:nvPr/>
        </p:nvSpPr>
        <p:spPr>
          <a:xfrm>
            <a:off x="11018520" y="2697480"/>
            <a:ext cx="0" cy="457200"/>
          </a:xfrm>
          <a:prstGeom prst="line">
            <a:avLst/>
          </a:prstGeom>
          <a:noFill/>
          <a:ln w="15875">
            <a:solidFill>
              <a:srgbClr val="56604E">
                <a:alpha val="70000"/>
              </a:srgbClr>
            </a:solidFill>
            <a:prstDash val="solid"/>
          </a:ln>
        </p:spPr>
      </p:sp>
      <p:sp>
        <p:nvSpPr>
          <p:cNvPr id="61" name="Pill 230"/>
          <p:cNvSpPr/>
          <p:nvPr/>
        </p:nvSpPr>
        <p:spPr>
          <a:xfrm>
            <a:off x="1033272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CS team</a:t>
            </a:r>
            <a:endParaRPr lang="en-US" sz="1100" dirty="0"/>
          </a:p>
        </p:txBody>
      </p:sp>
      <p:sp>
        <p:nvSpPr>
          <p:cNvPr id="62" name="Line 231"/>
          <p:cNvSpPr/>
          <p:nvPr/>
        </p:nvSpPr>
        <p:spPr>
          <a:xfrm>
            <a:off x="11018520" y="3538728"/>
            <a:ext cx="0" cy="1874520"/>
          </a:xfrm>
          <a:prstGeom prst="line">
            <a:avLst/>
          </a:prstGeom>
          <a:noFill/>
          <a:ln w="22225">
            <a:solidFill>
              <a:srgbClr val="93A87B"/>
            </a:solidFill>
            <a:prstDash val="sysDot"/>
          </a:ln>
        </p:spPr>
      </p:sp>
      <p:sp>
        <p:nvSpPr>
          <p:cNvPr id="63" name="Line 232"/>
          <p:cNvSpPr/>
          <p:nvPr/>
        </p:nvSpPr>
        <p:spPr>
          <a:xfrm>
            <a:off x="6972300" y="5413248"/>
            <a:ext cx="4046220" cy="0"/>
          </a:xfrm>
          <a:prstGeom prst="line">
            <a:avLst/>
          </a:prstGeom>
          <a:noFill/>
          <a:ln w="22225">
            <a:solidFill>
              <a:srgbClr val="93A87B"/>
            </a:solidFill>
            <a:prstDash val="sysDot"/>
          </a:ln>
        </p:spPr>
      </p:sp>
      <p:sp>
        <p:nvSpPr>
          <p:cNvPr id="64" name="Text 233"/>
          <p:cNvSpPr txBox="1"/>
          <p:nvPr/>
        </p:nvSpPr>
        <p:spPr>
          <a:xfrm>
            <a:off x="7406640" y="5504688"/>
            <a:ext cx="4389120" cy="274320"/>
          </a:xfrm>
          <a:prstGeom prst="rect">
            <a:avLst/>
          </a:prstGeom>
          <a:noFill/>
          <a:ln/>
        </p:spPr>
        <p:txBody>
          <a:bodyPr wrap="square" lIns="0" tIns="0" rIns="0" bIns="0" rtlCol="0" anchor="t"/>
          <a:lstStyle/>
          <a:p>
            <a:pPr algn="r" indent="0" marL="0">
              <a:buNone/>
            </a:pPr>
            <a:r>
              <a:rPr lang="en-US" sz="1000" i="1" dirty="0">
                <a:solidFill>
                  <a:srgbClr val="56604E"/>
                </a:solidFill>
              </a:rPr>
              <a:t>GTM engineering serves every team</a:t>
            </a:r>
            <a:endParaRPr lang="en-US" sz="1000" dirty="0"/>
          </a:p>
        </p:txBody>
      </p:sp>
      <p:sp>
        <p:nvSpPr>
          <p:cNvPr id="65" name="Pill 234"/>
          <p:cNvSpPr/>
          <p:nvPr/>
        </p:nvSpPr>
        <p:spPr>
          <a:xfrm>
            <a:off x="7863840" y="5897880"/>
            <a:ext cx="3959352" cy="384048"/>
          </a:xfrm>
          <a:prstGeom prst="roundRect">
            <a:avLst>
              <a:gd name="adj" fmla="val 50000"/>
            </a:avLst>
          </a:prstGeom>
          <a:solidFill>
            <a:srgbClr val="F5F7F0"/>
          </a:solidFill>
          <a:ln w="15875">
            <a:solidFill>
              <a:srgbClr val="93A87B"/>
            </a:solidFill>
          </a:ln>
        </p:spPr>
        <p:txBody>
          <a:bodyPr wrap="square" lIns="0" tIns="0" rIns="0" bIns="0" rtlCol="0" anchor="ctr"/>
          <a:lstStyle/>
          <a:p>
            <a:pPr algn="ctr" indent="0" marL="0">
              <a:buNone/>
            </a:pPr>
            <a:r>
              <a:rPr lang="en-US" sz="1200" b="1" dirty="0">
                <a:solidFill>
                  <a:srgbClr val="16261D"/>
                </a:solidFill>
              </a:rPr>
              <a:t>Consider help from agencies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STRUCTURING REVOPS  ·  OPTION 2</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A departmental RevOps structure</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Line 235"/>
          <p:cNvSpPr/>
          <p:nvPr/>
        </p:nvSpPr>
        <p:spPr>
          <a:xfrm>
            <a:off x="7360920" y="1783080"/>
            <a:ext cx="0" cy="228600"/>
          </a:xfrm>
          <a:prstGeom prst="line">
            <a:avLst/>
          </a:prstGeom>
          <a:noFill/>
          <a:ln w="15875">
            <a:solidFill>
              <a:srgbClr val="56604E">
                <a:alpha val="70000"/>
              </a:srgbClr>
            </a:solidFill>
            <a:prstDash val="solid"/>
          </a:ln>
        </p:spPr>
      </p:sp>
      <p:sp>
        <p:nvSpPr>
          <p:cNvPr id="6" name="Line 236"/>
          <p:cNvSpPr/>
          <p:nvPr/>
        </p:nvSpPr>
        <p:spPr>
          <a:xfrm>
            <a:off x="3703320" y="2011680"/>
            <a:ext cx="7315200" cy="0"/>
          </a:xfrm>
          <a:prstGeom prst="line">
            <a:avLst/>
          </a:prstGeom>
          <a:noFill/>
          <a:ln w="15875">
            <a:solidFill>
              <a:srgbClr val="56604E">
                <a:alpha val="70000"/>
              </a:srgbClr>
            </a:solidFill>
            <a:prstDash val="solid"/>
          </a:ln>
        </p:spPr>
      </p:sp>
      <p:sp>
        <p:nvSpPr>
          <p:cNvPr id="7" name="Line 237"/>
          <p:cNvSpPr/>
          <p:nvPr/>
        </p:nvSpPr>
        <p:spPr>
          <a:xfrm>
            <a:off x="3703320" y="2011680"/>
            <a:ext cx="0" cy="228600"/>
          </a:xfrm>
          <a:prstGeom prst="line">
            <a:avLst/>
          </a:prstGeom>
          <a:noFill/>
          <a:ln w="15875">
            <a:solidFill>
              <a:srgbClr val="56604E">
                <a:alpha val="70000"/>
              </a:srgbClr>
            </a:solidFill>
            <a:prstDash val="solid"/>
          </a:ln>
        </p:spPr>
      </p:sp>
      <p:sp>
        <p:nvSpPr>
          <p:cNvPr id="8" name="Line 238"/>
          <p:cNvSpPr/>
          <p:nvPr/>
        </p:nvSpPr>
        <p:spPr>
          <a:xfrm>
            <a:off x="8001000" y="2011680"/>
            <a:ext cx="0" cy="228600"/>
          </a:xfrm>
          <a:prstGeom prst="line">
            <a:avLst/>
          </a:prstGeom>
          <a:noFill/>
          <a:ln w="15875">
            <a:solidFill>
              <a:srgbClr val="56604E">
                <a:alpha val="70000"/>
              </a:srgbClr>
            </a:solidFill>
            <a:prstDash val="solid"/>
          </a:ln>
        </p:spPr>
      </p:sp>
      <p:sp>
        <p:nvSpPr>
          <p:cNvPr id="9" name="Line 239"/>
          <p:cNvSpPr/>
          <p:nvPr/>
        </p:nvSpPr>
        <p:spPr>
          <a:xfrm>
            <a:off x="9509760" y="2011680"/>
            <a:ext cx="0" cy="228600"/>
          </a:xfrm>
          <a:prstGeom prst="line">
            <a:avLst/>
          </a:prstGeom>
          <a:noFill/>
          <a:ln w="15875">
            <a:solidFill>
              <a:srgbClr val="56604E">
                <a:alpha val="70000"/>
              </a:srgbClr>
            </a:solidFill>
            <a:prstDash val="solid"/>
          </a:ln>
        </p:spPr>
      </p:sp>
      <p:sp>
        <p:nvSpPr>
          <p:cNvPr id="10" name="Line 240"/>
          <p:cNvSpPr/>
          <p:nvPr/>
        </p:nvSpPr>
        <p:spPr>
          <a:xfrm>
            <a:off x="11018520" y="2011680"/>
            <a:ext cx="0" cy="228600"/>
          </a:xfrm>
          <a:prstGeom prst="line">
            <a:avLst/>
          </a:prstGeom>
          <a:noFill/>
          <a:ln w="15875">
            <a:solidFill>
              <a:srgbClr val="56604E">
                <a:alpha val="70000"/>
              </a:srgbClr>
            </a:solidFill>
            <a:prstDash val="solid"/>
          </a:ln>
        </p:spPr>
      </p:sp>
      <p:sp>
        <p:nvSpPr>
          <p:cNvPr id="11" name="Pill 241"/>
          <p:cNvSpPr/>
          <p:nvPr/>
        </p:nvSpPr>
        <p:spPr>
          <a:xfrm>
            <a:off x="6629400" y="1371600"/>
            <a:ext cx="1463040" cy="41148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400" b="1" dirty="0">
                <a:solidFill>
                  <a:srgbClr val="F5F7F0"/>
                </a:solidFill>
              </a:rPr>
              <a:t>CXO</a:t>
            </a:r>
            <a:endParaRPr lang="en-US" sz="1400" dirty="0"/>
          </a:p>
        </p:txBody>
      </p:sp>
      <p:sp>
        <p:nvSpPr>
          <p:cNvPr id="12" name="Pill 242"/>
          <p:cNvSpPr/>
          <p:nvPr/>
        </p:nvSpPr>
        <p:spPr>
          <a:xfrm>
            <a:off x="2834640" y="2240280"/>
            <a:ext cx="1737360"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200" b="1" dirty="0">
                <a:solidFill>
                  <a:srgbClr val="F5F7F0"/>
                </a:solidFill>
              </a:rPr>
              <a:t>Head of RevOps</a:t>
            </a:r>
            <a:endParaRPr lang="en-US" sz="1200" dirty="0"/>
          </a:p>
        </p:txBody>
      </p:sp>
      <p:sp>
        <p:nvSpPr>
          <p:cNvPr id="13" name="Line 243"/>
          <p:cNvSpPr/>
          <p:nvPr/>
        </p:nvSpPr>
        <p:spPr>
          <a:xfrm>
            <a:off x="3703320" y="2697480"/>
            <a:ext cx="0" cy="274320"/>
          </a:xfrm>
          <a:prstGeom prst="line">
            <a:avLst/>
          </a:prstGeom>
          <a:noFill/>
          <a:ln w="15875">
            <a:solidFill>
              <a:srgbClr val="56604E">
                <a:alpha val="70000"/>
              </a:srgbClr>
            </a:solidFill>
            <a:prstDash val="solid"/>
          </a:ln>
        </p:spPr>
      </p:sp>
      <p:sp>
        <p:nvSpPr>
          <p:cNvPr id="14" name="Line 244"/>
          <p:cNvSpPr/>
          <p:nvPr/>
        </p:nvSpPr>
        <p:spPr>
          <a:xfrm>
            <a:off x="1478280" y="2971800"/>
            <a:ext cx="4450080" cy="0"/>
          </a:xfrm>
          <a:prstGeom prst="line">
            <a:avLst/>
          </a:prstGeom>
          <a:noFill/>
          <a:ln w="15875">
            <a:solidFill>
              <a:srgbClr val="56604E">
                <a:alpha val="70000"/>
              </a:srgbClr>
            </a:solidFill>
            <a:prstDash val="solid"/>
          </a:ln>
        </p:spPr>
      </p:sp>
      <p:sp>
        <p:nvSpPr>
          <p:cNvPr id="15" name="Line 245"/>
          <p:cNvSpPr/>
          <p:nvPr/>
        </p:nvSpPr>
        <p:spPr>
          <a:xfrm>
            <a:off x="1478280" y="2971800"/>
            <a:ext cx="0" cy="182880"/>
          </a:xfrm>
          <a:prstGeom prst="line">
            <a:avLst/>
          </a:prstGeom>
          <a:noFill/>
          <a:ln w="15875">
            <a:solidFill>
              <a:srgbClr val="56604E">
                <a:alpha val="70000"/>
              </a:srgbClr>
            </a:solidFill>
            <a:prstDash val="solid"/>
          </a:ln>
        </p:spPr>
      </p:sp>
      <p:sp>
        <p:nvSpPr>
          <p:cNvPr id="16" name="Line 246"/>
          <p:cNvSpPr/>
          <p:nvPr/>
        </p:nvSpPr>
        <p:spPr>
          <a:xfrm>
            <a:off x="3703320" y="2971800"/>
            <a:ext cx="0" cy="182880"/>
          </a:xfrm>
          <a:prstGeom prst="line">
            <a:avLst/>
          </a:prstGeom>
          <a:noFill/>
          <a:ln w="15875">
            <a:solidFill>
              <a:srgbClr val="56604E">
                <a:alpha val="70000"/>
              </a:srgbClr>
            </a:solidFill>
            <a:prstDash val="solid"/>
          </a:ln>
        </p:spPr>
      </p:sp>
      <p:sp>
        <p:nvSpPr>
          <p:cNvPr id="17" name="Line 247"/>
          <p:cNvSpPr/>
          <p:nvPr/>
        </p:nvSpPr>
        <p:spPr>
          <a:xfrm>
            <a:off x="5928360" y="2971800"/>
            <a:ext cx="0" cy="182880"/>
          </a:xfrm>
          <a:prstGeom prst="line">
            <a:avLst/>
          </a:prstGeom>
          <a:noFill/>
          <a:ln w="15875">
            <a:solidFill>
              <a:srgbClr val="56604E">
                <a:alpha val="70000"/>
              </a:srgbClr>
            </a:solidFill>
            <a:prstDash val="solid"/>
          </a:ln>
        </p:spPr>
      </p:sp>
      <p:sp>
        <p:nvSpPr>
          <p:cNvPr id="18" name="Pill 248"/>
          <p:cNvSpPr/>
          <p:nvPr/>
        </p:nvSpPr>
        <p:spPr>
          <a:xfrm>
            <a:off x="678180" y="3154680"/>
            <a:ext cx="16002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50" b="1" dirty="0">
                <a:solidFill>
                  <a:srgbClr val="16261D"/>
                </a:solidFill>
              </a:rPr>
              <a:t>Marketing ops</a:t>
            </a:r>
            <a:endParaRPr lang="en-US" sz="1150" dirty="0"/>
          </a:p>
        </p:txBody>
      </p:sp>
      <p:sp>
        <p:nvSpPr>
          <p:cNvPr id="19" name="Line 249"/>
          <p:cNvSpPr/>
          <p:nvPr/>
        </p:nvSpPr>
        <p:spPr>
          <a:xfrm>
            <a:off x="1478280" y="3538728"/>
            <a:ext cx="0" cy="228600"/>
          </a:xfrm>
          <a:prstGeom prst="line">
            <a:avLst/>
          </a:prstGeom>
          <a:noFill/>
          <a:ln w="15875">
            <a:solidFill>
              <a:srgbClr val="56604E">
                <a:alpha val="50000"/>
              </a:srgbClr>
            </a:solidFill>
            <a:prstDash val="solid"/>
          </a:ln>
        </p:spPr>
      </p:sp>
      <p:sp>
        <p:nvSpPr>
          <p:cNvPr id="20" name="Role 250"/>
          <p:cNvSpPr/>
          <p:nvPr/>
        </p:nvSpPr>
        <p:spPr>
          <a:xfrm>
            <a:off x="678180" y="3767328"/>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Marketing automation admin</a:t>
            </a:r>
            <a:endParaRPr lang="en-US" sz="1000" dirty="0"/>
          </a:p>
        </p:txBody>
      </p:sp>
      <p:sp>
        <p:nvSpPr>
          <p:cNvPr id="21" name="Line 251"/>
          <p:cNvSpPr/>
          <p:nvPr/>
        </p:nvSpPr>
        <p:spPr>
          <a:xfrm>
            <a:off x="1478280" y="4151376"/>
            <a:ext cx="0" cy="100584"/>
          </a:xfrm>
          <a:prstGeom prst="line">
            <a:avLst/>
          </a:prstGeom>
          <a:noFill/>
          <a:ln w="15875">
            <a:solidFill>
              <a:srgbClr val="56604E">
                <a:alpha val="50000"/>
              </a:srgbClr>
            </a:solidFill>
            <a:prstDash val="solid"/>
          </a:ln>
        </p:spPr>
      </p:sp>
      <p:sp>
        <p:nvSpPr>
          <p:cNvPr id="22" name="Role 252"/>
          <p:cNvSpPr/>
          <p:nvPr/>
        </p:nvSpPr>
        <p:spPr>
          <a:xfrm>
            <a:off x="678180" y="4251960"/>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Marketing ops analyst</a:t>
            </a:r>
            <a:endParaRPr lang="en-US" sz="1000" dirty="0"/>
          </a:p>
        </p:txBody>
      </p:sp>
      <p:sp>
        <p:nvSpPr>
          <p:cNvPr id="23" name="Line 253"/>
          <p:cNvSpPr/>
          <p:nvPr/>
        </p:nvSpPr>
        <p:spPr>
          <a:xfrm>
            <a:off x="1478280" y="4636008"/>
            <a:ext cx="0" cy="100584"/>
          </a:xfrm>
          <a:prstGeom prst="line">
            <a:avLst/>
          </a:prstGeom>
          <a:noFill/>
          <a:ln w="15875">
            <a:solidFill>
              <a:srgbClr val="56604E">
                <a:alpha val="50000"/>
              </a:srgbClr>
            </a:solidFill>
            <a:prstDash val="solid"/>
          </a:ln>
        </p:spPr>
      </p:sp>
      <p:sp>
        <p:nvSpPr>
          <p:cNvPr id="24" name="Role 254"/>
          <p:cNvSpPr/>
          <p:nvPr/>
        </p:nvSpPr>
        <p:spPr>
          <a:xfrm>
            <a:off x="678180" y="4736592"/>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Campaign execution specialist</a:t>
            </a:r>
            <a:endParaRPr lang="en-US" sz="1000" dirty="0"/>
          </a:p>
        </p:txBody>
      </p:sp>
      <p:sp>
        <p:nvSpPr>
          <p:cNvPr id="25" name="Pill 255"/>
          <p:cNvSpPr/>
          <p:nvPr/>
        </p:nvSpPr>
        <p:spPr>
          <a:xfrm>
            <a:off x="2903220" y="3154680"/>
            <a:ext cx="16002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50" b="1" dirty="0">
                <a:solidFill>
                  <a:srgbClr val="16261D"/>
                </a:solidFill>
              </a:rPr>
              <a:t>Sales ops</a:t>
            </a:r>
            <a:endParaRPr lang="en-US" sz="1150" dirty="0"/>
          </a:p>
        </p:txBody>
      </p:sp>
      <p:sp>
        <p:nvSpPr>
          <p:cNvPr id="26" name="Line 256"/>
          <p:cNvSpPr/>
          <p:nvPr/>
        </p:nvSpPr>
        <p:spPr>
          <a:xfrm>
            <a:off x="3703320" y="3538728"/>
            <a:ext cx="0" cy="228600"/>
          </a:xfrm>
          <a:prstGeom prst="line">
            <a:avLst/>
          </a:prstGeom>
          <a:noFill/>
          <a:ln w="15875">
            <a:solidFill>
              <a:srgbClr val="56604E">
                <a:alpha val="50000"/>
              </a:srgbClr>
            </a:solidFill>
            <a:prstDash val="solid"/>
          </a:ln>
        </p:spPr>
      </p:sp>
      <p:sp>
        <p:nvSpPr>
          <p:cNvPr id="27" name="Role 257"/>
          <p:cNvSpPr/>
          <p:nvPr/>
        </p:nvSpPr>
        <p:spPr>
          <a:xfrm>
            <a:off x="2903220" y="3767328"/>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CRM admin</a:t>
            </a:r>
            <a:endParaRPr lang="en-US" sz="1000" dirty="0"/>
          </a:p>
        </p:txBody>
      </p:sp>
      <p:sp>
        <p:nvSpPr>
          <p:cNvPr id="28" name="Line 258"/>
          <p:cNvSpPr/>
          <p:nvPr/>
        </p:nvSpPr>
        <p:spPr>
          <a:xfrm>
            <a:off x="3703320" y="4151376"/>
            <a:ext cx="0" cy="100584"/>
          </a:xfrm>
          <a:prstGeom prst="line">
            <a:avLst/>
          </a:prstGeom>
          <a:noFill/>
          <a:ln w="15875">
            <a:solidFill>
              <a:srgbClr val="56604E">
                <a:alpha val="50000"/>
              </a:srgbClr>
            </a:solidFill>
            <a:prstDash val="solid"/>
          </a:ln>
        </p:spPr>
      </p:sp>
      <p:sp>
        <p:nvSpPr>
          <p:cNvPr id="29" name="Role 259"/>
          <p:cNvSpPr/>
          <p:nvPr/>
        </p:nvSpPr>
        <p:spPr>
          <a:xfrm>
            <a:off x="2903220" y="4251960"/>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Deal desk</a:t>
            </a:r>
            <a:endParaRPr lang="en-US" sz="1000" dirty="0"/>
          </a:p>
        </p:txBody>
      </p:sp>
      <p:sp>
        <p:nvSpPr>
          <p:cNvPr id="30" name="Line 260"/>
          <p:cNvSpPr/>
          <p:nvPr/>
        </p:nvSpPr>
        <p:spPr>
          <a:xfrm>
            <a:off x="3703320" y="4636008"/>
            <a:ext cx="0" cy="100584"/>
          </a:xfrm>
          <a:prstGeom prst="line">
            <a:avLst/>
          </a:prstGeom>
          <a:noFill/>
          <a:ln w="15875">
            <a:solidFill>
              <a:srgbClr val="56604E">
                <a:alpha val="50000"/>
              </a:srgbClr>
            </a:solidFill>
            <a:prstDash val="solid"/>
          </a:ln>
        </p:spPr>
      </p:sp>
      <p:sp>
        <p:nvSpPr>
          <p:cNvPr id="31" name="Role 261"/>
          <p:cNvSpPr/>
          <p:nvPr/>
        </p:nvSpPr>
        <p:spPr>
          <a:xfrm>
            <a:off x="2903220" y="4736592"/>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Compensation manager</a:t>
            </a:r>
            <a:endParaRPr lang="en-US" sz="1000" dirty="0"/>
          </a:p>
        </p:txBody>
      </p:sp>
      <p:sp>
        <p:nvSpPr>
          <p:cNvPr id="32" name="Line 262"/>
          <p:cNvSpPr/>
          <p:nvPr/>
        </p:nvSpPr>
        <p:spPr>
          <a:xfrm>
            <a:off x="3703320" y="5120640"/>
            <a:ext cx="0" cy="100584"/>
          </a:xfrm>
          <a:prstGeom prst="line">
            <a:avLst/>
          </a:prstGeom>
          <a:noFill/>
          <a:ln w="15875">
            <a:solidFill>
              <a:srgbClr val="56604E">
                <a:alpha val="50000"/>
              </a:srgbClr>
            </a:solidFill>
            <a:prstDash val="solid"/>
          </a:ln>
        </p:spPr>
      </p:sp>
      <p:sp>
        <p:nvSpPr>
          <p:cNvPr id="33" name="Role 263"/>
          <p:cNvSpPr/>
          <p:nvPr/>
        </p:nvSpPr>
        <p:spPr>
          <a:xfrm>
            <a:off x="2903220" y="5221224"/>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GTM engineer</a:t>
            </a:r>
            <a:endParaRPr lang="en-US" sz="1000" dirty="0"/>
          </a:p>
        </p:txBody>
      </p:sp>
      <p:sp>
        <p:nvSpPr>
          <p:cNvPr id="34" name="Pill 264"/>
          <p:cNvSpPr/>
          <p:nvPr/>
        </p:nvSpPr>
        <p:spPr>
          <a:xfrm>
            <a:off x="5128260" y="3154680"/>
            <a:ext cx="16002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50" b="1" dirty="0">
                <a:solidFill>
                  <a:srgbClr val="16261D"/>
                </a:solidFill>
              </a:rPr>
              <a:t>CS ops</a:t>
            </a:r>
            <a:endParaRPr lang="en-US" sz="1150" dirty="0"/>
          </a:p>
        </p:txBody>
      </p:sp>
      <p:sp>
        <p:nvSpPr>
          <p:cNvPr id="35" name="Line 265"/>
          <p:cNvSpPr/>
          <p:nvPr/>
        </p:nvSpPr>
        <p:spPr>
          <a:xfrm>
            <a:off x="5928360" y="3538728"/>
            <a:ext cx="0" cy="228600"/>
          </a:xfrm>
          <a:prstGeom prst="line">
            <a:avLst/>
          </a:prstGeom>
          <a:noFill/>
          <a:ln w="15875">
            <a:solidFill>
              <a:srgbClr val="56604E">
                <a:alpha val="50000"/>
              </a:srgbClr>
            </a:solidFill>
            <a:prstDash val="solid"/>
          </a:ln>
        </p:spPr>
      </p:sp>
      <p:sp>
        <p:nvSpPr>
          <p:cNvPr id="36" name="Role 266"/>
          <p:cNvSpPr/>
          <p:nvPr/>
        </p:nvSpPr>
        <p:spPr>
          <a:xfrm>
            <a:off x="5128260" y="3767328"/>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CS reporting</a:t>
            </a:r>
            <a:endParaRPr lang="en-US" sz="1000" dirty="0"/>
          </a:p>
        </p:txBody>
      </p:sp>
      <p:sp>
        <p:nvSpPr>
          <p:cNvPr id="37" name="Line 267"/>
          <p:cNvSpPr/>
          <p:nvPr/>
        </p:nvSpPr>
        <p:spPr>
          <a:xfrm>
            <a:off x="5928360" y="4151376"/>
            <a:ext cx="0" cy="100584"/>
          </a:xfrm>
          <a:prstGeom prst="line">
            <a:avLst/>
          </a:prstGeom>
          <a:noFill/>
          <a:ln w="15875">
            <a:solidFill>
              <a:srgbClr val="56604E">
                <a:alpha val="50000"/>
              </a:srgbClr>
            </a:solidFill>
            <a:prstDash val="solid"/>
          </a:ln>
        </p:spPr>
      </p:sp>
      <p:sp>
        <p:nvSpPr>
          <p:cNvPr id="38" name="Role 268"/>
          <p:cNvSpPr/>
          <p:nvPr/>
        </p:nvSpPr>
        <p:spPr>
          <a:xfrm>
            <a:off x="5128260" y="4251960"/>
            <a:ext cx="1600200" cy="384048"/>
          </a:xfrm>
          <a:prstGeom prst="roundRect">
            <a:avLst>
              <a:gd name="adj" fmla="val 19048"/>
            </a:avLst>
          </a:prstGeom>
          <a:solidFill>
            <a:srgbClr val="FFFFFF"/>
          </a:solidFill>
          <a:ln w="9525">
            <a:solidFill>
              <a:srgbClr val="D2D8CD"/>
            </a:solidFill>
          </a:ln>
        </p:spPr>
        <p:txBody>
          <a:bodyPr wrap="square" lIns="25400" tIns="25400" rIns="25400" bIns="25400" rtlCol="0" anchor="ctr"/>
          <a:lstStyle/>
          <a:p>
            <a:pPr algn="ctr" indent="0" marL="0">
              <a:buNone/>
            </a:pPr>
            <a:r>
              <a:rPr lang="en-US" sz="1000" b="1" dirty="0">
                <a:solidFill>
                  <a:srgbClr val="20241F"/>
                </a:solidFill>
              </a:rPr>
              <a:t>CS tools admin</a:t>
            </a:r>
            <a:endParaRPr lang="en-US" sz="1000" dirty="0"/>
          </a:p>
        </p:txBody>
      </p:sp>
      <p:sp>
        <p:nvSpPr>
          <p:cNvPr id="39" name="Pill 269"/>
          <p:cNvSpPr/>
          <p:nvPr/>
        </p:nvSpPr>
        <p:spPr>
          <a:xfrm>
            <a:off x="728776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Marketing</a:t>
            </a:r>
            <a:endParaRPr lang="en-US" sz="1100" dirty="0"/>
          </a:p>
        </p:txBody>
      </p:sp>
      <p:sp>
        <p:nvSpPr>
          <p:cNvPr id="40" name="Line 270"/>
          <p:cNvSpPr/>
          <p:nvPr/>
        </p:nvSpPr>
        <p:spPr>
          <a:xfrm>
            <a:off x="8001000" y="2697480"/>
            <a:ext cx="0" cy="457200"/>
          </a:xfrm>
          <a:prstGeom prst="line">
            <a:avLst/>
          </a:prstGeom>
          <a:noFill/>
          <a:ln w="15875">
            <a:solidFill>
              <a:srgbClr val="56604E">
                <a:alpha val="70000"/>
              </a:srgbClr>
            </a:solidFill>
            <a:prstDash val="solid"/>
          </a:ln>
        </p:spPr>
      </p:sp>
      <p:sp>
        <p:nvSpPr>
          <p:cNvPr id="41" name="Pill 271"/>
          <p:cNvSpPr/>
          <p:nvPr/>
        </p:nvSpPr>
        <p:spPr>
          <a:xfrm>
            <a:off x="731520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Marketing team</a:t>
            </a:r>
            <a:endParaRPr lang="en-US" sz="1100" dirty="0"/>
          </a:p>
        </p:txBody>
      </p:sp>
      <p:sp>
        <p:nvSpPr>
          <p:cNvPr id="42" name="Line 272"/>
          <p:cNvSpPr/>
          <p:nvPr/>
        </p:nvSpPr>
        <p:spPr>
          <a:xfrm>
            <a:off x="8001000" y="3538728"/>
            <a:ext cx="0" cy="1874520"/>
          </a:xfrm>
          <a:prstGeom prst="line">
            <a:avLst/>
          </a:prstGeom>
          <a:noFill/>
          <a:ln w="22225">
            <a:solidFill>
              <a:srgbClr val="93A87B"/>
            </a:solidFill>
            <a:prstDash val="sysDot"/>
          </a:ln>
        </p:spPr>
      </p:sp>
      <p:sp>
        <p:nvSpPr>
          <p:cNvPr id="43" name="Pill 273"/>
          <p:cNvSpPr/>
          <p:nvPr/>
        </p:nvSpPr>
        <p:spPr>
          <a:xfrm>
            <a:off x="879652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Sales</a:t>
            </a:r>
            <a:endParaRPr lang="en-US" sz="1100" dirty="0"/>
          </a:p>
        </p:txBody>
      </p:sp>
      <p:sp>
        <p:nvSpPr>
          <p:cNvPr id="44" name="Line 274"/>
          <p:cNvSpPr/>
          <p:nvPr/>
        </p:nvSpPr>
        <p:spPr>
          <a:xfrm>
            <a:off x="9509760" y="2697480"/>
            <a:ext cx="0" cy="457200"/>
          </a:xfrm>
          <a:prstGeom prst="line">
            <a:avLst/>
          </a:prstGeom>
          <a:noFill/>
          <a:ln w="15875">
            <a:solidFill>
              <a:srgbClr val="56604E">
                <a:alpha val="70000"/>
              </a:srgbClr>
            </a:solidFill>
            <a:prstDash val="solid"/>
          </a:ln>
        </p:spPr>
      </p:sp>
      <p:sp>
        <p:nvSpPr>
          <p:cNvPr id="45" name="Pill 275"/>
          <p:cNvSpPr/>
          <p:nvPr/>
        </p:nvSpPr>
        <p:spPr>
          <a:xfrm>
            <a:off x="882396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Sales team</a:t>
            </a:r>
            <a:endParaRPr lang="en-US" sz="1100" dirty="0"/>
          </a:p>
        </p:txBody>
      </p:sp>
      <p:sp>
        <p:nvSpPr>
          <p:cNvPr id="46" name="Line 276"/>
          <p:cNvSpPr/>
          <p:nvPr/>
        </p:nvSpPr>
        <p:spPr>
          <a:xfrm>
            <a:off x="9509760" y="3538728"/>
            <a:ext cx="0" cy="1874520"/>
          </a:xfrm>
          <a:prstGeom prst="line">
            <a:avLst/>
          </a:prstGeom>
          <a:noFill/>
          <a:ln w="22225">
            <a:solidFill>
              <a:srgbClr val="93A87B"/>
            </a:solidFill>
            <a:prstDash val="sysDot"/>
          </a:ln>
        </p:spPr>
      </p:sp>
      <p:sp>
        <p:nvSpPr>
          <p:cNvPr id="47" name="Pill 277"/>
          <p:cNvSpPr/>
          <p:nvPr/>
        </p:nvSpPr>
        <p:spPr>
          <a:xfrm>
            <a:off x="10305288" y="2240280"/>
            <a:ext cx="1426464" cy="457200"/>
          </a:xfrm>
          <a:prstGeom prst="roundRect">
            <a:avLst>
              <a:gd name="adj" fmla="val 50000"/>
            </a:avLst>
          </a:prstGeom>
          <a:solidFill>
            <a:srgbClr val="16261D"/>
          </a:solidFill>
          <a:ln/>
          <a:effectLst>
            <a:outerShdw sx="100000" sy="100000" kx="0" ky="0" algn="bl" rotWithShape="0" blurRad="101600" dist="25400" dir="5400000">
              <a:srgbClr val="16261D">
                <a:alpha val="12000"/>
              </a:srgbClr>
            </a:outerShdw>
          </a:effectLst>
        </p:spPr>
        <p:txBody>
          <a:bodyPr wrap="square" lIns="0" tIns="0" rIns="0" bIns="0" rtlCol="0" anchor="ctr"/>
          <a:lstStyle/>
          <a:p>
            <a:pPr algn="ctr" indent="0" marL="0">
              <a:buNone/>
            </a:pPr>
            <a:r>
              <a:rPr lang="en-US" sz="1100" b="1" dirty="0">
                <a:solidFill>
                  <a:srgbClr val="F5F7F0"/>
                </a:solidFill>
              </a:rPr>
              <a:t>Head of CS</a:t>
            </a:r>
            <a:endParaRPr lang="en-US" sz="1100" dirty="0"/>
          </a:p>
        </p:txBody>
      </p:sp>
      <p:sp>
        <p:nvSpPr>
          <p:cNvPr id="48" name="Line 278"/>
          <p:cNvSpPr/>
          <p:nvPr/>
        </p:nvSpPr>
        <p:spPr>
          <a:xfrm>
            <a:off x="11018520" y="2697480"/>
            <a:ext cx="0" cy="457200"/>
          </a:xfrm>
          <a:prstGeom prst="line">
            <a:avLst/>
          </a:prstGeom>
          <a:noFill/>
          <a:ln w="15875">
            <a:solidFill>
              <a:srgbClr val="56604E">
                <a:alpha val="70000"/>
              </a:srgbClr>
            </a:solidFill>
            <a:prstDash val="solid"/>
          </a:ln>
        </p:spPr>
      </p:sp>
      <p:sp>
        <p:nvSpPr>
          <p:cNvPr id="49" name="Pill 279"/>
          <p:cNvSpPr/>
          <p:nvPr/>
        </p:nvSpPr>
        <p:spPr>
          <a:xfrm>
            <a:off x="10332720" y="3154680"/>
            <a:ext cx="1371600" cy="384048"/>
          </a:xfrm>
          <a:prstGeom prst="roundRect">
            <a:avLst>
              <a:gd name="adj" fmla="val 50000"/>
            </a:avLst>
          </a:prstGeom>
          <a:solidFill>
            <a:srgbClr val="FFFFFF"/>
          </a:solidFill>
          <a:ln w="15875">
            <a:solidFill>
              <a:srgbClr val="16261D"/>
            </a:solidFill>
          </a:ln>
        </p:spPr>
        <p:txBody>
          <a:bodyPr wrap="square" lIns="0" tIns="0" rIns="0" bIns="0" rtlCol="0" anchor="ctr"/>
          <a:lstStyle/>
          <a:p>
            <a:pPr algn="ctr" indent="0" marL="0">
              <a:buNone/>
            </a:pPr>
            <a:r>
              <a:rPr lang="en-US" sz="1100" b="1" dirty="0">
                <a:solidFill>
                  <a:srgbClr val="16261D"/>
                </a:solidFill>
              </a:rPr>
              <a:t>CS team</a:t>
            </a:r>
            <a:endParaRPr lang="en-US" sz="1100" dirty="0"/>
          </a:p>
        </p:txBody>
      </p:sp>
      <p:sp>
        <p:nvSpPr>
          <p:cNvPr id="50" name="Line 280"/>
          <p:cNvSpPr/>
          <p:nvPr/>
        </p:nvSpPr>
        <p:spPr>
          <a:xfrm>
            <a:off x="11018520" y="3538728"/>
            <a:ext cx="0" cy="1874520"/>
          </a:xfrm>
          <a:prstGeom prst="line">
            <a:avLst/>
          </a:prstGeom>
          <a:noFill/>
          <a:ln w="22225">
            <a:solidFill>
              <a:srgbClr val="93A87B"/>
            </a:solidFill>
            <a:prstDash val="sysDot"/>
          </a:ln>
        </p:spPr>
      </p:sp>
      <p:sp>
        <p:nvSpPr>
          <p:cNvPr id="51" name="Line 281"/>
          <p:cNvSpPr/>
          <p:nvPr/>
        </p:nvSpPr>
        <p:spPr>
          <a:xfrm>
            <a:off x="4503420" y="5413248"/>
            <a:ext cx="6515100" cy="0"/>
          </a:xfrm>
          <a:prstGeom prst="line">
            <a:avLst/>
          </a:prstGeom>
          <a:noFill/>
          <a:ln w="22225">
            <a:solidFill>
              <a:srgbClr val="93A87B"/>
            </a:solidFill>
            <a:prstDash val="sysDot"/>
          </a:ln>
        </p:spPr>
      </p:sp>
      <p:sp>
        <p:nvSpPr>
          <p:cNvPr id="52" name="Text 282"/>
          <p:cNvSpPr txBox="1"/>
          <p:nvPr/>
        </p:nvSpPr>
        <p:spPr>
          <a:xfrm>
            <a:off x="7406640" y="5504688"/>
            <a:ext cx="4389120" cy="274320"/>
          </a:xfrm>
          <a:prstGeom prst="rect">
            <a:avLst/>
          </a:prstGeom>
          <a:noFill/>
          <a:ln/>
        </p:spPr>
        <p:txBody>
          <a:bodyPr wrap="square" lIns="0" tIns="0" rIns="0" bIns="0" rtlCol="0" anchor="t"/>
          <a:lstStyle/>
          <a:p>
            <a:pPr algn="r" indent="0" marL="0">
              <a:buNone/>
            </a:pPr>
            <a:r>
              <a:rPr lang="en-US" sz="1000" i="1" dirty="0">
                <a:solidFill>
                  <a:srgbClr val="56604E"/>
                </a:solidFill>
              </a:rPr>
              <a:t>GTM engineering serves every team</a:t>
            </a:r>
            <a:endParaRPr lang="en-US" sz="1000" dirty="0"/>
          </a:p>
        </p:txBody>
      </p:sp>
      <p:sp>
        <p:nvSpPr>
          <p:cNvPr id="53" name="Pill 283"/>
          <p:cNvSpPr/>
          <p:nvPr/>
        </p:nvSpPr>
        <p:spPr>
          <a:xfrm>
            <a:off x="7863840" y="5897880"/>
            <a:ext cx="3959352" cy="384048"/>
          </a:xfrm>
          <a:prstGeom prst="roundRect">
            <a:avLst>
              <a:gd name="adj" fmla="val 50000"/>
            </a:avLst>
          </a:prstGeom>
          <a:solidFill>
            <a:srgbClr val="F5F7F0"/>
          </a:solidFill>
          <a:ln w="15875">
            <a:solidFill>
              <a:srgbClr val="93A87B"/>
            </a:solidFill>
          </a:ln>
        </p:spPr>
        <p:txBody>
          <a:bodyPr wrap="square" lIns="0" tIns="0" rIns="0" bIns="0" rtlCol="0" anchor="ctr"/>
          <a:lstStyle/>
          <a:p>
            <a:pPr algn="ctr" indent="0" marL="0">
              <a:buNone/>
            </a:pPr>
            <a:r>
              <a:rPr lang="en-US" sz="1200" b="1" dirty="0">
                <a:solidFill>
                  <a:srgbClr val="16261D"/>
                </a:solidFill>
              </a:rPr>
              <a:t>Consider help from agencies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PEOPLE ARE AN INVESTMENT; APPLIED EXPERIENCE IS PRICELESS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Starting your RevOps organisation</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Invest in a scalable people strategy first 284"/>
          <p:cNvSpPr/>
          <p:nvPr/>
        </p:nvSpPr>
        <p:spPr>
          <a:xfrm>
            <a:off x="365760" y="1417320"/>
            <a:ext cx="5605272" cy="4800600"/>
          </a:xfrm>
          <a:prstGeom prst="roundRect">
            <a:avLst>
              <a:gd name="adj" fmla="val 2286"/>
            </a:avLst>
          </a:prstGeom>
          <a:solidFill>
            <a:srgbClr val="16261D"/>
          </a:solidFill>
          <a:ln/>
          <a:effectLst>
            <a:outerShdw sx="100000" sy="100000" kx="0" ky="0" algn="bl" rotWithShape="0" blurRad="177800" dist="50800" dir="5400000">
              <a:srgbClr val="16261D">
                <a:alpha val="14000"/>
              </a:srgbClr>
            </a:outerShdw>
          </a:effectLst>
        </p:spPr>
      </p:sp>
      <p:sp>
        <p:nvSpPr>
          <p:cNvPr id="6" name="Icon badge 285"/>
          <p:cNvSpPr/>
          <p:nvPr/>
        </p:nvSpPr>
        <p:spPr>
          <a:xfrm>
            <a:off x="685800" y="1691640"/>
            <a:ext cx="731520" cy="731520"/>
          </a:xfrm>
          <a:prstGeom prst="ellipse">
            <a:avLst/>
          </a:prstGeom>
          <a:solidFill>
            <a:srgbClr val="93A87B"/>
          </a:solidFill>
          <a:ln/>
        </p:spPr>
      </p:sp>
      <p:pic>
        <p:nvPicPr>
          <p:cNvPr id="7" name="Image 0" descr="UsersGroup icon">    </p:cNvPr>
          <p:cNvPicPr>
            <a:picLocks noChangeAspect="1"/>
          </p:cNvPicPr>
          <p:nvPr/>
        </p:nvPicPr>
        <p:blipFill>
          <a:blip r:embed="rId1"/>
          <a:stretch>
            <a:fillRect/>
          </a:stretch>
        </p:blipFill>
        <p:spPr>
          <a:xfrm>
            <a:off x="846734" y="1852574"/>
            <a:ext cx="409651" cy="409651"/>
          </a:xfrm>
          <a:prstGeom prst="rect">
            <a:avLst/>
          </a:prstGeom>
        </p:spPr>
      </p:pic>
      <p:sp>
        <p:nvSpPr>
          <p:cNvPr id="8" name="Text 286"/>
          <p:cNvSpPr txBox="1"/>
          <p:nvPr/>
        </p:nvSpPr>
        <p:spPr>
          <a:xfrm>
            <a:off x="685800" y="2606040"/>
            <a:ext cx="4965192" cy="868680"/>
          </a:xfrm>
          <a:prstGeom prst="rect">
            <a:avLst/>
          </a:prstGeom>
          <a:noFill/>
          <a:ln/>
        </p:spPr>
        <p:txBody>
          <a:bodyPr wrap="square" lIns="0" tIns="0" rIns="0" bIns="0" rtlCol="0" anchor="t"/>
          <a:lstStyle/>
          <a:p>
            <a:pPr indent="0" marL="0">
              <a:buNone/>
            </a:pPr>
            <a:r>
              <a:rPr lang="en-US" sz="1900" b="1" dirty="0">
                <a:solidFill>
                  <a:srgbClr val="F5F7F0"/>
                </a:solidFill>
              </a:rPr>
              <a:t>Invest in a scalable people strategy first</a:t>
            </a:r>
            <a:endParaRPr lang="en-US" sz="1900" dirty="0"/>
          </a:p>
        </p:txBody>
      </p:sp>
      <p:sp>
        <p:nvSpPr>
          <p:cNvPr id="9" name="Text 287"/>
          <p:cNvSpPr txBox="1"/>
          <p:nvPr/>
        </p:nvSpPr>
        <p:spPr>
          <a:xfrm>
            <a:off x="685800" y="3566160"/>
            <a:ext cx="4965192" cy="24688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C9D3C0"/>
                </a:solidFill>
              </a:rPr>
              <a:t>Your first strategic RevOps hire needs to be a player-coach</a:t>
            </a:r>
            <a:endParaRPr lang="en-US" sz="1400" dirty="0"/>
          </a:p>
          <a:p>
            <a:pPr marL="177800" indent="-177800">
              <a:spcAft>
                <a:spcPts val="800"/>
              </a:spcAft>
              <a:buSzPct val="100000"/>
              <a:buChar char="•"/>
            </a:pPr>
            <a:r>
              <a:rPr lang="en-US" sz="1400" dirty="0">
                <a:solidFill>
                  <a:srgbClr val="C9D3C0"/>
                </a:solidFill>
              </a:rPr>
              <a:t>Use agency partners to fill skill gaps before investing in long-term hires</a:t>
            </a:r>
            <a:endParaRPr lang="en-US" sz="1400" dirty="0"/>
          </a:p>
          <a:p>
            <a:pPr marL="177800" indent="-177800">
              <a:spcAft>
                <a:spcPts val="800"/>
              </a:spcAft>
              <a:buSzPct val="100000"/>
              <a:buChar char="•"/>
            </a:pPr>
            <a:r>
              <a:rPr lang="en-US" sz="1400" dirty="0">
                <a:solidFill>
                  <a:srgbClr val="C9D3C0"/>
                </a:solidFill>
              </a:rPr>
              <a:t>Enablement is everything: strategy only matters if it is in practice</a:t>
            </a:r>
            <a:endParaRPr lang="en-US" sz="1400" dirty="0"/>
          </a:p>
        </p:txBody>
      </p:sp>
      <p:sp>
        <p:nvSpPr>
          <p:cNvPr id="10" name="Ratify the sales, marketing and CS strategy, then document an MVP process fast 288"/>
          <p:cNvSpPr/>
          <p:nvPr/>
        </p:nvSpPr>
        <p:spPr>
          <a:xfrm>
            <a:off x="6217920" y="1417320"/>
            <a:ext cx="5605272" cy="4800600"/>
          </a:xfrm>
          <a:prstGeom prst="roundRect">
            <a:avLst>
              <a:gd name="adj" fmla="val 2286"/>
            </a:avLst>
          </a:prstGeom>
          <a:solidFill>
            <a:srgbClr val="FFFFFF"/>
          </a:solidFill>
          <a:ln/>
          <a:effectLst>
            <a:outerShdw sx="100000" sy="100000" kx="0" ky="0" algn="bl" rotWithShape="0" blurRad="177800" dist="50800" dir="5400000">
              <a:srgbClr val="16261D">
                <a:alpha val="14000"/>
              </a:srgbClr>
            </a:outerShdw>
          </a:effectLst>
        </p:spPr>
      </p:sp>
      <p:sp>
        <p:nvSpPr>
          <p:cNvPr id="11" name="Icon badge 289"/>
          <p:cNvSpPr/>
          <p:nvPr/>
        </p:nvSpPr>
        <p:spPr>
          <a:xfrm>
            <a:off x="6537960" y="1691640"/>
            <a:ext cx="731520" cy="731520"/>
          </a:xfrm>
          <a:prstGeom prst="ellipse">
            <a:avLst/>
          </a:prstGeom>
          <a:solidFill>
            <a:srgbClr val="1F3529"/>
          </a:solidFill>
          <a:ln/>
        </p:spPr>
      </p:sp>
      <p:pic>
        <p:nvPicPr>
          <p:cNvPr id="12" name="Image 1" descr="Checklist icon">    </p:cNvPr>
          <p:cNvPicPr>
            <a:picLocks noChangeAspect="1"/>
          </p:cNvPicPr>
          <p:nvPr/>
        </p:nvPicPr>
        <p:blipFill>
          <a:blip r:embed="rId2"/>
          <a:stretch>
            <a:fillRect/>
          </a:stretch>
        </p:blipFill>
        <p:spPr>
          <a:xfrm>
            <a:off x="6698894" y="1852574"/>
            <a:ext cx="409651" cy="409651"/>
          </a:xfrm>
          <a:prstGeom prst="rect">
            <a:avLst/>
          </a:prstGeom>
        </p:spPr>
      </p:pic>
      <p:sp>
        <p:nvSpPr>
          <p:cNvPr id="13" name="Text 290"/>
          <p:cNvSpPr txBox="1"/>
          <p:nvPr/>
        </p:nvSpPr>
        <p:spPr>
          <a:xfrm>
            <a:off x="6537960" y="2606040"/>
            <a:ext cx="4965192" cy="868680"/>
          </a:xfrm>
          <a:prstGeom prst="rect">
            <a:avLst/>
          </a:prstGeom>
          <a:noFill/>
          <a:ln/>
        </p:spPr>
        <p:txBody>
          <a:bodyPr wrap="square" lIns="0" tIns="0" rIns="0" bIns="0" rtlCol="0" anchor="t"/>
          <a:lstStyle/>
          <a:p>
            <a:pPr indent="0" marL="0">
              <a:buNone/>
            </a:pPr>
            <a:r>
              <a:rPr lang="en-US" sz="1900" b="1" dirty="0">
                <a:solidFill>
                  <a:srgbClr val="20241F"/>
                </a:solidFill>
              </a:rPr>
              <a:t>Ratify the sales, marketing and CS strategy, then document an MVP process fast</a:t>
            </a:r>
            <a:endParaRPr lang="en-US" sz="1900" dirty="0"/>
          </a:p>
        </p:txBody>
      </p:sp>
      <p:sp>
        <p:nvSpPr>
          <p:cNvPr id="14" name="Text 291"/>
          <p:cNvSpPr txBox="1"/>
          <p:nvPr/>
        </p:nvSpPr>
        <p:spPr>
          <a:xfrm>
            <a:off x="6537960" y="3566160"/>
            <a:ext cx="4965192" cy="24688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56604E"/>
                </a:solidFill>
              </a:rPr>
              <a:t>Don’t overcomplicate: pick the fit, not the fad</a:t>
            </a:r>
            <a:endParaRPr lang="en-US" sz="1400" dirty="0"/>
          </a:p>
          <a:p>
            <a:pPr marL="177800" indent="-177800">
              <a:spcAft>
                <a:spcPts val="800"/>
              </a:spcAft>
              <a:buSzPct val="100000"/>
              <a:buChar char="•"/>
            </a:pPr>
            <a:r>
              <a:rPr lang="en-US" sz="1400" dirty="0">
                <a:solidFill>
                  <a:srgbClr val="56604E"/>
                </a:solidFill>
              </a:rPr>
              <a:t>Operationalise in your system of record, then iterate</a:t>
            </a:r>
            <a:endParaRPr lang="en-US" sz="1400" dirty="0"/>
          </a:p>
          <a:p>
            <a:pPr marL="177800" indent="-177800">
              <a:spcAft>
                <a:spcPts val="800"/>
              </a:spcAft>
              <a:buSzPct val="100000"/>
              <a:buChar char="•"/>
            </a:pPr>
            <a:r>
              <a:rPr lang="en-US" sz="1400" dirty="0">
                <a:solidFill>
                  <a:srgbClr val="56604E"/>
                </a:solidFill>
              </a:rPr>
              <a:t>The RevOps roadmap creates your guardrails</a:t>
            </a:r>
            <a:endParaRPr lang="en-US" sz="1400" dirty="0"/>
          </a:p>
          <a:p>
            <a:pPr marL="177800" indent="-177800">
              <a:spcAft>
                <a:spcPts val="800"/>
              </a:spcAft>
              <a:buSzPct val="100000"/>
              <a:buChar char="•"/>
            </a:pPr>
            <a:r>
              <a:rPr lang="en-US" sz="1400" dirty="0">
                <a:solidFill>
                  <a:srgbClr val="56604E"/>
                </a:solidFill>
              </a:rPr>
              <a:t>Embed process in your CRM, the system of record for GTM</a:t>
            </a:r>
            <a:endParaRPr lang="en-US" sz="1400" dirty="0"/>
          </a:p>
          <a:p>
            <a:pPr marL="177800" indent="-177800">
              <a:spcAft>
                <a:spcPts val="800"/>
              </a:spcAft>
              <a:buSzPct val="100000"/>
              <a:buChar char="•"/>
            </a:pPr>
            <a:r>
              <a:rPr lang="en-US" sz="1400" dirty="0">
                <a:solidFill>
                  <a:srgbClr val="56604E"/>
                </a:solidFill>
              </a:rPr>
              <a:t>Feedback loops build trust and scale across GTM teams fast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VOLUME, CONVERSION AND TIME</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Measuring the funnel</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Bowtie"/>
          <p:cNvSpPr/>
          <p:nvPr/>
        </p:nvSpPr>
        <p:spPr>
          <a:xfrm>
            <a:off x="822960" y="1874520"/>
            <a:ext cx="10515600" cy="2560320"/>
          </a:xfrm>
          <a:custGeom>
            <a:avLst/>
            <a:gdLst/>
            <a:ahLst/>
            <a:cxnLst/>
            <a:rect l="l" t="t" r="r" b="b"/>
            <a:pathLst>
              <a:path w="10515600" h="2560320">
                <a:moveTo>
                  <a:pt x="0" y="0"/>
                </a:moveTo>
                <a:lnTo>
                  <a:pt x="4160520" y="822960"/>
                </a:lnTo>
                <a:lnTo>
                  <a:pt x="5852160" y="822960"/>
                </a:lnTo>
                <a:lnTo>
                  <a:pt x="10515600" y="0"/>
                </a:lnTo>
                <a:lnTo>
                  <a:pt x="10515600" y="2560320"/>
                </a:lnTo>
                <a:lnTo>
                  <a:pt x="5852160" y="1737360"/>
                </a:lnTo>
                <a:lnTo>
                  <a:pt x="4160520" y="1737360"/>
                </a:lnTo>
                <a:lnTo>
                  <a:pt x="0" y="2560320"/>
                </a:lnTo>
                <a:close/>
              </a:path>
            </a:pathLst>
          </a:custGeom>
          <a:solidFill>
            <a:srgbClr val="C9D3C0">
              <a:alpha val="80000"/>
            </a:srgbClr>
          </a:solidFill>
          <a:ln w="19050">
            <a:solidFill>
              <a:srgbClr val="1F3529"/>
            </a:solidFill>
            <a:prstDash val="solid"/>
          </a:ln>
        </p:spPr>
      </p:sp>
      <p:sp>
        <p:nvSpPr>
          <p:cNvPr id="6" name="Line 292"/>
          <p:cNvSpPr/>
          <p:nvPr/>
        </p:nvSpPr>
        <p:spPr>
          <a:xfrm>
            <a:off x="3383280" y="2380957"/>
            <a:ext cx="0" cy="1547446"/>
          </a:xfrm>
          <a:prstGeom prst="line">
            <a:avLst/>
          </a:prstGeom>
          <a:noFill/>
          <a:ln w="12700">
            <a:solidFill>
              <a:srgbClr val="1F3529">
                <a:alpha val="60000"/>
              </a:srgbClr>
            </a:solidFill>
            <a:prstDash val="dash"/>
          </a:ln>
        </p:spPr>
      </p:sp>
      <p:sp>
        <p:nvSpPr>
          <p:cNvPr id="7" name="Line 293"/>
          <p:cNvSpPr/>
          <p:nvPr/>
        </p:nvSpPr>
        <p:spPr>
          <a:xfrm>
            <a:off x="6675120" y="2697480"/>
            <a:ext cx="0" cy="914400"/>
          </a:xfrm>
          <a:prstGeom prst="line">
            <a:avLst/>
          </a:prstGeom>
          <a:noFill/>
          <a:ln w="12700">
            <a:solidFill>
              <a:srgbClr val="1F3529">
                <a:alpha val="60000"/>
              </a:srgbClr>
            </a:solidFill>
            <a:prstDash val="dash"/>
          </a:ln>
        </p:spPr>
      </p:sp>
      <p:sp>
        <p:nvSpPr>
          <p:cNvPr id="8" name="Line 294"/>
          <p:cNvSpPr/>
          <p:nvPr/>
        </p:nvSpPr>
        <p:spPr>
          <a:xfrm>
            <a:off x="8503920" y="2374751"/>
            <a:ext cx="0" cy="1559859"/>
          </a:xfrm>
          <a:prstGeom prst="line">
            <a:avLst/>
          </a:prstGeom>
          <a:noFill/>
          <a:ln w="12700">
            <a:solidFill>
              <a:srgbClr val="1F3529">
                <a:alpha val="60000"/>
              </a:srgbClr>
            </a:solidFill>
            <a:prstDash val="dash"/>
          </a:ln>
        </p:spPr>
      </p:sp>
      <p:sp>
        <p:nvSpPr>
          <p:cNvPr id="9" name="Line 295"/>
          <p:cNvSpPr/>
          <p:nvPr/>
        </p:nvSpPr>
        <p:spPr>
          <a:xfrm>
            <a:off x="9966960" y="2116567"/>
            <a:ext cx="0" cy="2076226"/>
          </a:xfrm>
          <a:prstGeom prst="line">
            <a:avLst/>
          </a:prstGeom>
          <a:noFill/>
          <a:ln w="12700">
            <a:solidFill>
              <a:srgbClr val="1F3529">
                <a:alpha val="60000"/>
              </a:srgbClr>
            </a:solidFill>
            <a:prstDash val="dash"/>
          </a:ln>
        </p:spPr>
      </p:sp>
      <p:sp>
        <p:nvSpPr>
          <p:cNvPr id="10" name="Text 296"/>
          <p:cNvSpPr txBox="1"/>
          <p:nvPr/>
        </p:nvSpPr>
        <p:spPr>
          <a:xfrm>
            <a:off x="1143000" y="2926080"/>
            <a:ext cx="1828800" cy="457200"/>
          </a:xfrm>
          <a:prstGeom prst="rect">
            <a:avLst/>
          </a:prstGeom>
          <a:noFill/>
          <a:ln/>
        </p:spPr>
        <p:txBody>
          <a:bodyPr wrap="square" lIns="0" tIns="0" rIns="0" bIns="0" rtlCol="0" anchor="ctr"/>
          <a:lstStyle/>
          <a:p>
            <a:pPr algn="ctr" indent="0" marL="0">
              <a:buNone/>
            </a:pPr>
            <a:r>
              <a:rPr lang="en-US" sz="2000" dirty="0">
                <a:solidFill>
                  <a:srgbClr val="16261D"/>
                </a:solidFill>
                <a:latin typeface="Georgia" pitchFamily="34" charset="0"/>
                <a:ea typeface="Georgia" pitchFamily="34" charset="-122"/>
                <a:cs typeface="Georgia" pitchFamily="34" charset="-120"/>
              </a:rPr>
              <a:t>Identify</a:t>
            </a:r>
            <a:endParaRPr lang="en-US" sz="2000" dirty="0"/>
          </a:p>
        </p:txBody>
      </p:sp>
      <p:sp>
        <p:nvSpPr>
          <p:cNvPr id="11" name="Text 297"/>
          <p:cNvSpPr txBox="1"/>
          <p:nvPr/>
        </p:nvSpPr>
        <p:spPr>
          <a:xfrm>
            <a:off x="4910328" y="2926080"/>
            <a:ext cx="1828800" cy="457200"/>
          </a:xfrm>
          <a:prstGeom prst="rect">
            <a:avLst/>
          </a:prstGeom>
          <a:noFill/>
          <a:ln/>
        </p:spPr>
        <p:txBody>
          <a:bodyPr wrap="square" lIns="0" tIns="0" rIns="0" bIns="0" rtlCol="0" anchor="ctr"/>
          <a:lstStyle/>
          <a:p>
            <a:pPr algn="ctr" indent="0" marL="0">
              <a:buNone/>
            </a:pPr>
            <a:r>
              <a:rPr lang="en-US" sz="2000" dirty="0">
                <a:solidFill>
                  <a:srgbClr val="16261D"/>
                </a:solidFill>
                <a:latin typeface="Georgia" pitchFamily="34" charset="0"/>
                <a:ea typeface="Georgia" pitchFamily="34" charset="-122"/>
                <a:cs typeface="Georgia" pitchFamily="34" charset="-120"/>
              </a:rPr>
              <a:t>Land</a:t>
            </a:r>
            <a:endParaRPr lang="en-US" sz="2000" dirty="0"/>
          </a:p>
        </p:txBody>
      </p:sp>
      <p:sp>
        <p:nvSpPr>
          <p:cNvPr id="12" name="Text 298"/>
          <p:cNvSpPr txBox="1"/>
          <p:nvPr/>
        </p:nvSpPr>
        <p:spPr>
          <a:xfrm>
            <a:off x="6675120" y="2926080"/>
            <a:ext cx="1828800" cy="457200"/>
          </a:xfrm>
          <a:prstGeom prst="rect">
            <a:avLst/>
          </a:prstGeom>
          <a:noFill/>
          <a:ln/>
        </p:spPr>
        <p:txBody>
          <a:bodyPr wrap="square" lIns="0" tIns="0" rIns="0" bIns="0" rtlCol="0" anchor="ctr"/>
          <a:lstStyle/>
          <a:p>
            <a:pPr algn="ctr" indent="0" marL="0">
              <a:buNone/>
            </a:pPr>
            <a:r>
              <a:rPr lang="en-US" sz="2000" dirty="0">
                <a:solidFill>
                  <a:srgbClr val="16261D"/>
                </a:solidFill>
                <a:latin typeface="Georgia" pitchFamily="34" charset="0"/>
                <a:ea typeface="Georgia" pitchFamily="34" charset="-122"/>
                <a:cs typeface="Georgia" pitchFamily="34" charset="-120"/>
              </a:rPr>
              <a:t>Adopt</a:t>
            </a:r>
            <a:endParaRPr lang="en-US" sz="2000" dirty="0"/>
          </a:p>
        </p:txBody>
      </p:sp>
      <p:sp>
        <p:nvSpPr>
          <p:cNvPr id="13" name="Text 299"/>
          <p:cNvSpPr txBox="1"/>
          <p:nvPr/>
        </p:nvSpPr>
        <p:spPr>
          <a:xfrm>
            <a:off x="9738360" y="2926080"/>
            <a:ext cx="1828800" cy="457200"/>
          </a:xfrm>
          <a:prstGeom prst="rect">
            <a:avLst/>
          </a:prstGeom>
          <a:noFill/>
          <a:ln/>
        </p:spPr>
        <p:txBody>
          <a:bodyPr wrap="square" lIns="0" tIns="0" rIns="0" bIns="0" rtlCol="0" anchor="ctr"/>
          <a:lstStyle/>
          <a:p>
            <a:pPr algn="ctr" indent="0" marL="0">
              <a:buNone/>
            </a:pPr>
            <a:r>
              <a:rPr lang="en-US" sz="1600" dirty="0">
                <a:solidFill>
                  <a:srgbClr val="16261D"/>
                </a:solidFill>
                <a:latin typeface="Georgia" pitchFamily="34" charset="0"/>
                <a:ea typeface="Georgia" pitchFamily="34" charset="-122"/>
                <a:cs typeface="Georgia" pitchFamily="34" charset="-120"/>
              </a:rPr>
              <a:t>Expand</a:t>
            </a:r>
            <a:endParaRPr lang="en-US" sz="1600" dirty="0"/>
          </a:p>
          <a:p>
            <a:pPr algn="ctr" indent="0" marL="0">
              <a:buNone/>
            </a:pPr>
            <a:r>
              <a:rPr lang="en-US" sz="1600" dirty="0">
                <a:solidFill>
                  <a:srgbClr val="16261D"/>
                </a:solidFill>
                <a:latin typeface="Georgia" pitchFamily="34" charset="0"/>
                <a:ea typeface="Georgia" pitchFamily="34" charset="-122"/>
                <a:cs typeface="Georgia" pitchFamily="34" charset="-120"/>
              </a:rPr>
              <a:t>+ renew</a:t>
            </a:r>
            <a:endParaRPr lang="en-US" sz="1600" dirty="0"/>
          </a:p>
        </p:txBody>
      </p:sp>
      <p:sp>
        <p:nvSpPr>
          <p:cNvPr id="14" name="Text 300"/>
          <p:cNvSpPr txBox="1"/>
          <p:nvPr/>
        </p:nvSpPr>
        <p:spPr>
          <a:xfrm>
            <a:off x="822960" y="4498848"/>
            <a:ext cx="2560320" cy="228600"/>
          </a:xfrm>
          <a:prstGeom prst="rect">
            <a:avLst/>
          </a:prstGeom>
          <a:noFill/>
          <a:ln/>
        </p:spPr>
        <p:txBody>
          <a:bodyPr wrap="square" lIns="0" tIns="0" rIns="0" bIns="0" rtlCol="0" anchor="t"/>
          <a:lstStyle/>
          <a:p>
            <a:pPr algn="ctr" indent="0" marL="0">
              <a:buNone/>
            </a:pPr>
            <a:r>
              <a:rPr lang="en-US" sz="1100" dirty="0">
                <a:solidFill>
                  <a:srgbClr val="56604E"/>
                </a:solidFill>
              </a:rPr>
              <a:t>L2O</a:t>
            </a:r>
            <a:endParaRPr lang="en-US" sz="1100" dirty="0"/>
          </a:p>
        </p:txBody>
      </p:sp>
      <p:sp>
        <p:nvSpPr>
          <p:cNvPr id="15" name="Line 301"/>
          <p:cNvSpPr/>
          <p:nvPr/>
        </p:nvSpPr>
        <p:spPr>
          <a:xfrm>
            <a:off x="868680" y="4773168"/>
            <a:ext cx="2468880" cy="0"/>
          </a:xfrm>
          <a:prstGeom prst="line">
            <a:avLst/>
          </a:prstGeom>
          <a:noFill/>
          <a:ln w="12700">
            <a:solidFill>
              <a:srgbClr val="56604E">
                <a:alpha val="70000"/>
              </a:srgbClr>
            </a:solidFill>
            <a:prstDash val="solid"/>
            <a:tailEnd type="triangle"/>
          </a:ln>
        </p:spPr>
      </p:sp>
      <p:sp>
        <p:nvSpPr>
          <p:cNvPr id="16" name="Text 302"/>
          <p:cNvSpPr txBox="1"/>
          <p:nvPr/>
        </p:nvSpPr>
        <p:spPr>
          <a:xfrm>
            <a:off x="3383280" y="4498848"/>
            <a:ext cx="1600200" cy="228600"/>
          </a:xfrm>
          <a:prstGeom prst="rect">
            <a:avLst/>
          </a:prstGeom>
          <a:noFill/>
          <a:ln/>
        </p:spPr>
        <p:txBody>
          <a:bodyPr wrap="square" lIns="0" tIns="0" rIns="0" bIns="0" rtlCol="0" anchor="t"/>
          <a:lstStyle/>
          <a:p>
            <a:pPr algn="ctr" indent="0" marL="0">
              <a:buNone/>
            </a:pPr>
            <a:r>
              <a:rPr lang="en-US" sz="1100" dirty="0">
                <a:solidFill>
                  <a:srgbClr val="56604E"/>
                </a:solidFill>
              </a:rPr>
              <a:t>OTC</a:t>
            </a:r>
            <a:endParaRPr lang="en-US" sz="1100" dirty="0"/>
          </a:p>
        </p:txBody>
      </p:sp>
      <p:sp>
        <p:nvSpPr>
          <p:cNvPr id="17" name="Line 303"/>
          <p:cNvSpPr/>
          <p:nvPr/>
        </p:nvSpPr>
        <p:spPr>
          <a:xfrm>
            <a:off x="3429000" y="4773168"/>
            <a:ext cx="1508760" cy="0"/>
          </a:xfrm>
          <a:prstGeom prst="line">
            <a:avLst/>
          </a:prstGeom>
          <a:noFill/>
          <a:ln w="12700">
            <a:solidFill>
              <a:srgbClr val="56604E">
                <a:alpha val="70000"/>
              </a:srgbClr>
            </a:solidFill>
            <a:prstDash val="solid"/>
            <a:tailEnd type="triangle"/>
          </a:ln>
        </p:spPr>
      </p:sp>
      <p:sp>
        <p:nvSpPr>
          <p:cNvPr id="18" name="Text 304"/>
          <p:cNvSpPr txBox="1"/>
          <p:nvPr/>
        </p:nvSpPr>
        <p:spPr>
          <a:xfrm>
            <a:off x="4983480" y="4498848"/>
            <a:ext cx="1691640" cy="228600"/>
          </a:xfrm>
          <a:prstGeom prst="rect">
            <a:avLst/>
          </a:prstGeom>
          <a:noFill/>
          <a:ln/>
        </p:spPr>
        <p:txBody>
          <a:bodyPr wrap="square" lIns="0" tIns="0" rIns="0" bIns="0" rtlCol="0" anchor="t"/>
          <a:lstStyle/>
          <a:p>
            <a:pPr algn="ctr" indent="0" marL="0">
              <a:buNone/>
            </a:pPr>
            <a:r>
              <a:rPr lang="en-US" sz="1100" dirty="0">
                <a:solidFill>
                  <a:srgbClr val="56604E"/>
                </a:solidFill>
              </a:rPr>
              <a:t>Discount</a:t>
            </a:r>
            <a:endParaRPr lang="en-US" sz="1100" dirty="0"/>
          </a:p>
        </p:txBody>
      </p:sp>
      <p:sp>
        <p:nvSpPr>
          <p:cNvPr id="19" name="Line 305"/>
          <p:cNvSpPr/>
          <p:nvPr/>
        </p:nvSpPr>
        <p:spPr>
          <a:xfrm>
            <a:off x="5029200" y="4773168"/>
            <a:ext cx="1600200" cy="0"/>
          </a:xfrm>
          <a:prstGeom prst="line">
            <a:avLst/>
          </a:prstGeom>
          <a:noFill/>
          <a:ln w="12700">
            <a:solidFill>
              <a:srgbClr val="56604E">
                <a:alpha val="70000"/>
              </a:srgbClr>
            </a:solidFill>
            <a:prstDash val="solid"/>
            <a:tailEnd type="triangle"/>
          </a:ln>
        </p:spPr>
      </p:sp>
      <p:sp>
        <p:nvSpPr>
          <p:cNvPr id="20" name="Text 306"/>
          <p:cNvSpPr txBox="1"/>
          <p:nvPr/>
        </p:nvSpPr>
        <p:spPr>
          <a:xfrm>
            <a:off x="6675120" y="4498848"/>
            <a:ext cx="4663440" cy="228600"/>
          </a:xfrm>
          <a:prstGeom prst="rect">
            <a:avLst/>
          </a:prstGeom>
          <a:noFill/>
          <a:ln/>
        </p:spPr>
        <p:txBody>
          <a:bodyPr wrap="square" lIns="0" tIns="0" rIns="0" bIns="0" rtlCol="0" anchor="t"/>
          <a:lstStyle/>
          <a:p>
            <a:pPr algn="ctr" indent="0" marL="0">
              <a:buNone/>
            </a:pPr>
            <a:r>
              <a:rPr lang="en-US" sz="1100" dirty="0">
                <a:solidFill>
                  <a:srgbClr val="56604E"/>
                </a:solidFill>
              </a:rPr>
              <a:t>Churn</a:t>
            </a:r>
            <a:endParaRPr lang="en-US" sz="1100" dirty="0"/>
          </a:p>
        </p:txBody>
      </p:sp>
      <p:sp>
        <p:nvSpPr>
          <p:cNvPr id="21" name="Line 307"/>
          <p:cNvSpPr/>
          <p:nvPr/>
        </p:nvSpPr>
        <p:spPr>
          <a:xfrm>
            <a:off x="6720840" y="4773168"/>
            <a:ext cx="4572000" cy="0"/>
          </a:xfrm>
          <a:prstGeom prst="line">
            <a:avLst/>
          </a:prstGeom>
          <a:noFill/>
          <a:ln w="12700">
            <a:solidFill>
              <a:srgbClr val="56604E">
                <a:alpha val="70000"/>
              </a:srgbClr>
            </a:solidFill>
            <a:prstDash val="solid"/>
            <a:tailEnd type="triangle"/>
          </a:ln>
        </p:spPr>
      </p:sp>
      <p:sp>
        <p:nvSpPr>
          <p:cNvPr id="22" name="Text 308"/>
          <p:cNvSpPr txBox="1"/>
          <p:nvPr/>
        </p:nvSpPr>
        <p:spPr>
          <a:xfrm>
            <a:off x="822960" y="4873752"/>
            <a:ext cx="1280160" cy="228600"/>
          </a:xfrm>
          <a:prstGeom prst="rect">
            <a:avLst/>
          </a:prstGeom>
          <a:noFill/>
          <a:ln/>
        </p:spPr>
        <p:txBody>
          <a:bodyPr wrap="square" lIns="0" tIns="0" rIns="0" bIns="0" rtlCol="0" anchor="t"/>
          <a:lstStyle/>
          <a:p>
            <a:pPr algn="ctr" indent="0" marL="0">
              <a:buNone/>
            </a:pPr>
            <a:r>
              <a:rPr lang="en-US" sz="1100" dirty="0">
                <a:solidFill>
                  <a:srgbClr val="56604E"/>
                </a:solidFill>
              </a:rPr>
              <a:t>CR1</a:t>
            </a:r>
            <a:endParaRPr lang="en-US" sz="1100" dirty="0"/>
          </a:p>
        </p:txBody>
      </p:sp>
      <p:sp>
        <p:nvSpPr>
          <p:cNvPr id="23" name="Line 309"/>
          <p:cNvSpPr/>
          <p:nvPr/>
        </p:nvSpPr>
        <p:spPr>
          <a:xfrm>
            <a:off x="868680" y="5148072"/>
            <a:ext cx="1188720" cy="0"/>
          </a:xfrm>
          <a:prstGeom prst="line">
            <a:avLst/>
          </a:prstGeom>
          <a:noFill/>
          <a:ln w="12700">
            <a:solidFill>
              <a:srgbClr val="56604E">
                <a:alpha val="70000"/>
              </a:srgbClr>
            </a:solidFill>
            <a:prstDash val="solid"/>
            <a:headEnd type="triangle"/>
            <a:tailEnd type="triangle"/>
          </a:ln>
        </p:spPr>
      </p:sp>
      <p:sp>
        <p:nvSpPr>
          <p:cNvPr id="24" name="Text 310"/>
          <p:cNvSpPr txBox="1"/>
          <p:nvPr/>
        </p:nvSpPr>
        <p:spPr>
          <a:xfrm>
            <a:off x="2103120" y="4873752"/>
            <a:ext cx="1280160" cy="228600"/>
          </a:xfrm>
          <a:prstGeom prst="rect">
            <a:avLst/>
          </a:prstGeom>
          <a:noFill/>
          <a:ln/>
        </p:spPr>
        <p:txBody>
          <a:bodyPr wrap="square" lIns="0" tIns="0" rIns="0" bIns="0" rtlCol="0" anchor="t"/>
          <a:lstStyle/>
          <a:p>
            <a:pPr algn="ctr" indent="0" marL="0">
              <a:buNone/>
            </a:pPr>
            <a:r>
              <a:rPr lang="en-US" sz="1100" dirty="0">
                <a:solidFill>
                  <a:srgbClr val="56604E"/>
                </a:solidFill>
              </a:rPr>
              <a:t>CR2</a:t>
            </a:r>
            <a:endParaRPr lang="en-US" sz="1100" dirty="0"/>
          </a:p>
        </p:txBody>
      </p:sp>
      <p:sp>
        <p:nvSpPr>
          <p:cNvPr id="25" name="Line 311"/>
          <p:cNvSpPr/>
          <p:nvPr/>
        </p:nvSpPr>
        <p:spPr>
          <a:xfrm>
            <a:off x="2148840" y="5148072"/>
            <a:ext cx="1188720" cy="0"/>
          </a:xfrm>
          <a:prstGeom prst="line">
            <a:avLst/>
          </a:prstGeom>
          <a:noFill/>
          <a:ln w="12700">
            <a:solidFill>
              <a:srgbClr val="56604E">
                <a:alpha val="70000"/>
              </a:srgbClr>
            </a:solidFill>
            <a:prstDash val="solid"/>
            <a:headEnd type="triangle"/>
            <a:tailEnd type="triangle"/>
          </a:ln>
        </p:spPr>
      </p:sp>
      <p:sp>
        <p:nvSpPr>
          <p:cNvPr id="26" name="Text 312"/>
          <p:cNvSpPr txBox="1"/>
          <p:nvPr/>
        </p:nvSpPr>
        <p:spPr>
          <a:xfrm>
            <a:off x="3383280" y="4873752"/>
            <a:ext cx="777240" cy="228600"/>
          </a:xfrm>
          <a:prstGeom prst="rect">
            <a:avLst/>
          </a:prstGeom>
          <a:noFill/>
          <a:ln/>
        </p:spPr>
        <p:txBody>
          <a:bodyPr wrap="square" lIns="0" tIns="0" rIns="0" bIns="0" rtlCol="0" anchor="t"/>
          <a:lstStyle/>
          <a:p>
            <a:pPr algn="ctr" indent="0" marL="0">
              <a:buNone/>
            </a:pPr>
            <a:r>
              <a:rPr lang="en-US" sz="1100" dirty="0">
                <a:solidFill>
                  <a:srgbClr val="56604E"/>
                </a:solidFill>
              </a:rPr>
              <a:t>CR3</a:t>
            </a:r>
            <a:endParaRPr lang="en-US" sz="1100" dirty="0"/>
          </a:p>
        </p:txBody>
      </p:sp>
      <p:sp>
        <p:nvSpPr>
          <p:cNvPr id="27" name="Line 313"/>
          <p:cNvSpPr/>
          <p:nvPr/>
        </p:nvSpPr>
        <p:spPr>
          <a:xfrm>
            <a:off x="3429000" y="5148072"/>
            <a:ext cx="685800" cy="0"/>
          </a:xfrm>
          <a:prstGeom prst="line">
            <a:avLst/>
          </a:prstGeom>
          <a:noFill/>
          <a:ln w="12700">
            <a:solidFill>
              <a:srgbClr val="56604E">
                <a:alpha val="70000"/>
              </a:srgbClr>
            </a:solidFill>
            <a:prstDash val="solid"/>
            <a:headEnd type="triangle"/>
            <a:tailEnd type="triangle"/>
          </a:ln>
        </p:spPr>
      </p:sp>
      <p:sp>
        <p:nvSpPr>
          <p:cNvPr id="28" name="Text 314"/>
          <p:cNvSpPr txBox="1"/>
          <p:nvPr/>
        </p:nvSpPr>
        <p:spPr>
          <a:xfrm>
            <a:off x="4160520" y="4873752"/>
            <a:ext cx="822960" cy="228600"/>
          </a:xfrm>
          <a:prstGeom prst="rect">
            <a:avLst/>
          </a:prstGeom>
          <a:noFill/>
          <a:ln/>
        </p:spPr>
        <p:txBody>
          <a:bodyPr wrap="square" lIns="0" tIns="0" rIns="0" bIns="0" rtlCol="0" anchor="t"/>
          <a:lstStyle/>
          <a:p>
            <a:pPr algn="ctr" indent="0" marL="0">
              <a:buNone/>
            </a:pPr>
            <a:r>
              <a:rPr lang="en-US" sz="1100" b="1" dirty="0">
                <a:solidFill>
                  <a:srgbClr val="16261D"/>
                </a:solidFill>
              </a:rPr>
              <a:t>CR4</a:t>
            </a:r>
            <a:endParaRPr lang="en-US" sz="1100" dirty="0"/>
          </a:p>
        </p:txBody>
      </p:sp>
      <p:sp>
        <p:nvSpPr>
          <p:cNvPr id="29" name="Line 315"/>
          <p:cNvSpPr/>
          <p:nvPr/>
        </p:nvSpPr>
        <p:spPr>
          <a:xfrm>
            <a:off x="4206240" y="5148072"/>
            <a:ext cx="731520" cy="0"/>
          </a:xfrm>
          <a:prstGeom prst="line">
            <a:avLst/>
          </a:prstGeom>
          <a:noFill/>
          <a:ln w="19050">
            <a:solidFill>
              <a:srgbClr val="16261D">
                <a:alpha val="70000"/>
              </a:srgbClr>
            </a:solidFill>
            <a:prstDash val="solid"/>
            <a:headEnd type="triangle"/>
            <a:tailEnd type="triangle"/>
          </a:ln>
        </p:spPr>
      </p:sp>
      <p:sp>
        <p:nvSpPr>
          <p:cNvPr id="30" name="Text 316"/>
          <p:cNvSpPr txBox="1"/>
          <p:nvPr/>
        </p:nvSpPr>
        <p:spPr>
          <a:xfrm>
            <a:off x="4983480" y="4873752"/>
            <a:ext cx="1691640" cy="228600"/>
          </a:xfrm>
          <a:prstGeom prst="rect">
            <a:avLst/>
          </a:prstGeom>
          <a:noFill/>
          <a:ln/>
        </p:spPr>
        <p:txBody>
          <a:bodyPr wrap="square" lIns="0" tIns="0" rIns="0" bIns="0" rtlCol="0" anchor="t"/>
          <a:lstStyle/>
          <a:p>
            <a:pPr algn="ctr" indent="0" marL="0">
              <a:buNone/>
            </a:pPr>
            <a:r>
              <a:rPr lang="en-US" sz="1100" dirty="0">
                <a:solidFill>
                  <a:srgbClr val="56604E"/>
                </a:solidFill>
              </a:rPr>
              <a:t>CR5</a:t>
            </a:r>
            <a:endParaRPr lang="en-US" sz="1100" dirty="0"/>
          </a:p>
        </p:txBody>
      </p:sp>
      <p:sp>
        <p:nvSpPr>
          <p:cNvPr id="31" name="Line 317"/>
          <p:cNvSpPr/>
          <p:nvPr/>
        </p:nvSpPr>
        <p:spPr>
          <a:xfrm>
            <a:off x="5029200" y="5148072"/>
            <a:ext cx="1600200" cy="0"/>
          </a:xfrm>
          <a:prstGeom prst="line">
            <a:avLst/>
          </a:prstGeom>
          <a:noFill/>
          <a:ln w="12700">
            <a:solidFill>
              <a:srgbClr val="56604E">
                <a:alpha val="70000"/>
              </a:srgbClr>
            </a:solidFill>
            <a:prstDash val="solid"/>
            <a:headEnd type="triangle"/>
            <a:tailEnd type="triangle"/>
          </a:ln>
        </p:spPr>
      </p:sp>
      <p:sp>
        <p:nvSpPr>
          <p:cNvPr id="32" name="Text 318"/>
          <p:cNvSpPr txBox="1"/>
          <p:nvPr/>
        </p:nvSpPr>
        <p:spPr>
          <a:xfrm>
            <a:off x="6675120" y="4873752"/>
            <a:ext cx="1828800" cy="228600"/>
          </a:xfrm>
          <a:prstGeom prst="rect">
            <a:avLst/>
          </a:prstGeom>
          <a:noFill/>
          <a:ln/>
        </p:spPr>
        <p:txBody>
          <a:bodyPr wrap="square" lIns="0" tIns="0" rIns="0" bIns="0" rtlCol="0" anchor="t"/>
          <a:lstStyle/>
          <a:p>
            <a:pPr algn="ctr" indent="0" marL="0">
              <a:buNone/>
            </a:pPr>
            <a:r>
              <a:rPr lang="en-US" sz="1100" dirty="0">
                <a:solidFill>
                  <a:srgbClr val="56604E"/>
                </a:solidFill>
              </a:rPr>
              <a:t>CR6</a:t>
            </a:r>
            <a:endParaRPr lang="en-US" sz="1100" dirty="0"/>
          </a:p>
        </p:txBody>
      </p:sp>
      <p:sp>
        <p:nvSpPr>
          <p:cNvPr id="33" name="Line 319"/>
          <p:cNvSpPr/>
          <p:nvPr/>
        </p:nvSpPr>
        <p:spPr>
          <a:xfrm>
            <a:off x="6720840" y="5148072"/>
            <a:ext cx="1737360" cy="0"/>
          </a:xfrm>
          <a:prstGeom prst="line">
            <a:avLst/>
          </a:prstGeom>
          <a:noFill/>
          <a:ln w="12700">
            <a:solidFill>
              <a:srgbClr val="56604E">
                <a:alpha val="70000"/>
              </a:srgbClr>
            </a:solidFill>
            <a:prstDash val="solid"/>
            <a:headEnd type="triangle"/>
            <a:tailEnd type="triangle"/>
          </a:ln>
        </p:spPr>
      </p:sp>
      <p:sp>
        <p:nvSpPr>
          <p:cNvPr id="34" name="Text 320"/>
          <p:cNvSpPr txBox="1"/>
          <p:nvPr/>
        </p:nvSpPr>
        <p:spPr>
          <a:xfrm>
            <a:off x="8503920" y="4873752"/>
            <a:ext cx="1463040" cy="228600"/>
          </a:xfrm>
          <a:prstGeom prst="rect">
            <a:avLst/>
          </a:prstGeom>
          <a:noFill/>
          <a:ln/>
        </p:spPr>
        <p:txBody>
          <a:bodyPr wrap="square" lIns="0" tIns="0" rIns="0" bIns="0" rtlCol="0" anchor="t"/>
          <a:lstStyle/>
          <a:p>
            <a:pPr algn="ctr" indent="0" marL="0">
              <a:buNone/>
            </a:pPr>
            <a:r>
              <a:rPr lang="en-US" sz="1100" b="1" dirty="0">
                <a:solidFill>
                  <a:srgbClr val="16261D"/>
                </a:solidFill>
              </a:rPr>
              <a:t>CR7</a:t>
            </a:r>
            <a:endParaRPr lang="en-US" sz="1100" dirty="0"/>
          </a:p>
        </p:txBody>
      </p:sp>
      <p:sp>
        <p:nvSpPr>
          <p:cNvPr id="35" name="Line 321"/>
          <p:cNvSpPr/>
          <p:nvPr/>
        </p:nvSpPr>
        <p:spPr>
          <a:xfrm>
            <a:off x="8549640" y="5148072"/>
            <a:ext cx="1371600" cy="0"/>
          </a:xfrm>
          <a:prstGeom prst="line">
            <a:avLst/>
          </a:prstGeom>
          <a:noFill/>
          <a:ln w="19050">
            <a:solidFill>
              <a:srgbClr val="16261D">
                <a:alpha val="70000"/>
              </a:srgbClr>
            </a:solidFill>
            <a:prstDash val="solid"/>
            <a:headEnd type="triangle"/>
            <a:tailEnd type="triangle"/>
          </a:ln>
        </p:spPr>
      </p:sp>
      <p:sp>
        <p:nvSpPr>
          <p:cNvPr id="36" name="Text 322"/>
          <p:cNvSpPr txBox="1"/>
          <p:nvPr/>
        </p:nvSpPr>
        <p:spPr>
          <a:xfrm>
            <a:off x="9966960" y="4873752"/>
            <a:ext cx="1371600" cy="228600"/>
          </a:xfrm>
          <a:prstGeom prst="rect">
            <a:avLst/>
          </a:prstGeom>
          <a:noFill/>
          <a:ln/>
        </p:spPr>
        <p:txBody>
          <a:bodyPr wrap="square" lIns="0" tIns="0" rIns="0" bIns="0" rtlCol="0" anchor="t"/>
          <a:lstStyle/>
          <a:p>
            <a:pPr algn="ctr" indent="0" marL="0">
              <a:buNone/>
            </a:pPr>
            <a:r>
              <a:rPr lang="en-US" sz="1100" dirty="0">
                <a:solidFill>
                  <a:srgbClr val="56604E"/>
                </a:solidFill>
              </a:rPr>
              <a:t>CR8</a:t>
            </a:r>
            <a:endParaRPr lang="en-US" sz="1100" dirty="0"/>
          </a:p>
        </p:txBody>
      </p:sp>
      <p:sp>
        <p:nvSpPr>
          <p:cNvPr id="37" name="Line 323"/>
          <p:cNvSpPr/>
          <p:nvPr/>
        </p:nvSpPr>
        <p:spPr>
          <a:xfrm>
            <a:off x="10012680" y="5148072"/>
            <a:ext cx="1280160" cy="0"/>
          </a:xfrm>
          <a:prstGeom prst="line">
            <a:avLst/>
          </a:prstGeom>
          <a:noFill/>
          <a:ln w="12700">
            <a:solidFill>
              <a:srgbClr val="56604E">
                <a:alpha val="70000"/>
              </a:srgbClr>
            </a:solidFill>
            <a:prstDash val="solid"/>
            <a:headEnd type="triangle"/>
            <a:tailEnd type="triangle"/>
          </a:ln>
        </p:spPr>
      </p:sp>
      <p:sp>
        <p:nvSpPr>
          <p:cNvPr id="38" name="Line 324"/>
          <p:cNvSpPr/>
          <p:nvPr/>
        </p:nvSpPr>
        <p:spPr>
          <a:xfrm>
            <a:off x="822960" y="4434840"/>
            <a:ext cx="0" cy="886968"/>
          </a:xfrm>
          <a:prstGeom prst="line">
            <a:avLst/>
          </a:prstGeom>
          <a:noFill/>
          <a:ln w="12700">
            <a:solidFill>
              <a:srgbClr val="56604E">
                <a:alpha val="60000"/>
              </a:srgbClr>
            </a:solidFill>
            <a:prstDash val="sysDot"/>
          </a:ln>
        </p:spPr>
      </p:sp>
      <p:sp>
        <p:nvSpPr>
          <p:cNvPr id="39" name="Pill 325"/>
          <p:cNvSpPr/>
          <p:nvPr/>
        </p:nvSpPr>
        <p:spPr>
          <a:xfrm>
            <a:off x="49377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VM1</a:t>
            </a:r>
            <a:endParaRPr lang="en-US" sz="1000" dirty="0"/>
          </a:p>
        </p:txBody>
      </p:sp>
      <p:sp>
        <p:nvSpPr>
          <p:cNvPr id="40" name="Line 326"/>
          <p:cNvSpPr/>
          <p:nvPr/>
        </p:nvSpPr>
        <p:spPr>
          <a:xfrm>
            <a:off x="2103120" y="4181622"/>
            <a:ext cx="0" cy="1140186"/>
          </a:xfrm>
          <a:prstGeom prst="line">
            <a:avLst/>
          </a:prstGeom>
          <a:noFill/>
          <a:ln w="12700">
            <a:solidFill>
              <a:srgbClr val="56604E">
                <a:alpha val="60000"/>
              </a:srgbClr>
            </a:solidFill>
            <a:prstDash val="sysDot"/>
          </a:ln>
        </p:spPr>
      </p:sp>
      <p:sp>
        <p:nvSpPr>
          <p:cNvPr id="41" name="Pill 327"/>
          <p:cNvSpPr/>
          <p:nvPr/>
        </p:nvSpPr>
        <p:spPr>
          <a:xfrm>
            <a:off x="177393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VM2</a:t>
            </a:r>
            <a:endParaRPr lang="en-US" sz="1000" dirty="0"/>
          </a:p>
        </p:txBody>
      </p:sp>
      <p:sp>
        <p:nvSpPr>
          <p:cNvPr id="42" name="Line 328"/>
          <p:cNvSpPr/>
          <p:nvPr/>
        </p:nvSpPr>
        <p:spPr>
          <a:xfrm>
            <a:off x="3383280" y="3928403"/>
            <a:ext cx="0" cy="1393405"/>
          </a:xfrm>
          <a:prstGeom prst="line">
            <a:avLst/>
          </a:prstGeom>
          <a:noFill/>
          <a:ln w="12700">
            <a:solidFill>
              <a:srgbClr val="56604E">
                <a:alpha val="60000"/>
              </a:srgbClr>
            </a:solidFill>
            <a:prstDash val="sysDot"/>
          </a:ln>
        </p:spPr>
      </p:sp>
      <p:sp>
        <p:nvSpPr>
          <p:cNvPr id="43" name="Pill 329"/>
          <p:cNvSpPr/>
          <p:nvPr/>
        </p:nvSpPr>
        <p:spPr>
          <a:xfrm>
            <a:off x="305409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VM3</a:t>
            </a:r>
            <a:endParaRPr lang="en-US" sz="1000" dirty="0"/>
          </a:p>
        </p:txBody>
      </p:sp>
      <p:sp>
        <p:nvSpPr>
          <p:cNvPr id="44" name="Line 330"/>
          <p:cNvSpPr/>
          <p:nvPr/>
        </p:nvSpPr>
        <p:spPr>
          <a:xfrm>
            <a:off x="4160520" y="3774663"/>
            <a:ext cx="0" cy="1547145"/>
          </a:xfrm>
          <a:prstGeom prst="line">
            <a:avLst/>
          </a:prstGeom>
          <a:noFill/>
          <a:ln w="12700">
            <a:solidFill>
              <a:srgbClr val="56604E">
                <a:alpha val="60000"/>
              </a:srgbClr>
            </a:solidFill>
            <a:prstDash val="sysDot"/>
          </a:ln>
        </p:spPr>
      </p:sp>
      <p:sp>
        <p:nvSpPr>
          <p:cNvPr id="45" name="Pill 331"/>
          <p:cNvSpPr/>
          <p:nvPr/>
        </p:nvSpPr>
        <p:spPr>
          <a:xfrm>
            <a:off x="383133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VM4</a:t>
            </a:r>
            <a:endParaRPr lang="en-US" sz="1000" dirty="0"/>
          </a:p>
        </p:txBody>
      </p:sp>
      <p:sp>
        <p:nvSpPr>
          <p:cNvPr id="46" name="Line 332"/>
          <p:cNvSpPr/>
          <p:nvPr/>
        </p:nvSpPr>
        <p:spPr>
          <a:xfrm>
            <a:off x="4983480" y="3611880"/>
            <a:ext cx="0" cy="1709928"/>
          </a:xfrm>
          <a:prstGeom prst="line">
            <a:avLst/>
          </a:prstGeom>
          <a:noFill/>
          <a:ln w="12700">
            <a:solidFill>
              <a:srgbClr val="56604E">
                <a:alpha val="60000"/>
              </a:srgbClr>
            </a:solidFill>
            <a:prstDash val="sysDot"/>
          </a:ln>
        </p:spPr>
      </p:sp>
      <p:sp>
        <p:nvSpPr>
          <p:cNvPr id="47" name="Pill 333"/>
          <p:cNvSpPr/>
          <p:nvPr/>
        </p:nvSpPr>
        <p:spPr>
          <a:xfrm>
            <a:off x="465429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VM5</a:t>
            </a:r>
            <a:endParaRPr lang="en-US" sz="1000" dirty="0"/>
          </a:p>
        </p:txBody>
      </p:sp>
      <p:sp>
        <p:nvSpPr>
          <p:cNvPr id="48" name="Line 334"/>
          <p:cNvSpPr/>
          <p:nvPr/>
        </p:nvSpPr>
        <p:spPr>
          <a:xfrm>
            <a:off x="6675120" y="3611880"/>
            <a:ext cx="0" cy="1709928"/>
          </a:xfrm>
          <a:prstGeom prst="line">
            <a:avLst/>
          </a:prstGeom>
          <a:noFill/>
          <a:ln w="12700">
            <a:solidFill>
              <a:srgbClr val="56604E">
                <a:alpha val="60000"/>
              </a:srgbClr>
            </a:solidFill>
            <a:prstDash val="sysDot"/>
          </a:ln>
        </p:spPr>
      </p:sp>
      <p:sp>
        <p:nvSpPr>
          <p:cNvPr id="49" name="Pill 335"/>
          <p:cNvSpPr/>
          <p:nvPr/>
        </p:nvSpPr>
        <p:spPr>
          <a:xfrm>
            <a:off x="634593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VM6</a:t>
            </a:r>
            <a:endParaRPr lang="en-US" sz="1000" dirty="0"/>
          </a:p>
        </p:txBody>
      </p:sp>
      <p:sp>
        <p:nvSpPr>
          <p:cNvPr id="50" name="Line 336"/>
          <p:cNvSpPr/>
          <p:nvPr/>
        </p:nvSpPr>
        <p:spPr>
          <a:xfrm>
            <a:off x="8503920" y="3934609"/>
            <a:ext cx="0" cy="1387199"/>
          </a:xfrm>
          <a:prstGeom prst="line">
            <a:avLst/>
          </a:prstGeom>
          <a:noFill/>
          <a:ln w="12700">
            <a:solidFill>
              <a:srgbClr val="56604E">
                <a:alpha val="60000"/>
              </a:srgbClr>
            </a:solidFill>
            <a:prstDash val="sysDot"/>
          </a:ln>
        </p:spPr>
      </p:sp>
      <p:sp>
        <p:nvSpPr>
          <p:cNvPr id="51" name="Pill 337"/>
          <p:cNvSpPr/>
          <p:nvPr/>
        </p:nvSpPr>
        <p:spPr>
          <a:xfrm>
            <a:off x="817473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VM7</a:t>
            </a:r>
            <a:endParaRPr lang="en-US" sz="1000" dirty="0"/>
          </a:p>
        </p:txBody>
      </p:sp>
      <p:sp>
        <p:nvSpPr>
          <p:cNvPr id="52" name="Line 338"/>
          <p:cNvSpPr/>
          <p:nvPr/>
        </p:nvSpPr>
        <p:spPr>
          <a:xfrm>
            <a:off x="9966960" y="4192793"/>
            <a:ext cx="0" cy="1129015"/>
          </a:xfrm>
          <a:prstGeom prst="line">
            <a:avLst/>
          </a:prstGeom>
          <a:noFill/>
          <a:ln w="12700">
            <a:solidFill>
              <a:srgbClr val="56604E">
                <a:alpha val="60000"/>
              </a:srgbClr>
            </a:solidFill>
            <a:prstDash val="sysDot"/>
          </a:ln>
        </p:spPr>
      </p:sp>
      <p:sp>
        <p:nvSpPr>
          <p:cNvPr id="53" name="Pill 339"/>
          <p:cNvSpPr/>
          <p:nvPr/>
        </p:nvSpPr>
        <p:spPr>
          <a:xfrm>
            <a:off x="963777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VM8</a:t>
            </a:r>
            <a:endParaRPr lang="en-US" sz="1000" dirty="0"/>
          </a:p>
        </p:txBody>
      </p:sp>
      <p:sp>
        <p:nvSpPr>
          <p:cNvPr id="54" name="Line 340"/>
          <p:cNvSpPr/>
          <p:nvPr/>
        </p:nvSpPr>
        <p:spPr>
          <a:xfrm>
            <a:off x="11338560" y="4434840"/>
            <a:ext cx="0" cy="886968"/>
          </a:xfrm>
          <a:prstGeom prst="line">
            <a:avLst/>
          </a:prstGeom>
          <a:noFill/>
          <a:ln w="12700">
            <a:solidFill>
              <a:srgbClr val="56604E">
                <a:alpha val="60000"/>
              </a:srgbClr>
            </a:solidFill>
            <a:prstDash val="sysDot"/>
          </a:ln>
        </p:spPr>
      </p:sp>
      <p:sp>
        <p:nvSpPr>
          <p:cNvPr id="55" name="Pill 341"/>
          <p:cNvSpPr/>
          <p:nvPr/>
        </p:nvSpPr>
        <p:spPr>
          <a:xfrm>
            <a:off x="11009376" y="5321808"/>
            <a:ext cx="658368" cy="292608"/>
          </a:xfrm>
          <a:prstGeom prst="roundRect">
            <a:avLst>
              <a:gd name="adj" fmla="val 50000"/>
            </a:avLst>
          </a:prstGeom>
          <a:solidFill>
            <a:srgbClr val="FFFFFF"/>
          </a:solidFill>
          <a:ln w="12700">
            <a:solidFill>
              <a:srgbClr val="1F3529"/>
            </a:solidFill>
          </a:ln>
        </p:spPr>
        <p:txBody>
          <a:bodyPr wrap="square" lIns="0" tIns="0" rIns="0" bIns="0" rtlCol="0" anchor="ctr"/>
          <a:lstStyle/>
          <a:p>
            <a:pPr algn="ctr" indent="0" marL="0">
              <a:buNone/>
            </a:pPr>
            <a:r>
              <a:rPr lang="en-US" sz="1000" b="1" dirty="0">
                <a:solidFill>
                  <a:srgbClr val="16261D"/>
                </a:solidFill>
              </a:rPr>
              <a:t>VM9</a:t>
            </a:r>
            <a:endParaRPr lang="en-US" sz="1000" dirty="0"/>
          </a:p>
        </p:txBody>
      </p:sp>
      <p:sp>
        <p:nvSpPr>
          <p:cNvPr id="56" name="Pill 342"/>
          <p:cNvSpPr/>
          <p:nvPr/>
        </p:nvSpPr>
        <p:spPr>
          <a:xfrm>
            <a:off x="365760" y="5870448"/>
            <a:ext cx="548640" cy="329184"/>
          </a:xfrm>
          <a:prstGeom prst="roundRect">
            <a:avLst>
              <a:gd name="adj" fmla="val 50000"/>
            </a:avLst>
          </a:prstGeom>
          <a:solidFill>
            <a:srgbClr val="1F3529"/>
          </a:solidFill>
          <a:ln/>
        </p:spPr>
        <p:txBody>
          <a:bodyPr wrap="square" lIns="0" tIns="0" rIns="0" bIns="0" rtlCol="0" anchor="ctr"/>
          <a:lstStyle/>
          <a:p>
            <a:pPr algn="ctr" indent="0" marL="0">
              <a:buNone/>
            </a:pPr>
            <a:r>
              <a:rPr lang="en-US" sz="1100" b="1" dirty="0">
                <a:solidFill>
                  <a:srgbClr val="F5F7F0"/>
                </a:solidFill>
              </a:rPr>
              <a:t>VM</a:t>
            </a:r>
            <a:endParaRPr lang="en-US" sz="1100" dirty="0"/>
          </a:p>
        </p:txBody>
      </p:sp>
      <p:sp>
        <p:nvSpPr>
          <p:cNvPr id="57" name="Text 343"/>
          <p:cNvSpPr txBox="1"/>
          <p:nvPr/>
        </p:nvSpPr>
        <p:spPr>
          <a:xfrm>
            <a:off x="1024128" y="5870448"/>
            <a:ext cx="3108960" cy="329184"/>
          </a:xfrm>
          <a:prstGeom prst="rect">
            <a:avLst/>
          </a:prstGeom>
          <a:noFill/>
          <a:ln/>
        </p:spPr>
        <p:txBody>
          <a:bodyPr wrap="square" lIns="0" tIns="0" rIns="0" bIns="0" rtlCol="0" anchor="ctr"/>
          <a:lstStyle/>
          <a:p>
            <a:pPr indent="0" marL="0">
              <a:buNone/>
            </a:pPr>
            <a:r>
              <a:rPr lang="en-US" sz="1200" b="1" dirty="0">
                <a:solidFill>
                  <a:srgbClr val="20241F"/>
                </a:solidFill>
              </a:rPr>
              <a:t>Volume metrics: </a:t>
            </a:r>
            <a:pPr indent="0" marL="0">
              <a:buNone/>
            </a:pPr>
            <a:r>
              <a:rPr lang="en-US" sz="1200" dirty="0">
                <a:solidFill>
                  <a:srgbClr val="56604E"/>
                </a:solidFill>
              </a:rPr>
              <a:t>how many at each stage</a:t>
            </a:r>
            <a:endParaRPr lang="en-US" sz="1200" dirty="0"/>
          </a:p>
        </p:txBody>
      </p:sp>
      <p:sp>
        <p:nvSpPr>
          <p:cNvPr id="58" name="Pill 344"/>
          <p:cNvSpPr/>
          <p:nvPr/>
        </p:nvSpPr>
        <p:spPr>
          <a:xfrm>
            <a:off x="4261104" y="5870448"/>
            <a:ext cx="548640" cy="329184"/>
          </a:xfrm>
          <a:prstGeom prst="roundRect">
            <a:avLst>
              <a:gd name="adj" fmla="val 50000"/>
            </a:avLst>
          </a:prstGeom>
          <a:solidFill>
            <a:srgbClr val="1F3529"/>
          </a:solidFill>
          <a:ln/>
        </p:spPr>
        <p:txBody>
          <a:bodyPr wrap="square" lIns="0" tIns="0" rIns="0" bIns="0" rtlCol="0" anchor="ctr"/>
          <a:lstStyle/>
          <a:p>
            <a:pPr algn="ctr" indent="0" marL="0">
              <a:buNone/>
            </a:pPr>
            <a:r>
              <a:rPr lang="en-US" sz="1100" b="1" dirty="0">
                <a:solidFill>
                  <a:srgbClr val="F5F7F0"/>
                </a:solidFill>
              </a:rPr>
              <a:t>CR</a:t>
            </a:r>
            <a:endParaRPr lang="en-US" sz="1100" dirty="0"/>
          </a:p>
        </p:txBody>
      </p:sp>
      <p:sp>
        <p:nvSpPr>
          <p:cNvPr id="59" name="Text 345"/>
          <p:cNvSpPr txBox="1"/>
          <p:nvPr/>
        </p:nvSpPr>
        <p:spPr>
          <a:xfrm>
            <a:off x="4919472" y="5870448"/>
            <a:ext cx="3108960" cy="329184"/>
          </a:xfrm>
          <a:prstGeom prst="rect">
            <a:avLst/>
          </a:prstGeom>
          <a:noFill/>
          <a:ln/>
        </p:spPr>
        <p:txBody>
          <a:bodyPr wrap="square" lIns="0" tIns="0" rIns="0" bIns="0" rtlCol="0" anchor="ctr"/>
          <a:lstStyle/>
          <a:p>
            <a:pPr indent="0" marL="0">
              <a:buNone/>
            </a:pPr>
            <a:r>
              <a:rPr lang="en-US" sz="1200" b="1" dirty="0">
                <a:solidFill>
                  <a:srgbClr val="20241F"/>
                </a:solidFill>
              </a:rPr>
              <a:t>Conversion metrics: </a:t>
            </a:r>
            <a:pPr indent="0" marL="0">
              <a:buNone/>
            </a:pPr>
            <a:r>
              <a:rPr lang="en-US" sz="1200" dirty="0">
                <a:solidFill>
                  <a:srgbClr val="56604E"/>
                </a:solidFill>
              </a:rPr>
              <a:t>how many move on</a:t>
            </a:r>
            <a:endParaRPr lang="en-US" sz="1200" dirty="0"/>
          </a:p>
        </p:txBody>
      </p:sp>
      <p:sp>
        <p:nvSpPr>
          <p:cNvPr id="60" name="Pill 346"/>
          <p:cNvSpPr/>
          <p:nvPr/>
        </p:nvSpPr>
        <p:spPr>
          <a:xfrm>
            <a:off x="8156448" y="5870448"/>
            <a:ext cx="548640" cy="329184"/>
          </a:xfrm>
          <a:prstGeom prst="roundRect">
            <a:avLst>
              <a:gd name="adj" fmla="val 50000"/>
            </a:avLst>
          </a:prstGeom>
          <a:solidFill>
            <a:srgbClr val="1F3529"/>
          </a:solidFill>
          <a:ln/>
        </p:spPr>
        <p:txBody>
          <a:bodyPr wrap="square" lIns="0" tIns="0" rIns="0" bIns="0" rtlCol="0" anchor="ctr"/>
          <a:lstStyle/>
          <a:p>
            <a:pPr algn="ctr" indent="0" marL="0">
              <a:buNone/>
            </a:pPr>
            <a:r>
              <a:rPr lang="en-US" sz="1100" b="1" dirty="0">
                <a:solidFill>
                  <a:srgbClr val="F5F7F0"/>
                </a:solidFill>
              </a:rPr>
              <a:t>Δt</a:t>
            </a:r>
            <a:endParaRPr lang="en-US" sz="1100" dirty="0"/>
          </a:p>
        </p:txBody>
      </p:sp>
      <p:sp>
        <p:nvSpPr>
          <p:cNvPr id="61" name="Text 347"/>
          <p:cNvSpPr txBox="1"/>
          <p:nvPr/>
        </p:nvSpPr>
        <p:spPr>
          <a:xfrm>
            <a:off x="8814816" y="5870448"/>
            <a:ext cx="3108960" cy="329184"/>
          </a:xfrm>
          <a:prstGeom prst="rect">
            <a:avLst/>
          </a:prstGeom>
          <a:noFill/>
          <a:ln/>
        </p:spPr>
        <p:txBody>
          <a:bodyPr wrap="square" lIns="0" tIns="0" rIns="0" bIns="0" rtlCol="0" anchor="ctr"/>
          <a:lstStyle/>
          <a:p>
            <a:pPr indent="0" marL="0">
              <a:buNone/>
            </a:pPr>
            <a:r>
              <a:rPr lang="en-US" sz="1200" b="1" dirty="0">
                <a:solidFill>
                  <a:srgbClr val="20241F"/>
                </a:solidFill>
              </a:rPr>
              <a:t>Time metrics: </a:t>
            </a:r>
            <a:pPr indent="0" marL="0">
              <a:buNone/>
            </a:pPr>
            <a:r>
              <a:rPr lang="en-US" sz="1200" dirty="0">
                <a:solidFill>
                  <a:srgbClr val="56604E"/>
                </a:solidFill>
              </a:rPr>
              <a:t>how long it takes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DEFINING THE CUSTOMER JOURNEY</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Customer journey: first steps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Sales cycle 1"/>
          <p:cNvSpPr/>
          <p:nvPr/>
        </p:nvSpPr>
        <p:spPr>
          <a:xfrm>
            <a:off x="365760" y="1371600"/>
            <a:ext cx="3657600" cy="4892040"/>
          </a:xfrm>
          <a:prstGeom prst="roundRect">
            <a:avLst>
              <a:gd name="adj" fmla="val 3000"/>
            </a:avLst>
          </a:prstGeom>
          <a:solidFill>
            <a:srgbClr val="16261D"/>
          </a:solidFill>
          <a:ln/>
          <a:effectLst>
            <a:outerShdw sx="100000" sy="100000" kx="0" ky="0" algn="bl" rotWithShape="0" blurRad="304800" dist="50800" dir="5400000">
              <a:srgbClr val="16261D">
                <a:alpha val="30000"/>
              </a:srgbClr>
            </a:outerShdw>
          </a:effectLst>
        </p:spPr>
      </p:sp>
      <p:sp>
        <p:nvSpPr>
          <p:cNvPr id="6" name="Text 2"/>
          <p:cNvSpPr txBox="1"/>
          <p:nvPr/>
        </p:nvSpPr>
        <p:spPr>
          <a:xfrm>
            <a:off x="685800" y="1691640"/>
            <a:ext cx="3108960" cy="274320"/>
          </a:xfrm>
          <a:prstGeom prst="rect">
            <a:avLst/>
          </a:prstGeom>
          <a:noFill/>
          <a:ln/>
        </p:spPr>
        <p:txBody>
          <a:bodyPr wrap="square" lIns="0" tIns="0" rIns="0" bIns="0" rtlCol="0" anchor="t"/>
          <a:lstStyle/>
          <a:p>
            <a:pPr indent="0" marL="0">
              <a:buNone/>
            </a:pPr>
            <a:r>
              <a:rPr lang="en-US" sz="1000" b="1" spc="200" kern="0" dirty="0">
                <a:solidFill>
                  <a:srgbClr val="93A87B"/>
                </a:solidFill>
              </a:rPr>
              <a:t>AVERAGE B2B SAAS SALES CYCLE</a:t>
            </a:r>
            <a:endParaRPr lang="en-US" sz="1000" dirty="0"/>
          </a:p>
        </p:txBody>
      </p:sp>
      <p:sp>
        <p:nvSpPr>
          <p:cNvPr id="7" name="Text 3"/>
          <p:cNvSpPr txBox="1"/>
          <p:nvPr/>
        </p:nvSpPr>
        <p:spPr>
          <a:xfrm>
            <a:off x="685800" y="2103120"/>
            <a:ext cx="3017520" cy="914400"/>
          </a:xfrm>
          <a:prstGeom prst="rect">
            <a:avLst/>
          </a:prstGeom>
          <a:noFill/>
          <a:ln/>
        </p:spPr>
        <p:txBody>
          <a:bodyPr wrap="square" lIns="0" tIns="0" rIns="0" bIns="0" rtlCol="0" anchor="t"/>
          <a:lstStyle/>
          <a:p>
            <a:pPr indent="0" marL="0">
              <a:buNone/>
            </a:pPr>
            <a:r>
              <a:rPr lang="en-US" sz="6000" dirty="0">
                <a:solidFill>
                  <a:srgbClr val="C9D3C0"/>
                </a:solidFill>
                <a:latin typeface="Georgia" pitchFamily="34" charset="0"/>
                <a:ea typeface="Georgia" pitchFamily="34" charset="-122"/>
                <a:cs typeface="Georgia" pitchFamily="34" charset="-120"/>
              </a:rPr>
              <a:t>107</a:t>
            </a:r>
            <a:endParaRPr lang="en-US" sz="6000" dirty="0"/>
          </a:p>
        </p:txBody>
      </p:sp>
      <p:sp>
        <p:nvSpPr>
          <p:cNvPr id="8" name="Text 4"/>
          <p:cNvSpPr txBox="1"/>
          <p:nvPr/>
        </p:nvSpPr>
        <p:spPr>
          <a:xfrm>
            <a:off x="685800" y="3017520"/>
            <a:ext cx="3017520" cy="320040"/>
          </a:xfrm>
          <a:prstGeom prst="rect">
            <a:avLst/>
          </a:prstGeom>
          <a:noFill/>
          <a:ln/>
        </p:spPr>
        <p:txBody>
          <a:bodyPr wrap="square" lIns="0" tIns="0" rIns="0" bIns="0" rtlCol="0" anchor="t"/>
          <a:lstStyle/>
          <a:p>
            <a:pPr indent="0" marL="0">
              <a:buNone/>
            </a:pPr>
            <a:r>
              <a:rPr lang="en-US" sz="1400" dirty="0">
                <a:solidFill>
                  <a:srgbClr val="C9D3C0"/>
                </a:solidFill>
              </a:rPr>
              <a:t>days in early 2022</a:t>
            </a:r>
            <a:endParaRPr lang="en-US" sz="1400" dirty="0"/>
          </a:p>
        </p:txBody>
      </p:sp>
      <p:sp>
        <p:nvSpPr>
          <p:cNvPr id="9" name="Text 5"/>
          <p:cNvSpPr txBox="1"/>
          <p:nvPr/>
        </p:nvSpPr>
        <p:spPr>
          <a:xfrm>
            <a:off x="685800" y="3611880"/>
            <a:ext cx="3017520" cy="914400"/>
          </a:xfrm>
          <a:prstGeom prst="rect">
            <a:avLst/>
          </a:prstGeom>
          <a:noFill/>
          <a:ln/>
        </p:spPr>
        <p:txBody>
          <a:bodyPr wrap="square" lIns="0" tIns="0" rIns="0" bIns="0" rtlCol="0" anchor="t"/>
          <a:lstStyle/>
          <a:p>
            <a:pPr indent="0" marL="0">
              <a:buNone/>
            </a:pPr>
            <a:r>
              <a:rPr lang="en-US" sz="6000" dirty="0">
                <a:solidFill>
                  <a:srgbClr val="93A87B"/>
                </a:solidFill>
                <a:latin typeface="Georgia" pitchFamily="34" charset="0"/>
                <a:ea typeface="Georgia" pitchFamily="34" charset="-122"/>
                <a:cs typeface="Georgia" pitchFamily="34" charset="-120"/>
              </a:rPr>
              <a:t>134</a:t>
            </a:r>
            <a:endParaRPr lang="en-US" sz="6000" dirty="0"/>
          </a:p>
        </p:txBody>
      </p:sp>
      <p:sp>
        <p:nvSpPr>
          <p:cNvPr id="10" name="Text 6"/>
          <p:cNvSpPr txBox="1"/>
          <p:nvPr/>
        </p:nvSpPr>
        <p:spPr>
          <a:xfrm>
            <a:off x="685800" y="4526280"/>
            <a:ext cx="3017520" cy="320040"/>
          </a:xfrm>
          <a:prstGeom prst="rect">
            <a:avLst/>
          </a:prstGeom>
          <a:noFill/>
          <a:ln/>
        </p:spPr>
        <p:txBody>
          <a:bodyPr wrap="square" lIns="0" tIns="0" rIns="0" bIns="0" rtlCol="0" anchor="t"/>
          <a:lstStyle/>
          <a:p>
            <a:pPr indent="0" marL="0">
              <a:buNone/>
            </a:pPr>
            <a:r>
              <a:rPr lang="en-US" sz="1400" dirty="0">
                <a:solidFill>
                  <a:srgbClr val="F5F7F0"/>
                </a:solidFill>
              </a:rPr>
              <a:t>days today</a:t>
            </a:r>
            <a:endParaRPr lang="en-US" sz="1400" dirty="0"/>
          </a:p>
        </p:txBody>
      </p:sp>
      <p:sp>
        <p:nvSpPr>
          <p:cNvPr id="11" name="Text 7"/>
          <p:cNvSpPr txBox="1"/>
          <p:nvPr/>
        </p:nvSpPr>
        <p:spPr>
          <a:xfrm>
            <a:off x="685800" y="5029200"/>
            <a:ext cx="3063240" cy="1097280"/>
          </a:xfrm>
          <a:prstGeom prst="rect">
            <a:avLst/>
          </a:prstGeom>
          <a:noFill/>
          <a:ln/>
        </p:spPr>
        <p:txBody>
          <a:bodyPr wrap="square" lIns="0" tIns="0" rIns="0" bIns="0" rtlCol="0" anchor="t"/>
          <a:lstStyle/>
          <a:p>
            <a:pPr indent="0" marL="0">
              <a:buNone/>
            </a:pPr>
            <a:r>
              <a:rPr lang="en-US" sz="1250" dirty="0">
                <a:solidFill>
                  <a:srgbClr val="C9D3C0"/>
                </a:solidFill>
              </a:rPr>
              <a:t>AI should be shortening the journey through personalisation and frictionless process. Most companies are not yet enabling it.</a:t>
            </a:r>
            <a:endParaRPr lang="en-US" sz="1250" dirty="0"/>
          </a:p>
        </p:txBody>
      </p:sp>
      <p:sp>
        <p:nvSpPr>
          <p:cNvPr id="12" name="Text 8"/>
          <p:cNvSpPr txBox="1"/>
          <p:nvPr/>
        </p:nvSpPr>
        <p:spPr>
          <a:xfrm>
            <a:off x="4343400" y="1371600"/>
            <a:ext cx="7452360" cy="822960"/>
          </a:xfrm>
          <a:prstGeom prst="rect">
            <a:avLst/>
          </a:prstGeom>
          <a:noFill/>
          <a:ln/>
        </p:spPr>
        <p:txBody>
          <a:bodyPr wrap="square" lIns="0" tIns="0" rIns="0" bIns="0" rtlCol="0" anchor="t"/>
          <a:lstStyle/>
          <a:p>
            <a:pPr indent="0" marL="0">
              <a:buNone/>
            </a:pPr>
            <a:r>
              <a:rPr lang="en-US" sz="1900" dirty="0">
                <a:solidFill>
                  <a:srgbClr val="16261D"/>
                </a:solidFill>
                <a:latin typeface="Georgia" pitchFamily="34" charset="0"/>
                <a:ea typeface="Georgia" pitchFamily="34" charset="-122"/>
                <a:cs typeface="Georgia" pitchFamily="34" charset="-120"/>
              </a:rPr>
              <a:t>Top-performing SaaS companies are refining their customer journeys to drive revenue growth and prepare for AI.</a:t>
            </a:r>
            <a:endParaRPr lang="en-US" sz="1900" dirty="0"/>
          </a:p>
        </p:txBody>
      </p:sp>
      <p:sp>
        <p:nvSpPr>
          <p:cNvPr id="13" name="Step 9"/>
          <p:cNvSpPr/>
          <p:nvPr/>
        </p:nvSpPr>
        <p:spPr>
          <a:xfrm>
            <a:off x="4343400" y="2423160"/>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14" name="Number 10"/>
          <p:cNvSpPr/>
          <p:nvPr/>
        </p:nvSpPr>
        <p:spPr>
          <a:xfrm>
            <a:off x="4572000" y="2743200"/>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1</a:t>
            </a:r>
            <a:endParaRPr lang="en-US" sz="1500" dirty="0"/>
          </a:p>
        </p:txBody>
      </p:sp>
      <p:sp>
        <p:nvSpPr>
          <p:cNvPr id="15" name="Text 11"/>
          <p:cNvSpPr txBox="1"/>
          <p:nvPr/>
        </p:nvSpPr>
        <p:spPr>
          <a:xfrm>
            <a:off x="5257800" y="2423160"/>
            <a:ext cx="2551176" cy="1143000"/>
          </a:xfrm>
          <a:prstGeom prst="rect">
            <a:avLst/>
          </a:prstGeom>
          <a:noFill/>
          <a:ln/>
        </p:spPr>
        <p:txBody>
          <a:bodyPr wrap="square" lIns="0" tIns="0" rIns="0" bIns="0" rtlCol="0" anchor="ctr"/>
          <a:lstStyle/>
          <a:p>
            <a:pPr indent="0" marL="0">
              <a:buNone/>
            </a:pPr>
            <a:r>
              <a:rPr lang="en-US" sz="1450" dirty="0">
                <a:solidFill>
                  <a:srgbClr val="20241F"/>
                </a:solidFill>
              </a:rPr>
              <a:t>Start with data, not assumptions</a:t>
            </a:r>
            <a:endParaRPr lang="en-US" sz="1450" dirty="0"/>
          </a:p>
        </p:txBody>
      </p:sp>
      <p:sp>
        <p:nvSpPr>
          <p:cNvPr id="16" name="Step 12"/>
          <p:cNvSpPr/>
          <p:nvPr/>
        </p:nvSpPr>
        <p:spPr>
          <a:xfrm>
            <a:off x="8129016" y="2423160"/>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17" name="Number 13"/>
          <p:cNvSpPr/>
          <p:nvPr/>
        </p:nvSpPr>
        <p:spPr>
          <a:xfrm>
            <a:off x="8357616" y="2743200"/>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2</a:t>
            </a:r>
            <a:endParaRPr lang="en-US" sz="1500" dirty="0"/>
          </a:p>
        </p:txBody>
      </p:sp>
      <p:sp>
        <p:nvSpPr>
          <p:cNvPr id="18" name="Text 14"/>
          <p:cNvSpPr txBox="1"/>
          <p:nvPr/>
        </p:nvSpPr>
        <p:spPr>
          <a:xfrm>
            <a:off x="9043416" y="2423160"/>
            <a:ext cx="2551176" cy="1143000"/>
          </a:xfrm>
          <a:prstGeom prst="rect">
            <a:avLst/>
          </a:prstGeom>
          <a:noFill/>
          <a:ln/>
        </p:spPr>
        <p:txBody>
          <a:bodyPr wrap="square" lIns="0" tIns="0" rIns="0" bIns="0" rtlCol="0" anchor="ctr"/>
          <a:lstStyle/>
          <a:p>
            <a:pPr indent="0" marL="0">
              <a:buNone/>
            </a:pPr>
            <a:r>
              <a:rPr lang="en-US" sz="1450" dirty="0">
                <a:solidFill>
                  <a:srgbClr val="20241F"/>
                </a:solidFill>
              </a:rPr>
              <a:t>Listen to the customer</a:t>
            </a:r>
            <a:endParaRPr lang="en-US" sz="1450" dirty="0"/>
          </a:p>
        </p:txBody>
      </p:sp>
      <p:sp>
        <p:nvSpPr>
          <p:cNvPr id="19" name="Step 15"/>
          <p:cNvSpPr/>
          <p:nvPr/>
        </p:nvSpPr>
        <p:spPr>
          <a:xfrm>
            <a:off x="4343400" y="3730752"/>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20" name="Number 16"/>
          <p:cNvSpPr/>
          <p:nvPr/>
        </p:nvSpPr>
        <p:spPr>
          <a:xfrm>
            <a:off x="4572000" y="4050792"/>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3</a:t>
            </a:r>
            <a:endParaRPr lang="en-US" sz="1500" dirty="0"/>
          </a:p>
        </p:txBody>
      </p:sp>
      <p:sp>
        <p:nvSpPr>
          <p:cNvPr id="21" name="Text 17"/>
          <p:cNvSpPr txBox="1"/>
          <p:nvPr/>
        </p:nvSpPr>
        <p:spPr>
          <a:xfrm>
            <a:off x="5257800" y="3730752"/>
            <a:ext cx="2551176" cy="1143000"/>
          </a:xfrm>
          <a:prstGeom prst="rect">
            <a:avLst/>
          </a:prstGeom>
          <a:noFill/>
          <a:ln/>
        </p:spPr>
        <p:txBody>
          <a:bodyPr wrap="square" lIns="0" tIns="0" rIns="0" bIns="0" rtlCol="0" anchor="ctr"/>
          <a:lstStyle/>
          <a:p>
            <a:pPr indent="0" marL="0">
              <a:buNone/>
            </a:pPr>
            <a:r>
              <a:rPr lang="en-US" sz="1450" dirty="0">
                <a:solidFill>
                  <a:srgbClr val="20241F"/>
                </a:solidFill>
              </a:rPr>
              <a:t>Look at the micro before the macro</a:t>
            </a:r>
            <a:endParaRPr lang="en-US" sz="1450" dirty="0"/>
          </a:p>
        </p:txBody>
      </p:sp>
      <p:sp>
        <p:nvSpPr>
          <p:cNvPr id="22" name="Step 18"/>
          <p:cNvSpPr/>
          <p:nvPr/>
        </p:nvSpPr>
        <p:spPr>
          <a:xfrm>
            <a:off x="8129016" y="3730752"/>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23" name="Number 19"/>
          <p:cNvSpPr/>
          <p:nvPr/>
        </p:nvSpPr>
        <p:spPr>
          <a:xfrm>
            <a:off x="8357616" y="4050792"/>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4</a:t>
            </a:r>
            <a:endParaRPr lang="en-US" sz="1500" dirty="0"/>
          </a:p>
        </p:txBody>
      </p:sp>
      <p:sp>
        <p:nvSpPr>
          <p:cNvPr id="24" name="Text 20"/>
          <p:cNvSpPr txBox="1"/>
          <p:nvPr/>
        </p:nvSpPr>
        <p:spPr>
          <a:xfrm>
            <a:off x="9043416" y="3730752"/>
            <a:ext cx="2551176" cy="1143000"/>
          </a:xfrm>
          <a:prstGeom prst="rect">
            <a:avLst/>
          </a:prstGeom>
          <a:noFill/>
          <a:ln/>
        </p:spPr>
        <p:txBody>
          <a:bodyPr wrap="square" lIns="0" tIns="0" rIns="0" bIns="0" rtlCol="0" anchor="ctr"/>
          <a:lstStyle/>
          <a:p>
            <a:pPr indent="0" marL="0">
              <a:buNone/>
            </a:pPr>
            <a:r>
              <a:rPr lang="en-US" sz="1450" dirty="0">
                <a:solidFill>
                  <a:srgbClr val="20241F"/>
                </a:solidFill>
              </a:rPr>
              <a:t>Represent every revenue team on a customer journey committee</a:t>
            </a:r>
            <a:endParaRPr lang="en-US" sz="1450" dirty="0"/>
          </a:p>
        </p:txBody>
      </p:sp>
      <p:sp>
        <p:nvSpPr>
          <p:cNvPr id="25" name="Step 21"/>
          <p:cNvSpPr/>
          <p:nvPr/>
        </p:nvSpPr>
        <p:spPr>
          <a:xfrm>
            <a:off x="4343400" y="5038344"/>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26" name="Number 22"/>
          <p:cNvSpPr/>
          <p:nvPr/>
        </p:nvSpPr>
        <p:spPr>
          <a:xfrm>
            <a:off x="4572000" y="5358384"/>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5</a:t>
            </a:r>
            <a:endParaRPr lang="en-US" sz="1500" dirty="0"/>
          </a:p>
        </p:txBody>
      </p:sp>
      <p:sp>
        <p:nvSpPr>
          <p:cNvPr id="27" name="Text 23"/>
          <p:cNvSpPr txBox="1"/>
          <p:nvPr/>
        </p:nvSpPr>
        <p:spPr>
          <a:xfrm>
            <a:off x="5257800" y="5038344"/>
            <a:ext cx="2551176" cy="1143000"/>
          </a:xfrm>
          <a:prstGeom prst="rect">
            <a:avLst/>
          </a:prstGeom>
          <a:noFill/>
          <a:ln/>
        </p:spPr>
        <p:txBody>
          <a:bodyPr wrap="square" lIns="0" tIns="0" rIns="0" bIns="0" rtlCol="0" anchor="ctr"/>
          <a:lstStyle/>
          <a:p>
            <a:pPr indent="0" marL="0">
              <a:buNone/>
            </a:pPr>
            <a:r>
              <a:rPr lang="en-US" sz="1450" dirty="0">
                <a:solidFill>
                  <a:srgbClr val="20241F"/>
                </a:solidFill>
              </a:rPr>
              <a:t>Use a proven framework: the target operating model</a:t>
            </a:r>
            <a:endParaRPr lang="en-US" sz="1450" dirty="0"/>
          </a:p>
        </p:txBody>
      </p:sp>
      <p:sp>
        <p:nvSpPr>
          <p:cNvPr id="28" name="Step 24"/>
          <p:cNvSpPr/>
          <p:nvPr/>
        </p:nvSpPr>
        <p:spPr>
          <a:xfrm>
            <a:off x="8129016" y="5038344"/>
            <a:ext cx="3648456" cy="1143000"/>
          </a:xfrm>
          <a:prstGeom prst="roundRect">
            <a:avLst>
              <a:gd name="adj" fmla="val 9600"/>
            </a:avLst>
          </a:prstGeom>
          <a:solidFill>
            <a:srgbClr val="FFFFFF"/>
          </a:solidFill>
          <a:ln/>
          <a:effectLst>
            <a:outerShdw sx="100000" sy="100000" kx="0" ky="0" algn="bl" rotWithShape="0" blurRad="177800" dist="50800" dir="5400000">
              <a:srgbClr val="16261D">
                <a:alpha val="14000"/>
              </a:srgbClr>
            </a:outerShdw>
          </a:effectLst>
        </p:spPr>
      </p:sp>
      <p:sp>
        <p:nvSpPr>
          <p:cNvPr id="29" name="Number 25"/>
          <p:cNvSpPr/>
          <p:nvPr/>
        </p:nvSpPr>
        <p:spPr>
          <a:xfrm>
            <a:off x="8357616" y="5358384"/>
            <a:ext cx="502920" cy="502920"/>
          </a:xfrm>
          <a:prstGeom prst="ellipse">
            <a:avLst/>
          </a:prstGeom>
          <a:solidFill>
            <a:srgbClr val="1F3529"/>
          </a:solidFill>
          <a:ln/>
        </p:spPr>
        <p:txBody>
          <a:bodyPr wrap="square" lIns="0" tIns="0" rIns="0" bIns="0" rtlCol="0" anchor="ctr"/>
          <a:lstStyle/>
          <a:p>
            <a:pPr algn="ctr" indent="0" marL="0">
              <a:buNone/>
            </a:pPr>
            <a:r>
              <a:rPr lang="en-US" sz="1500" b="1" dirty="0">
                <a:solidFill>
                  <a:srgbClr val="F5F7F0"/>
                </a:solidFill>
              </a:rPr>
              <a:t>6</a:t>
            </a:r>
            <a:endParaRPr lang="en-US" sz="1500" dirty="0"/>
          </a:p>
        </p:txBody>
      </p:sp>
      <p:sp>
        <p:nvSpPr>
          <p:cNvPr id="30" name="Text 26"/>
          <p:cNvSpPr txBox="1"/>
          <p:nvPr/>
        </p:nvSpPr>
        <p:spPr>
          <a:xfrm>
            <a:off x="9043416" y="5038344"/>
            <a:ext cx="2551176" cy="1143000"/>
          </a:xfrm>
          <a:prstGeom prst="rect">
            <a:avLst/>
          </a:prstGeom>
          <a:noFill/>
          <a:ln/>
        </p:spPr>
        <p:txBody>
          <a:bodyPr wrap="square" lIns="0" tIns="0" rIns="0" bIns="0" rtlCol="0" anchor="ctr"/>
          <a:lstStyle/>
          <a:p>
            <a:pPr indent="0" marL="0">
              <a:buNone/>
            </a:pPr>
            <a:r>
              <a:rPr lang="en-US" sz="1450" dirty="0">
                <a:solidFill>
                  <a:srgbClr val="20241F"/>
                </a:solidFill>
              </a:rPr>
              <a:t>Prioritise work by impact with the prioritisation matrix</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SCORING URGENCY AND IMPORTANCE</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The prioritisation matrix</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Text 27"/>
          <p:cNvSpPr txBox="1"/>
          <p:nvPr/>
        </p:nvSpPr>
        <p:spPr>
          <a:xfrm>
            <a:off x="1691640" y="1371600"/>
            <a:ext cx="3063240" cy="320040"/>
          </a:xfrm>
          <a:prstGeom prst="rect">
            <a:avLst/>
          </a:prstGeom>
          <a:noFill/>
          <a:ln/>
        </p:spPr>
        <p:txBody>
          <a:bodyPr wrap="square" lIns="0" tIns="0" rIns="0" bIns="0" rtlCol="0" anchor="t"/>
          <a:lstStyle/>
          <a:p>
            <a:pPr algn="ctr" indent="0" marL="0">
              <a:buNone/>
            </a:pPr>
            <a:r>
              <a:rPr lang="en-US" sz="1100" b="1" spc="200" kern="0" dirty="0">
                <a:solidFill>
                  <a:srgbClr val="56604E"/>
                </a:solidFill>
              </a:rPr>
              <a:t>HIGH URGENCY</a:t>
            </a:r>
            <a:endParaRPr lang="en-US" sz="1100" dirty="0"/>
          </a:p>
        </p:txBody>
      </p:sp>
      <p:sp>
        <p:nvSpPr>
          <p:cNvPr id="6" name="Text 28"/>
          <p:cNvSpPr txBox="1"/>
          <p:nvPr/>
        </p:nvSpPr>
        <p:spPr>
          <a:xfrm>
            <a:off x="4892040" y="1371600"/>
            <a:ext cx="3063240" cy="320040"/>
          </a:xfrm>
          <a:prstGeom prst="rect">
            <a:avLst/>
          </a:prstGeom>
          <a:noFill/>
          <a:ln/>
        </p:spPr>
        <p:txBody>
          <a:bodyPr wrap="square" lIns="0" tIns="0" rIns="0" bIns="0" rtlCol="0" anchor="t"/>
          <a:lstStyle/>
          <a:p>
            <a:pPr algn="ctr" indent="0" marL="0">
              <a:buNone/>
            </a:pPr>
            <a:r>
              <a:rPr lang="en-US" sz="1100" b="1" spc="200" kern="0" dirty="0">
                <a:solidFill>
                  <a:srgbClr val="56604E"/>
                </a:solidFill>
              </a:rPr>
              <a:t>LOW URGENCY</a:t>
            </a:r>
            <a:endParaRPr lang="en-US" sz="1100" dirty="0"/>
          </a:p>
        </p:txBody>
      </p:sp>
      <p:sp>
        <p:nvSpPr>
          <p:cNvPr id="7" name="Text 29"/>
          <p:cNvSpPr txBox="1"/>
          <p:nvPr/>
        </p:nvSpPr>
        <p:spPr>
          <a:xfrm>
            <a:off x="365760" y="1783080"/>
            <a:ext cx="1188720" cy="2148840"/>
          </a:xfrm>
          <a:prstGeom prst="rect">
            <a:avLst/>
          </a:prstGeom>
          <a:noFill/>
          <a:ln/>
        </p:spPr>
        <p:txBody>
          <a:bodyPr wrap="square" lIns="0" tIns="0" rIns="0" bIns="0" rtlCol="0" anchor="ctr"/>
          <a:lstStyle/>
          <a:p>
            <a:pPr algn="r" indent="0" marL="0">
              <a:buNone/>
            </a:pPr>
            <a:r>
              <a:rPr lang="en-US" sz="1100" b="1" spc="100" kern="0" dirty="0">
                <a:solidFill>
                  <a:srgbClr val="56604E"/>
                </a:solidFill>
              </a:rPr>
              <a:t>HIGH IMPORTANCE</a:t>
            </a:r>
            <a:endParaRPr lang="en-US" sz="1100" dirty="0"/>
          </a:p>
        </p:txBody>
      </p:sp>
      <p:sp>
        <p:nvSpPr>
          <p:cNvPr id="8" name="Text 30"/>
          <p:cNvSpPr txBox="1"/>
          <p:nvPr/>
        </p:nvSpPr>
        <p:spPr>
          <a:xfrm>
            <a:off x="365760" y="4069080"/>
            <a:ext cx="1188720" cy="2148840"/>
          </a:xfrm>
          <a:prstGeom prst="rect">
            <a:avLst/>
          </a:prstGeom>
          <a:noFill/>
          <a:ln/>
        </p:spPr>
        <p:txBody>
          <a:bodyPr wrap="square" lIns="0" tIns="0" rIns="0" bIns="0" rtlCol="0" anchor="ctr"/>
          <a:lstStyle/>
          <a:p>
            <a:pPr algn="r" indent="0" marL="0">
              <a:buNone/>
            </a:pPr>
            <a:r>
              <a:rPr lang="en-US" sz="1100" b="1" spc="100" kern="0" dirty="0">
                <a:solidFill>
                  <a:srgbClr val="56604E"/>
                </a:solidFill>
              </a:rPr>
              <a:t>LOW IMPORTANCE</a:t>
            </a:r>
            <a:endParaRPr lang="en-US" sz="1100" dirty="0"/>
          </a:p>
        </p:txBody>
      </p:sp>
      <p:sp>
        <p:nvSpPr>
          <p:cNvPr id="9" name="High priority 31"/>
          <p:cNvSpPr/>
          <p:nvPr/>
        </p:nvSpPr>
        <p:spPr>
          <a:xfrm>
            <a:off x="1691640" y="1783080"/>
            <a:ext cx="3063240" cy="2148840"/>
          </a:xfrm>
          <a:prstGeom prst="roundRect">
            <a:avLst>
              <a:gd name="adj" fmla="val 5106"/>
            </a:avLst>
          </a:prstGeom>
          <a:solidFill>
            <a:srgbClr val="1F3529"/>
          </a:solidFill>
          <a:ln/>
          <a:effectLst>
            <a:outerShdw sx="100000" sy="100000" kx="0" ky="0" algn="bl" rotWithShape="0" blurRad="177800" dist="50800" dir="5400000">
              <a:srgbClr val="16261D">
                <a:alpha val="14000"/>
              </a:srgbClr>
            </a:outerShdw>
          </a:effectLst>
        </p:spPr>
      </p:sp>
      <p:sp>
        <p:nvSpPr>
          <p:cNvPr id="10" name="Text 32"/>
          <p:cNvSpPr txBox="1"/>
          <p:nvPr/>
        </p:nvSpPr>
        <p:spPr>
          <a:xfrm>
            <a:off x="1965960" y="2103120"/>
            <a:ext cx="2514600" cy="822960"/>
          </a:xfrm>
          <a:prstGeom prst="rect">
            <a:avLst/>
          </a:prstGeom>
          <a:noFill/>
          <a:ln/>
        </p:spPr>
        <p:txBody>
          <a:bodyPr wrap="square" lIns="0" tIns="0" rIns="0" bIns="0" rtlCol="0" anchor="t"/>
          <a:lstStyle/>
          <a:p>
            <a:pPr indent="0" marL="0">
              <a:buNone/>
            </a:pPr>
            <a:r>
              <a:rPr lang="en-US" sz="1900" b="1" dirty="0">
                <a:solidFill>
                  <a:srgbClr val="F5F7F0"/>
                </a:solidFill>
              </a:rPr>
              <a:t>High priority</a:t>
            </a:r>
            <a:endParaRPr lang="en-US" sz="1900" dirty="0"/>
          </a:p>
        </p:txBody>
      </p:sp>
      <p:sp>
        <p:nvSpPr>
          <p:cNvPr id="11" name="Text 33"/>
          <p:cNvSpPr txBox="1"/>
          <p:nvPr/>
        </p:nvSpPr>
        <p:spPr>
          <a:xfrm>
            <a:off x="1965960" y="3063240"/>
            <a:ext cx="2514600" cy="548640"/>
          </a:xfrm>
          <a:prstGeom prst="rect">
            <a:avLst/>
          </a:prstGeom>
          <a:noFill/>
          <a:ln/>
        </p:spPr>
        <p:txBody>
          <a:bodyPr wrap="square" lIns="0" tIns="0" rIns="0" bIns="0" rtlCol="0" anchor="t"/>
          <a:lstStyle/>
          <a:p>
            <a:pPr indent="0" marL="0">
              <a:buNone/>
            </a:pPr>
            <a:r>
              <a:rPr lang="en-US" sz="1300" dirty="0">
                <a:solidFill>
                  <a:srgbClr val="F5F7F0"/>
                </a:solidFill>
              </a:rPr>
              <a:t>8–12 points on both</a:t>
            </a:r>
            <a:endParaRPr lang="en-US" sz="1300" dirty="0"/>
          </a:p>
        </p:txBody>
      </p:sp>
      <p:sp>
        <p:nvSpPr>
          <p:cNvPr id="12" name="Important but not pressing 34"/>
          <p:cNvSpPr/>
          <p:nvPr/>
        </p:nvSpPr>
        <p:spPr>
          <a:xfrm>
            <a:off x="4892040" y="1783080"/>
            <a:ext cx="3063240" cy="2148840"/>
          </a:xfrm>
          <a:prstGeom prst="roundRect">
            <a:avLst>
              <a:gd name="adj" fmla="val 5106"/>
            </a:avLst>
          </a:prstGeom>
          <a:solidFill>
            <a:srgbClr val="93A87B"/>
          </a:solidFill>
          <a:ln/>
          <a:effectLst>
            <a:outerShdw sx="100000" sy="100000" kx="0" ky="0" algn="bl" rotWithShape="0" blurRad="177800" dist="50800" dir="5400000">
              <a:srgbClr val="16261D">
                <a:alpha val="14000"/>
              </a:srgbClr>
            </a:outerShdw>
          </a:effectLst>
        </p:spPr>
      </p:sp>
      <p:sp>
        <p:nvSpPr>
          <p:cNvPr id="13" name="Text 35"/>
          <p:cNvSpPr txBox="1"/>
          <p:nvPr/>
        </p:nvSpPr>
        <p:spPr>
          <a:xfrm>
            <a:off x="5166360" y="2103120"/>
            <a:ext cx="2514600" cy="822960"/>
          </a:xfrm>
          <a:prstGeom prst="rect">
            <a:avLst/>
          </a:prstGeom>
          <a:noFill/>
          <a:ln/>
        </p:spPr>
        <p:txBody>
          <a:bodyPr wrap="square" lIns="0" tIns="0" rIns="0" bIns="0" rtlCol="0" anchor="t"/>
          <a:lstStyle/>
          <a:p>
            <a:pPr indent="0" marL="0">
              <a:buNone/>
            </a:pPr>
            <a:r>
              <a:rPr lang="en-US" sz="1900" b="1" dirty="0">
                <a:solidFill>
                  <a:srgbClr val="16261D"/>
                </a:solidFill>
              </a:rPr>
              <a:t>Important but not pressing</a:t>
            </a:r>
            <a:endParaRPr lang="en-US" sz="1900" dirty="0"/>
          </a:p>
        </p:txBody>
      </p:sp>
      <p:sp>
        <p:nvSpPr>
          <p:cNvPr id="14" name="Text 36"/>
          <p:cNvSpPr txBox="1"/>
          <p:nvPr/>
        </p:nvSpPr>
        <p:spPr>
          <a:xfrm>
            <a:off x="5166360" y="3063240"/>
            <a:ext cx="2514600" cy="548640"/>
          </a:xfrm>
          <a:prstGeom prst="rect">
            <a:avLst/>
          </a:prstGeom>
          <a:noFill/>
          <a:ln/>
        </p:spPr>
        <p:txBody>
          <a:bodyPr wrap="square" lIns="0" tIns="0" rIns="0" bIns="0" rtlCol="0" anchor="t"/>
          <a:lstStyle/>
          <a:p>
            <a:pPr indent="0" marL="0">
              <a:buNone/>
            </a:pPr>
            <a:r>
              <a:rPr lang="en-US" sz="1300" dirty="0">
                <a:solidFill>
                  <a:srgbClr val="16261D"/>
                </a:solidFill>
              </a:rPr>
              <a:t>8–12 importance, 4–7 urgency</a:t>
            </a:r>
            <a:endParaRPr lang="en-US" sz="1300" dirty="0"/>
          </a:p>
        </p:txBody>
      </p:sp>
      <p:sp>
        <p:nvSpPr>
          <p:cNvPr id="15" name="Pressing but not important 37"/>
          <p:cNvSpPr/>
          <p:nvPr/>
        </p:nvSpPr>
        <p:spPr>
          <a:xfrm>
            <a:off x="1691640" y="4069080"/>
            <a:ext cx="3063240" cy="2148840"/>
          </a:xfrm>
          <a:prstGeom prst="roundRect">
            <a:avLst>
              <a:gd name="adj" fmla="val 5106"/>
            </a:avLst>
          </a:prstGeom>
          <a:solidFill>
            <a:srgbClr val="C9D3C0"/>
          </a:solidFill>
          <a:ln/>
          <a:effectLst>
            <a:outerShdw sx="100000" sy="100000" kx="0" ky="0" algn="bl" rotWithShape="0" blurRad="177800" dist="50800" dir="5400000">
              <a:srgbClr val="16261D">
                <a:alpha val="14000"/>
              </a:srgbClr>
            </a:outerShdw>
          </a:effectLst>
        </p:spPr>
      </p:sp>
      <p:sp>
        <p:nvSpPr>
          <p:cNvPr id="16" name="Text 38"/>
          <p:cNvSpPr txBox="1"/>
          <p:nvPr/>
        </p:nvSpPr>
        <p:spPr>
          <a:xfrm>
            <a:off x="1965960" y="4389120"/>
            <a:ext cx="2514600" cy="822960"/>
          </a:xfrm>
          <a:prstGeom prst="rect">
            <a:avLst/>
          </a:prstGeom>
          <a:noFill/>
          <a:ln/>
        </p:spPr>
        <p:txBody>
          <a:bodyPr wrap="square" lIns="0" tIns="0" rIns="0" bIns="0" rtlCol="0" anchor="t"/>
          <a:lstStyle/>
          <a:p>
            <a:pPr indent="0" marL="0">
              <a:buNone/>
            </a:pPr>
            <a:r>
              <a:rPr lang="en-US" sz="1900" b="1" dirty="0">
                <a:solidFill>
                  <a:srgbClr val="16261D"/>
                </a:solidFill>
              </a:rPr>
              <a:t>Pressing but not important</a:t>
            </a:r>
            <a:endParaRPr lang="en-US" sz="1900" dirty="0"/>
          </a:p>
        </p:txBody>
      </p:sp>
      <p:sp>
        <p:nvSpPr>
          <p:cNvPr id="17" name="Text 39"/>
          <p:cNvSpPr txBox="1"/>
          <p:nvPr/>
        </p:nvSpPr>
        <p:spPr>
          <a:xfrm>
            <a:off x="1965960" y="5349240"/>
            <a:ext cx="2514600" cy="548640"/>
          </a:xfrm>
          <a:prstGeom prst="rect">
            <a:avLst/>
          </a:prstGeom>
          <a:noFill/>
          <a:ln/>
        </p:spPr>
        <p:txBody>
          <a:bodyPr wrap="square" lIns="0" tIns="0" rIns="0" bIns="0" rtlCol="0" anchor="t"/>
          <a:lstStyle/>
          <a:p>
            <a:pPr indent="0" marL="0">
              <a:buNone/>
            </a:pPr>
            <a:r>
              <a:rPr lang="en-US" sz="1300" dirty="0">
                <a:solidFill>
                  <a:srgbClr val="16261D"/>
                </a:solidFill>
              </a:rPr>
              <a:t>4–7 importance, 8–12 urgency</a:t>
            </a:r>
            <a:endParaRPr lang="en-US" sz="1300" dirty="0"/>
          </a:p>
        </p:txBody>
      </p:sp>
      <p:sp>
        <p:nvSpPr>
          <p:cNvPr id="18" name="Not pressing nor important 40"/>
          <p:cNvSpPr/>
          <p:nvPr/>
        </p:nvSpPr>
        <p:spPr>
          <a:xfrm>
            <a:off x="4892040" y="4069080"/>
            <a:ext cx="3063240" cy="2148840"/>
          </a:xfrm>
          <a:prstGeom prst="roundRect">
            <a:avLst>
              <a:gd name="adj" fmla="val 5106"/>
            </a:avLst>
          </a:prstGeom>
          <a:solidFill>
            <a:srgbClr val="FFFFFF"/>
          </a:solidFill>
          <a:ln w="12700">
            <a:solidFill>
              <a:srgbClr val="D2D8CD"/>
            </a:solidFill>
            <a:prstDash val="solid"/>
          </a:ln>
          <a:effectLst>
            <a:outerShdw sx="100000" sy="100000" kx="0" ky="0" algn="bl" rotWithShape="0" blurRad="177800" dist="50800" dir="5400000">
              <a:srgbClr val="16261D">
                <a:alpha val="14000"/>
              </a:srgbClr>
            </a:outerShdw>
          </a:effectLst>
        </p:spPr>
      </p:sp>
      <p:sp>
        <p:nvSpPr>
          <p:cNvPr id="19" name="Text 41"/>
          <p:cNvSpPr txBox="1"/>
          <p:nvPr/>
        </p:nvSpPr>
        <p:spPr>
          <a:xfrm>
            <a:off x="5166360" y="4389120"/>
            <a:ext cx="2514600" cy="822960"/>
          </a:xfrm>
          <a:prstGeom prst="rect">
            <a:avLst/>
          </a:prstGeom>
          <a:noFill/>
          <a:ln/>
        </p:spPr>
        <p:txBody>
          <a:bodyPr wrap="square" lIns="0" tIns="0" rIns="0" bIns="0" rtlCol="0" anchor="t"/>
          <a:lstStyle/>
          <a:p>
            <a:pPr indent="0" marL="0">
              <a:buNone/>
            </a:pPr>
            <a:r>
              <a:rPr lang="en-US" sz="1900" b="1" dirty="0">
                <a:solidFill>
                  <a:srgbClr val="56604E"/>
                </a:solidFill>
              </a:rPr>
              <a:t>Not pressing nor important</a:t>
            </a:r>
            <a:endParaRPr lang="en-US" sz="1900" dirty="0"/>
          </a:p>
        </p:txBody>
      </p:sp>
      <p:sp>
        <p:nvSpPr>
          <p:cNvPr id="20" name="Text 42"/>
          <p:cNvSpPr txBox="1"/>
          <p:nvPr/>
        </p:nvSpPr>
        <p:spPr>
          <a:xfrm>
            <a:off x="5166360" y="5349240"/>
            <a:ext cx="2514600" cy="548640"/>
          </a:xfrm>
          <a:prstGeom prst="rect">
            <a:avLst/>
          </a:prstGeom>
          <a:noFill/>
          <a:ln/>
        </p:spPr>
        <p:txBody>
          <a:bodyPr wrap="square" lIns="0" tIns="0" rIns="0" bIns="0" rtlCol="0" anchor="t"/>
          <a:lstStyle/>
          <a:p>
            <a:pPr indent="0" marL="0">
              <a:buNone/>
            </a:pPr>
            <a:r>
              <a:rPr lang="en-US" sz="1300" dirty="0">
                <a:solidFill>
                  <a:srgbClr val="56604E"/>
                </a:solidFill>
              </a:rPr>
              <a:t>4–7 on both</a:t>
            </a:r>
            <a:endParaRPr lang="en-US" sz="1300" dirty="0"/>
          </a:p>
        </p:txBody>
      </p:sp>
      <p:sp>
        <p:nvSpPr>
          <p:cNvPr id="21" name="Define, don’t just align 43"/>
          <p:cNvSpPr/>
          <p:nvPr/>
        </p:nvSpPr>
        <p:spPr>
          <a:xfrm>
            <a:off x="8229600" y="1783080"/>
            <a:ext cx="3593592" cy="2148840"/>
          </a:xfrm>
          <a:prstGeom prst="roundRect">
            <a:avLst>
              <a:gd name="adj" fmla="val 5106"/>
            </a:avLst>
          </a:prstGeom>
          <a:solidFill>
            <a:srgbClr val="FFFFFF"/>
          </a:solidFill>
          <a:ln/>
          <a:effectLst>
            <a:outerShdw sx="100000" sy="100000" kx="0" ky="0" algn="bl" rotWithShape="0" blurRad="177800" dist="50800" dir="5400000">
              <a:srgbClr val="16261D">
                <a:alpha val="14000"/>
              </a:srgbClr>
            </a:outerShdw>
          </a:effectLst>
        </p:spPr>
      </p:sp>
      <p:sp>
        <p:nvSpPr>
          <p:cNvPr id="22" name="Text 44"/>
          <p:cNvSpPr txBox="1"/>
          <p:nvPr/>
        </p:nvSpPr>
        <p:spPr>
          <a:xfrm>
            <a:off x="8503920" y="2057400"/>
            <a:ext cx="3063240" cy="411480"/>
          </a:xfrm>
          <a:prstGeom prst="rect">
            <a:avLst/>
          </a:prstGeom>
          <a:noFill/>
          <a:ln/>
        </p:spPr>
        <p:txBody>
          <a:bodyPr wrap="square" lIns="0" tIns="0" rIns="0" bIns="0" rtlCol="0" anchor="t"/>
          <a:lstStyle/>
          <a:p>
            <a:pPr indent="0" marL="0">
              <a:buNone/>
            </a:pPr>
            <a:r>
              <a:rPr lang="en-US" sz="1600" b="1" dirty="0">
                <a:solidFill>
                  <a:srgbClr val="20241F"/>
                </a:solidFill>
              </a:rPr>
              <a:t>Define, don’t just align</a:t>
            </a:r>
            <a:endParaRPr lang="en-US" sz="1600" dirty="0"/>
          </a:p>
        </p:txBody>
      </p:sp>
      <p:sp>
        <p:nvSpPr>
          <p:cNvPr id="23" name="Text 45"/>
          <p:cNvSpPr txBox="1"/>
          <p:nvPr/>
        </p:nvSpPr>
        <p:spPr>
          <a:xfrm>
            <a:off x="8503920" y="2560320"/>
            <a:ext cx="3063240" cy="1280160"/>
          </a:xfrm>
          <a:prstGeom prst="rect">
            <a:avLst/>
          </a:prstGeom>
          <a:noFill/>
          <a:ln/>
        </p:spPr>
        <p:txBody>
          <a:bodyPr wrap="square" lIns="0" tIns="0" rIns="0" bIns="0" rtlCol="0" anchor="t"/>
          <a:lstStyle/>
          <a:p>
            <a:pPr indent="0" marL="0">
              <a:buNone/>
            </a:pPr>
            <a:r>
              <a:rPr lang="en-US" sz="1300" dirty="0">
                <a:solidFill>
                  <a:srgbClr val="56604E"/>
                </a:solidFill>
              </a:rPr>
              <a:t>The grid scores urgency and importance on a points scale, so the analysis is objective.</a:t>
            </a:r>
            <a:endParaRPr lang="en-US" sz="1300" dirty="0"/>
          </a:p>
        </p:txBody>
      </p:sp>
      <p:sp>
        <p:nvSpPr>
          <p:cNvPr id="24" name="Work the grid in order 46"/>
          <p:cNvSpPr/>
          <p:nvPr/>
        </p:nvSpPr>
        <p:spPr>
          <a:xfrm>
            <a:off x="8229600" y="4069080"/>
            <a:ext cx="3593592" cy="2148840"/>
          </a:xfrm>
          <a:prstGeom prst="roundRect">
            <a:avLst>
              <a:gd name="adj" fmla="val 5106"/>
            </a:avLst>
          </a:prstGeom>
          <a:solidFill>
            <a:srgbClr val="16261D"/>
          </a:solidFill>
          <a:ln/>
          <a:effectLst>
            <a:outerShdw sx="100000" sy="100000" kx="0" ky="0" algn="bl" rotWithShape="0" blurRad="177800" dist="50800" dir="5400000">
              <a:srgbClr val="16261D">
                <a:alpha val="14000"/>
              </a:srgbClr>
            </a:outerShdw>
          </a:effectLst>
        </p:spPr>
      </p:sp>
      <p:sp>
        <p:nvSpPr>
          <p:cNvPr id="25" name="Text 47"/>
          <p:cNvSpPr txBox="1"/>
          <p:nvPr/>
        </p:nvSpPr>
        <p:spPr>
          <a:xfrm>
            <a:off x="8503920" y="4343400"/>
            <a:ext cx="3063240" cy="411480"/>
          </a:xfrm>
          <a:prstGeom prst="rect">
            <a:avLst/>
          </a:prstGeom>
          <a:noFill/>
          <a:ln/>
        </p:spPr>
        <p:txBody>
          <a:bodyPr wrap="square" lIns="0" tIns="0" rIns="0" bIns="0" rtlCol="0" anchor="t"/>
          <a:lstStyle/>
          <a:p>
            <a:pPr indent="0" marL="0">
              <a:buNone/>
            </a:pPr>
            <a:r>
              <a:rPr lang="en-US" sz="1600" b="1" dirty="0">
                <a:solidFill>
                  <a:srgbClr val="F5F7F0"/>
                </a:solidFill>
              </a:rPr>
              <a:t>Work the grid in order</a:t>
            </a:r>
            <a:endParaRPr lang="en-US" sz="1600" dirty="0"/>
          </a:p>
        </p:txBody>
      </p:sp>
      <p:sp>
        <p:nvSpPr>
          <p:cNvPr id="26" name="Text 48"/>
          <p:cNvSpPr txBox="1"/>
          <p:nvPr/>
        </p:nvSpPr>
        <p:spPr>
          <a:xfrm>
            <a:off x="8503920" y="4846320"/>
            <a:ext cx="3063240" cy="1280160"/>
          </a:xfrm>
          <a:prstGeom prst="rect">
            <a:avLst/>
          </a:prstGeom>
          <a:noFill/>
          <a:ln/>
        </p:spPr>
        <p:txBody>
          <a:bodyPr wrap="square" lIns="0" tIns="0" rIns="0" bIns="0" rtlCol="0" anchor="t"/>
          <a:lstStyle/>
          <a:p>
            <a:pPr indent="0" marL="0">
              <a:buNone/>
            </a:pPr>
            <a:r>
              <a:rPr lang="en-US" sz="1300" dirty="0">
                <a:solidFill>
                  <a:srgbClr val="C9D3C0"/>
                </a:solidFill>
              </a:rPr>
              <a:t>Always tackle high-priority (HIPRI) initiatives first. Anything neither pressing nor important (NPNI) goes to the end of the list, or off 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TARGET OPERATING MODEL</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Use a standard framework for analysis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Text 49"/>
          <p:cNvSpPr txBox="1"/>
          <p:nvPr/>
        </p:nvSpPr>
        <p:spPr>
          <a:xfrm>
            <a:off x="365760" y="1325880"/>
            <a:ext cx="11430000" cy="457200"/>
          </a:xfrm>
          <a:prstGeom prst="rect">
            <a:avLst/>
          </a:prstGeom>
          <a:noFill/>
          <a:ln/>
        </p:spPr>
        <p:txBody>
          <a:bodyPr wrap="square" lIns="0" tIns="0" rIns="0" bIns="0" rtlCol="0" anchor="t"/>
          <a:lstStyle/>
          <a:p>
            <a:pPr indent="0" marL="0">
              <a:buNone/>
            </a:pPr>
            <a:r>
              <a:rPr lang="en-US" sz="1600" dirty="0">
                <a:solidFill>
                  <a:srgbClr val="56604E"/>
                </a:solidFill>
              </a:rPr>
              <a:t>Use the target operating model (TOM) to assess the current state against the desired future state.</a:t>
            </a:r>
            <a:endParaRPr lang="en-US" sz="1600" dirty="0"/>
          </a:p>
        </p:txBody>
      </p:sp>
      <p:sp>
        <p:nvSpPr>
          <p:cNvPr id="6" name="Translate the TOM into operating artefacts 50"/>
          <p:cNvSpPr/>
          <p:nvPr/>
        </p:nvSpPr>
        <p:spPr>
          <a:xfrm>
            <a:off x="365760" y="2011680"/>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7" name="Text 51"/>
          <p:cNvSpPr txBox="1"/>
          <p:nvPr/>
        </p:nvSpPr>
        <p:spPr>
          <a:xfrm>
            <a:off x="640080" y="2194560"/>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01</a:t>
            </a:r>
            <a:endParaRPr lang="en-US" sz="3200" dirty="0"/>
          </a:p>
        </p:txBody>
      </p:sp>
      <p:sp>
        <p:nvSpPr>
          <p:cNvPr id="8" name="Text 52"/>
          <p:cNvSpPr txBox="1"/>
          <p:nvPr/>
        </p:nvSpPr>
        <p:spPr>
          <a:xfrm>
            <a:off x="1508760" y="2212848"/>
            <a:ext cx="4233672" cy="411480"/>
          </a:xfrm>
          <a:prstGeom prst="rect">
            <a:avLst/>
          </a:prstGeom>
          <a:noFill/>
          <a:ln/>
        </p:spPr>
        <p:txBody>
          <a:bodyPr wrap="square" lIns="0" tIns="0" rIns="0" bIns="0" rtlCol="0" anchor="t"/>
          <a:lstStyle/>
          <a:p>
            <a:pPr indent="0" marL="0">
              <a:buNone/>
            </a:pPr>
            <a:r>
              <a:rPr lang="en-US" sz="1600" b="1" dirty="0">
                <a:solidFill>
                  <a:srgbClr val="20241F"/>
                </a:solidFill>
              </a:rPr>
              <a:t>Translate the TOM into operating artefacts</a:t>
            </a:r>
            <a:endParaRPr lang="en-US" sz="1600" dirty="0"/>
          </a:p>
        </p:txBody>
      </p:sp>
      <p:sp>
        <p:nvSpPr>
          <p:cNvPr id="9" name="Text 53"/>
          <p:cNvSpPr txBox="1"/>
          <p:nvPr/>
        </p:nvSpPr>
        <p:spPr>
          <a:xfrm>
            <a:off x="1508760" y="2651760"/>
            <a:ext cx="4233672" cy="502920"/>
          </a:xfrm>
          <a:prstGeom prst="rect">
            <a:avLst/>
          </a:prstGeom>
          <a:noFill/>
          <a:ln/>
        </p:spPr>
        <p:txBody>
          <a:bodyPr wrap="square" lIns="0" tIns="0" rIns="0" bIns="0" rtlCol="0" anchor="t"/>
          <a:lstStyle/>
          <a:p>
            <a:pPr indent="0" marL="0">
              <a:buNone/>
            </a:pPr>
            <a:r>
              <a:rPr lang="en-US" sz="1300" dirty="0">
                <a:solidFill>
                  <a:srgbClr val="56604E"/>
                </a:solidFill>
              </a:rPr>
              <a:t>Create the minimum set of shared “rails” so everyone runs the same playbook.</a:t>
            </a:r>
            <a:endParaRPr lang="en-US" sz="1300" dirty="0"/>
          </a:p>
        </p:txBody>
      </p:sp>
      <p:sp>
        <p:nvSpPr>
          <p:cNvPr id="10" name="Lock OKRs and a 90-day roadmap 54"/>
          <p:cNvSpPr/>
          <p:nvPr/>
        </p:nvSpPr>
        <p:spPr>
          <a:xfrm>
            <a:off x="6217920" y="2011680"/>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11" name="Text 55"/>
          <p:cNvSpPr txBox="1"/>
          <p:nvPr/>
        </p:nvSpPr>
        <p:spPr>
          <a:xfrm>
            <a:off x="6492240" y="2194560"/>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02</a:t>
            </a:r>
            <a:endParaRPr lang="en-US" sz="3200" dirty="0"/>
          </a:p>
        </p:txBody>
      </p:sp>
      <p:sp>
        <p:nvSpPr>
          <p:cNvPr id="12" name="Text 56"/>
          <p:cNvSpPr txBox="1"/>
          <p:nvPr/>
        </p:nvSpPr>
        <p:spPr>
          <a:xfrm>
            <a:off x="7360920" y="2212848"/>
            <a:ext cx="4233672" cy="411480"/>
          </a:xfrm>
          <a:prstGeom prst="rect">
            <a:avLst/>
          </a:prstGeom>
          <a:noFill/>
          <a:ln/>
        </p:spPr>
        <p:txBody>
          <a:bodyPr wrap="square" lIns="0" tIns="0" rIns="0" bIns="0" rtlCol="0" anchor="t"/>
          <a:lstStyle/>
          <a:p>
            <a:pPr indent="0" marL="0">
              <a:buNone/>
            </a:pPr>
            <a:r>
              <a:rPr lang="en-US" sz="1600" b="1" dirty="0">
                <a:solidFill>
                  <a:srgbClr val="20241F"/>
                </a:solidFill>
              </a:rPr>
              <a:t>Lock OKRs and a 90-day roadmap</a:t>
            </a:r>
            <a:endParaRPr lang="en-US" sz="1600" dirty="0"/>
          </a:p>
        </p:txBody>
      </p:sp>
      <p:sp>
        <p:nvSpPr>
          <p:cNvPr id="13" name="Text 57"/>
          <p:cNvSpPr txBox="1"/>
          <p:nvPr/>
        </p:nvSpPr>
        <p:spPr>
          <a:xfrm>
            <a:off x="7360920" y="2651760"/>
            <a:ext cx="4233672" cy="502920"/>
          </a:xfrm>
          <a:prstGeom prst="rect">
            <a:avLst/>
          </a:prstGeom>
          <a:noFill/>
          <a:ln/>
        </p:spPr>
        <p:txBody>
          <a:bodyPr wrap="square" lIns="0" tIns="0" rIns="0" bIns="0" rtlCol="0" anchor="t"/>
          <a:lstStyle/>
          <a:p>
            <a:pPr indent="0" marL="0">
              <a:buNone/>
            </a:pPr>
            <a:r>
              <a:rPr lang="en-US" sz="1300" dirty="0">
                <a:solidFill>
                  <a:srgbClr val="56604E"/>
                </a:solidFill>
              </a:rPr>
              <a:t>Your TOM should show up in what gets funded and scheduled.</a:t>
            </a:r>
            <a:endParaRPr lang="en-US" sz="1300" dirty="0"/>
          </a:p>
        </p:txBody>
      </p:sp>
      <p:sp>
        <p:nvSpPr>
          <p:cNvPr id="14" name="Run the cadence calendar 58"/>
          <p:cNvSpPr/>
          <p:nvPr/>
        </p:nvSpPr>
        <p:spPr>
          <a:xfrm>
            <a:off x="365760" y="3447288"/>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15" name="Text 59"/>
          <p:cNvSpPr txBox="1"/>
          <p:nvPr/>
        </p:nvSpPr>
        <p:spPr>
          <a:xfrm>
            <a:off x="640080" y="3630168"/>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03</a:t>
            </a:r>
            <a:endParaRPr lang="en-US" sz="3200" dirty="0"/>
          </a:p>
        </p:txBody>
      </p:sp>
      <p:sp>
        <p:nvSpPr>
          <p:cNvPr id="16" name="Text 60"/>
          <p:cNvSpPr txBox="1"/>
          <p:nvPr/>
        </p:nvSpPr>
        <p:spPr>
          <a:xfrm>
            <a:off x="1508760" y="3648456"/>
            <a:ext cx="4233672" cy="411480"/>
          </a:xfrm>
          <a:prstGeom prst="rect">
            <a:avLst/>
          </a:prstGeom>
          <a:noFill/>
          <a:ln/>
        </p:spPr>
        <p:txBody>
          <a:bodyPr wrap="square" lIns="0" tIns="0" rIns="0" bIns="0" rtlCol="0" anchor="t"/>
          <a:lstStyle/>
          <a:p>
            <a:pPr indent="0" marL="0">
              <a:buNone/>
            </a:pPr>
            <a:r>
              <a:rPr lang="en-US" sz="1600" b="1" dirty="0">
                <a:solidFill>
                  <a:srgbClr val="20241F"/>
                </a:solidFill>
              </a:rPr>
              <a:t>Run the cadence calendar</a:t>
            </a:r>
            <a:endParaRPr lang="en-US" sz="1600" dirty="0"/>
          </a:p>
        </p:txBody>
      </p:sp>
      <p:sp>
        <p:nvSpPr>
          <p:cNvPr id="17" name="Text 61"/>
          <p:cNvSpPr txBox="1"/>
          <p:nvPr/>
        </p:nvSpPr>
        <p:spPr>
          <a:xfrm>
            <a:off x="1508760" y="4087368"/>
            <a:ext cx="4233672" cy="502920"/>
          </a:xfrm>
          <a:prstGeom prst="rect">
            <a:avLst/>
          </a:prstGeom>
          <a:noFill/>
          <a:ln/>
        </p:spPr>
        <p:txBody>
          <a:bodyPr wrap="square" lIns="0" tIns="0" rIns="0" bIns="0" rtlCol="0" anchor="t"/>
          <a:lstStyle/>
          <a:p>
            <a:pPr indent="0" marL="0">
              <a:buNone/>
            </a:pPr>
            <a:r>
              <a:rPr lang="en-US" sz="1300" dirty="0">
                <a:solidFill>
                  <a:srgbClr val="56604E"/>
                </a:solidFill>
              </a:rPr>
              <a:t>The TOM’s value is in rhythm and repetition.</a:t>
            </a:r>
            <a:endParaRPr lang="en-US" sz="1300" dirty="0"/>
          </a:p>
        </p:txBody>
      </p:sp>
      <p:sp>
        <p:nvSpPr>
          <p:cNvPr id="18" name="Make decisions in TOM “fast lanes” 62"/>
          <p:cNvSpPr/>
          <p:nvPr/>
        </p:nvSpPr>
        <p:spPr>
          <a:xfrm>
            <a:off x="6217920" y="3447288"/>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19" name="Text 63"/>
          <p:cNvSpPr txBox="1"/>
          <p:nvPr/>
        </p:nvSpPr>
        <p:spPr>
          <a:xfrm>
            <a:off x="6492240" y="3630168"/>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04</a:t>
            </a:r>
            <a:endParaRPr lang="en-US" sz="3200" dirty="0"/>
          </a:p>
        </p:txBody>
      </p:sp>
      <p:sp>
        <p:nvSpPr>
          <p:cNvPr id="20" name="Text 64"/>
          <p:cNvSpPr txBox="1"/>
          <p:nvPr/>
        </p:nvSpPr>
        <p:spPr>
          <a:xfrm>
            <a:off x="7360920" y="3648456"/>
            <a:ext cx="4233672" cy="411480"/>
          </a:xfrm>
          <a:prstGeom prst="rect">
            <a:avLst/>
          </a:prstGeom>
          <a:noFill/>
          <a:ln/>
        </p:spPr>
        <p:txBody>
          <a:bodyPr wrap="square" lIns="0" tIns="0" rIns="0" bIns="0" rtlCol="0" anchor="t"/>
          <a:lstStyle/>
          <a:p>
            <a:pPr indent="0" marL="0">
              <a:buNone/>
            </a:pPr>
            <a:r>
              <a:rPr lang="en-US" sz="1600" b="1" dirty="0">
                <a:solidFill>
                  <a:srgbClr val="20241F"/>
                </a:solidFill>
              </a:rPr>
              <a:t>Make decisions in TOM “fast lanes”</a:t>
            </a:r>
            <a:endParaRPr lang="en-US" sz="1600" dirty="0"/>
          </a:p>
        </p:txBody>
      </p:sp>
      <p:sp>
        <p:nvSpPr>
          <p:cNvPr id="21" name="Text 65"/>
          <p:cNvSpPr txBox="1"/>
          <p:nvPr/>
        </p:nvSpPr>
        <p:spPr>
          <a:xfrm>
            <a:off x="7360920" y="4087368"/>
            <a:ext cx="4233672" cy="502920"/>
          </a:xfrm>
          <a:prstGeom prst="rect">
            <a:avLst/>
          </a:prstGeom>
          <a:noFill/>
          <a:ln/>
        </p:spPr>
        <p:txBody>
          <a:bodyPr wrap="square" lIns="0" tIns="0" rIns="0" bIns="0" rtlCol="0" anchor="t"/>
          <a:lstStyle/>
          <a:p>
            <a:pPr indent="0" marL="0">
              <a:buNone/>
            </a:pPr>
            <a:r>
              <a:rPr lang="en-US" sz="1300" dirty="0">
                <a:solidFill>
                  <a:srgbClr val="56604E"/>
                </a:solidFill>
              </a:rPr>
              <a:t>Codify who decides what, so work moves without friction.</a:t>
            </a:r>
            <a:endParaRPr lang="en-US" sz="1300" dirty="0"/>
          </a:p>
        </p:txBody>
      </p:sp>
      <p:sp>
        <p:nvSpPr>
          <p:cNvPr id="22" name="Instrument indicators and guardrails 66"/>
          <p:cNvSpPr/>
          <p:nvPr/>
        </p:nvSpPr>
        <p:spPr>
          <a:xfrm>
            <a:off x="365760" y="4882896"/>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23" name="Text 67"/>
          <p:cNvSpPr txBox="1"/>
          <p:nvPr/>
        </p:nvSpPr>
        <p:spPr>
          <a:xfrm>
            <a:off x="640080" y="5065776"/>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05</a:t>
            </a:r>
            <a:endParaRPr lang="en-US" sz="3200" dirty="0"/>
          </a:p>
        </p:txBody>
      </p:sp>
      <p:sp>
        <p:nvSpPr>
          <p:cNvPr id="24" name="Text 68"/>
          <p:cNvSpPr txBox="1"/>
          <p:nvPr/>
        </p:nvSpPr>
        <p:spPr>
          <a:xfrm>
            <a:off x="1508760" y="5084064"/>
            <a:ext cx="4233672" cy="411480"/>
          </a:xfrm>
          <a:prstGeom prst="rect">
            <a:avLst/>
          </a:prstGeom>
          <a:noFill/>
          <a:ln/>
        </p:spPr>
        <p:txBody>
          <a:bodyPr wrap="square" lIns="0" tIns="0" rIns="0" bIns="0" rtlCol="0" anchor="t"/>
          <a:lstStyle/>
          <a:p>
            <a:pPr indent="0" marL="0">
              <a:buNone/>
            </a:pPr>
            <a:r>
              <a:rPr lang="en-US" sz="1600" b="1" dirty="0">
                <a:solidFill>
                  <a:srgbClr val="20241F"/>
                </a:solidFill>
              </a:rPr>
              <a:t>Instrument indicators and guardrails</a:t>
            </a:r>
            <a:endParaRPr lang="en-US" sz="1600" dirty="0"/>
          </a:p>
        </p:txBody>
      </p:sp>
      <p:sp>
        <p:nvSpPr>
          <p:cNvPr id="25" name="Text 69"/>
          <p:cNvSpPr txBox="1"/>
          <p:nvPr/>
        </p:nvSpPr>
        <p:spPr>
          <a:xfrm>
            <a:off x="1508760" y="5522976"/>
            <a:ext cx="4233672" cy="502920"/>
          </a:xfrm>
          <a:prstGeom prst="rect">
            <a:avLst/>
          </a:prstGeom>
          <a:noFill/>
          <a:ln/>
        </p:spPr>
        <p:txBody>
          <a:bodyPr wrap="square" lIns="0" tIns="0" rIns="0" bIns="0" rtlCol="0" anchor="t"/>
          <a:lstStyle/>
          <a:p>
            <a:pPr indent="0" marL="0">
              <a:buNone/>
            </a:pPr>
            <a:r>
              <a:rPr lang="en-US" sz="1300" dirty="0">
                <a:solidFill>
                  <a:srgbClr val="56604E"/>
                </a:solidFill>
              </a:rPr>
              <a:t>Every initiative has one metric that moves and one quality control.</a:t>
            </a:r>
            <a:endParaRPr lang="en-US" sz="1300" dirty="0"/>
          </a:p>
        </p:txBody>
      </p:sp>
      <p:sp>
        <p:nvSpPr>
          <p:cNvPr id="26" name="Change management and enablement 70"/>
          <p:cNvSpPr/>
          <p:nvPr/>
        </p:nvSpPr>
        <p:spPr>
          <a:xfrm>
            <a:off x="6217920" y="4882896"/>
            <a:ext cx="5605272" cy="1280160"/>
          </a:xfrm>
          <a:prstGeom prst="roundRect">
            <a:avLst>
              <a:gd name="adj" fmla="val 8571"/>
            </a:avLst>
          </a:prstGeom>
          <a:solidFill>
            <a:srgbClr val="FFFFFF"/>
          </a:solidFill>
          <a:ln/>
          <a:effectLst>
            <a:outerShdw sx="100000" sy="100000" kx="0" ky="0" algn="bl" rotWithShape="0" blurRad="177800" dist="50800" dir="5400000">
              <a:srgbClr val="16261D">
                <a:alpha val="14000"/>
              </a:srgbClr>
            </a:outerShdw>
          </a:effectLst>
        </p:spPr>
      </p:sp>
      <p:sp>
        <p:nvSpPr>
          <p:cNvPr id="27" name="Text 71"/>
          <p:cNvSpPr txBox="1"/>
          <p:nvPr/>
        </p:nvSpPr>
        <p:spPr>
          <a:xfrm>
            <a:off x="6492240" y="5065776"/>
            <a:ext cx="822960" cy="914400"/>
          </a:xfrm>
          <a:prstGeom prst="rect">
            <a:avLst/>
          </a:prstGeom>
          <a:noFill/>
          <a:ln/>
        </p:spPr>
        <p:txBody>
          <a:bodyPr wrap="square" lIns="0" tIns="0" rIns="0" bIns="0" rtlCol="0" anchor="ctr"/>
          <a:lstStyle/>
          <a:p>
            <a:pPr indent="0" marL="0">
              <a:buNone/>
            </a:pPr>
            <a:r>
              <a:rPr lang="en-US" sz="3200" dirty="0">
                <a:solidFill>
                  <a:srgbClr val="93A87B"/>
                </a:solidFill>
                <a:latin typeface="Georgia" pitchFamily="34" charset="0"/>
                <a:ea typeface="Georgia" pitchFamily="34" charset="-122"/>
                <a:cs typeface="Georgia" pitchFamily="34" charset="-120"/>
              </a:rPr>
              <a:t>06</a:t>
            </a:r>
            <a:endParaRPr lang="en-US" sz="3200" dirty="0"/>
          </a:p>
        </p:txBody>
      </p:sp>
      <p:sp>
        <p:nvSpPr>
          <p:cNvPr id="28" name="Text 72"/>
          <p:cNvSpPr txBox="1"/>
          <p:nvPr/>
        </p:nvSpPr>
        <p:spPr>
          <a:xfrm>
            <a:off x="7360920" y="5084064"/>
            <a:ext cx="4233672" cy="411480"/>
          </a:xfrm>
          <a:prstGeom prst="rect">
            <a:avLst/>
          </a:prstGeom>
          <a:noFill/>
          <a:ln/>
        </p:spPr>
        <p:txBody>
          <a:bodyPr wrap="square" lIns="0" tIns="0" rIns="0" bIns="0" rtlCol="0" anchor="t"/>
          <a:lstStyle/>
          <a:p>
            <a:pPr indent="0" marL="0">
              <a:buNone/>
            </a:pPr>
            <a:r>
              <a:rPr lang="en-US" sz="1600" b="1" dirty="0">
                <a:solidFill>
                  <a:srgbClr val="20241F"/>
                </a:solidFill>
              </a:rPr>
              <a:t>Change management and enablement</a:t>
            </a:r>
            <a:endParaRPr lang="en-US" sz="1600" dirty="0"/>
          </a:p>
        </p:txBody>
      </p:sp>
      <p:sp>
        <p:nvSpPr>
          <p:cNvPr id="29" name="Text 73"/>
          <p:cNvSpPr txBox="1"/>
          <p:nvPr/>
        </p:nvSpPr>
        <p:spPr>
          <a:xfrm>
            <a:off x="7360920" y="5522976"/>
            <a:ext cx="4233672" cy="502920"/>
          </a:xfrm>
          <a:prstGeom prst="rect">
            <a:avLst/>
          </a:prstGeom>
          <a:noFill/>
          <a:ln/>
        </p:spPr>
        <p:txBody>
          <a:bodyPr wrap="square" lIns="0" tIns="0" rIns="0" bIns="0" rtlCol="0" anchor="t"/>
          <a:lstStyle/>
          <a:p>
            <a:pPr indent="0" marL="0">
              <a:buNone/>
            </a:pPr>
            <a:r>
              <a:rPr lang="en-US" sz="1300" dirty="0">
                <a:solidFill>
                  <a:srgbClr val="56604E"/>
                </a:solidFill>
              </a:rPr>
              <a:t>Ship something every sprint.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SEQUENCING THE ROADMAP</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Now, near and far</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 Example client roadmap.</a:t>
            </a:r>
            <a:endParaRPr lang="en-US" sz="1000" dirty="0"/>
          </a:p>
        </p:txBody>
      </p:sp>
      <p:sp>
        <p:nvSpPr>
          <p:cNvPr id="5" name="Text 74"/>
          <p:cNvSpPr txBox="1"/>
          <p:nvPr/>
        </p:nvSpPr>
        <p:spPr>
          <a:xfrm>
            <a:off x="365760" y="1325880"/>
            <a:ext cx="11430000" cy="685800"/>
          </a:xfrm>
          <a:prstGeom prst="rect">
            <a:avLst/>
          </a:prstGeom>
          <a:noFill/>
          <a:ln/>
        </p:spPr>
        <p:txBody>
          <a:bodyPr wrap="square" lIns="0" tIns="0" rIns="0" bIns="0" rtlCol="0" anchor="t"/>
          <a:lstStyle/>
          <a:p>
            <a:pPr indent="0" marL="0">
              <a:buNone/>
            </a:pPr>
            <a:r>
              <a:rPr lang="en-US" sz="1500" dirty="0">
                <a:solidFill>
                  <a:srgbClr val="56604E"/>
                </a:solidFill>
              </a:rPr>
              <a:t>Focus on what can be done in the next 90 days (now), what is on the horizon for 90 to 180 days (near), and what lies beyond (far). Goals are reached quickly and pragmatically.</a:t>
            </a:r>
            <a:endParaRPr lang="en-US" sz="1500" dirty="0"/>
          </a:p>
        </p:txBody>
      </p:sp>
      <p:sp>
        <p:nvSpPr>
          <p:cNvPr id="6" name="Now 75"/>
          <p:cNvSpPr/>
          <p:nvPr/>
        </p:nvSpPr>
        <p:spPr>
          <a:xfrm>
            <a:off x="365760" y="2194560"/>
            <a:ext cx="3666744" cy="406908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7" name="Header 76"/>
          <p:cNvSpPr/>
          <p:nvPr/>
        </p:nvSpPr>
        <p:spPr>
          <a:xfrm>
            <a:off x="365760" y="2194560"/>
            <a:ext cx="3666744" cy="960120"/>
          </a:xfrm>
          <a:prstGeom prst="roundRect">
            <a:avLst>
              <a:gd name="adj" fmla="val 11429"/>
            </a:avLst>
          </a:prstGeom>
          <a:solidFill>
            <a:srgbClr val="16261D"/>
          </a:solidFill>
          <a:ln/>
        </p:spPr>
      </p:sp>
      <p:sp>
        <p:nvSpPr>
          <p:cNvPr id="8" name="Header base 77"/>
          <p:cNvSpPr/>
          <p:nvPr/>
        </p:nvSpPr>
        <p:spPr>
          <a:xfrm>
            <a:off x="365760" y="2926080"/>
            <a:ext cx="3666744" cy="228600"/>
          </a:xfrm>
          <a:prstGeom prst="rect">
            <a:avLst/>
          </a:prstGeom>
          <a:solidFill>
            <a:srgbClr val="16261D"/>
          </a:solidFill>
          <a:ln/>
        </p:spPr>
      </p:sp>
      <p:sp>
        <p:nvSpPr>
          <p:cNvPr id="9" name="Text 78"/>
          <p:cNvSpPr txBox="1"/>
          <p:nvPr/>
        </p:nvSpPr>
        <p:spPr>
          <a:xfrm>
            <a:off x="640080" y="2286000"/>
            <a:ext cx="1828800" cy="777240"/>
          </a:xfrm>
          <a:prstGeom prst="rect">
            <a:avLst/>
          </a:prstGeom>
          <a:noFill/>
          <a:ln/>
        </p:spPr>
        <p:txBody>
          <a:bodyPr wrap="square" lIns="0" tIns="0" rIns="0" bIns="0" rtlCol="0" anchor="ctr"/>
          <a:lstStyle/>
          <a:p>
            <a:pPr indent="0" marL="0">
              <a:buNone/>
            </a:pPr>
            <a:r>
              <a:rPr lang="en-US" sz="3000" dirty="0">
                <a:solidFill>
                  <a:srgbClr val="F5F7F0"/>
                </a:solidFill>
                <a:latin typeface="Georgia" pitchFamily="34" charset="0"/>
                <a:ea typeface="Georgia" pitchFamily="34" charset="-122"/>
                <a:cs typeface="Georgia" pitchFamily="34" charset="-120"/>
              </a:rPr>
              <a:t>Now</a:t>
            </a:r>
            <a:endParaRPr lang="en-US" sz="3000" dirty="0"/>
          </a:p>
        </p:txBody>
      </p:sp>
      <p:sp>
        <p:nvSpPr>
          <p:cNvPr id="10" name="Text 79"/>
          <p:cNvSpPr txBox="1"/>
          <p:nvPr/>
        </p:nvSpPr>
        <p:spPr>
          <a:xfrm>
            <a:off x="2386584" y="2286000"/>
            <a:ext cx="1371600" cy="777240"/>
          </a:xfrm>
          <a:prstGeom prst="rect">
            <a:avLst/>
          </a:prstGeom>
          <a:noFill/>
          <a:ln/>
        </p:spPr>
        <p:txBody>
          <a:bodyPr wrap="square" lIns="0" tIns="0" rIns="0" bIns="0" rtlCol="0" anchor="ctr"/>
          <a:lstStyle/>
          <a:p>
            <a:pPr algn="r" indent="0" marL="0">
              <a:buNone/>
            </a:pPr>
            <a:r>
              <a:rPr lang="en-US" sz="1300" b="1" dirty="0">
                <a:solidFill>
                  <a:srgbClr val="F5F7F0"/>
                </a:solidFill>
              </a:rPr>
              <a:t>0–3 months</a:t>
            </a:r>
            <a:endParaRPr lang="en-US" sz="1300" dirty="0"/>
          </a:p>
        </p:txBody>
      </p:sp>
      <p:sp>
        <p:nvSpPr>
          <p:cNvPr id="11" name="Text 80"/>
          <p:cNvSpPr txBox="1"/>
          <p:nvPr/>
        </p:nvSpPr>
        <p:spPr>
          <a:xfrm>
            <a:off x="640080" y="3337560"/>
            <a:ext cx="3163824" cy="2788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241F"/>
                </a:solidFill>
              </a:rPr>
              <a:t>Organisational restructure and role refinement</a:t>
            </a:r>
            <a:endParaRPr lang="en-US" sz="1300" dirty="0"/>
          </a:p>
          <a:p>
            <a:pPr marL="177800" indent="-177800">
              <a:spcAft>
                <a:spcPts val="500"/>
              </a:spcAft>
              <a:buSzPct val="100000"/>
              <a:buChar char="•"/>
            </a:pPr>
            <a:r>
              <a:rPr lang="en-US" sz="1300" dirty="0">
                <a:solidFill>
                  <a:srgbClr val="20241F"/>
                </a:solidFill>
              </a:rPr>
              <a:t>Deploy the ICP</a:t>
            </a:r>
            <a:endParaRPr lang="en-US" sz="1300" dirty="0"/>
          </a:p>
          <a:p>
            <a:pPr marL="177800" indent="-177800">
              <a:spcAft>
                <a:spcPts val="500"/>
              </a:spcAft>
              <a:buSzPct val="100000"/>
              <a:buChar char="•"/>
            </a:pPr>
            <a:r>
              <a:rPr lang="en-US" sz="1300" dirty="0">
                <a:solidFill>
                  <a:srgbClr val="20241F"/>
                </a:solidFill>
              </a:rPr>
              <a:t>Develop and refine sales and CS processes</a:t>
            </a:r>
            <a:endParaRPr lang="en-US" sz="1300" dirty="0"/>
          </a:p>
          <a:p>
            <a:pPr marL="177800" indent="-177800">
              <a:spcAft>
                <a:spcPts val="500"/>
              </a:spcAft>
              <a:buSzPct val="100000"/>
              <a:buChar char="•"/>
            </a:pPr>
            <a:r>
              <a:rPr lang="en-US" sz="1300" dirty="0">
                <a:solidFill>
                  <a:srgbClr val="20241F"/>
                </a:solidFill>
              </a:rPr>
              <a:t>New compensation model</a:t>
            </a:r>
            <a:endParaRPr lang="en-US" sz="1300" dirty="0"/>
          </a:p>
          <a:p>
            <a:pPr marL="177800" indent="-177800">
              <a:spcAft>
                <a:spcPts val="500"/>
              </a:spcAft>
              <a:buSzPct val="100000"/>
              <a:buChar char="•"/>
            </a:pPr>
            <a:r>
              <a:rPr lang="en-US" sz="1300" dirty="0">
                <a:solidFill>
                  <a:srgbClr val="20241F"/>
                </a:solidFill>
              </a:rPr>
              <a:t>Install a sales framework (MEDDIC)</a:t>
            </a:r>
            <a:endParaRPr lang="en-US" sz="1300" dirty="0"/>
          </a:p>
          <a:p>
            <a:pPr marL="177800" indent="-177800">
              <a:spcAft>
                <a:spcPts val="500"/>
              </a:spcAft>
              <a:buSzPct val="100000"/>
              <a:buChar char="•"/>
            </a:pPr>
            <a:r>
              <a:rPr lang="en-US" sz="1300" dirty="0">
                <a:solidFill>
                  <a:srgbClr val="20241F"/>
                </a:solidFill>
              </a:rPr>
              <a:t>Deploy new-logo sales processes</a:t>
            </a:r>
            <a:endParaRPr lang="en-US" sz="1300" dirty="0"/>
          </a:p>
          <a:p>
            <a:pPr marL="177800" indent="-177800">
              <a:spcAft>
                <a:spcPts val="500"/>
              </a:spcAft>
              <a:buSzPct val="100000"/>
              <a:buChar char="•"/>
            </a:pPr>
            <a:r>
              <a:rPr lang="en-US" sz="1300" dirty="0">
                <a:solidFill>
                  <a:srgbClr val="20241F"/>
                </a:solidFill>
              </a:rPr>
              <a:t>Acquire HubSpot</a:t>
            </a:r>
            <a:endParaRPr lang="en-US" sz="1300" dirty="0"/>
          </a:p>
        </p:txBody>
      </p:sp>
      <p:sp>
        <p:nvSpPr>
          <p:cNvPr id="12" name="Near 81"/>
          <p:cNvSpPr/>
          <p:nvPr/>
        </p:nvSpPr>
        <p:spPr>
          <a:xfrm>
            <a:off x="4261104" y="2194560"/>
            <a:ext cx="3666744" cy="406908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13" name="Header 82"/>
          <p:cNvSpPr/>
          <p:nvPr/>
        </p:nvSpPr>
        <p:spPr>
          <a:xfrm>
            <a:off x="4261104" y="2194560"/>
            <a:ext cx="3666744" cy="960120"/>
          </a:xfrm>
          <a:prstGeom prst="roundRect">
            <a:avLst>
              <a:gd name="adj" fmla="val 11429"/>
            </a:avLst>
          </a:prstGeom>
          <a:solidFill>
            <a:srgbClr val="56604E"/>
          </a:solidFill>
          <a:ln/>
        </p:spPr>
      </p:sp>
      <p:sp>
        <p:nvSpPr>
          <p:cNvPr id="14" name="Header base 83"/>
          <p:cNvSpPr/>
          <p:nvPr/>
        </p:nvSpPr>
        <p:spPr>
          <a:xfrm>
            <a:off x="4261104" y="2926080"/>
            <a:ext cx="3666744" cy="228600"/>
          </a:xfrm>
          <a:prstGeom prst="rect">
            <a:avLst/>
          </a:prstGeom>
          <a:solidFill>
            <a:srgbClr val="56604E"/>
          </a:solidFill>
          <a:ln/>
        </p:spPr>
      </p:sp>
      <p:sp>
        <p:nvSpPr>
          <p:cNvPr id="15" name="Text 84"/>
          <p:cNvSpPr txBox="1"/>
          <p:nvPr/>
        </p:nvSpPr>
        <p:spPr>
          <a:xfrm>
            <a:off x="4535424" y="2286000"/>
            <a:ext cx="1828800" cy="777240"/>
          </a:xfrm>
          <a:prstGeom prst="rect">
            <a:avLst/>
          </a:prstGeom>
          <a:noFill/>
          <a:ln/>
        </p:spPr>
        <p:txBody>
          <a:bodyPr wrap="square" lIns="0" tIns="0" rIns="0" bIns="0" rtlCol="0" anchor="ctr"/>
          <a:lstStyle/>
          <a:p>
            <a:pPr indent="0" marL="0">
              <a:buNone/>
            </a:pPr>
            <a:r>
              <a:rPr lang="en-US" sz="3000" dirty="0">
                <a:solidFill>
                  <a:srgbClr val="F5F7F0"/>
                </a:solidFill>
                <a:latin typeface="Georgia" pitchFamily="34" charset="0"/>
                <a:ea typeface="Georgia" pitchFamily="34" charset="-122"/>
                <a:cs typeface="Georgia" pitchFamily="34" charset="-120"/>
              </a:rPr>
              <a:t>Near</a:t>
            </a:r>
            <a:endParaRPr lang="en-US" sz="3000" dirty="0"/>
          </a:p>
        </p:txBody>
      </p:sp>
      <p:sp>
        <p:nvSpPr>
          <p:cNvPr id="16" name="Text 85"/>
          <p:cNvSpPr txBox="1"/>
          <p:nvPr/>
        </p:nvSpPr>
        <p:spPr>
          <a:xfrm>
            <a:off x="6281928" y="2286000"/>
            <a:ext cx="1371600" cy="777240"/>
          </a:xfrm>
          <a:prstGeom prst="rect">
            <a:avLst/>
          </a:prstGeom>
          <a:noFill/>
          <a:ln/>
        </p:spPr>
        <p:txBody>
          <a:bodyPr wrap="square" lIns="0" tIns="0" rIns="0" bIns="0" rtlCol="0" anchor="ctr"/>
          <a:lstStyle/>
          <a:p>
            <a:pPr algn="r" indent="0" marL="0">
              <a:buNone/>
            </a:pPr>
            <a:r>
              <a:rPr lang="en-US" sz="1300" b="1" dirty="0">
                <a:solidFill>
                  <a:srgbClr val="F5F7F0"/>
                </a:solidFill>
              </a:rPr>
              <a:t>3–6 months</a:t>
            </a:r>
            <a:endParaRPr lang="en-US" sz="1300" dirty="0"/>
          </a:p>
        </p:txBody>
      </p:sp>
      <p:sp>
        <p:nvSpPr>
          <p:cNvPr id="17" name="Text 86"/>
          <p:cNvSpPr txBox="1"/>
          <p:nvPr/>
        </p:nvSpPr>
        <p:spPr>
          <a:xfrm>
            <a:off x="4535424" y="3337560"/>
            <a:ext cx="3163824" cy="2788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241F"/>
                </a:solidFill>
              </a:rPr>
              <a:t>Implement HubSpot</a:t>
            </a:r>
            <a:endParaRPr lang="en-US" sz="1300" dirty="0"/>
          </a:p>
          <a:p>
            <a:pPr marL="177800" indent="-177800">
              <a:spcAft>
                <a:spcPts val="500"/>
              </a:spcAft>
              <a:buSzPct val="100000"/>
              <a:buChar char="•"/>
            </a:pPr>
            <a:r>
              <a:rPr lang="en-US" sz="1300" dirty="0">
                <a:solidFill>
                  <a:srgbClr val="20241F"/>
                </a:solidFill>
              </a:rPr>
              <a:t>Develop the remote and new-market strategy</a:t>
            </a:r>
            <a:endParaRPr lang="en-US" sz="1300" dirty="0"/>
          </a:p>
          <a:p>
            <a:pPr marL="177800" indent="-177800">
              <a:spcAft>
                <a:spcPts val="500"/>
              </a:spcAft>
              <a:buSzPct val="100000"/>
              <a:buChar char="•"/>
            </a:pPr>
            <a:r>
              <a:rPr lang="en-US" sz="1300" dirty="0">
                <a:solidFill>
                  <a:srgbClr val="20241F"/>
                </a:solidFill>
              </a:rPr>
              <a:t>Performance management programme</a:t>
            </a:r>
            <a:endParaRPr lang="en-US" sz="1300" dirty="0"/>
          </a:p>
          <a:p>
            <a:pPr marL="177800" indent="-177800">
              <a:spcAft>
                <a:spcPts val="500"/>
              </a:spcAft>
              <a:buSzPct val="100000"/>
              <a:buChar char="•"/>
            </a:pPr>
            <a:r>
              <a:rPr lang="en-US" sz="1300" dirty="0">
                <a:solidFill>
                  <a:srgbClr val="20241F"/>
                </a:solidFill>
              </a:rPr>
              <a:t>Discover marketing strategies and recommendations</a:t>
            </a:r>
            <a:endParaRPr lang="en-US" sz="1300" dirty="0"/>
          </a:p>
          <a:p>
            <a:pPr marL="177800" indent="-177800">
              <a:spcAft>
                <a:spcPts val="500"/>
              </a:spcAft>
              <a:buSzPct val="100000"/>
              <a:buChar char="•"/>
            </a:pPr>
            <a:r>
              <a:rPr lang="en-US" sz="1300" dirty="0">
                <a:solidFill>
                  <a:srgbClr val="20241F"/>
                </a:solidFill>
              </a:rPr>
              <a:t>Channel attribution and brand enablement</a:t>
            </a:r>
            <a:endParaRPr lang="en-US" sz="1300" dirty="0"/>
          </a:p>
        </p:txBody>
      </p:sp>
      <p:sp>
        <p:nvSpPr>
          <p:cNvPr id="18" name="Far 87"/>
          <p:cNvSpPr/>
          <p:nvPr/>
        </p:nvSpPr>
        <p:spPr>
          <a:xfrm>
            <a:off x="8156448" y="2194560"/>
            <a:ext cx="3666744" cy="406908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19" name="Header 88"/>
          <p:cNvSpPr/>
          <p:nvPr/>
        </p:nvSpPr>
        <p:spPr>
          <a:xfrm>
            <a:off x="8156448" y="2194560"/>
            <a:ext cx="3666744" cy="960120"/>
          </a:xfrm>
          <a:prstGeom prst="roundRect">
            <a:avLst>
              <a:gd name="adj" fmla="val 11429"/>
            </a:avLst>
          </a:prstGeom>
          <a:solidFill>
            <a:srgbClr val="93A87B"/>
          </a:solidFill>
          <a:ln/>
        </p:spPr>
      </p:sp>
      <p:sp>
        <p:nvSpPr>
          <p:cNvPr id="20" name="Header base 89"/>
          <p:cNvSpPr/>
          <p:nvPr/>
        </p:nvSpPr>
        <p:spPr>
          <a:xfrm>
            <a:off x="8156448" y="2926080"/>
            <a:ext cx="3666744" cy="228600"/>
          </a:xfrm>
          <a:prstGeom prst="rect">
            <a:avLst/>
          </a:prstGeom>
          <a:solidFill>
            <a:srgbClr val="93A87B"/>
          </a:solidFill>
          <a:ln/>
        </p:spPr>
      </p:sp>
      <p:sp>
        <p:nvSpPr>
          <p:cNvPr id="21" name="Text 90"/>
          <p:cNvSpPr txBox="1"/>
          <p:nvPr/>
        </p:nvSpPr>
        <p:spPr>
          <a:xfrm>
            <a:off x="8430768" y="2286000"/>
            <a:ext cx="1828800" cy="777240"/>
          </a:xfrm>
          <a:prstGeom prst="rect">
            <a:avLst/>
          </a:prstGeom>
          <a:noFill/>
          <a:ln/>
        </p:spPr>
        <p:txBody>
          <a:bodyPr wrap="square" lIns="0" tIns="0" rIns="0" bIns="0" rtlCol="0" anchor="ctr"/>
          <a:lstStyle/>
          <a:p>
            <a:pPr indent="0" marL="0">
              <a:buNone/>
            </a:pPr>
            <a:r>
              <a:rPr lang="en-US" sz="3000" dirty="0">
                <a:solidFill>
                  <a:srgbClr val="16261D"/>
                </a:solidFill>
                <a:latin typeface="Georgia" pitchFamily="34" charset="0"/>
                <a:ea typeface="Georgia" pitchFamily="34" charset="-122"/>
                <a:cs typeface="Georgia" pitchFamily="34" charset="-120"/>
              </a:rPr>
              <a:t>Far</a:t>
            </a:r>
            <a:endParaRPr lang="en-US" sz="3000" dirty="0"/>
          </a:p>
        </p:txBody>
      </p:sp>
      <p:sp>
        <p:nvSpPr>
          <p:cNvPr id="22" name="Text 91"/>
          <p:cNvSpPr txBox="1"/>
          <p:nvPr/>
        </p:nvSpPr>
        <p:spPr>
          <a:xfrm>
            <a:off x="10177272" y="2286000"/>
            <a:ext cx="1371600" cy="777240"/>
          </a:xfrm>
          <a:prstGeom prst="rect">
            <a:avLst/>
          </a:prstGeom>
          <a:noFill/>
          <a:ln/>
        </p:spPr>
        <p:txBody>
          <a:bodyPr wrap="square" lIns="0" tIns="0" rIns="0" bIns="0" rtlCol="0" anchor="ctr"/>
          <a:lstStyle/>
          <a:p>
            <a:pPr algn="r" indent="0" marL="0">
              <a:buNone/>
            </a:pPr>
            <a:r>
              <a:rPr lang="en-US" sz="1300" b="1" dirty="0">
                <a:solidFill>
                  <a:srgbClr val="16261D"/>
                </a:solidFill>
              </a:rPr>
              <a:t>6+ months</a:t>
            </a:r>
            <a:endParaRPr lang="en-US" sz="1300" dirty="0"/>
          </a:p>
        </p:txBody>
      </p:sp>
      <p:sp>
        <p:nvSpPr>
          <p:cNvPr id="23" name="Text 92"/>
          <p:cNvSpPr txBox="1"/>
          <p:nvPr/>
        </p:nvSpPr>
        <p:spPr>
          <a:xfrm>
            <a:off x="8430768" y="3337560"/>
            <a:ext cx="3163824" cy="2788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0241F"/>
                </a:solidFill>
              </a:rPr>
              <a:t>Launch remote and new-market strategies</a:t>
            </a:r>
            <a:endParaRPr lang="en-US" sz="1300" dirty="0"/>
          </a:p>
          <a:p>
            <a:pPr marL="177800" indent="-177800">
              <a:spcAft>
                <a:spcPts val="500"/>
              </a:spcAft>
              <a:buSzPct val="100000"/>
              <a:buChar char="•"/>
            </a:pPr>
            <a:r>
              <a:rPr lang="en-US" sz="1300" dirty="0">
                <a:solidFill>
                  <a:srgbClr val="20241F"/>
                </a:solidFill>
              </a:rPr>
              <a:t>Deploy the new marketing strategy</a:t>
            </a:r>
            <a:endParaRPr lang="en-US" sz="1300" dirty="0"/>
          </a:p>
          <a:p>
            <a:pPr marL="177800" indent="-177800">
              <a:spcAft>
                <a:spcPts val="500"/>
              </a:spcAft>
              <a:buSzPct val="100000"/>
              <a:buChar char="•"/>
            </a:pPr>
            <a:r>
              <a:rPr lang="en-US" sz="1300" dirty="0">
                <a:solidFill>
                  <a:srgbClr val="20241F"/>
                </a:solidFill>
              </a:rPr>
              <a:t>Continuous training and enablement</a:t>
            </a:r>
            <a:endParaRPr lang="en-US" sz="1300" dirty="0"/>
          </a:p>
          <a:p>
            <a:pPr marL="177800" indent="-177800">
              <a:spcAft>
                <a:spcPts val="500"/>
              </a:spcAft>
              <a:buSzPct val="100000"/>
              <a:buChar char="•"/>
            </a:pPr>
            <a:r>
              <a:rPr lang="en-US" sz="1300" dirty="0">
                <a:solidFill>
                  <a:srgbClr val="20241F"/>
                </a:solidFill>
              </a:rPr>
              <a:t>Data management and hygiene</a:t>
            </a:r>
            <a:endParaRPr lang="en-US" sz="1300" dirty="0"/>
          </a:p>
          <a:p>
            <a:pPr marL="177800" indent="-177800">
              <a:spcAft>
                <a:spcPts val="500"/>
              </a:spcAft>
              <a:buSzPct val="100000"/>
              <a:buChar char="•"/>
            </a:pPr>
            <a:r>
              <a:rPr lang="en-US" sz="1300" dirty="0">
                <a:solidFill>
                  <a:srgbClr val="20241F"/>
                </a:solidFill>
              </a:rPr>
              <a:t>Optimise the downstream strategy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ASSESSMENT DESIGN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Common assessment points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Text 93"/>
          <p:cNvSpPr txBox="1"/>
          <p:nvPr/>
        </p:nvSpPr>
        <p:spPr>
          <a:xfrm>
            <a:off x="365760" y="1280160"/>
            <a:ext cx="11430000" cy="365760"/>
          </a:xfrm>
          <a:prstGeom prst="rect">
            <a:avLst/>
          </a:prstGeom>
          <a:noFill/>
          <a:ln/>
        </p:spPr>
        <p:txBody>
          <a:bodyPr wrap="square" lIns="0" tIns="0" rIns="0" bIns="0" rtlCol="0" anchor="t"/>
          <a:lstStyle/>
          <a:p>
            <a:pPr indent="0" marL="0">
              <a:buNone/>
            </a:pPr>
            <a:r>
              <a:rPr lang="en-US" sz="1400" dirty="0">
                <a:solidFill>
                  <a:srgbClr val="56604E"/>
                </a:solidFill>
              </a:rPr>
              <a:t>Tie actionable outcomes to every assessment. These are some of the most common points in a B2B SaaS assessment.</a:t>
            </a:r>
            <a:endParaRPr lang="en-US" sz="1400" dirty="0"/>
          </a:p>
        </p:txBody>
      </p:sp>
      <p:graphicFrame>
        <p:nvGraphicFramePr>
          <p:cNvPr id="36" name="Assessment matrix"/>
          <p:cNvGraphicFramePr>
            <a:graphicFrameLocks noGrp="1"/>
          </p:cNvGraphicFramePr>
          <p:nvPr>
            <p:extLst>
              <p:ext uri="{D42A27DB-BD31-4B8C-83A1-F6EECF244321}">
                <p14:modId xmlns:p14="http://schemas.microsoft.com/office/powerpoint/2010/main" val="1579011935"/>
              </p:ext>
            </p:extLst>
          </p:nvPr>
        </p:nvGraphicFramePr>
        <p:xfrm>
          <a:off x="365760" y="1737360"/>
          <a:ext cx="11457432" cy="914400"/>
        </p:xfrm>
        <a:graphic>
          <a:graphicData uri="http://schemas.openxmlformats.org/drawingml/2006/table">
            <a:tbl>
              <a:tblPr/>
              <a:tblGrid>
                <a:gridCol w="1325880"/>
                <a:gridCol w="2532888"/>
                <a:gridCol w="2532888"/>
                <a:gridCol w="2532888"/>
                <a:gridCol w="2532888"/>
              </a:tblGrid>
              <a:tr h="384048">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Category</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Convert more inbound leads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Convert more outbound prospects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Convert more pipeline to revenue</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Maximise net revenue retention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r>
              <a:tr h="1024128">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Automation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Automated forecasting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Referral programme automation</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Automated signal-based selling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AI conversation intelligence</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Prospecting benchmarks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Trigger-based cadences automated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AI outbound messaging at scale</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Demand trends used to forecast</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Pipeline council established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Proactive risk signals in deals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Optimised conversation intelligence</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Regular sales forecasting</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Automated health scoring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Proactive risk notifications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AI-assisted playbooks for CSMs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Automated champion playbooks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1024128">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Optimisation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AI-driven attribution</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Automated lead journey</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AI-assisted lead management</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Data-backed programme decisions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Social prospecting optimised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Intent built into targeting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ABM run with marketing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Objection-handling process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Enablement and training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Pipeline metrics reporting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Pipeline inspection process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1:1 sales coaching cadences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Plays for customer turnover</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White-space analysis optimised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Integrated journey data</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Partner with sales on NRR</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1024128">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Adoption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Target-account leads prioritised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Cost per lead and opportunity optimised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Multi-touch attribution</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More marketing personalisation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Cadences built out</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Enablement and training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Full reporting and dashboards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Messaging by vertical and persona</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ICP, personas, products defined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Sales methodology and process set</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Sales comp structure set</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Process built into the CRM</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Risk signals created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Renewal process adopted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Net retention strategy adopted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Customer cadences established</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1024128">
                <a:tc>
                  <a:txBody>
                    <a:bodyPr/>
                    <a:lstStyle/>
                    <a:p>
                      <a:pPr algn="ctr" indent="0" marL="0">
                        <a:buNone/>
                      </a:pPr>
                      <a:r>
                        <a:rPr lang="en-US" sz="1050" b="1" dirty="0">
                          <a:solidFill>
                            <a:srgbClr val="F5F7F0"/>
                          </a:solidFill>
                          <a:latin typeface="+mn-lt" pitchFamily="34" charset="0"/>
                          <a:ea typeface="+mn-lt" pitchFamily="34" charset="-122"/>
                          <a:cs typeface="+mn-lt" pitchFamily="34" charset="-120"/>
                        </a:rPr>
                        <a:t>Fundamentals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F3529"/>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MQL definitions per ICP</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Basic marketing nurture</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Lead-to-customer journey mapped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Paid programme insights used</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ICP, personas, products defined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Capacity and territory planning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Target lists built and segmented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Simple outbound activity tracking</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ICP, personas, products defined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Pain points, value props outlined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GTM motions defined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Basic lead attribution</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c>
                  <a:txBody>
                    <a:bodyPr/>
                    <a:lstStyle/>
                    <a:p>
                      <a:pPr indent="0" marL="0">
                        <a:buNone/>
                      </a:pPr>
                      <a:r>
                        <a:rPr lang="en-US" sz="1050" dirty="0">
                          <a:solidFill>
                            <a:srgbClr val="20241F"/>
                          </a:solidFill>
                          <a:latin typeface="+mn-lt" pitchFamily="34" charset="0"/>
                          <a:ea typeface="+mn-lt" pitchFamily="34" charset="-122"/>
                          <a:cs typeface="+mn-lt" pitchFamily="34" charset="-120"/>
                        </a:rPr>
                        <a:t>ICP, personas, products defined</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Sales handoff and onboarding</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Retention and expansion process</a:t>
                      </a:r>
                      <a:endParaRPr lang="en-US" sz="1050" dirty="0">
                        <a:latin typeface="+mn-lt" charset="0"/>
                        <a:ea typeface="+mn-lt" charset="0"/>
                        <a:cs typeface="+mn-lt" charset="0"/>
                      </a:endParaRPr>
                    </a:p>
                    <a:p>
                      <a:pPr indent="0" marL="0">
                        <a:buNone/>
                      </a:pPr>
                      <a:r>
                        <a:rPr lang="en-US" sz="1050" dirty="0">
                          <a:solidFill>
                            <a:srgbClr val="20241F"/>
                          </a:solidFill>
                          <a:latin typeface="+mn-lt" pitchFamily="34" charset="0"/>
                          <a:ea typeface="+mn-lt" pitchFamily="34" charset="-122"/>
                          <a:cs typeface="+mn-lt" pitchFamily="34" charset="-120"/>
                        </a:rPr>
                        <a:t>Basic retention metrics</a:t>
                      </a:r>
                      <a:endParaRPr lang="en-US" sz="1050" dirty="0">
                        <a:latin typeface="+mn-lt" charset="0"/>
                        <a:ea typeface="+mn-lt" charset="0"/>
                        <a:cs typeface="+mn-lt" charset="0"/>
                      </a:endParaRPr>
                    </a:p>
                  </a:txBody>
                  <a:tcPr marL="101600" marR="76200" marT="50800" marB="508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EXAMPLE CLIENT ASSESSMENT</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RevOps assessment: scorecard</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 Example client scores.</a:t>
            </a:r>
            <a:endParaRPr lang="en-US" sz="1000" dirty="0"/>
          </a:p>
        </p:txBody>
      </p:sp>
      <p:graphicFrame>
        <p:nvGraphicFramePr>
          <p:cNvPr id="37" name="Assessment table"/>
          <p:cNvGraphicFramePr>
            <a:graphicFrameLocks noGrp="1"/>
          </p:cNvGraphicFramePr>
          <p:nvPr>
            <p:extLst>
              <p:ext uri="{D42A27DB-BD31-4B8C-83A1-F6EECF244321}">
                <p14:modId xmlns:p14="http://schemas.microsoft.com/office/powerpoint/2010/main" val="1579011935"/>
              </p:ext>
            </p:extLst>
          </p:nvPr>
        </p:nvGraphicFramePr>
        <p:xfrm>
          <a:off x="365760" y="1371600"/>
          <a:ext cx="6126480" cy="914400"/>
        </p:xfrm>
        <a:graphic>
          <a:graphicData uri="http://schemas.openxmlformats.org/drawingml/2006/table">
            <a:tbl>
              <a:tblPr/>
              <a:tblGrid>
                <a:gridCol w="2148840"/>
                <a:gridCol w="777240"/>
                <a:gridCol w="1051560"/>
                <a:gridCol w="685800"/>
                <a:gridCol w="1463040"/>
              </a:tblGrid>
              <a:tr h="384048">
                <a:tc>
                  <a:txBody>
                    <a:bodyPr/>
                    <a:lstStyle/>
                    <a:p>
                      <a:pPr algn="l" indent="0" marL="0">
                        <a:buNone/>
                      </a:pPr>
                      <a:r>
                        <a:rPr lang="en-US" sz="1100" b="1" dirty="0">
                          <a:solidFill>
                            <a:srgbClr val="F5F7F0"/>
                          </a:solidFill>
                          <a:latin typeface="+mn-lt" pitchFamily="34" charset="0"/>
                          <a:ea typeface="+mn-lt" pitchFamily="34" charset="-122"/>
                          <a:cs typeface="+mn-lt" pitchFamily="34" charset="-120"/>
                        </a:rPr>
                        <a:t>Functional area</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Weight</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Actual</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Gap</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Assessment</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Company strategy</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3.8</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Marketing strategy</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-0.2</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261D"/>
                          </a:solidFill>
                          <a:latin typeface="+mn-lt" pitchFamily="34" charset="0"/>
                          <a:ea typeface="+mn-lt" pitchFamily="34" charset="-122"/>
                          <a:cs typeface="+mn-lt" pitchFamily="34" charset="-120"/>
                        </a:rPr>
                        <a:t>Overperforming</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93A87B"/>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Demand generation</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1.0</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Product marketing</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4.1</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2.3</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1.9</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Marketing ops</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1.0</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Sales process</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2.1</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Sales ops</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3.7</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2.2</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1.5</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Sales enablement</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4.1</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2.6</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1.5</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Sales compensation</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4.1</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2.1</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0241F"/>
                          </a:solidFill>
                          <a:latin typeface="+mn-lt" pitchFamily="34" charset="0"/>
                          <a:ea typeface="+mn-lt" pitchFamily="34" charset="-122"/>
                          <a:cs typeface="+mn-lt" pitchFamily="34" charset="-120"/>
                        </a:rPr>
                        <a:t>2.0</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Underperforming</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r>
              <a:tr h="384048">
                <a:tc>
                  <a:txBody>
                    <a:bodyPr/>
                    <a:lstStyle/>
                    <a:p>
                      <a:pPr indent="0" marL="0">
                        <a:buNone/>
                      </a:pPr>
                      <a:r>
                        <a:rPr lang="en-US" sz="1100" dirty="0">
                          <a:solidFill>
                            <a:srgbClr val="20241F"/>
                          </a:solidFill>
                          <a:latin typeface="+mn-lt" pitchFamily="34" charset="0"/>
                          <a:ea typeface="+mn-lt" pitchFamily="34" charset="-122"/>
                          <a:cs typeface="+mn-lt" pitchFamily="34" charset="-120"/>
                        </a:rPr>
                        <a:t>CX, CS and account growth</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3.7</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0241F"/>
                          </a:solidFill>
                          <a:latin typeface="+mn-lt" pitchFamily="34" charset="0"/>
                          <a:ea typeface="+mn-lt" pitchFamily="34" charset="-122"/>
                          <a:cs typeface="+mn-lt" pitchFamily="34" charset="-120"/>
                        </a:rPr>
                        <a:t>1.7</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0241F"/>
                          </a:solidFill>
                          <a:latin typeface="+mn-lt" pitchFamily="34" charset="0"/>
                          <a:ea typeface="+mn-lt" pitchFamily="34" charset="-122"/>
                          <a:cs typeface="+mn-lt" pitchFamily="34" charset="-120"/>
                        </a:rPr>
                        <a:t>2.0</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F7F0"/>
                          </a:solidFill>
                          <a:latin typeface="+mn-lt" pitchFamily="34" charset="0"/>
                          <a:ea typeface="+mn-lt" pitchFamily="34" charset="-122"/>
                          <a:cs typeface="+mn-lt" pitchFamily="34" charset="-120"/>
                        </a:rPr>
                        <a:t>Underperforming</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r>
              <a:tr h="384048">
                <a:tc>
                  <a:txBody>
                    <a:bodyPr/>
                    <a:lstStyle/>
                    <a:p>
                      <a:pPr indent="0" marL="0">
                        <a:buNone/>
                      </a:pPr>
                      <a:r>
                        <a:rPr lang="en-US" sz="1100" b="1" dirty="0">
                          <a:solidFill>
                            <a:srgbClr val="20241F"/>
                          </a:solidFill>
                          <a:latin typeface="+mn-lt" pitchFamily="34" charset="0"/>
                          <a:ea typeface="+mn-lt" pitchFamily="34" charset="-122"/>
                          <a:cs typeface="+mn-lt" pitchFamily="34" charset="-120"/>
                        </a:rPr>
                        <a:t>Average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0241F"/>
                          </a:solidFill>
                          <a:latin typeface="+mn-lt" pitchFamily="34" charset="0"/>
                          <a:ea typeface="+mn-lt" pitchFamily="34" charset="-122"/>
                          <a:cs typeface="+mn-lt" pitchFamily="34" charset="-120"/>
                        </a:rPr>
                        <a:t>3.8</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0241F"/>
                          </a:solidFill>
                          <a:latin typeface="+mn-lt" pitchFamily="34" charset="0"/>
                          <a:ea typeface="+mn-lt" pitchFamily="34" charset="-122"/>
                          <a:cs typeface="+mn-lt" pitchFamily="34" charset="-120"/>
                        </a:rPr>
                        <a:t>2.4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0241F"/>
                          </a:solidFill>
                          <a:latin typeface="+mn-lt" pitchFamily="34" charset="0"/>
                          <a:ea typeface="+mn-lt" pitchFamily="34" charset="-122"/>
                          <a:cs typeface="+mn-lt" pitchFamily="34" charset="-120"/>
                        </a:rPr>
                        <a:t>1.4</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6604E"/>
                          </a:solidFill>
                          <a:latin typeface="+mn-lt" pitchFamily="34" charset="0"/>
                          <a:ea typeface="+mn-lt" pitchFamily="34" charset="-122"/>
                          <a:cs typeface="+mn-lt" pitchFamily="34" charset="-120"/>
                        </a:rPr>
                        <a:t>Optimise</a:t>
                      </a:r>
                      <a:endParaRPr lang="en-US" sz="1100" dirty="0">
                        <a:latin typeface="+mn-lt" charset="0"/>
                        <a:ea typeface="+mn-lt" charset="0"/>
                        <a:cs typeface="+mn-lt" charset="0"/>
                      </a:endParaRPr>
                    </a:p>
                  </a:txBody>
                  <a:tcPr marL="101600" marR="76200" marT="25400" marB="254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5F7F0"/>
                    </a:solidFill>
                  </a:tcPr>
                </a:tc>
              </a:tr>
            </a:tbl>
          </a:graphicData>
        </a:graphic>
      </p:graphicFrame>
      <p:sp>
        <p:nvSpPr>
          <p:cNvPr id="6" name="Radar panel 94"/>
          <p:cNvSpPr/>
          <p:nvPr/>
        </p:nvSpPr>
        <p:spPr>
          <a:xfrm>
            <a:off x="6766560" y="1371600"/>
            <a:ext cx="5056632" cy="4892040"/>
          </a:xfrm>
          <a:prstGeom prst="roundRect">
            <a:avLst>
              <a:gd name="adj" fmla="val 2243"/>
            </a:avLst>
          </a:prstGeom>
          <a:solidFill>
            <a:srgbClr val="FFFFFF"/>
          </a:solidFill>
          <a:ln/>
          <a:effectLst>
            <a:outerShdw sx="100000" sy="100000" kx="0" ky="0" algn="bl" rotWithShape="0" blurRad="177800" dist="50800" dir="5400000">
              <a:srgbClr val="16261D">
                <a:alpha val="14000"/>
              </a:srgbClr>
            </a:outerShdw>
          </a:effectLst>
        </p:spPr>
      </p:sp>
      <p:graphicFrame>
        <p:nvGraphicFramePr>
          <p:cNvPr id="7" name="Assessment radar" descr=""/>
          <p:cNvGraphicFramePr/>
          <p:nvPr/>
        </p:nvGraphicFramePr>
        <p:xfrm>
          <a:off x="6858000" y="1463040"/>
          <a:ext cx="4873752" cy="4709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EXAMPLE CLIENT ASSESSMENT  ·  DETAIL</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RevOps assessment: findings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 Example client findings.</a:t>
            </a:r>
            <a:endParaRPr lang="en-US" sz="1000" dirty="0"/>
          </a:p>
        </p:txBody>
      </p:sp>
      <p:graphicFrame>
        <p:nvGraphicFramePr>
          <p:cNvPr id="38" name="Findings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57432" cy="914400"/>
        </p:xfrm>
        <a:graphic>
          <a:graphicData uri="http://schemas.openxmlformats.org/drawingml/2006/table">
            <a:tbl>
              <a:tblPr/>
              <a:tblGrid>
                <a:gridCol w="3657600"/>
                <a:gridCol w="685800"/>
                <a:gridCol w="731520"/>
                <a:gridCol w="2514600"/>
                <a:gridCol w="3867912"/>
              </a:tblGrid>
              <a:tr h="310896">
                <a:tc>
                  <a:txBody>
                    <a:bodyPr/>
                    <a:lstStyle/>
                    <a:p>
                      <a:pPr algn="l" indent="0" marL="0">
                        <a:buNone/>
                      </a:pPr>
                      <a:r>
                        <a:rPr lang="en-US" sz="950" b="1" dirty="0">
                          <a:solidFill>
                            <a:srgbClr val="F5F7F0"/>
                          </a:solidFill>
                          <a:latin typeface="+mn-lt" pitchFamily="34" charset="0"/>
                          <a:ea typeface="+mn-lt" pitchFamily="34" charset="-122"/>
                          <a:cs typeface="+mn-lt" pitchFamily="34" charset="-120"/>
                        </a:rPr>
                        <a:t>Functional assessment</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950" b="1" dirty="0">
                          <a:solidFill>
                            <a:srgbClr val="F5F7F0"/>
                          </a:solidFill>
                          <a:latin typeface="+mn-lt" pitchFamily="34" charset="0"/>
                          <a:ea typeface="+mn-lt" pitchFamily="34" charset="-122"/>
                          <a:cs typeface="+mn-lt" pitchFamily="34" charset="-120"/>
                        </a:rPr>
                        <a:t>Weight</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ctr" indent="0" marL="0">
                        <a:buNone/>
                      </a:pPr>
                      <a:r>
                        <a:rPr lang="en-US" sz="950" b="1" dirty="0">
                          <a:solidFill>
                            <a:srgbClr val="F5F7F0"/>
                          </a:solidFill>
                          <a:latin typeface="+mn-lt" pitchFamily="34" charset="0"/>
                          <a:ea typeface="+mn-lt" pitchFamily="34" charset="-122"/>
                          <a:cs typeface="+mn-lt" pitchFamily="34" charset="-120"/>
                        </a:rPr>
                        <a:t>Current</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l" indent="0" marL="0">
                        <a:buNone/>
                      </a:pPr>
                      <a:r>
                        <a:rPr lang="en-US" sz="950" b="1" dirty="0">
                          <a:solidFill>
                            <a:srgbClr val="F5F7F0"/>
                          </a:solidFill>
                          <a:latin typeface="+mn-lt" pitchFamily="34" charset="0"/>
                          <a:ea typeface="+mn-lt" pitchFamily="34" charset="-122"/>
                          <a:cs typeface="+mn-lt" pitchFamily="34" charset="-120"/>
                        </a:rPr>
                        <a:t>Benchmark</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c>
                  <a:txBody>
                    <a:bodyPr/>
                    <a:lstStyle/>
                    <a:p>
                      <a:pPr algn="l" indent="0" marL="0">
                        <a:buNone/>
                      </a:pPr>
                      <a:r>
                        <a:rPr lang="en-US" sz="950" b="1" dirty="0">
                          <a:solidFill>
                            <a:srgbClr val="F5F7F0"/>
                          </a:solidFill>
                          <a:latin typeface="+mn-lt" pitchFamily="34" charset="0"/>
                          <a:ea typeface="+mn-lt" pitchFamily="34" charset="-122"/>
                          <a:cs typeface="+mn-lt" pitchFamily="34" charset="-120"/>
                        </a:rPr>
                        <a:t>Notes and findings</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16261D"/>
                    </a:solidFill>
                  </a:tcPr>
                </a:tc>
              </a:tr>
              <a:tr h="237744">
                <a:tc gridSpan="5">
                  <a:txBody>
                    <a:bodyPr/>
                    <a:lstStyle/>
                    <a:p>
                      <a:pPr indent="0" marL="0">
                        <a:buNone/>
                      </a:pPr>
                      <a:r>
                        <a:rPr lang="en-US" sz="900" b="1" spc="100" kern="0" dirty="0">
                          <a:solidFill>
                            <a:srgbClr val="1F3529"/>
                          </a:solidFill>
                          <a:latin typeface="+mn-lt" pitchFamily="34" charset="0"/>
                          <a:ea typeface="+mn-lt" pitchFamily="34" charset="-122"/>
                          <a:cs typeface="+mn-lt" pitchFamily="34" charset="-120"/>
                        </a:rPr>
                        <a:t>COMPANY STRATEGY</a:t>
                      </a:r>
                      <a:endParaRPr lang="en-US" sz="9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C9D3C0"/>
                    </a:solidFill>
                  </a:tcPr>
                </a:tc>
                <a:tc hMerge="1">
                  <a:tcPr/>
                </a:tc>
                <a:tc hMerge="1">
                  <a:tcPr/>
                </a:tc>
                <a:tc hMerge="1">
                  <a:tcPr/>
                </a:tc>
                <a:tc hMerge="1">
                  <a:tcPr/>
                </a:tc>
              </a:tr>
              <a:tr h="566928">
                <a:tc>
                  <a:txBody>
                    <a:bodyPr/>
                    <a:lstStyle/>
                    <a:p>
                      <a:pPr indent="0" marL="0">
                        <a:buNone/>
                      </a:pPr>
                      <a:r>
                        <a:rPr lang="en-US" sz="950" dirty="0">
                          <a:solidFill>
                            <a:srgbClr val="20241F"/>
                          </a:solidFill>
                          <a:latin typeface="+mn-lt" pitchFamily="34" charset="0"/>
                          <a:ea typeface="+mn-lt" pitchFamily="34" charset="-122"/>
                          <a:cs typeface="+mn-lt" pitchFamily="34" charset="-120"/>
                        </a:rPr>
                        <a:t>Financial metrics and payback: lifetime value and acquisition cost tracked monthly on a TTM average; payback drives prospecting and retention spend.</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3</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D7E0CC"/>
                    </a:solidFill>
                  </a:tcPr>
                </a:tc>
                <a:tc>
                  <a:txBody>
                    <a:bodyPr/>
                    <a:lstStyle/>
                    <a:p>
                      <a:pPr algn="ctr" indent="0" marL="0">
                        <a:buNone/>
                      </a:pPr>
                      <a:r>
                        <a:rPr lang="en-US" sz="1300" b="1" dirty="0">
                          <a:solidFill>
                            <a:srgbClr val="F5F7F0"/>
                          </a:solidFill>
                          <a:latin typeface="+mn-lt" pitchFamily="34" charset="0"/>
                          <a:ea typeface="+mn-lt" pitchFamily="34" charset="-122"/>
                          <a:cs typeface="+mn-lt" pitchFamily="34" charset="-120"/>
                        </a:rPr>
                        <a:t>1</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LTV:CAC between 3:1 and 5:1 (TTM); ARPU tracked; payback known</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Not measured or reviewed regularly. A foundational benchmark for scalable growth that needs visibility.</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20241F"/>
                          </a:solidFill>
                          <a:latin typeface="+mn-lt" pitchFamily="34" charset="0"/>
                          <a:ea typeface="+mn-lt" pitchFamily="34" charset="-122"/>
                          <a:cs typeface="+mn-lt" pitchFamily="34" charset="-120"/>
                        </a:rPr>
                        <a:t>GTM team design: structure supports scalable growth and is aligned to the operating plan.</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5</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93A87B"/>
                    </a:solidFill>
                  </a:tcPr>
                </a:tc>
                <a:tc>
                  <a:txBody>
                    <a:bodyPr/>
                    <a:lstStyle/>
                    <a:p>
                      <a:pPr algn="ctr" indent="0" marL="0">
                        <a:buNone/>
                      </a:pPr>
                      <a:r>
                        <a:rPr lang="en-US" sz="1300" b="1" dirty="0">
                          <a:solidFill>
                            <a:srgbClr val="20241F"/>
                          </a:solidFill>
                          <a:latin typeface="+mn-lt" pitchFamily="34" charset="0"/>
                          <a:ea typeface="+mn-lt" pitchFamily="34" charset="-122"/>
                          <a:cs typeface="+mn-lt" pitchFamily="34" charset="-120"/>
                        </a:rPr>
                        <a:t>2</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E8DFC2"/>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Magic number above 0.75</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Little detail on GTM processes; limited granularity on activities, deal progress and forecasting.</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237744">
                <a:tc gridSpan="5">
                  <a:txBody>
                    <a:bodyPr/>
                    <a:lstStyle/>
                    <a:p>
                      <a:pPr indent="0" marL="0">
                        <a:buNone/>
                      </a:pPr>
                      <a:r>
                        <a:rPr lang="en-US" sz="900" b="1" spc="100" kern="0" dirty="0">
                          <a:solidFill>
                            <a:srgbClr val="1F3529"/>
                          </a:solidFill>
                          <a:latin typeface="+mn-lt" pitchFamily="34" charset="0"/>
                          <a:ea typeface="+mn-lt" pitchFamily="34" charset="-122"/>
                          <a:cs typeface="+mn-lt" pitchFamily="34" charset="-120"/>
                        </a:rPr>
                        <a:t>SALES ENABLEMENT</a:t>
                      </a:r>
                      <a:endParaRPr lang="en-US" sz="9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C9D3C0"/>
                    </a:solidFill>
                  </a:tcPr>
                </a:tc>
                <a:tc hMerge="1">
                  <a:tcPr/>
                </a:tc>
                <a:tc hMerge="1">
                  <a:tcPr/>
                </a:tc>
                <a:tc hMerge="1">
                  <a:tcPr/>
                </a:tc>
                <a:tc hMerge="1">
                  <a:tcPr/>
                </a:tc>
              </a:tr>
              <a:tr h="457200">
                <a:tc>
                  <a:txBody>
                    <a:bodyPr/>
                    <a:lstStyle/>
                    <a:p>
                      <a:pPr indent="0" marL="0">
                        <a:buNone/>
                      </a:pPr>
                      <a:r>
                        <a:rPr lang="en-US" sz="950" dirty="0">
                          <a:solidFill>
                            <a:srgbClr val="20241F"/>
                          </a:solidFill>
                          <a:latin typeface="+mn-lt" pitchFamily="34" charset="0"/>
                          <a:ea typeface="+mn-lt" pitchFamily="34" charset="-122"/>
                          <a:cs typeface="+mn-lt" pitchFamily="34" charset="-120"/>
                        </a:rPr>
                        <a:t>Routine sales training and collaborative meetings; territory strategies updated as training and strategy change.</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4</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D7E0CC"/>
                    </a:solidFill>
                  </a:tcPr>
                </a:tc>
                <a:tc>
                  <a:txBody>
                    <a:bodyPr/>
                    <a:lstStyle/>
                    <a:p>
                      <a:pPr algn="ctr" indent="0" marL="0">
                        <a:buNone/>
                      </a:pPr>
                      <a:r>
                        <a:rPr lang="en-US" sz="1300" b="1" dirty="0">
                          <a:solidFill>
                            <a:srgbClr val="F5F7F0"/>
                          </a:solidFill>
                          <a:latin typeface="+mn-lt" pitchFamily="34" charset="0"/>
                          <a:ea typeface="+mn-lt" pitchFamily="34" charset="-122"/>
                          <a:cs typeface="+mn-lt" pitchFamily="34" charset="-120"/>
                        </a:rPr>
                        <a:t>1</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Recurring training schedule; dedicated training resource</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No consistent training and no enablement leader. Adoption and performance not tracked.</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237744">
                <a:tc gridSpan="5">
                  <a:txBody>
                    <a:bodyPr/>
                    <a:lstStyle/>
                    <a:p>
                      <a:pPr indent="0" marL="0">
                        <a:buNone/>
                      </a:pPr>
                      <a:r>
                        <a:rPr lang="en-US" sz="900" b="1" spc="100" kern="0" dirty="0">
                          <a:solidFill>
                            <a:srgbClr val="1F3529"/>
                          </a:solidFill>
                          <a:latin typeface="+mn-lt" pitchFamily="34" charset="0"/>
                          <a:ea typeface="+mn-lt" pitchFamily="34" charset="-122"/>
                          <a:cs typeface="+mn-lt" pitchFamily="34" charset="-120"/>
                        </a:rPr>
                        <a:t>COMPENSATION PLANNING</a:t>
                      </a:r>
                      <a:endParaRPr lang="en-US" sz="9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C9D3C0"/>
                    </a:solidFill>
                  </a:tcPr>
                </a:tc>
                <a:tc hMerge="1">
                  <a:tcPr/>
                </a:tc>
                <a:tc hMerge="1">
                  <a:tcPr/>
                </a:tc>
                <a:tc hMerge="1">
                  <a:tcPr/>
                </a:tc>
                <a:tc hMerge="1">
                  <a:tcPr/>
                </a:tc>
              </a:tr>
              <a:tr h="457200">
                <a:tc>
                  <a:txBody>
                    <a:bodyPr/>
                    <a:lstStyle/>
                    <a:p>
                      <a:pPr indent="0" marL="0">
                        <a:buNone/>
                      </a:pPr>
                      <a:r>
                        <a:rPr lang="en-US" sz="950" dirty="0">
                          <a:solidFill>
                            <a:srgbClr val="20241F"/>
                          </a:solidFill>
                          <a:latin typeface="+mn-lt" pitchFamily="34" charset="0"/>
                          <a:ea typeface="+mn-lt" pitchFamily="34" charset="-122"/>
                          <a:cs typeface="+mn-lt" pitchFamily="34" charset="-120"/>
                        </a:rPr>
                        <a:t>Finance and sales leadership review comp plan performance on a schedule (ideally twice a year) and adjust.</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4</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D7E0CC"/>
                    </a:solidFill>
                  </a:tcPr>
                </a:tc>
                <a:tc>
                  <a:txBody>
                    <a:bodyPr/>
                    <a:lstStyle/>
                    <a:p>
                      <a:pPr algn="ctr" indent="0" marL="0">
                        <a:buNone/>
                      </a:pPr>
                      <a:r>
                        <a:rPr lang="en-US" sz="1300" b="1" dirty="0">
                          <a:solidFill>
                            <a:srgbClr val="F5F7F0"/>
                          </a:solidFill>
                          <a:latin typeface="+mn-lt" pitchFamily="34" charset="0"/>
                          <a:ea typeface="+mn-lt" pitchFamily="34" charset="-122"/>
                          <a:cs typeface="+mn-lt" pitchFamily="34" charset="-120"/>
                        </a:rPr>
                        <a:t>1</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Twice-yearly comp plan reviews</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Reviewed quarterly against quotas and budget, but ramp plans and OTE inputs barely used.</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237744">
                <a:tc gridSpan="5">
                  <a:txBody>
                    <a:bodyPr/>
                    <a:lstStyle/>
                    <a:p>
                      <a:pPr indent="0" marL="0">
                        <a:buNone/>
                      </a:pPr>
                      <a:r>
                        <a:rPr lang="en-US" sz="900" b="1" spc="100" kern="0" dirty="0">
                          <a:solidFill>
                            <a:srgbClr val="1F3529"/>
                          </a:solidFill>
                          <a:latin typeface="+mn-lt" pitchFamily="34" charset="0"/>
                          <a:ea typeface="+mn-lt" pitchFamily="34" charset="-122"/>
                          <a:cs typeface="+mn-lt" pitchFamily="34" charset="-120"/>
                        </a:rPr>
                        <a:t>CX, CS AND ACCOUNT GROWTH</a:t>
                      </a:r>
                      <a:endParaRPr lang="en-US" sz="9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C9D3C0"/>
                    </a:solidFill>
                  </a:tcPr>
                </a:tc>
                <a:tc hMerge="1">
                  <a:tcPr/>
                </a:tc>
                <a:tc hMerge="1">
                  <a:tcPr/>
                </a:tc>
                <a:tc hMerge="1">
                  <a:tcPr/>
                </a:tc>
                <a:tc hMerge="1">
                  <a:tcPr/>
                </a:tc>
              </a:tr>
              <a:tr h="457200">
                <a:tc>
                  <a:txBody>
                    <a:bodyPr/>
                    <a:lstStyle/>
                    <a:p>
                      <a:pPr indent="0" marL="0">
                        <a:buNone/>
                      </a:pPr>
                      <a:r>
                        <a:rPr lang="en-US" sz="950" dirty="0">
                          <a:solidFill>
                            <a:srgbClr val="20241F"/>
                          </a:solidFill>
                          <a:latin typeface="+mn-lt" pitchFamily="34" charset="0"/>
                          <a:ea typeface="+mn-lt" pitchFamily="34" charset="-122"/>
                          <a:cs typeface="+mn-lt" pitchFamily="34" charset="-120"/>
                        </a:rPr>
                        <a:t>Product usage tracked and synced to the CRM; adoption changes trigger playbooks to mitigate churn.</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3</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D7E0CC"/>
                    </a:solidFill>
                  </a:tcPr>
                </a:tc>
                <a:tc>
                  <a:txBody>
                    <a:bodyPr/>
                    <a:lstStyle/>
                    <a:p>
                      <a:pPr algn="ctr" indent="0" marL="0">
                        <a:buNone/>
                      </a:pPr>
                      <a:r>
                        <a:rPr lang="en-US" sz="1300" b="1" dirty="0">
                          <a:solidFill>
                            <a:srgbClr val="F5F7F0"/>
                          </a:solidFill>
                          <a:latin typeface="+mn-lt" pitchFamily="34" charset="0"/>
                          <a:ea typeface="+mn-lt" pitchFamily="34" charset="-122"/>
                          <a:cs typeface="+mn-lt" pitchFamily="34" charset="-120"/>
                        </a:rPr>
                        <a:t>1</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Usage tracking in place and synced to the CRM</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No PLG or integrated usage tracking; no in-app promotions or insights.</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20241F"/>
                          </a:solidFill>
                          <a:latin typeface="+mn-lt" pitchFamily="34" charset="0"/>
                          <a:ea typeface="+mn-lt" pitchFamily="34" charset="-122"/>
                          <a:cs typeface="+mn-lt" pitchFamily="34" charset="-120"/>
                        </a:rPr>
                        <a:t>Upsell and expansion triggers set up in the CRM, with notifications.</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261D"/>
                          </a:solidFill>
                          <a:latin typeface="+mn-lt" pitchFamily="34" charset="0"/>
                          <a:ea typeface="+mn-lt" pitchFamily="34" charset="-122"/>
                          <a:cs typeface="+mn-lt" pitchFamily="34" charset="-120"/>
                        </a:rPr>
                        <a:t>4</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D7E0CC"/>
                    </a:solidFill>
                  </a:tcPr>
                </a:tc>
                <a:tc>
                  <a:txBody>
                    <a:bodyPr/>
                    <a:lstStyle/>
                    <a:p>
                      <a:pPr algn="ctr" indent="0" marL="0">
                        <a:buNone/>
                      </a:pPr>
                      <a:r>
                        <a:rPr lang="en-US" sz="1300" b="1" dirty="0">
                          <a:solidFill>
                            <a:srgbClr val="F5F7F0"/>
                          </a:solidFill>
                          <a:latin typeface="+mn-lt" pitchFamily="34" charset="0"/>
                          <a:ea typeface="+mn-lt" pitchFamily="34" charset="-122"/>
                          <a:cs typeface="+mn-lt" pitchFamily="34" charset="-120"/>
                        </a:rPr>
                        <a:t>1</a:t>
                      </a:r>
                      <a:endParaRPr lang="en-US" sz="130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A2574A"/>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Renewal playbooks, notifications and sales triggers live</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c>
                  <a:txBody>
                    <a:bodyPr/>
                    <a:lstStyle/>
                    <a:p>
                      <a:pPr indent="0" marL="0">
                        <a:buNone/>
                      </a:pPr>
                      <a:r>
                        <a:rPr lang="en-US" sz="950" dirty="0">
                          <a:solidFill>
                            <a:srgbClr val="20241F"/>
                          </a:solidFill>
                          <a:latin typeface="+mn-lt" pitchFamily="34" charset="0"/>
                          <a:ea typeface="+mn-lt" pitchFamily="34" charset="-122"/>
                          <a:cs typeface="+mn-lt" pitchFamily="34" charset="-120"/>
                        </a:rPr>
                        <a:t>A churn-risk object exists, but no notifications.</a:t>
                      </a:r>
                      <a:endParaRPr lang="en-US" sz="950" dirty="0">
                        <a:latin typeface="+mn-lt" charset="0"/>
                        <a:ea typeface="+mn-lt" charset="0"/>
                        <a:cs typeface="+mn-lt" charset="0"/>
                      </a:endParaRPr>
                    </a:p>
                  </a:txBody>
                  <a:tcPr marL="101600" marR="76200" marT="38100" marB="38100" anchor="ctr">
                    <a:lnL w="9525" cap="flat" cmpd="sng" algn="ctr">
                      <a:solidFill>
                        <a:srgbClr val="D2D8CD"/>
                      </a:solidFill>
                      <a:prstDash val="solid"/>
                      <a:round/>
                      <a:headEnd type="none" w="med" len="med"/>
                      <a:tailEnd type="none" w="med" len="med"/>
                    </a:lnL>
                    <a:lnR w="9525" cap="flat" cmpd="sng" algn="ctr">
                      <a:solidFill>
                        <a:srgbClr val="D2D8CD"/>
                      </a:solidFill>
                      <a:prstDash val="solid"/>
                      <a:round/>
                      <a:headEnd type="none" w="med" len="med"/>
                      <a:tailEnd type="none" w="med" len="med"/>
                    </a:lnR>
                    <a:lnT w="9525" cap="flat" cmpd="sng" algn="ctr">
                      <a:solidFill>
                        <a:srgbClr val="D2D8CD"/>
                      </a:solidFill>
                      <a:prstDash val="solid"/>
                      <a:round/>
                      <a:headEnd type="none" w="med" len="med"/>
                      <a:tailEnd type="none" w="med" len="med"/>
                    </a:lnT>
                    <a:lnB w="9525" cap="flat" cmpd="sng" algn="ctr">
                      <a:solidFill>
                        <a:srgbClr val="D2D8C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SO WHAT, NOW WHAT?</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Investing in RevOps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Core goals 95"/>
          <p:cNvSpPr/>
          <p:nvPr/>
        </p:nvSpPr>
        <p:spPr>
          <a:xfrm>
            <a:off x="365760" y="1417320"/>
            <a:ext cx="3666744" cy="480060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6" name="Text 96"/>
          <p:cNvSpPr txBox="1"/>
          <p:nvPr/>
        </p:nvSpPr>
        <p:spPr>
          <a:xfrm>
            <a:off x="640080" y="1645920"/>
            <a:ext cx="3108960" cy="411480"/>
          </a:xfrm>
          <a:prstGeom prst="rect">
            <a:avLst/>
          </a:prstGeom>
          <a:noFill/>
          <a:ln/>
        </p:spPr>
        <p:txBody>
          <a:bodyPr wrap="square" lIns="0" tIns="0" rIns="0" bIns="0" rtlCol="0" anchor="t"/>
          <a:lstStyle/>
          <a:p>
            <a:pPr indent="0" marL="0">
              <a:buNone/>
            </a:pPr>
            <a:r>
              <a:rPr lang="en-US" sz="1800" b="1" dirty="0">
                <a:solidFill>
                  <a:srgbClr val="20241F"/>
                </a:solidFill>
              </a:rPr>
              <a:t>Core goals</a:t>
            </a:r>
            <a:endParaRPr lang="en-US" sz="1800" dirty="0"/>
          </a:p>
        </p:txBody>
      </p:sp>
      <p:sp>
        <p:nvSpPr>
          <p:cNvPr id="7" name="Text 97"/>
          <p:cNvSpPr txBox="1"/>
          <p:nvPr/>
        </p:nvSpPr>
        <p:spPr>
          <a:xfrm>
            <a:off x="640080" y="2194560"/>
            <a:ext cx="3154680" cy="3840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56604E"/>
                </a:solidFill>
              </a:rPr>
              <a:t>Unify GTM teams around common goals and metrics</a:t>
            </a:r>
            <a:endParaRPr lang="en-US" sz="1350" dirty="0"/>
          </a:p>
          <a:p>
            <a:pPr marL="177800" indent="-177800">
              <a:spcAft>
                <a:spcPts val="800"/>
              </a:spcAft>
              <a:buSzPct val="100000"/>
              <a:buChar char="•"/>
            </a:pPr>
            <a:r>
              <a:rPr lang="en-US" sz="1350" dirty="0">
                <a:solidFill>
                  <a:srgbClr val="56604E"/>
                </a:solidFill>
              </a:rPr>
              <a:t>Remove silos and improve collaboration</a:t>
            </a:r>
            <a:endParaRPr lang="en-US" sz="1350" dirty="0"/>
          </a:p>
          <a:p>
            <a:pPr marL="177800" indent="-177800">
              <a:spcAft>
                <a:spcPts val="800"/>
              </a:spcAft>
              <a:buSzPct val="100000"/>
              <a:buChar char="•"/>
            </a:pPr>
            <a:r>
              <a:rPr lang="en-US" sz="1350" dirty="0">
                <a:solidFill>
                  <a:srgbClr val="56604E"/>
                </a:solidFill>
              </a:rPr>
              <a:t>Streamline operations with integrated systems and automation</a:t>
            </a:r>
            <a:endParaRPr lang="en-US" sz="1350" dirty="0"/>
          </a:p>
          <a:p>
            <a:pPr marL="177800" indent="-177800">
              <a:spcAft>
                <a:spcPts val="800"/>
              </a:spcAft>
              <a:buSzPct val="100000"/>
              <a:buChar char="•"/>
            </a:pPr>
            <a:r>
              <a:rPr lang="en-US" sz="1350" dirty="0">
                <a:solidFill>
                  <a:srgbClr val="56604E"/>
                </a:solidFill>
              </a:rPr>
              <a:t>Optimise the whole journey, from lead to renewal</a:t>
            </a:r>
            <a:endParaRPr lang="en-US" sz="1350" dirty="0"/>
          </a:p>
          <a:p>
            <a:pPr marL="177800" indent="-177800">
              <a:spcAft>
                <a:spcPts val="800"/>
              </a:spcAft>
              <a:buSzPct val="100000"/>
              <a:buChar char="•"/>
            </a:pPr>
            <a:r>
              <a:rPr lang="en-US" sz="1350" dirty="0">
                <a:solidFill>
                  <a:srgbClr val="56604E"/>
                </a:solidFill>
              </a:rPr>
              <a:t>Drive decisions with better analytics and reporting</a:t>
            </a:r>
            <a:endParaRPr lang="en-US" sz="1350" dirty="0"/>
          </a:p>
        </p:txBody>
      </p:sp>
      <p:sp>
        <p:nvSpPr>
          <p:cNvPr id="8" name="Key pillars 98"/>
          <p:cNvSpPr/>
          <p:nvPr/>
        </p:nvSpPr>
        <p:spPr>
          <a:xfrm>
            <a:off x="4261104" y="1417320"/>
            <a:ext cx="3666744" cy="4800600"/>
          </a:xfrm>
          <a:prstGeom prst="roundRect">
            <a:avLst>
              <a:gd name="adj" fmla="val 2993"/>
            </a:avLst>
          </a:prstGeom>
          <a:solidFill>
            <a:srgbClr val="FFFFFF"/>
          </a:solidFill>
          <a:ln/>
          <a:effectLst>
            <a:outerShdw sx="100000" sy="100000" kx="0" ky="0" algn="bl" rotWithShape="0" blurRad="177800" dist="50800" dir="5400000">
              <a:srgbClr val="16261D">
                <a:alpha val="14000"/>
              </a:srgbClr>
            </a:outerShdw>
          </a:effectLst>
        </p:spPr>
      </p:sp>
      <p:sp>
        <p:nvSpPr>
          <p:cNvPr id="9" name="Text 99"/>
          <p:cNvSpPr txBox="1"/>
          <p:nvPr/>
        </p:nvSpPr>
        <p:spPr>
          <a:xfrm>
            <a:off x="4535424" y="1645920"/>
            <a:ext cx="3108960" cy="411480"/>
          </a:xfrm>
          <a:prstGeom prst="rect">
            <a:avLst/>
          </a:prstGeom>
          <a:noFill/>
          <a:ln/>
        </p:spPr>
        <p:txBody>
          <a:bodyPr wrap="square" lIns="0" tIns="0" rIns="0" bIns="0" rtlCol="0" anchor="t"/>
          <a:lstStyle/>
          <a:p>
            <a:pPr indent="0" marL="0">
              <a:buNone/>
            </a:pPr>
            <a:r>
              <a:rPr lang="en-US" sz="1800" b="1" dirty="0">
                <a:solidFill>
                  <a:srgbClr val="20241F"/>
                </a:solidFill>
              </a:rPr>
              <a:t>Key pillars</a:t>
            </a:r>
            <a:endParaRPr lang="en-US" sz="1800" dirty="0"/>
          </a:p>
        </p:txBody>
      </p:sp>
      <p:sp>
        <p:nvSpPr>
          <p:cNvPr id="10" name="Number 100"/>
          <p:cNvSpPr/>
          <p:nvPr/>
        </p:nvSpPr>
        <p:spPr>
          <a:xfrm>
            <a:off x="4535424" y="2240280"/>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1</a:t>
            </a:r>
            <a:endParaRPr lang="en-US" sz="1300" dirty="0"/>
          </a:p>
        </p:txBody>
      </p:sp>
      <p:sp>
        <p:nvSpPr>
          <p:cNvPr id="11" name="Text 101"/>
          <p:cNvSpPr txBox="1"/>
          <p:nvPr/>
        </p:nvSpPr>
        <p:spPr>
          <a:xfrm>
            <a:off x="5120640" y="2212848"/>
            <a:ext cx="2606040" cy="320040"/>
          </a:xfrm>
          <a:prstGeom prst="rect">
            <a:avLst/>
          </a:prstGeom>
          <a:noFill/>
          <a:ln/>
        </p:spPr>
        <p:txBody>
          <a:bodyPr wrap="square" lIns="0" tIns="0" rIns="0" bIns="0" rtlCol="0" anchor="t"/>
          <a:lstStyle/>
          <a:p>
            <a:pPr indent="0" marL="0">
              <a:buNone/>
            </a:pPr>
            <a:r>
              <a:rPr lang="en-US" sz="1400" b="1" dirty="0">
                <a:solidFill>
                  <a:srgbClr val="20241F"/>
                </a:solidFill>
              </a:rPr>
              <a:t>Process alignment</a:t>
            </a:r>
            <a:endParaRPr lang="en-US" sz="1400" dirty="0"/>
          </a:p>
        </p:txBody>
      </p:sp>
      <p:sp>
        <p:nvSpPr>
          <p:cNvPr id="12" name="Text 102"/>
          <p:cNvSpPr txBox="1"/>
          <p:nvPr/>
        </p:nvSpPr>
        <p:spPr>
          <a:xfrm>
            <a:off x="5120640" y="2532888"/>
            <a:ext cx="2606040" cy="548640"/>
          </a:xfrm>
          <a:prstGeom prst="rect">
            <a:avLst/>
          </a:prstGeom>
          <a:noFill/>
          <a:ln/>
        </p:spPr>
        <p:txBody>
          <a:bodyPr wrap="square" lIns="0" tIns="0" rIns="0" bIns="0" rtlCol="0" anchor="t"/>
          <a:lstStyle/>
          <a:p>
            <a:pPr indent="0" marL="0">
              <a:buNone/>
            </a:pPr>
            <a:r>
              <a:rPr lang="en-US" sz="1200" dirty="0">
                <a:solidFill>
                  <a:srgbClr val="56604E"/>
                </a:solidFill>
              </a:rPr>
              <a:t>Standard workflows across sales, marketing and CS</a:t>
            </a:r>
            <a:endParaRPr lang="en-US" sz="1200" dirty="0"/>
          </a:p>
        </p:txBody>
      </p:sp>
      <p:sp>
        <p:nvSpPr>
          <p:cNvPr id="13" name="Number 103"/>
          <p:cNvSpPr/>
          <p:nvPr/>
        </p:nvSpPr>
        <p:spPr>
          <a:xfrm>
            <a:off x="4535424" y="3218688"/>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2</a:t>
            </a:r>
            <a:endParaRPr lang="en-US" sz="1300" dirty="0"/>
          </a:p>
        </p:txBody>
      </p:sp>
      <p:sp>
        <p:nvSpPr>
          <p:cNvPr id="14" name="Text 104"/>
          <p:cNvSpPr txBox="1"/>
          <p:nvPr/>
        </p:nvSpPr>
        <p:spPr>
          <a:xfrm>
            <a:off x="5120640" y="3191256"/>
            <a:ext cx="2606040" cy="320040"/>
          </a:xfrm>
          <a:prstGeom prst="rect">
            <a:avLst/>
          </a:prstGeom>
          <a:noFill/>
          <a:ln/>
        </p:spPr>
        <p:txBody>
          <a:bodyPr wrap="square" lIns="0" tIns="0" rIns="0" bIns="0" rtlCol="0" anchor="t"/>
          <a:lstStyle/>
          <a:p>
            <a:pPr indent="0" marL="0">
              <a:buNone/>
            </a:pPr>
            <a:r>
              <a:rPr lang="en-US" sz="1400" b="1" dirty="0">
                <a:solidFill>
                  <a:srgbClr val="20241F"/>
                </a:solidFill>
              </a:rPr>
              <a:t>Technology integration</a:t>
            </a:r>
            <a:endParaRPr lang="en-US" sz="1400" dirty="0"/>
          </a:p>
        </p:txBody>
      </p:sp>
      <p:sp>
        <p:nvSpPr>
          <p:cNvPr id="15" name="Text 105"/>
          <p:cNvSpPr txBox="1"/>
          <p:nvPr/>
        </p:nvSpPr>
        <p:spPr>
          <a:xfrm>
            <a:off x="5120640" y="3511296"/>
            <a:ext cx="2606040" cy="548640"/>
          </a:xfrm>
          <a:prstGeom prst="rect">
            <a:avLst/>
          </a:prstGeom>
          <a:noFill/>
          <a:ln/>
        </p:spPr>
        <p:txBody>
          <a:bodyPr wrap="square" lIns="0" tIns="0" rIns="0" bIns="0" rtlCol="0" anchor="t"/>
          <a:lstStyle/>
          <a:p>
            <a:pPr indent="0" marL="0">
              <a:buNone/>
            </a:pPr>
            <a:r>
              <a:rPr lang="en-US" sz="1200" dirty="0">
                <a:solidFill>
                  <a:srgbClr val="56604E"/>
                </a:solidFill>
              </a:rPr>
              <a:t>Centralised CRM, marketing automation and support tools</a:t>
            </a:r>
            <a:endParaRPr lang="en-US" sz="1200" dirty="0"/>
          </a:p>
        </p:txBody>
      </p:sp>
      <p:sp>
        <p:nvSpPr>
          <p:cNvPr id="16" name="Number 106"/>
          <p:cNvSpPr/>
          <p:nvPr/>
        </p:nvSpPr>
        <p:spPr>
          <a:xfrm>
            <a:off x="4535424" y="4197096"/>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3</a:t>
            </a:r>
            <a:endParaRPr lang="en-US" sz="1300" dirty="0"/>
          </a:p>
        </p:txBody>
      </p:sp>
      <p:sp>
        <p:nvSpPr>
          <p:cNvPr id="17" name="Text 107"/>
          <p:cNvSpPr txBox="1"/>
          <p:nvPr/>
        </p:nvSpPr>
        <p:spPr>
          <a:xfrm>
            <a:off x="5120640" y="4169664"/>
            <a:ext cx="2606040" cy="320040"/>
          </a:xfrm>
          <a:prstGeom prst="rect">
            <a:avLst/>
          </a:prstGeom>
          <a:noFill/>
          <a:ln/>
        </p:spPr>
        <p:txBody>
          <a:bodyPr wrap="square" lIns="0" tIns="0" rIns="0" bIns="0" rtlCol="0" anchor="t"/>
          <a:lstStyle/>
          <a:p>
            <a:pPr indent="0" marL="0">
              <a:buNone/>
            </a:pPr>
            <a:r>
              <a:rPr lang="en-US" sz="1400" b="1" dirty="0">
                <a:solidFill>
                  <a:srgbClr val="20241F"/>
                </a:solidFill>
              </a:rPr>
              <a:t>Data management</a:t>
            </a:r>
            <a:endParaRPr lang="en-US" sz="1400" dirty="0"/>
          </a:p>
        </p:txBody>
      </p:sp>
      <p:sp>
        <p:nvSpPr>
          <p:cNvPr id="18" name="Text 108"/>
          <p:cNvSpPr txBox="1"/>
          <p:nvPr/>
        </p:nvSpPr>
        <p:spPr>
          <a:xfrm>
            <a:off x="5120640" y="4489704"/>
            <a:ext cx="2606040" cy="548640"/>
          </a:xfrm>
          <a:prstGeom prst="rect">
            <a:avLst/>
          </a:prstGeom>
          <a:noFill/>
          <a:ln/>
        </p:spPr>
        <p:txBody>
          <a:bodyPr wrap="square" lIns="0" tIns="0" rIns="0" bIns="0" rtlCol="0" anchor="t"/>
          <a:lstStyle/>
          <a:p>
            <a:pPr indent="0" marL="0">
              <a:buNone/>
            </a:pPr>
            <a:r>
              <a:rPr lang="en-US" sz="1200" dirty="0">
                <a:solidFill>
                  <a:srgbClr val="56604E"/>
                </a:solidFill>
              </a:rPr>
              <a:t>Clean, unified data for reporting and forecasting</a:t>
            </a:r>
            <a:endParaRPr lang="en-US" sz="1200" dirty="0"/>
          </a:p>
        </p:txBody>
      </p:sp>
      <p:sp>
        <p:nvSpPr>
          <p:cNvPr id="19" name="Number 109"/>
          <p:cNvSpPr/>
          <p:nvPr/>
        </p:nvSpPr>
        <p:spPr>
          <a:xfrm>
            <a:off x="4535424" y="5175504"/>
            <a:ext cx="411480" cy="411480"/>
          </a:xfrm>
          <a:prstGeom prst="ellipse">
            <a:avLst/>
          </a:prstGeom>
          <a:solidFill>
            <a:srgbClr val="1F3529"/>
          </a:solidFill>
          <a:ln/>
        </p:spPr>
        <p:txBody>
          <a:bodyPr wrap="square" lIns="0" tIns="0" rIns="0" bIns="0" rtlCol="0" anchor="ctr"/>
          <a:lstStyle/>
          <a:p>
            <a:pPr algn="ctr" indent="0" marL="0">
              <a:buNone/>
            </a:pPr>
            <a:r>
              <a:rPr lang="en-US" sz="1300" b="1" dirty="0">
                <a:solidFill>
                  <a:srgbClr val="F5F7F0"/>
                </a:solidFill>
              </a:rPr>
              <a:t>4</a:t>
            </a:r>
            <a:endParaRPr lang="en-US" sz="1300" dirty="0"/>
          </a:p>
        </p:txBody>
      </p:sp>
      <p:sp>
        <p:nvSpPr>
          <p:cNvPr id="20" name="Text 110"/>
          <p:cNvSpPr txBox="1"/>
          <p:nvPr/>
        </p:nvSpPr>
        <p:spPr>
          <a:xfrm>
            <a:off x="5120640" y="5148072"/>
            <a:ext cx="2606040" cy="320040"/>
          </a:xfrm>
          <a:prstGeom prst="rect">
            <a:avLst/>
          </a:prstGeom>
          <a:noFill/>
          <a:ln/>
        </p:spPr>
        <p:txBody>
          <a:bodyPr wrap="square" lIns="0" tIns="0" rIns="0" bIns="0" rtlCol="0" anchor="t"/>
          <a:lstStyle/>
          <a:p>
            <a:pPr indent="0" marL="0">
              <a:buNone/>
            </a:pPr>
            <a:r>
              <a:rPr lang="en-US" sz="1400" b="1" dirty="0">
                <a:solidFill>
                  <a:srgbClr val="20241F"/>
                </a:solidFill>
              </a:rPr>
              <a:t>Performance insights</a:t>
            </a:r>
            <a:endParaRPr lang="en-US" sz="1400" dirty="0"/>
          </a:p>
        </p:txBody>
      </p:sp>
      <p:sp>
        <p:nvSpPr>
          <p:cNvPr id="21" name="Text 111"/>
          <p:cNvSpPr txBox="1"/>
          <p:nvPr/>
        </p:nvSpPr>
        <p:spPr>
          <a:xfrm>
            <a:off x="5120640" y="5468112"/>
            <a:ext cx="2606040" cy="548640"/>
          </a:xfrm>
          <a:prstGeom prst="rect">
            <a:avLst/>
          </a:prstGeom>
          <a:noFill/>
          <a:ln/>
        </p:spPr>
        <p:txBody>
          <a:bodyPr wrap="square" lIns="0" tIns="0" rIns="0" bIns="0" rtlCol="0" anchor="t"/>
          <a:lstStyle/>
          <a:p>
            <a:pPr indent="0" marL="0">
              <a:buNone/>
            </a:pPr>
            <a:r>
              <a:rPr lang="en-US" sz="1200" dirty="0">
                <a:solidFill>
                  <a:srgbClr val="56604E"/>
                </a:solidFill>
              </a:rPr>
              <a:t>Funnel conversion, churn, CAC, CLV and pipeline health</a:t>
            </a:r>
            <a:endParaRPr lang="en-US" sz="1200" dirty="0"/>
          </a:p>
        </p:txBody>
      </p:sp>
      <p:sp>
        <p:nvSpPr>
          <p:cNvPr id="22" name="Why it matters 112"/>
          <p:cNvSpPr/>
          <p:nvPr/>
        </p:nvSpPr>
        <p:spPr>
          <a:xfrm>
            <a:off x="8156448" y="1417320"/>
            <a:ext cx="3666744" cy="4800600"/>
          </a:xfrm>
          <a:prstGeom prst="roundRect">
            <a:avLst>
              <a:gd name="adj" fmla="val 2993"/>
            </a:avLst>
          </a:prstGeom>
          <a:solidFill>
            <a:srgbClr val="16261D"/>
          </a:solidFill>
          <a:ln/>
          <a:effectLst>
            <a:outerShdw sx="100000" sy="100000" kx="0" ky="0" algn="bl" rotWithShape="0" blurRad="304800" dist="50800" dir="5400000">
              <a:srgbClr val="16261D">
                <a:alpha val="30000"/>
              </a:srgbClr>
            </a:outerShdw>
          </a:effectLst>
        </p:spPr>
      </p:sp>
      <p:sp>
        <p:nvSpPr>
          <p:cNvPr id="23" name="Text 113"/>
          <p:cNvSpPr txBox="1"/>
          <p:nvPr/>
        </p:nvSpPr>
        <p:spPr>
          <a:xfrm>
            <a:off x="8430768" y="1645920"/>
            <a:ext cx="3108960" cy="274320"/>
          </a:xfrm>
          <a:prstGeom prst="rect">
            <a:avLst/>
          </a:prstGeom>
          <a:noFill/>
          <a:ln/>
        </p:spPr>
        <p:txBody>
          <a:bodyPr wrap="square" lIns="0" tIns="0" rIns="0" bIns="0" rtlCol="0" anchor="t"/>
          <a:lstStyle/>
          <a:p>
            <a:pPr indent="0" marL="0">
              <a:buNone/>
            </a:pPr>
            <a:r>
              <a:rPr lang="en-US" sz="1100" b="1" spc="300" kern="0" dirty="0">
                <a:solidFill>
                  <a:srgbClr val="93A87B"/>
                </a:solidFill>
              </a:rPr>
              <a:t>WHY IT MATTERS</a:t>
            </a:r>
            <a:endParaRPr lang="en-US" sz="1100" dirty="0"/>
          </a:p>
        </p:txBody>
      </p:sp>
      <p:sp>
        <p:nvSpPr>
          <p:cNvPr id="24" name="Text 114"/>
          <p:cNvSpPr txBox="1"/>
          <p:nvPr/>
        </p:nvSpPr>
        <p:spPr>
          <a:xfrm>
            <a:off x="8430768" y="1965960"/>
            <a:ext cx="3108960" cy="1097280"/>
          </a:xfrm>
          <a:prstGeom prst="rect">
            <a:avLst/>
          </a:prstGeom>
          <a:noFill/>
          <a:ln/>
        </p:spPr>
        <p:txBody>
          <a:bodyPr wrap="square" lIns="0" tIns="0" rIns="0" bIns="0" rtlCol="0" anchor="t"/>
          <a:lstStyle/>
          <a:p>
            <a:pPr indent="0" marL="0">
              <a:buNone/>
            </a:pPr>
            <a:r>
              <a:rPr lang="en-US" sz="7200" dirty="0">
                <a:solidFill>
                  <a:srgbClr val="93A87B"/>
                </a:solidFill>
                <a:latin typeface="Georgia" pitchFamily="34" charset="0"/>
                <a:ea typeface="Georgia" pitchFamily="34" charset="-122"/>
                <a:cs typeface="Georgia" pitchFamily="34" charset="-120"/>
              </a:rPr>
              <a:t>3x</a:t>
            </a:r>
            <a:endParaRPr lang="en-US" sz="7200" dirty="0"/>
          </a:p>
        </p:txBody>
      </p:sp>
      <p:sp>
        <p:nvSpPr>
          <p:cNvPr id="25" name="Text 115"/>
          <p:cNvSpPr txBox="1"/>
          <p:nvPr/>
        </p:nvSpPr>
        <p:spPr>
          <a:xfrm>
            <a:off x="8430768" y="3063240"/>
            <a:ext cx="3108960" cy="731520"/>
          </a:xfrm>
          <a:prstGeom prst="rect">
            <a:avLst/>
          </a:prstGeom>
          <a:noFill/>
          <a:ln/>
        </p:spPr>
        <p:txBody>
          <a:bodyPr wrap="square" lIns="0" tIns="0" rIns="0" bIns="0" rtlCol="0" anchor="t"/>
          <a:lstStyle/>
          <a:p>
            <a:pPr indent="0" marL="0">
              <a:buNone/>
            </a:pPr>
            <a:r>
              <a:rPr lang="en-US" sz="1400" dirty="0">
                <a:solidFill>
                  <a:srgbClr val="F5F7F0"/>
                </a:solidFill>
              </a:rPr>
              <a:t>faster revenue growth for organisations with RevOps (Forrester)</a:t>
            </a:r>
            <a:endParaRPr lang="en-US" sz="1400" dirty="0"/>
          </a:p>
        </p:txBody>
      </p:sp>
      <p:sp>
        <p:nvSpPr>
          <p:cNvPr id="26" name="Text 116"/>
          <p:cNvSpPr txBox="1"/>
          <p:nvPr/>
        </p:nvSpPr>
        <p:spPr>
          <a:xfrm>
            <a:off x="8430768" y="4069080"/>
            <a:ext cx="3154680" cy="19202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C9D3C0"/>
                </a:solidFill>
              </a:rPr>
              <a:t>Efficiency: fewer manual handoffs and less miscommunication</a:t>
            </a:r>
            <a:endParaRPr lang="en-US" sz="1300" dirty="0"/>
          </a:p>
          <a:p>
            <a:pPr marL="177800" indent="-177800">
              <a:spcAft>
                <a:spcPts val="800"/>
              </a:spcAft>
              <a:buSzPct val="100000"/>
              <a:buChar char="•"/>
            </a:pPr>
            <a:r>
              <a:rPr lang="en-US" sz="1300" dirty="0">
                <a:solidFill>
                  <a:srgbClr val="C9D3C0"/>
                </a:solidFill>
              </a:rPr>
              <a:t>Forecasting: one view of pipeline for accurate planning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CONSUMPTION MODELS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Compensation built on consumption</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Hg Growth Summit 2025. Company plans as presented.</a:t>
            </a:r>
            <a:endParaRPr lang="en-US" sz="1000" dirty="0"/>
          </a:p>
        </p:txBody>
      </p:sp>
      <p:sp>
        <p:nvSpPr>
          <p:cNvPr id="5" name="Text 1"/>
          <p:cNvSpPr txBox="1"/>
          <p:nvPr/>
        </p:nvSpPr>
        <p:spPr>
          <a:xfrm>
            <a:off x="2926080" y="1325880"/>
            <a:ext cx="4572000" cy="274320"/>
          </a:xfrm>
          <a:prstGeom prst="rect">
            <a:avLst/>
          </a:prstGeom>
          <a:noFill/>
          <a:ln/>
        </p:spPr>
        <p:txBody>
          <a:bodyPr wrap="square" lIns="0" tIns="0" rIns="0" bIns="0" rtlCol="0" anchor="t"/>
          <a:lstStyle/>
          <a:p>
            <a:pPr indent="0" marL="0">
              <a:buNone/>
            </a:pPr>
            <a:r>
              <a:rPr lang="en-US" sz="1100" b="1" spc="300" kern="0" dirty="0">
                <a:solidFill>
                  <a:srgbClr val="93A87B"/>
                </a:solidFill>
              </a:rPr>
              <a:t>PLAN OVERVIEW</a:t>
            </a:r>
            <a:endParaRPr lang="en-US" sz="1100" dirty="0"/>
          </a:p>
        </p:txBody>
      </p:sp>
      <p:sp>
        <p:nvSpPr>
          <p:cNvPr id="6" name="Text 2"/>
          <p:cNvSpPr txBox="1"/>
          <p:nvPr/>
        </p:nvSpPr>
        <p:spPr>
          <a:xfrm>
            <a:off x="8503920" y="1325880"/>
            <a:ext cx="3200400" cy="274320"/>
          </a:xfrm>
          <a:prstGeom prst="rect">
            <a:avLst/>
          </a:prstGeom>
          <a:noFill/>
          <a:ln/>
        </p:spPr>
        <p:txBody>
          <a:bodyPr wrap="square" lIns="0" tIns="0" rIns="0" bIns="0" rtlCol="0" anchor="t"/>
          <a:lstStyle/>
          <a:p>
            <a:pPr indent="0" marL="0">
              <a:buNone/>
            </a:pPr>
            <a:r>
              <a:rPr lang="en-US" sz="1100" b="1" spc="300" kern="0" dirty="0">
                <a:solidFill>
                  <a:srgbClr val="93A87B"/>
                </a:solidFill>
              </a:rPr>
              <a:t>REWARDED METRICS</a:t>
            </a:r>
            <a:endParaRPr lang="en-US" sz="1100" dirty="0"/>
          </a:p>
        </p:txBody>
      </p:sp>
      <p:sp>
        <p:nvSpPr>
          <p:cNvPr id="7" name="New Relic 3"/>
          <p:cNvSpPr/>
          <p:nvPr/>
        </p:nvSpPr>
        <p:spPr>
          <a:xfrm>
            <a:off x="365760" y="1737360"/>
            <a:ext cx="11457432" cy="1371600"/>
          </a:xfrm>
          <a:prstGeom prst="roundRect">
            <a:avLst>
              <a:gd name="adj" fmla="val 8000"/>
            </a:avLst>
          </a:prstGeom>
          <a:solidFill>
            <a:srgbClr val="1F3529">
              <a:alpha val="90000"/>
            </a:srgbClr>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8" name="Company New Relic"/>
          <p:cNvSpPr/>
          <p:nvPr/>
        </p:nvSpPr>
        <p:spPr>
          <a:xfrm>
            <a:off x="548640" y="1920240"/>
            <a:ext cx="2103120" cy="1005840"/>
          </a:xfrm>
          <a:prstGeom prst="roundRect">
            <a:avLst>
              <a:gd name="adj" fmla="val 9091"/>
            </a:avLst>
          </a:prstGeom>
          <a:solidFill>
            <a:srgbClr val="F5F7F0"/>
          </a:solidFill>
          <a:ln/>
        </p:spPr>
        <p:txBody>
          <a:bodyPr wrap="square" lIns="0" tIns="0" rIns="0" bIns="0" rtlCol="0" anchor="ctr"/>
          <a:lstStyle/>
          <a:p>
            <a:pPr algn="ctr" indent="0" marL="0">
              <a:buNone/>
            </a:pPr>
            <a:r>
              <a:rPr lang="en-US" sz="2200" dirty="0">
                <a:solidFill>
                  <a:srgbClr val="16261D"/>
                </a:solidFill>
                <a:latin typeface="Georgia" pitchFamily="34" charset="0"/>
                <a:ea typeface="Georgia" pitchFamily="34" charset="-122"/>
                <a:cs typeface="Georgia" pitchFamily="34" charset="-120"/>
              </a:rPr>
              <a:t>New Relic</a:t>
            </a:r>
            <a:endParaRPr lang="en-US" sz="2200" dirty="0"/>
          </a:p>
        </p:txBody>
      </p:sp>
      <p:sp>
        <p:nvSpPr>
          <p:cNvPr id="9" name="Pill 4"/>
          <p:cNvSpPr/>
          <p:nvPr/>
        </p:nvSpPr>
        <p:spPr>
          <a:xfrm>
            <a:off x="2926080" y="1938528"/>
            <a:ext cx="2377440" cy="329184"/>
          </a:xfrm>
          <a:prstGeom prst="roundRect">
            <a:avLst>
              <a:gd name="adj" fmla="val 50000"/>
            </a:avLst>
          </a:prstGeom>
          <a:solidFill>
            <a:srgbClr val="93A87B"/>
          </a:solidFill>
          <a:ln/>
        </p:spPr>
        <p:txBody>
          <a:bodyPr wrap="square" lIns="0" tIns="0" rIns="0" bIns="0" rtlCol="0" anchor="ctr"/>
          <a:lstStyle/>
          <a:p>
            <a:pPr algn="ctr" indent="0" marL="0">
              <a:buNone/>
            </a:pPr>
            <a:r>
              <a:rPr lang="en-US" sz="1100" b="1" dirty="0">
                <a:solidFill>
                  <a:srgbClr val="16261D"/>
                </a:solidFill>
              </a:rPr>
              <a:t>Fully consumption-based</a:t>
            </a:r>
            <a:endParaRPr lang="en-US" sz="1100" dirty="0"/>
          </a:p>
        </p:txBody>
      </p:sp>
      <p:sp>
        <p:nvSpPr>
          <p:cNvPr id="10" name="Text 5"/>
          <p:cNvSpPr txBox="1"/>
          <p:nvPr/>
        </p:nvSpPr>
        <p:spPr>
          <a:xfrm>
            <a:off x="2926080" y="2359152"/>
            <a:ext cx="5212080" cy="685800"/>
          </a:xfrm>
          <a:prstGeom prst="rect">
            <a:avLst/>
          </a:prstGeom>
          <a:noFill/>
          <a:ln/>
        </p:spPr>
        <p:txBody>
          <a:bodyPr wrap="square" lIns="0" tIns="0" rIns="0" bIns="0" rtlCol="0" anchor="t"/>
          <a:lstStyle/>
          <a:p>
            <a:pPr indent="0" marL="0">
              <a:buNone/>
            </a:pPr>
            <a:r>
              <a:rPr lang="en-US" sz="1350" dirty="0">
                <a:solidFill>
                  <a:srgbClr val="F5F7F0"/>
                </a:solidFill>
              </a:rPr>
              <a:t>100% of commission is tied to consumption, paid monthly on actuals.</a:t>
            </a:r>
            <a:endParaRPr lang="en-US" sz="1350" dirty="0"/>
          </a:p>
        </p:txBody>
      </p:sp>
      <p:sp>
        <p:nvSpPr>
          <p:cNvPr id="11" name="Text 6"/>
          <p:cNvSpPr txBox="1"/>
          <p:nvPr/>
        </p:nvSpPr>
        <p:spPr>
          <a:xfrm>
            <a:off x="8503920" y="1874520"/>
            <a:ext cx="3108960" cy="1097280"/>
          </a:xfrm>
          <a:prstGeom prst="rect">
            <a:avLst/>
          </a:prstGeom>
          <a:noFill/>
          <a:ln/>
        </p:spPr>
        <p:txBody>
          <a:bodyPr wrap="square" lIns="0" tIns="0" rIns="0" bIns="0" rtlCol="0" anchor="ctr"/>
          <a:lstStyle/>
          <a:p>
            <a:pPr marL="177800" indent="-177800">
              <a:spcAft>
                <a:spcPts val="200"/>
              </a:spcAft>
              <a:buSzPct val="100000"/>
              <a:buChar char="•"/>
            </a:pPr>
            <a:r>
              <a:rPr lang="en-US" sz="1350" dirty="0">
                <a:solidFill>
                  <a:srgbClr val="C9D3C0"/>
                </a:solidFill>
              </a:rPr>
              <a:t>Monthly data ingested</a:t>
            </a:r>
            <a:endParaRPr lang="en-US" sz="1350" dirty="0"/>
          </a:p>
          <a:p>
            <a:pPr marL="177800" indent="-177800">
              <a:spcAft>
                <a:spcPts val="200"/>
              </a:spcAft>
              <a:buSzPct val="100000"/>
              <a:buChar char="•"/>
            </a:pPr>
            <a:r>
              <a:rPr lang="en-US" sz="1350" dirty="0">
                <a:solidFill>
                  <a:srgbClr val="C9D3C0"/>
                </a:solidFill>
              </a:rPr>
              <a:t>NRR</a:t>
            </a:r>
            <a:endParaRPr lang="en-US" sz="1350" dirty="0"/>
          </a:p>
          <a:p>
            <a:pPr marL="177800" indent="-177800">
              <a:spcAft>
                <a:spcPts val="200"/>
              </a:spcAft>
              <a:buSzPct val="100000"/>
              <a:buChar char="•"/>
            </a:pPr>
            <a:r>
              <a:rPr lang="en-US" sz="1350" dirty="0">
                <a:solidFill>
                  <a:srgbClr val="C9D3C0"/>
                </a:solidFill>
              </a:rPr>
              <a:t>Recognised revenue</a:t>
            </a:r>
            <a:endParaRPr lang="en-US" sz="1350" dirty="0"/>
          </a:p>
        </p:txBody>
      </p:sp>
      <p:sp>
        <p:nvSpPr>
          <p:cNvPr id="12" name="Twilio 7"/>
          <p:cNvSpPr/>
          <p:nvPr/>
        </p:nvSpPr>
        <p:spPr>
          <a:xfrm>
            <a:off x="365760" y="3273552"/>
            <a:ext cx="11457432" cy="1371600"/>
          </a:xfrm>
          <a:prstGeom prst="roundRect">
            <a:avLst>
              <a:gd name="adj" fmla="val 8000"/>
            </a:avLst>
          </a:prstGeom>
          <a:solidFill>
            <a:srgbClr val="1F3529">
              <a:alpha val="90000"/>
            </a:srgbClr>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13" name="Company Twilio"/>
          <p:cNvSpPr/>
          <p:nvPr/>
        </p:nvSpPr>
        <p:spPr>
          <a:xfrm>
            <a:off x="548640" y="3456432"/>
            <a:ext cx="2103120" cy="1005840"/>
          </a:xfrm>
          <a:prstGeom prst="roundRect">
            <a:avLst>
              <a:gd name="adj" fmla="val 9091"/>
            </a:avLst>
          </a:prstGeom>
          <a:solidFill>
            <a:srgbClr val="F5F7F0"/>
          </a:solidFill>
          <a:ln/>
        </p:spPr>
        <p:txBody>
          <a:bodyPr wrap="square" lIns="0" tIns="0" rIns="0" bIns="0" rtlCol="0" anchor="ctr"/>
          <a:lstStyle/>
          <a:p>
            <a:pPr algn="ctr" indent="0" marL="0">
              <a:buNone/>
            </a:pPr>
            <a:r>
              <a:rPr lang="en-US" sz="2200" dirty="0">
                <a:solidFill>
                  <a:srgbClr val="16261D"/>
                </a:solidFill>
                <a:latin typeface="Georgia" pitchFamily="34" charset="0"/>
                <a:ea typeface="Georgia" pitchFamily="34" charset="-122"/>
                <a:cs typeface="Georgia" pitchFamily="34" charset="-120"/>
              </a:rPr>
              <a:t>Twilio</a:t>
            </a:r>
            <a:endParaRPr lang="en-US" sz="2200" dirty="0"/>
          </a:p>
        </p:txBody>
      </p:sp>
      <p:sp>
        <p:nvSpPr>
          <p:cNvPr id="14" name="Pill 8"/>
          <p:cNvSpPr/>
          <p:nvPr/>
        </p:nvSpPr>
        <p:spPr>
          <a:xfrm>
            <a:off x="2926080" y="3474720"/>
            <a:ext cx="2377440" cy="329184"/>
          </a:xfrm>
          <a:prstGeom prst="roundRect">
            <a:avLst>
              <a:gd name="adj" fmla="val 50000"/>
            </a:avLst>
          </a:prstGeom>
          <a:solidFill>
            <a:srgbClr val="93A87B"/>
          </a:solidFill>
          <a:ln/>
        </p:spPr>
        <p:txBody>
          <a:bodyPr wrap="square" lIns="0" tIns="0" rIns="0" bIns="0" rtlCol="0" anchor="ctr"/>
          <a:lstStyle/>
          <a:p>
            <a:pPr algn="ctr" indent="0" marL="0">
              <a:buNone/>
            </a:pPr>
            <a:r>
              <a:rPr lang="en-US" sz="1100" b="1" dirty="0">
                <a:solidFill>
                  <a:srgbClr val="16261D"/>
                </a:solidFill>
              </a:rPr>
              <a:t>Hybrid</a:t>
            </a:r>
            <a:endParaRPr lang="en-US" sz="1100" dirty="0"/>
          </a:p>
        </p:txBody>
      </p:sp>
      <p:sp>
        <p:nvSpPr>
          <p:cNvPr id="15" name="Text 9"/>
          <p:cNvSpPr txBox="1"/>
          <p:nvPr/>
        </p:nvSpPr>
        <p:spPr>
          <a:xfrm>
            <a:off x="2926080" y="3895344"/>
            <a:ext cx="5212080" cy="685800"/>
          </a:xfrm>
          <a:prstGeom prst="rect">
            <a:avLst/>
          </a:prstGeom>
          <a:noFill/>
          <a:ln/>
        </p:spPr>
        <p:txBody>
          <a:bodyPr wrap="square" lIns="0" tIns="0" rIns="0" bIns="0" rtlCol="0" anchor="t"/>
          <a:lstStyle/>
          <a:p>
            <a:pPr indent="0" marL="0">
              <a:buNone/>
            </a:pPr>
            <a:r>
              <a:rPr lang="en-US" sz="1350" dirty="0">
                <a:solidFill>
                  <a:srgbClr val="F5F7F0"/>
                </a:solidFill>
              </a:rPr>
              <a:t>AE commission is paid on bookings plus account growth in year one, including automated usage expansion.</a:t>
            </a:r>
            <a:endParaRPr lang="en-US" sz="1350" dirty="0"/>
          </a:p>
        </p:txBody>
      </p:sp>
      <p:sp>
        <p:nvSpPr>
          <p:cNvPr id="16" name="Text 10"/>
          <p:cNvSpPr txBox="1"/>
          <p:nvPr/>
        </p:nvSpPr>
        <p:spPr>
          <a:xfrm>
            <a:off x="8503920" y="3410712"/>
            <a:ext cx="3108960" cy="1097280"/>
          </a:xfrm>
          <a:prstGeom prst="rect">
            <a:avLst/>
          </a:prstGeom>
          <a:noFill/>
          <a:ln/>
        </p:spPr>
        <p:txBody>
          <a:bodyPr wrap="square" lIns="0" tIns="0" rIns="0" bIns="0" rtlCol="0" anchor="ctr"/>
          <a:lstStyle/>
          <a:p>
            <a:pPr marL="177800" indent="-177800">
              <a:spcAft>
                <a:spcPts val="200"/>
              </a:spcAft>
              <a:buSzPct val="100000"/>
              <a:buChar char="•"/>
            </a:pPr>
            <a:r>
              <a:rPr lang="en-US" sz="1350" dirty="0">
                <a:solidFill>
                  <a:srgbClr val="C9D3C0"/>
                </a:solidFill>
              </a:rPr>
              <a:t>API call volume</a:t>
            </a:r>
            <a:endParaRPr lang="en-US" sz="1350" dirty="0"/>
          </a:p>
          <a:p>
            <a:pPr marL="177800" indent="-177800">
              <a:spcAft>
                <a:spcPts val="200"/>
              </a:spcAft>
              <a:buSzPct val="100000"/>
              <a:buChar char="•"/>
            </a:pPr>
            <a:r>
              <a:rPr lang="en-US" sz="1350" dirty="0">
                <a:solidFill>
                  <a:srgbClr val="C9D3C0"/>
                </a:solidFill>
              </a:rPr>
              <a:t>Transaction growth</a:t>
            </a:r>
            <a:endParaRPr lang="en-US" sz="1350" dirty="0"/>
          </a:p>
        </p:txBody>
      </p:sp>
      <p:sp>
        <p:nvSpPr>
          <p:cNvPr id="17" name="Snowflake 11"/>
          <p:cNvSpPr/>
          <p:nvPr/>
        </p:nvSpPr>
        <p:spPr>
          <a:xfrm>
            <a:off x="365760" y="4809744"/>
            <a:ext cx="11457432" cy="1371600"/>
          </a:xfrm>
          <a:prstGeom prst="roundRect">
            <a:avLst>
              <a:gd name="adj" fmla="val 8000"/>
            </a:avLst>
          </a:prstGeom>
          <a:solidFill>
            <a:srgbClr val="1F3529">
              <a:alpha val="90000"/>
            </a:srgbClr>
          </a:solidFill>
          <a:ln w="12700">
            <a:solidFill>
              <a:srgbClr val="93A87B">
                <a:alpha val="30000"/>
              </a:srgbClr>
            </a:solidFill>
            <a:prstDash val="solid"/>
          </a:ln>
          <a:effectLst>
            <a:outerShdw sx="100000" sy="100000" kx="0" ky="0" algn="bl" rotWithShape="0" blurRad="228600" dist="50800" dir="5400000">
              <a:srgbClr val="16261D">
                <a:alpha val="30000"/>
              </a:srgbClr>
            </a:outerShdw>
          </a:effectLst>
        </p:spPr>
      </p:sp>
      <p:sp>
        <p:nvSpPr>
          <p:cNvPr id="18" name="Company Snowflake"/>
          <p:cNvSpPr/>
          <p:nvPr/>
        </p:nvSpPr>
        <p:spPr>
          <a:xfrm>
            <a:off x="548640" y="4992624"/>
            <a:ext cx="2103120" cy="1005840"/>
          </a:xfrm>
          <a:prstGeom prst="roundRect">
            <a:avLst>
              <a:gd name="adj" fmla="val 9091"/>
            </a:avLst>
          </a:prstGeom>
          <a:solidFill>
            <a:srgbClr val="F5F7F0"/>
          </a:solidFill>
          <a:ln/>
        </p:spPr>
        <p:txBody>
          <a:bodyPr wrap="square" lIns="0" tIns="0" rIns="0" bIns="0" rtlCol="0" anchor="ctr"/>
          <a:lstStyle/>
          <a:p>
            <a:pPr algn="ctr" indent="0" marL="0">
              <a:buNone/>
            </a:pPr>
            <a:r>
              <a:rPr lang="en-US" sz="2200" dirty="0">
                <a:solidFill>
                  <a:srgbClr val="16261D"/>
                </a:solidFill>
                <a:latin typeface="Georgia" pitchFamily="34" charset="0"/>
                <a:ea typeface="Georgia" pitchFamily="34" charset="-122"/>
                <a:cs typeface="Georgia" pitchFamily="34" charset="-120"/>
              </a:rPr>
              <a:t>Snowflake</a:t>
            </a:r>
            <a:endParaRPr lang="en-US" sz="2200" dirty="0"/>
          </a:p>
        </p:txBody>
      </p:sp>
      <p:sp>
        <p:nvSpPr>
          <p:cNvPr id="19" name="Pill 12"/>
          <p:cNvSpPr/>
          <p:nvPr/>
        </p:nvSpPr>
        <p:spPr>
          <a:xfrm>
            <a:off x="2926080" y="5010912"/>
            <a:ext cx="2377440" cy="329184"/>
          </a:xfrm>
          <a:prstGeom prst="roundRect">
            <a:avLst>
              <a:gd name="adj" fmla="val 50000"/>
            </a:avLst>
          </a:prstGeom>
          <a:solidFill>
            <a:srgbClr val="93A87B"/>
          </a:solidFill>
          <a:ln/>
        </p:spPr>
        <p:txBody>
          <a:bodyPr wrap="square" lIns="0" tIns="0" rIns="0" bIns="0" rtlCol="0" anchor="ctr"/>
          <a:lstStyle/>
          <a:p>
            <a:pPr algn="ctr" indent="0" marL="0">
              <a:buNone/>
            </a:pPr>
            <a:r>
              <a:rPr lang="en-US" sz="1100" b="1" dirty="0">
                <a:solidFill>
                  <a:srgbClr val="16261D"/>
                </a:solidFill>
              </a:rPr>
              <a:t>Mix</a:t>
            </a:r>
            <a:endParaRPr lang="en-US" sz="1100" dirty="0"/>
          </a:p>
        </p:txBody>
      </p:sp>
      <p:sp>
        <p:nvSpPr>
          <p:cNvPr id="20" name="Text 13"/>
          <p:cNvSpPr txBox="1"/>
          <p:nvPr/>
        </p:nvSpPr>
        <p:spPr>
          <a:xfrm>
            <a:off x="2926080" y="5431536"/>
            <a:ext cx="5212080" cy="685800"/>
          </a:xfrm>
          <a:prstGeom prst="rect">
            <a:avLst/>
          </a:prstGeom>
          <a:noFill/>
          <a:ln/>
        </p:spPr>
        <p:txBody>
          <a:bodyPr wrap="square" lIns="0" tIns="0" rIns="0" bIns="0" rtlCol="0" anchor="t"/>
          <a:lstStyle/>
          <a:p>
            <a:pPr indent="0" marL="0">
              <a:buNone/>
            </a:pPr>
            <a:r>
              <a:rPr lang="en-US" sz="1350" dirty="0">
                <a:solidFill>
                  <a:srgbClr val="F5F7F0"/>
                </a:solidFill>
              </a:rPr>
              <a:t>Quota depends on territory maturity: reps in mature territories are paid mainly on consumption, reps in greenfield territories mainly on bookings.</a:t>
            </a:r>
            <a:endParaRPr lang="en-US" sz="1350" dirty="0"/>
          </a:p>
        </p:txBody>
      </p:sp>
      <p:sp>
        <p:nvSpPr>
          <p:cNvPr id="21" name="Text 14"/>
          <p:cNvSpPr txBox="1"/>
          <p:nvPr/>
        </p:nvSpPr>
        <p:spPr>
          <a:xfrm>
            <a:off x="8503920" y="4946904"/>
            <a:ext cx="3108960" cy="1097280"/>
          </a:xfrm>
          <a:prstGeom prst="rect">
            <a:avLst/>
          </a:prstGeom>
          <a:noFill/>
          <a:ln/>
        </p:spPr>
        <p:txBody>
          <a:bodyPr wrap="square" lIns="0" tIns="0" rIns="0" bIns="0" rtlCol="0" anchor="ctr"/>
          <a:lstStyle/>
          <a:p>
            <a:pPr marL="177800" indent="-177800">
              <a:spcAft>
                <a:spcPts val="200"/>
              </a:spcAft>
              <a:buSzPct val="100000"/>
              <a:buChar char="•"/>
            </a:pPr>
            <a:r>
              <a:rPr lang="en-US" sz="1350" dirty="0">
                <a:solidFill>
                  <a:srgbClr val="C9D3C0"/>
                </a:solidFill>
              </a:rPr>
              <a:t>Compute credits</a:t>
            </a:r>
            <a:endParaRPr lang="en-US" sz="1350" dirty="0"/>
          </a:p>
          <a:p>
            <a:pPr marL="177800" indent="-177800">
              <a:spcAft>
                <a:spcPts val="200"/>
              </a:spcAft>
              <a:buSzPct val="100000"/>
              <a:buChar char="•"/>
            </a:pPr>
            <a:r>
              <a:rPr lang="en-US" sz="1350" dirty="0">
                <a:solidFill>
                  <a:srgbClr val="C9D3C0"/>
                </a:solidFill>
              </a:rPr>
              <a:t>Storage</a:t>
            </a:r>
            <a:endParaRPr lang="en-US" sz="1350" dirty="0"/>
          </a:p>
          <a:p>
            <a:pPr marL="177800" indent="-177800">
              <a:spcAft>
                <a:spcPts val="200"/>
              </a:spcAft>
              <a:buSzPct val="100000"/>
              <a:buChar char="•"/>
            </a:pPr>
            <a:r>
              <a:rPr lang="en-US" sz="1350" dirty="0">
                <a:solidFill>
                  <a:srgbClr val="C9D3C0"/>
                </a:solidFill>
              </a:rPr>
              <a:t>Data transfer</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CONSUMPTION MODELS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Key consumption metrics to track</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Sources: M3ter, OpenView, Chargebee, Snowflake, High Alpha, Userpilot, Ordway, SBI Growth, via Hg Growth Summit 2025</a:t>
            </a:r>
            <a:endParaRPr lang="en-US" sz="1000" dirty="0"/>
          </a:p>
        </p:txBody>
      </p:sp>
      <p:sp>
        <p:nvSpPr>
          <p:cNvPr id="5" name="NRR 15"/>
          <p:cNvSpPr/>
          <p:nvPr/>
        </p:nvSpPr>
        <p:spPr>
          <a:xfrm>
            <a:off x="365760" y="1371600"/>
            <a:ext cx="3666744" cy="2286000"/>
          </a:xfrm>
          <a:prstGeom prst="roundRect">
            <a:avLst>
              <a:gd name="adj" fmla="val 4800"/>
            </a:avLst>
          </a:prstGeom>
          <a:solidFill>
            <a:srgbClr val="16261D"/>
          </a:solidFill>
          <a:ln/>
          <a:effectLst>
            <a:outerShdw sx="100000" sy="100000" kx="0" ky="0" algn="bl" rotWithShape="0" blurRad="177800" dist="50800" dir="5400000">
              <a:srgbClr val="16261D">
                <a:alpha val="14000"/>
              </a:srgbClr>
            </a:outerShdw>
          </a:effectLst>
        </p:spPr>
      </p:sp>
      <p:sp>
        <p:nvSpPr>
          <p:cNvPr id="6" name="Text 16"/>
          <p:cNvSpPr txBox="1"/>
          <p:nvPr/>
        </p:nvSpPr>
        <p:spPr>
          <a:xfrm>
            <a:off x="640080" y="1600200"/>
            <a:ext cx="3118104" cy="411480"/>
          </a:xfrm>
          <a:prstGeom prst="rect">
            <a:avLst/>
          </a:prstGeom>
          <a:noFill/>
          <a:ln/>
        </p:spPr>
        <p:txBody>
          <a:bodyPr wrap="square" lIns="0" tIns="0" rIns="0" bIns="0" rtlCol="0" anchor="t"/>
          <a:lstStyle/>
          <a:p>
            <a:pPr indent="0" marL="0">
              <a:buNone/>
            </a:pPr>
            <a:r>
              <a:rPr lang="en-US" sz="1900" b="1" dirty="0">
                <a:solidFill>
                  <a:srgbClr val="F5F7F0"/>
                </a:solidFill>
              </a:rPr>
              <a:t>NRR</a:t>
            </a:r>
            <a:endParaRPr lang="en-US" sz="1900" dirty="0"/>
          </a:p>
        </p:txBody>
      </p:sp>
      <p:sp>
        <p:nvSpPr>
          <p:cNvPr id="7" name="Text 17"/>
          <p:cNvSpPr txBox="1"/>
          <p:nvPr/>
        </p:nvSpPr>
        <p:spPr>
          <a:xfrm>
            <a:off x="640080" y="2084832"/>
            <a:ext cx="3118104" cy="868680"/>
          </a:xfrm>
          <a:prstGeom prst="rect">
            <a:avLst/>
          </a:prstGeom>
          <a:noFill/>
          <a:ln/>
        </p:spPr>
        <p:txBody>
          <a:bodyPr wrap="square" lIns="0" tIns="0" rIns="0" bIns="0" rtlCol="0" anchor="t"/>
          <a:lstStyle/>
          <a:p>
            <a:pPr indent="0" marL="0">
              <a:buNone/>
            </a:pPr>
            <a:r>
              <a:rPr lang="en-US" sz="1300" dirty="0">
                <a:solidFill>
                  <a:srgbClr val="C9D3C0"/>
                </a:solidFill>
              </a:rPr>
              <a:t>The new North Star: how much existing customers are growing their usage.</a:t>
            </a:r>
            <a:endParaRPr lang="en-US" sz="1300" dirty="0"/>
          </a:p>
        </p:txBody>
      </p:sp>
      <p:sp>
        <p:nvSpPr>
          <p:cNvPr id="8" name="Pill 18"/>
          <p:cNvSpPr/>
          <p:nvPr/>
        </p:nvSpPr>
        <p:spPr>
          <a:xfrm>
            <a:off x="640080" y="3035808"/>
            <a:ext cx="3118104" cy="384048"/>
          </a:xfrm>
          <a:prstGeom prst="roundRect">
            <a:avLst>
              <a:gd name="adj" fmla="val 50000"/>
            </a:avLst>
          </a:prstGeom>
          <a:solidFill>
            <a:srgbClr val="93A87B"/>
          </a:solidFill>
          <a:ln/>
        </p:spPr>
        <p:txBody>
          <a:bodyPr wrap="square" lIns="0" tIns="0" rIns="0" bIns="0" rtlCol="0" anchor="ctr"/>
          <a:lstStyle/>
          <a:p>
            <a:pPr algn="ctr" indent="0" marL="0">
              <a:buNone/>
            </a:pPr>
            <a:r>
              <a:rPr lang="en-US" sz="1200" b="1" dirty="0">
                <a:solidFill>
                  <a:srgbClr val="16261D"/>
                </a:solidFill>
              </a:rPr>
              <a:t>Target 120%+</a:t>
            </a:r>
            <a:endParaRPr lang="en-US" sz="1200" dirty="0"/>
          </a:p>
        </p:txBody>
      </p:sp>
      <p:sp>
        <p:nvSpPr>
          <p:cNvPr id="9" name="Breakage 19"/>
          <p:cNvSpPr/>
          <p:nvPr/>
        </p:nvSpPr>
        <p:spPr>
          <a:xfrm>
            <a:off x="4261104" y="137160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10" name="Text 20"/>
          <p:cNvSpPr txBox="1"/>
          <p:nvPr/>
        </p:nvSpPr>
        <p:spPr>
          <a:xfrm>
            <a:off x="4535424" y="1600200"/>
            <a:ext cx="3118104" cy="411480"/>
          </a:xfrm>
          <a:prstGeom prst="rect">
            <a:avLst/>
          </a:prstGeom>
          <a:noFill/>
          <a:ln/>
        </p:spPr>
        <p:txBody>
          <a:bodyPr wrap="square" lIns="0" tIns="0" rIns="0" bIns="0" rtlCol="0" anchor="t"/>
          <a:lstStyle/>
          <a:p>
            <a:pPr indent="0" marL="0">
              <a:buNone/>
            </a:pPr>
            <a:r>
              <a:rPr lang="en-US" sz="1900" b="1" dirty="0">
                <a:solidFill>
                  <a:srgbClr val="20241F"/>
                </a:solidFill>
              </a:rPr>
              <a:t>Breakage</a:t>
            </a:r>
            <a:endParaRPr lang="en-US" sz="1900" dirty="0"/>
          </a:p>
        </p:txBody>
      </p:sp>
      <p:sp>
        <p:nvSpPr>
          <p:cNvPr id="11" name="Text 21"/>
          <p:cNvSpPr txBox="1"/>
          <p:nvPr/>
        </p:nvSpPr>
        <p:spPr>
          <a:xfrm>
            <a:off x="4535424" y="2084832"/>
            <a:ext cx="3118104" cy="868680"/>
          </a:xfrm>
          <a:prstGeom prst="rect">
            <a:avLst/>
          </a:prstGeom>
          <a:noFill/>
          <a:ln/>
        </p:spPr>
        <p:txBody>
          <a:bodyPr wrap="square" lIns="0" tIns="0" rIns="0" bIns="0" rtlCol="0" anchor="t"/>
          <a:lstStyle/>
          <a:p>
            <a:pPr indent="0" marL="0">
              <a:buNone/>
            </a:pPr>
            <a:r>
              <a:rPr lang="en-US" sz="1300" dirty="0">
                <a:solidFill>
                  <a:srgbClr val="56604E"/>
                </a:solidFill>
              </a:rPr>
              <a:t>Actual usage against committed usage, in a minimum-commit or drawdown model.</a:t>
            </a:r>
            <a:endParaRPr lang="en-US" sz="1300" dirty="0"/>
          </a:p>
        </p:txBody>
      </p:sp>
      <p:sp>
        <p:nvSpPr>
          <p:cNvPr id="12" name="Pill 22"/>
          <p:cNvSpPr/>
          <p:nvPr/>
        </p:nvSpPr>
        <p:spPr>
          <a:xfrm>
            <a:off x="4535424" y="3035808"/>
            <a:ext cx="3118104" cy="384048"/>
          </a:xfrm>
          <a:prstGeom prst="roundRect">
            <a:avLst>
              <a:gd name="adj" fmla="val 50000"/>
            </a:avLst>
          </a:prstGeom>
          <a:solidFill>
            <a:srgbClr val="F5F7F0"/>
          </a:solidFill>
          <a:ln w="12700">
            <a:solidFill>
              <a:srgbClr val="D2D8CD"/>
            </a:solidFill>
          </a:ln>
        </p:spPr>
        <p:txBody>
          <a:bodyPr wrap="square" lIns="0" tIns="0" rIns="0" bIns="0" rtlCol="0" anchor="ctr"/>
          <a:lstStyle/>
          <a:p>
            <a:pPr algn="ctr" indent="0" marL="0">
              <a:buNone/>
            </a:pPr>
            <a:r>
              <a:rPr lang="en-US" sz="1200" b="1" dirty="0">
                <a:solidFill>
                  <a:srgbClr val="16261D"/>
                </a:solidFill>
              </a:rPr>
              <a:t>Target 80–90%</a:t>
            </a:r>
            <a:endParaRPr lang="en-US" sz="1200" dirty="0"/>
          </a:p>
        </p:txBody>
      </p:sp>
      <p:sp>
        <p:nvSpPr>
          <p:cNvPr id="13" name="Ramp time 23"/>
          <p:cNvSpPr/>
          <p:nvPr/>
        </p:nvSpPr>
        <p:spPr>
          <a:xfrm>
            <a:off x="8156448" y="1371600"/>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14" name="Text 24"/>
          <p:cNvSpPr txBox="1"/>
          <p:nvPr/>
        </p:nvSpPr>
        <p:spPr>
          <a:xfrm>
            <a:off x="8430768" y="1600200"/>
            <a:ext cx="3118104" cy="411480"/>
          </a:xfrm>
          <a:prstGeom prst="rect">
            <a:avLst/>
          </a:prstGeom>
          <a:noFill/>
          <a:ln/>
        </p:spPr>
        <p:txBody>
          <a:bodyPr wrap="square" lIns="0" tIns="0" rIns="0" bIns="0" rtlCol="0" anchor="t"/>
          <a:lstStyle/>
          <a:p>
            <a:pPr indent="0" marL="0">
              <a:buNone/>
            </a:pPr>
            <a:r>
              <a:rPr lang="en-US" sz="1900" b="1" dirty="0">
                <a:solidFill>
                  <a:srgbClr val="20241F"/>
                </a:solidFill>
              </a:rPr>
              <a:t>Ramp time</a:t>
            </a:r>
            <a:endParaRPr lang="en-US" sz="1900" dirty="0"/>
          </a:p>
        </p:txBody>
      </p:sp>
      <p:sp>
        <p:nvSpPr>
          <p:cNvPr id="15" name="Text 25"/>
          <p:cNvSpPr txBox="1"/>
          <p:nvPr/>
        </p:nvSpPr>
        <p:spPr>
          <a:xfrm>
            <a:off x="8430768" y="2084832"/>
            <a:ext cx="3118104" cy="868680"/>
          </a:xfrm>
          <a:prstGeom prst="rect">
            <a:avLst/>
          </a:prstGeom>
          <a:noFill/>
          <a:ln/>
        </p:spPr>
        <p:txBody>
          <a:bodyPr wrap="square" lIns="0" tIns="0" rIns="0" bIns="0" rtlCol="0" anchor="t"/>
          <a:lstStyle/>
          <a:p>
            <a:pPr indent="0" marL="0">
              <a:buNone/>
            </a:pPr>
            <a:r>
              <a:rPr lang="en-US" sz="1300" dirty="0">
                <a:solidFill>
                  <a:srgbClr val="56604E"/>
                </a:solidFill>
              </a:rPr>
              <a:t>Time taken for customers to reach mature usage.</a:t>
            </a:r>
            <a:endParaRPr lang="en-US" sz="1300" dirty="0"/>
          </a:p>
        </p:txBody>
      </p:sp>
      <p:sp>
        <p:nvSpPr>
          <p:cNvPr id="16" name="Pill 26"/>
          <p:cNvSpPr/>
          <p:nvPr/>
        </p:nvSpPr>
        <p:spPr>
          <a:xfrm>
            <a:off x="8430768" y="3035808"/>
            <a:ext cx="3118104" cy="384048"/>
          </a:xfrm>
          <a:prstGeom prst="roundRect">
            <a:avLst>
              <a:gd name="adj" fmla="val 50000"/>
            </a:avLst>
          </a:prstGeom>
          <a:solidFill>
            <a:srgbClr val="F5F7F0"/>
          </a:solidFill>
          <a:ln w="12700">
            <a:solidFill>
              <a:srgbClr val="D2D8CD"/>
            </a:solidFill>
          </a:ln>
        </p:spPr>
        <p:txBody>
          <a:bodyPr wrap="square" lIns="0" tIns="0" rIns="0" bIns="0" rtlCol="0" anchor="ctr"/>
          <a:lstStyle/>
          <a:p>
            <a:pPr algn="ctr" indent="0" marL="0">
              <a:buNone/>
            </a:pPr>
            <a:r>
              <a:rPr lang="en-US" sz="1200" b="1" dirty="0">
                <a:solidFill>
                  <a:srgbClr val="16261D"/>
                </a:solidFill>
              </a:rPr>
              <a:t>Track by cohort</a:t>
            </a:r>
            <a:endParaRPr lang="en-US" sz="1200" dirty="0"/>
          </a:p>
        </p:txBody>
      </p:sp>
      <p:sp>
        <p:nvSpPr>
          <p:cNvPr id="17" name="Adoption depth 27"/>
          <p:cNvSpPr/>
          <p:nvPr/>
        </p:nvSpPr>
        <p:spPr>
          <a:xfrm>
            <a:off x="365760" y="3858768"/>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18" name="Text 28"/>
          <p:cNvSpPr txBox="1"/>
          <p:nvPr/>
        </p:nvSpPr>
        <p:spPr>
          <a:xfrm>
            <a:off x="640080" y="4087368"/>
            <a:ext cx="3118104" cy="411480"/>
          </a:xfrm>
          <a:prstGeom prst="rect">
            <a:avLst/>
          </a:prstGeom>
          <a:noFill/>
          <a:ln/>
        </p:spPr>
        <p:txBody>
          <a:bodyPr wrap="square" lIns="0" tIns="0" rIns="0" bIns="0" rtlCol="0" anchor="t"/>
          <a:lstStyle/>
          <a:p>
            <a:pPr indent="0" marL="0">
              <a:buNone/>
            </a:pPr>
            <a:r>
              <a:rPr lang="en-US" sz="1900" b="1" dirty="0">
                <a:solidFill>
                  <a:srgbClr val="20241F"/>
                </a:solidFill>
              </a:rPr>
              <a:t>Adoption depth</a:t>
            </a:r>
            <a:endParaRPr lang="en-US" sz="1900" dirty="0"/>
          </a:p>
        </p:txBody>
      </p:sp>
      <p:sp>
        <p:nvSpPr>
          <p:cNvPr id="19" name="Text 29"/>
          <p:cNvSpPr txBox="1"/>
          <p:nvPr/>
        </p:nvSpPr>
        <p:spPr>
          <a:xfrm>
            <a:off x="640080" y="4572000"/>
            <a:ext cx="3118104" cy="868680"/>
          </a:xfrm>
          <a:prstGeom prst="rect">
            <a:avLst/>
          </a:prstGeom>
          <a:noFill/>
          <a:ln/>
        </p:spPr>
        <p:txBody>
          <a:bodyPr wrap="square" lIns="0" tIns="0" rIns="0" bIns="0" rtlCol="0" anchor="t"/>
          <a:lstStyle/>
          <a:p>
            <a:pPr indent="0" marL="0">
              <a:buNone/>
            </a:pPr>
            <a:r>
              <a:rPr lang="en-US" sz="1300" dirty="0">
                <a:solidFill>
                  <a:srgbClr val="56604E"/>
                </a:solidFill>
              </a:rPr>
              <a:t>Percentage of customers using specific features.</a:t>
            </a:r>
            <a:endParaRPr lang="en-US" sz="1300" dirty="0"/>
          </a:p>
        </p:txBody>
      </p:sp>
      <p:sp>
        <p:nvSpPr>
          <p:cNvPr id="20" name="Pill 30"/>
          <p:cNvSpPr/>
          <p:nvPr/>
        </p:nvSpPr>
        <p:spPr>
          <a:xfrm>
            <a:off x="640080" y="5522976"/>
            <a:ext cx="3118104" cy="384048"/>
          </a:xfrm>
          <a:prstGeom prst="roundRect">
            <a:avLst>
              <a:gd name="adj" fmla="val 50000"/>
            </a:avLst>
          </a:prstGeom>
          <a:solidFill>
            <a:srgbClr val="F5F7F0"/>
          </a:solidFill>
          <a:ln w="12700">
            <a:solidFill>
              <a:srgbClr val="D2D8CD"/>
            </a:solidFill>
          </a:ln>
        </p:spPr>
        <p:txBody>
          <a:bodyPr wrap="square" lIns="0" tIns="0" rIns="0" bIns="0" rtlCol="0" anchor="ctr"/>
          <a:lstStyle/>
          <a:p>
            <a:pPr algn="ctr" indent="0" marL="0">
              <a:buNone/>
            </a:pPr>
            <a:r>
              <a:rPr lang="en-US" sz="1200" b="1" dirty="0">
                <a:solidFill>
                  <a:srgbClr val="16261D"/>
                </a:solidFill>
              </a:rPr>
              <a:t>Target 40%+ on core features</a:t>
            </a:r>
            <a:endParaRPr lang="en-US" sz="1200" dirty="0"/>
          </a:p>
        </p:txBody>
      </p:sp>
      <p:sp>
        <p:nvSpPr>
          <p:cNvPr id="21" name="Time to first value 31"/>
          <p:cNvSpPr/>
          <p:nvPr/>
        </p:nvSpPr>
        <p:spPr>
          <a:xfrm>
            <a:off x="4261104" y="3858768"/>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22" name="Text 32"/>
          <p:cNvSpPr txBox="1"/>
          <p:nvPr/>
        </p:nvSpPr>
        <p:spPr>
          <a:xfrm>
            <a:off x="4535424" y="4087368"/>
            <a:ext cx="3118104" cy="411480"/>
          </a:xfrm>
          <a:prstGeom prst="rect">
            <a:avLst/>
          </a:prstGeom>
          <a:noFill/>
          <a:ln/>
        </p:spPr>
        <p:txBody>
          <a:bodyPr wrap="square" lIns="0" tIns="0" rIns="0" bIns="0" rtlCol="0" anchor="t"/>
          <a:lstStyle/>
          <a:p>
            <a:pPr indent="0" marL="0">
              <a:buNone/>
            </a:pPr>
            <a:r>
              <a:rPr lang="en-US" sz="1900" b="1" dirty="0">
                <a:solidFill>
                  <a:srgbClr val="20241F"/>
                </a:solidFill>
              </a:rPr>
              <a:t>Time to first value</a:t>
            </a:r>
            <a:endParaRPr lang="en-US" sz="1900" dirty="0"/>
          </a:p>
        </p:txBody>
      </p:sp>
      <p:sp>
        <p:nvSpPr>
          <p:cNvPr id="23" name="Text 33"/>
          <p:cNvSpPr txBox="1"/>
          <p:nvPr/>
        </p:nvSpPr>
        <p:spPr>
          <a:xfrm>
            <a:off x="4535424" y="4572000"/>
            <a:ext cx="3118104" cy="868680"/>
          </a:xfrm>
          <a:prstGeom prst="rect">
            <a:avLst/>
          </a:prstGeom>
          <a:noFill/>
          <a:ln/>
        </p:spPr>
        <p:txBody>
          <a:bodyPr wrap="square" lIns="0" tIns="0" rIns="0" bIns="0" rtlCol="0" anchor="t"/>
          <a:lstStyle/>
          <a:p>
            <a:pPr indent="0" marL="0">
              <a:buNone/>
            </a:pPr>
            <a:r>
              <a:rPr lang="en-US" sz="1300" dirty="0">
                <a:solidFill>
                  <a:srgbClr val="56604E"/>
                </a:solidFill>
              </a:rPr>
              <a:t>How quickly customers start using the product in a way that delivers value.</a:t>
            </a:r>
            <a:endParaRPr lang="en-US" sz="1300" dirty="0"/>
          </a:p>
        </p:txBody>
      </p:sp>
      <p:sp>
        <p:nvSpPr>
          <p:cNvPr id="24" name="Pill 34"/>
          <p:cNvSpPr/>
          <p:nvPr/>
        </p:nvSpPr>
        <p:spPr>
          <a:xfrm>
            <a:off x="4535424" y="5522976"/>
            <a:ext cx="3118104" cy="384048"/>
          </a:xfrm>
          <a:prstGeom prst="roundRect">
            <a:avLst>
              <a:gd name="adj" fmla="val 50000"/>
            </a:avLst>
          </a:prstGeom>
          <a:solidFill>
            <a:srgbClr val="F5F7F0"/>
          </a:solidFill>
          <a:ln w="12700">
            <a:solidFill>
              <a:srgbClr val="D2D8CD"/>
            </a:solidFill>
          </a:ln>
        </p:spPr>
        <p:txBody>
          <a:bodyPr wrap="square" lIns="0" tIns="0" rIns="0" bIns="0" rtlCol="0" anchor="ctr"/>
          <a:lstStyle/>
          <a:p>
            <a:pPr algn="ctr" indent="0" marL="0">
              <a:buNone/>
            </a:pPr>
            <a:r>
              <a:rPr lang="en-US" sz="1200" b="1" dirty="0">
                <a:solidFill>
                  <a:srgbClr val="16261D"/>
                </a:solidFill>
              </a:rPr>
              <a:t>Faster is better</a:t>
            </a:r>
            <a:endParaRPr lang="en-US" sz="1200" dirty="0"/>
          </a:p>
        </p:txBody>
      </p:sp>
      <p:sp>
        <p:nvSpPr>
          <p:cNvPr id="25" name="Usage growth rate 35"/>
          <p:cNvSpPr/>
          <p:nvPr/>
        </p:nvSpPr>
        <p:spPr>
          <a:xfrm>
            <a:off x="8156448" y="3858768"/>
            <a:ext cx="3666744" cy="2286000"/>
          </a:xfrm>
          <a:prstGeom prst="roundRect">
            <a:avLst>
              <a:gd name="adj" fmla="val 4800"/>
            </a:avLst>
          </a:prstGeom>
          <a:solidFill>
            <a:srgbClr val="FFFFFF"/>
          </a:solidFill>
          <a:ln/>
          <a:effectLst>
            <a:outerShdw sx="100000" sy="100000" kx="0" ky="0" algn="bl" rotWithShape="0" blurRad="177800" dist="50800" dir="5400000">
              <a:srgbClr val="16261D">
                <a:alpha val="14000"/>
              </a:srgbClr>
            </a:outerShdw>
          </a:effectLst>
        </p:spPr>
      </p:sp>
      <p:sp>
        <p:nvSpPr>
          <p:cNvPr id="26" name="Text 36"/>
          <p:cNvSpPr txBox="1"/>
          <p:nvPr/>
        </p:nvSpPr>
        <p:spPr>
          <a:xfrm>
            <a:off x="8430768" y="4087368"/>
            <a:ext cx="3118104" cy="411480"/>
          </a:xfrm>
          <a:prstGeom prst="rect">
            <a:avLst/>
          </a:prstGeom>
          <a:noFill/>
          <a:ln/>
        </p:spPr>
        <p:txBody>
          <a:bodyPr wrap="square" lIns="0" tIns="0" rIns="0" bIns="0" rtlCol="0" anchor="t"/>
          <a:lstStyle/>
          <a:p>
            <a:pPr indent="0" marL="0">
              <a:buNone/>
            </a:pPr>
            <a:r>
              <a:rPr lang="en-US" sz="1900" b="1" dirty="0">
                <a:solidFill>
                  <a:srgbClr val="20241F"/>
                </a:solidFill>
              </a:rPr>
              <a:t>Usage growth rate</a:t>
            </a:r>
            <a:endParaRPr lang="en-US" sz="1900" dirty="0"/>
          </a:p>
        </p:txBody>
      </p:sp>
      <p:sp>
        <p:nvSpPr>
          <p:cNvPr id="27" name="Text 37"/>
          <p:cNvSpPr txBox="1"/>
          <p:nvPr/>
        </p:nvSpPr>
        <p:spPr>
          <a:xfrm>
            <a:off x="8430768" y="4572000"/>
            <a:ext cx="3118104" cy="868680"/>
          </a:xfrm>
          <a:prstGeom prst="rect">
            <a:avLst/>
          </a:prstGeom>
          <a:noFill/>
          <a:ln/>
        </p:spPr>
        <p:txBody>
          <a:bodyPr wrap="square" lIns="0" tIns="0" rIns="0" bIns="0" rtlCol="0" anchor="t"/>
          <a:lstStyle/>
          <a:p>
            <a:pPr indent="0" marL="0">
              <a:buNone/>
            </a:pPr>
            <a:r>
              <a:rPr lang="en-US" sz="1300" dirty="0">
                <a:solidFill>
                  <a:srgbClr val="56604E"/>
                </a:solidFill>
              </a:rPr>
              <a:t>Month-on-month or quarter-on-quarter usage growth by customer cohort.</a:t>
            </a:r>
            <a:endParaRPr lang="en-US" sz="1300" dirty="0"/>
          </a:p>
        </p:txBody>
      </p:sp>
      <p:sp>
        <p:nvSpPr>
          <p:cNvPr id="28" name="Pill 38"/>
          <p:cNvSpPr/>
          <p:nvPr/>
        </p:nvSpPr>
        <p:spPr>
          <a:xfrm>
            <a:off x="8430768" y="5522976"/>
            <a:ext cx="3118104" cy="384048"/>
          </a:xfrm>
          <a:prstGeom prst="roundRect">
            <a:avLst>
              <a:gd name="adj" fmla="val 50000"/>
            </a:avLst>
          </a:prstGeom>
          <a:solidFill>
            <a:srgbClr val="F5F7F0"/>
          </a:solidFill>
          <a:ln w="12700">
            <a:solidFill>
              <a:srgbClr val="D2D8CD"/>
            </a:solidFill>
          </a:ln>
        </p:spPr>
        <p:txBody>
          <a:bodyPr wrap="square" lIns="0" tIns="0" rIns="0" bIns="0" rtlCol="0" anchor="ctr"/>
          <a:lstStyle/>
          <a:p>
            <a:pPr algn="ctr" indent="0" marL="0">
              <a:buNone/>
            </a:pPr>
            <a:r>
              <a:rPr lang="en-US" sz="1200" b="1" dirty="0">
                <a:solidFill>
                  <a:srgbClr val="16261D"/>
                </a:solidFill>
              </a:rPr>
              <a:t>Target 3–5%+ a month, mature cohorts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HIRING SELLERS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Screen for disposition and fit</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Key Talents"/>
          <p:cNvSpPr/>
          <p:nvPr/>
        </p:nvSpPr>
        <p:spPr>
          <a:xfrm>
            <a:off x="365760" y="1673352"/>
            <a:ext cx="274320" cy="274320"/>
          </a:xfrm>
          <a:prstGeom prst="ellipse">
            <a:avLst/>
          </a:prstGeom>
          <a:solidFill>
            <a:srgbClr val="1F3529"/>
          </a:solidFill>
          <a:ln/>
        </p:spPr>
      </p:sp>
      <p:sp>
        <p:nvSpPr>
          <p:cNvPr id="6" name="Key text Talents"/>
          <p:cNvSpPr txBox="1"/>
          <p:nvPr/>
        </p:nvSpPr>
        <p:spPr>
          <a:xfrm>
            <a:off x="822960" y="1600200"/>
            <a:ext cx="3566160" cy="1188720"/>
          </a:xfrm>
          <a:prstGeom prst="rect">
            <a:avLst/>
          </a:prstGeom>
          <a:noFill/>
          <a:ln/>
        </p:spPr>
        <p:txBody>
          <a:bodyPr wrap="square" lIns="0" tIns="0" rIns="0" bIns="0" rtlCol="0" anchor="t"/>
          <a:lstStyle/>
          <a:p>
            <a:pPr indent="0" marL="0">
              <a:spcAft>
                <a:spcPts val="400"/>
              </a:spcAft>
              <a:buNone/>
            </a:pPr>
            <a:r>
              <a:rPr lang="en-US" sz="2000" dirty="0">
                <a:solidFill>
                  <a:schemeClr val="tx1"/>
                </a:solidFill>
                <a:latin typeface="Georgia" pitchFamily="34" charset="0"/>
                <a:ea typeface="Georgia" pitchFamily="34" charset="-122"/>
                <a:cs typeface="Georgia" pitchFamily="34" charset="-120"/>
              </a:rPr>
              <a:t>Talents</a:t>
            </a:r>
            <a:endParaRPr lang="en-US" sz="2000" dirty="0"/>
          </a:p>
          <a:p>
            <a:pPr indent="0" marL="0">
              <a:buNone/>
            </a:pPr>
            <a:r>
              <a:rPr lang="en-US" sz="1400" dirty="0">
                <a:solidFill>
                  <a:schemeClr val="accent3"/>
                </a:solidFill>
              </a:rPr>
              <a:t>Disposition: how a seller is wired. Hard to teach, so screen for it when hiring.</a:t>
            </a:r>
            <a:endParaRPr lang="en-US" sz="2000" dirty="0"/>
          </a:p>
        </p:txBody>
      </p:sp>
      <p:sp>
        <p:nvSpPr>
          <p:cNvPr id="7" name="Key Competencies"/>
          <p:cNvSpPr/>
          <p:nvPr/>
        </p:nvSpPr>
        <p:spPr>
          <a:xfrm>
            <a:off x="365760" y="3090672"/>
            <a:ext cx="274320" cy="274320"/>
          </a:xfrm>
          <a:prstGeom prst="ellipse">
            <a:avLst/>
          </a:prstGeom>
          <a:solidFill>
            <a:srgbClr val="56604E"/>
          </a:solidFill>
          <a:ln/>
        </p:spPr>
      </p:sp>
      <p:sp>
        <p:nvSpPr>
          <p:cNvPr id="8" name="Key text Competencies"/>
          <p:cNvSpPr txBox="1"/>
          <p:nvPr/>
        </p:nvSpPr>
        <p:spPr>
          <a:xfrm>
            <a:off x="822960" y="3017520"/>
            <a:ext cx="3566160" cy="1188720"/>
          </a:xfrm>
          <a:prstGeom prst="rect">
            <a:avLst/>
          </a:prstGeom>
          <a:noFill/>
          <a:ln/>
        </p:spPr>
        <p:txBody>
          <a:bodyPr wrap="square" lIns="0" tIns="0" rIns="0" bIns="0" rtlCol="0" anchor="t"/>
          <a:lstStyle/>
          <a:p>
            <a:pPr indent="0" marL="0">
              <a:spcAft>
                <a:spcPts val="400"/>
              </a:spcAft>
              <a:buNone/>
            </a:pPr>
            <a:r>
              <a:rPr lang="en-US" sz="2000" dirty="0">
                <a:solidFill>
                  <a:schemeClr val="tx1"/>
                </a:solidFill>
                <a:latin typeface="Georgia" pitchFamily="34" charset="0"/>
                <a:ea typeface="Georgia" pitchFamily="34" charset="-122"/>
                <a:cs typeface="Georgia" pitchFamily="34" charset="-120"/>
              </a:rPr>
              <a:t>Competencies</a:t>
            </a:r>
            <a:endParaRPr lang="en-US" sz="2000" dirty="0"/>
          </a:p>
          <a:p>
            <a:pPr indent="0" marL="0">
              <a:buNone/>
            </a:pPr>
            <a:r>
              <a:rPr lang="en-US" sz="1400" dirty="0">
                <a:solidFill>
                  <a:schemeClr val="accent3"/>
                </a:solidFill>
              </a:rPr>
              <a:t>What a seller does in the deal. Coachable, so build it once they are in the team.</a:t>
            </a:r>
            <a:endParaRPr lang="en-US" sz="2000" dirty="0"/>
          </a:p>
        </p:txBody>
      </p:sp>
      <p:sp>
        <p:nvSpPr>
          <p:cNvPr id="9" name="Disc rim"/>
          <p:cNvSpPr/>
          <p:nvPr/>
        </p:nvSpPr>
        <p:spPr>
          <a:xfrm>
            <a:off x="5202936" y="1097280"/>
            <a:ext cx="5577840" cy="5577840"/>
          </a:xfrm>
          <a:prstGeom prst="ellipse">
            <a:avLst/>
          </a:prstGeom>
          <a:solidFill>
            <a:srgbClr val="93A87B">
              <a:alpha val="55000"/>
            </a:srgbClr>
          </a:solidFill>
          <a:ln/>
        </p:spPr>
      </p:sp>
      <p:sp>
        <p:nvSpPr>
          <p:cNvPr id="10" name="Disc"/>
          <p:cNvSpPr/>
          <p:nvPr/>
        </p:nvSpPr>
        <p:spPr>
          <a:xfrm>
            <a:off x="5074920" y="914400"/>
            <a:ext cx="5577840" cy="5577840"/>
          </a:xfrm>
          <a:prstGeom prst="ellipse">
            <a:avLst/>
          </a:prstGeom>
          <a:solidFill>
            <a:srgbClr val="FFFFFF"/>
          </a:solidFill>
          <a:ln/>
          <a:effectLst>
            <a:outerShdw sx="100000" sy="100000" kx="0" ky="0" algn="bl" rotWithShape="0" blurRad="355600" dist="76200" dir="5400000">
              <a:srgbClr val="16261D">
                <a:alpha val="22000"/>
              </a:srgbClr>
            </a:outerShdw>
          </a:effectLst>
        </p:spPr>
      </p:sp>
      <p:sp>
        <p:nvSpPr>
          <p:cNvPr id="11" name="Motivation 1"/>
          <p:cNvSpPr/>
          <p:nvPr/>
        </p:nvSpPr>
        <p:spPr>
          <a:xfrm>
            <a:off x="5074920" y="914400"/>
            <a:ext cx="5577840" cy="5577840"/>
          </a:xfrm>
          <a:prstGeom prst="blockArc">
            <a:avLst>
              <a:gd name="adj1" fmla="val 10800000"/>
              <a:gd name="adj2" fmla="val 13500000"/>
              <a:gd name="adj3" fmla="val 23770"/>
            </a:avLst>
          </a:prstGeom>
          <a:solidFill>
            <a:srgbClr val="FFFFFF"/>
          </a:solidFill>
          <a:ln w="12700">
            <a:solidFill>
              <a:srgbClr val="D2D8CD"/>
            </a:solidFill>
            <a:prstDash val="solid"/>
          </a:ln>
        </p:spPr>
      </p:sp>
      <p:sp>
        <p:nvSpPr>
          <p:cNvPr id="12" name="Talent Motivation"/>
          <p:cNvSpPr txBox="1"/>
          <p:nvPr/>
        </p:nvSpPr>
        <p:spPr>
          <a:xfrm>
            <a:off x="5232527" y="2293633"/>
            <a:ext cx="1325880" cy="1188720"/>
          </a:xfrm>
          <a:prstGeom prst="rect">
            <a:avLst/>
          </a:prstGeom>
          <a:noFill/>
          <a:ln/>
        </p:spPr>
        <p:txBody>
          <a:bodyPr wrap="square" lIns="0" tIns="0" rIns="0" bIns="0" rtlCol="0" anchor="ctr"/>
          <a:lstStyle/>
          <a:p>
            <a:pPr indent="0" marL="0">
              <a:buNone/>
            </a:pPr>
            <a:r>
              <a:rPr lang="en-US" sz="1300" b="1" dirty="0">
                <a:solidFill>
                  <a:schemeClr val="tx1"/>
                </a:solidFill>
              </a:rPr>
              <a:t>Motivation</a:t>
            </a:r>
            <a:endParaRPr lang="en-US" sz="1300" dirty="0"/>
          </a:p>
          <a:p>
            <a:pPr indent="0" marL="0">
              <a:spcAft>
                <a:spcPts val="200"/>
              </a:spcAft>
              <a:buNone/>
            </a:pPr>
            <a:r>
              <a:rPr lang="en-US" sz="1000" i="1" dirty="0">
                <a:solidFill>
                  <a:schemeClr val="accent3"/>
                </a:solidFill>
                <a:latin typeface="Figtree" pitchFamily="34" charset="0"/>
                <a:ea typeface="Figtree" pitchFamily="34" charset="-122"/>
                <a:cs typeface="Figtree" pitchFamily="34" charset="-120"/>
              </a:rPr>
              <a:t>Striving</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Ambition</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Confidence</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Competition</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Persistence</a:t>
            </a:r>
            <a:endParaRPr lang="en-US" sz="1300" dirty="0"/>
          </a:p>
        </p:txBody>
      </p:sp>
      <p:sp>
        <p:nvSpPr>
          <p:cNvPr id="13" name="Interaction 2"/>
          <p:cNvSpPr/>
          <p:nvPr/>
        </p:nvSpPr>
        <p:spPr>
          <a:xfrm>
            <a:off x="5074920" y="914400"/>
            <a:ext cx="5577840" cy="5577840"/>
          </a:xfrm>
          <a:prstGeom prst="blockArc">
            <a:avLst>
              <a:gd name="adj1" fmla="val 13500000"/>
              <a:gd name="adj2" fmla="val 16200000"/>
              <a:gd name="adj3" fmla="val 23770"/>
            </a:avLst>
          </a:prstGeom>
          <a:solidFill>
            <a:srgbClr val="FFFFFF"/>
          </a:solidFill>
          <a:ln w="12700">
            <a:solidFill>
              <a:srgbClr val="D2D8CD"/>
            </a:solidFill>
            <a:prstDash val="solid"/>
          </a:ln>
        </p:spPr>
      </p:sp>
      <p:sp>
        <p:nvSpPr>
          <p:cNvPr id="14" name="Talent Interaction"/>
          <p:cNvSpPr txBox="1"/>
          <p:nvPr/>
        </p:nvSpPr>
        <p:spPr>
          <a:xfrm>
            <a:off x="6385573" y="1140587"/>
            <a:ext cx="1325880" cy="1188720"/>
          </a:xfrm>
          <a:prstGeom prst="rect">
            <a:avLst/>
          </a:prstGeom>
          <a:noFill/>
          <a:ln/>
        </p:spPr>
        <p:txBody>
          <a:bodyPr wrap="square" lIns="0" tIns="0" rIns="0" bIns="0" rtlCol="0" anchor="ctr"/>
          <a:lstStyle/>
          <a:p>
            <a:pPr indent="0" marL="0">
              <a:buNone/>
            </a:pPr>
            <a:r>
              <a:rPr lang="en-US" sz="1300" b="1" dirty="0">
                <a:solidFill>
                  <a:schemeClr val="tx1"/>
                </a:solidFill>
              </a:rPr>
              <a:t>Interaction</a:t>
            </a:r>
            <a:endParaRPr lang="en-US" sz="1300" dirty="0"/>
          </a:p>
          <a:p>
            <a:pPr indent="0" marL="0">
              <a:spcAft>
                <a:spcPts val="200"/>
              </a:spcAft>
              <a:buNone/>
            </a:pPr>
            <a:r>
              <a:rPr lang="en-US" sz="1000" i="1" dirty="0">
                <a:solidFill>
                  <a:schemeClr val="accent3"/>
                </a:solidFill>
                <a:latin typeface="Figtree" pitchFamily="34" charset="0"/>
                <a:ea typeface="Figtree" pitchFamily="34" charset="-122"/>
                <a:cs typeface="Figtree" pitchFamily="34" charset="-120"/>
              </a:rPr>
              <a:t>Relating</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Advisor</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Networker</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Individualiser</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Team</a:t>
            </a:r>
            <a:endParaRPr lang="en-US" sz="1300" dirty="0"/>
          </a:p>
        </p:txBody>
      </p:sp>
      <p:sp>
        <p:nvSpPr>
          <p:cNvPr id="15" name="Cognition 3"/>
          <p:cNvSpPr/>
          <p:nvPr/>
        </p:nvSpPr>
        <p:spPr>
          <a:xfrm>
            <a:off x="5074920" y="914400"/>
            <a:ext cx="5577840" cy="5577840"/>
          </a:xfrm>
          <a:prstGeom prst="blockArc">
            <a:avLst>
              <a:gd name="adj1" fmla="val 16200000"/>
              <a:gd name="adj2" fmla="val 18900000"/>
              <a:gd name="adj3" fmla="val 23770"/>
            </a:avLst>
          </a:prstGeom>
          <a:solidFill>
            <a:srgbClr val="FFFFFF"/>
          </a:solidFill>
          <a:ln w="12700">
            <a:solidFill>
              <a:srgbClr val="D2D8CD"/>
            </a:solidFill>
            <a:prstDash val="solid"/>
          </a:ln>
        </p:spPr>
      </p:sp>
      <p:sp>
        <p:nvSpPr>
          <p:cNvPr id="16" name="Talent Cognition"/>
          <p:cNvSpPr txBox="1"/>
          <p:nvPr/>
        </p:nvSpPr>
        <p:spPr>
          <a:xfrm>
            <a:off x="8016227" y="1140587"/>
            <a:ext cx="1325880" cy="1188720"/>
          </a:xfrm>
          <a:prstGeom prst="rect">
            <a:avLst/>
          </a:prstGeom>
          <a:noFill/>
          <a:ln/>
        </p:spPr>
        <p:txBody>
          <a:bodyPr wrap="square" lIns="0" tIns="0" rIns="0" bIns="0" rtlCol="0" anchor="ctr"/>
          <a:lstStyle/>
          <a:p>
            <a:pPr indent="0" marL="0">
              <a:buNone/>
            </a:pPr>
            <a:r>
              <a:rPr lang="en-US" sz="1300" b="1" dirty="0">
                <a:solidFill>
                  <a:schemeClr val="tx1"/>
                </a:solidFill>
              </a:rPr>
              <a:t>Cognition</a:t>
            </a:r>
            <a:endParaRPr lang="en-US" sz="1300" dirty="0"/>
          </a:p>
          <a:p>
            <a:pPr indent="0" marL="0">
              <a:spcAft>
                <a:spcPts val="200"/>
              </a:spcAft>
              <a:buNone/>
            </a:pPr>
            <a:r>
              <a:rPr lang="en-US" sz="1000" i="1" dirty="0">
                <a:solidFill>
                  <a:schemeClr val="accent3"/>
                </a:solidFill>
                <a:latin typeface="Figtree" pitchFamily="34" charset="0"/>
                <a:ea typeface="Figtree" pitchFamily="34" charset="-122"/>
                <a:cs typeface="Figtree" pitchFamily="34" charset="-120"/>
              </a:rPr>
              <a:t>Thinking</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Adaptability</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Analytical</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Learning agility</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Problem solver</a:t>
            </a:r>
            <a:endParaRPr lang="en-US" sz="1300" dirty="0"/>
          </a:p>
        </p:txBody>
      </p:sp>
      <p:sp>
        <p:nvSpPr>
          <p:cNvPr id="17" name="Execution 4"/>
          <p:cNvSpPr/>
          <p:nvPr/>
        </p:nvSpPr>
        <p:spPr>
          <a:xfrm>
            <a:off x="5074920" y="914400"/>
            <a:ext cx="5577840" cy="5577840"/>
          </a:xfrm>
          <a:prstGeom prst="blockArc">
            <a:avLst>
              <a:gd name="adj1" fmla="val 18900000"/>
              <a:gd name="adj2" fmla="val 0"/>
              <a:gd name="adj3" fmla="val 23770"/>
            </a:avLst>
          </a:prstGeom>
          <a:solidFill>
            <a:srgbClr val="FFFFFF"/>
          </a:solidFill>
          <a:ln w="12700">
            <a:solidFill>
              <a:srgbClr val="D2D8CD"/>
            </a:solidFill>
            <a:prstDash val="solid"/>
          </a:ln>
        </p:spPr>
      </p:sp>
      <p:sp>
        <p:nvSpPr>
          <p:cNvPr id="18" name="Talent Execution"/>
          <p:cNvSpPr txBox="1"/>
          <p:nvPr/>
        </p:nvSpPr>
        <p:spPr>
          <a:xfrm>
            <a:off x="9169273" y="2293633"/>
            <a:ext cx="1325880" cy="1188720"/>
          </a:xfrm>
          <a:prstGeom prst="rect">
            <a:avLst/>
          </a:prstGeom>
          <a:noFill/>
          <a:ln/>
        </p:spPr>
        <p:txBody>
          <a:bodyPr wrap="square" lIns="0" tIns="0" rIns="0" bIns="0" rtlCol="0" anchor="ctr"/>
          <a:lstStyle/>
          <a:p>
            <a:pPr indent="0" marL="0">
              <a:buNone/>
            </a:pPr>
            <a:r>
              <a:rPr lang="en-US" sz="1300" b="1" dirty="0">
                <a:solidFill>
                  <a:schemeClr val="tx1"/>
                </a:solidFill>
              </a:rPr>
              <a:t>Execution</a:t>
            </a:r>
            <a:endParaRPr lang="en-US" sz="1300" dirty="0"/>
          </a:p>
          <a:p>
            <a:pPr indent="0" marL="0">
              <a:spcAft>
                <a:spcPts val="200"/>
              </a:spcAft>
              <a:buNone/>
            </a:pPr>
            <a:r>
              <a:rPr lang="en-US" sz="1000" i="1" dirty="0">
                <a:solidFill>
                  <a:schemeClr val="accent3"/>
                </a:solidFill>
                <a:latin typeface="Figtree" pitchFamily="34" charset="0"/>
                <a:ea typeface="Figtree" pitchFamily="34" charset="-122"/>
                <a:cs typeface="Figtree" pitchFamily="34" charset="-120"/>
              </a:rPr>
              <a:t>Doing</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Persuasion</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Focus</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Responsibility</a:t>
            </a:r>
            <a:endParaRPr lang="en-US" sz="1300" dirty="0"/>
          </a:p>
          <a:p>
            <a:pPr marL="114300" indent="-114300">
              <a:buSzPct val="100000"/>
              <a:buChar char="•"/>
            </a:pPr>
            <a:r>
              <a:rPr lang="en-US" sz="1000" dirty="0">
                <a:solidFill>
                  <a:schemeClr val="tx1"/>
                </a:solidFill>
                <a:latin typeface="Figtree" pitchFamily="34" charset="0"/>
                <a:ea typeface="Figtree" pitchFamily="34" charset="-122"/>
                <a:cs typeface="Figtree" pitchFamily="34" charset="-120"/>
              </a:rPr>
              <a:t>Discipline</a:t>
            </a:r>
            <a:endParaRPr lang="en-US" sz="1300" dirty="0"/>
          </a:p>
        </p:txBody>
      </p:sp>
      <p:sp>
        <p:nvSpPr>
          <p:cNvPr id="19" name="Grow the customer 5"/>
          <p:cNvSpPr/>
          <p:nvPr/>
        </p:nvSpPr>
        <p:spPr>
          <a:xfrm>
            <a:off x="5074920" y="914400"/>
            <a:ext cx="5577840" cy="5577840"/>
          </a:xfrm>
          <a:prstGeom prst="blockArc">
            <a:avLst>
              <a:gd name="adj1" fmla="val 0"/>
              <a:gd name="adj2" fmla="val 1080000"/>
              <a:gd name="adj3" fmla="val 23770"/>
            </a:avLst>
          </a:prstGeom>
          <a:solidFill>
            <a:srgbClr val="FFFFFF"/>
          </a:solidFill>
          <a:ln w="12700">
            <a:solidFill>
              <a:srgbClr val="D2D8CD"/>
            </a:solidFill>
            <a:prstDash val="solid"/>
          </a:ln>
        </p:spPr>
      </p:sp>
      <p:sp>
        <p:nvSpPr>
          <p:cNvPr id="20" name="Competency 1"/>
          <p:cNvSpPr txBox="1"/>
          <p:nvPr/>
        </p:nvSpPr>
        <p:spPr>
          <a:xfrm rot="540000">
            <a:off x="9415006" y="3752433"/>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Grow the customer</a:t>
            </a:r>
            <a:endParaRPr lang="en-US" sz="1100" dirty="0"/>
          </a:p>
        </p:txBody>
      </p:sp>
      <p:sp>
        <p:nvSpPr>
          <p:cNvPr id="21" name="Negotiate to close 6"/>
          <p:cNvSpPr/>
          <p:nvPr/>
        </p:nvSpPr>
        <p:spPr>
          <a:xfrm>
            <a:off x="5074920" y="914400"/>
            <a:ext cx="5577840" cy="5577840"/>
          </a:xfrm>
          <a:prstGeom prst="blockArc">
            <a:avLst>
              <a:gd name="adj1" fmla="val 1080000"/>
              <a:gd name="adj2" fmla="val 2160000"/>
              <a:gd name="adj3" fmla="val 23770"/>
            </a:avLst>
          </a:prstGeom>
          <a:solidFill>
            <a:srgbClr val="FFFFFF"/>
          </a:solidFill>
          <a:ln w="12700">
            <a:solidFill>
              <a:srgbClr val="D2D8CD"/>
            </a:solidFill>
            <a:prstDash val="solid"/>
          </a:ln>
        </p:spPr>
      </p:sp>
      <p:sp>
        <p:nvSpPr>
          <p:cNvPr id="22" name="Competency 2"/>
          <p:cNvSpPr txBox="1"/>
          <p:nvPr/>
        </p:nvSpPr>
        <p:spPr>
          <a:xfrm rot="1620000">
            <a:off x="9209462" y="4385031"/>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Negotiate to close</a:t>
            </a:r>
            <a:endParaRPr lang="en-US" sz="1100" dirty="0"/>
          </a:p>
        </p:txBody>
      </p:sp>
      <p:sp>
        <p:nvSpPr>
          <p:cNvPr id="23" name="Manage procurement 7"/>
          <p:cNvSpPr/>
          <p:nvPr/>
        </p:nvSpPr>
        <p:spPr>
          <a:xfrm>
            <a:off x="5074920" y="914400"/>
            <a:ext cx="5577840" cy="5577840"/>
          </a:xfrm>
          <a:prstGeom prst="blockArc">
            <a:avLst>
              <a:gd name="adj1" fmla="val 2160000"/>
              <a:gd name="adj2" fmla="val 3240000"/>
              <a:gd name="adj3" fmla="val 23770"/>
            </a:avLst>
          </a:prstGeom>
          <a:solidFill>
            <a:srgbClr val="FFFFFF"/>
          </a:solidFill>
          <a:ln w="12700">
            <a:solidFill>
              <a:srgbClr val="D2D8CD"/>
            </a:solidFill>
            <a:prstDash val="solid"/>
          </a:ln>
        </p:spPr>
      </p:sp>
      <p:sp>
        <p:nvSpPr>
          <p:cNvPr id="24" name="Competency 3"/>
          <p:cNvSpPr txBox="1"/>
          <p:nvPr/>
        </p:nvSpPr>
        <p:spPr>
          <a:xfrm rot="2700000">
            <a:off x="8818495" y="4923151"/>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Manage procurement</a:t>
            </a:r>
            <a:endParaRPr lang="en-US" sz="1100" dirty="0"/>
          </a:p>
        </p:txBody>
      </p:sp>
      <p:sp>
        <p:nvSpPr>
          <p:cNvPr id="25" name="Navigate the deal 8"/>
          <p:cNvSpPr/>
          <p:nvPr/>
        </p:nvSpPr>
        <p:spPr>
          <a:xfrm>
            <a:off x="5074920" y="914400"/>
            <a:ext cx="5577840" cy="5577840"/>
          </a:xfrm>
          <a:prstGeom prst="blockArc">
            <a:avLst>
              <a:gd name="adj1" fmla="val 3240000"/>
              <a:gd name="adj2" fmla="val 4320000"/>
              <a:gd name="adj3" fmla="val 23770"/>
            </a:avLst>
          </a:prstGeom>
          <a:solidFill>
            <a:srgbClr val="FFFFFF"/>
          </a:solidFill>
          <a:ln w="12700">
            <a:solidFill>
              <a:srgbClr val="D2D8CD"/>
            </a:solidFill>
            <a:prstDash val="solid"/>
          </a:ln>
        </p:spPr>
      </p:sp>
      <p:sp>
        <p:nvSpPr>
          <p:cNvPr id="26" name="Competency 4"/>
          <p:cNvSpPr txBox="1"/>
          <p:nvPr/>
        </p:nvSpPr>
        <p:spPr>
          <a:xfrm rot="3780000">
            <a:off x="8280375" y="5314118"/>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Navigate the deal</a:t>
            </a:r>
            <a:endParaRPr lang="en-US" sz="1100" dirty="0"/>
          </a:p>
        </p:txBody>
      </p:sp>
      <p:sp>
        <p:nvSpPr>
          <p:cNvPr id="27" name="Teach and advise 9"/>
          <p:cNvSpPr/>
          <p:nvPr/>
        </p:nvSpPr>
        <p:spPr>
          <a:xfrm>
            <a:off x="5074920" y="914400"/>
            <a:ext cx="5577840" cy="5577840"/>
          </a:xfrm>
          <a:prstGeom prst="blockArc">
            <a:avLst>
              <a:gd name="adj1" fmla="val 4320000"/>
              <a:gd name="adj2" fmla="val 5400000"/>
              <a:gd name="adj3" fmla="val 23770"/>
            </a:avLst>
          </a:prstGeom>
          <a:solidFill>
            <a:srgbClr val="FFFFFF"/>
          </a:solidFill>
          <a:ln w="12700">
            <a:solidFill>
              <a:srgbClr val="D2D8CD"/>
            </a:solidFill>
            <a:prstDash val="solid"/>
          </a:ln>
        </p:spPr>
      </p:sp>
      <p:sp>
        <p:nvSpPr>
          <p:cNvPr id="28" name="Competency 5"/>
          <p:cNvSpPr txBox="1"/>
          <p:nvPr/>
        </p:nvSpPr>
        <p:spPr>
          <a:xfrm rot="4860000">
            <a:off x="7647777" y="5519662"/>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Teach and advise</a:t>
            </a:r>
            <a:endParaRPr lang="en-US" sz="1100" dirty="0"/>
          </a:p>
        </p:txBody>
      </p:sp>
      <p:sp>
        <p:nvSpPr>
          <p:cNvPr id="29" name="Overcome objections 10"/>
          <p:cNvSpPr/>
          <p:nvPr/>
        </p:nvSpPr>
        <p:spPr>
          <a:xfrm>
            <a:off x="5074920" y="914400"/>
            <a:ext cx="5577840" cy="5577840"/>
          </a:xfrm>
          <a:prstGeom prst="blockArc">
            <a:avLst>
              <a:gd name="adj1" fmla="val 5400000"/>
              <a:gd name="adj2" fmla="val 6480000"/>
              <a:gd name="adj3" fmla="val 23770"/>
            </a:avLst>
          </a:prstGeom>
          <a:solidFill>
            <a:srgbClr val="FFFFFF"/>
          </a:solidFill>
          <a:ln w="12700">
            <a:solidFill>
              <a:srgbClr val="D2D8CD"/>
            </a:solidFill>
            <a:prstDash val="solid"/>
          </a:ln>
        </p:spPr>
      </p:sp>
      <p:sp>
        <p:nvSpPr>
          <p:cNvPr id="30" name="Competency 6"/>
          <p:cNvSpPr txBox="1"/>
          <p:nvPr/>
        </p:nvSpPr>
        <p:spPr>
          <a:xfrm rot="16740000">
            <a:off x="6982623" y="5519662"/>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Overcome objections</a:t>
            </a:r>
            <a:endParaRPr lang="en-US" sz="1100" dirty="0"/>
          </a:p>
        </p:txBody>
      </p:sp>
      <p:sp>
        <p:nvSpPr>
          <p:cNvPr id="31" name="Deliver value proposition 11"/>
          <p:cNvSpPr/>
          <p:nvPr/>
        </p:nvSpPr>
        <p:spPr>
          <a:xfrm>
            <a:off x="5074920" y="914400"/>
            <a:ext cx="5577840" cy="5577840"/>
          </a:xfrm>
          <a:prstGeom prst="blockArc">
            <a:avLst>
              <a:gd name="adj1" fmla="val 6480000"/>
              <a:gd name="adj2" fmla="val 7560000"/>
              <a:gd name="adj3" fmla="val 23770"/>
            </a:avLst>
          </a:prstGeom>
          <a:solidFill>
            <a:srgbClr val="FFFFFF"/>
          </a:solidFill>
          <a:ln w="12700">
            <a:solidFill>
              <a:srgbClr val="D2D8CD"/>
            </a:solidFill>
            <a:prstDash val="solid"/>
          </a:ln>
        </p:spPr>
      </p:sp>
      <p:sp>
        <p:nvSpPr>
          <p:cNvPr id="32" name="Competency 7"/>
          <p:cNvSpPr txBox="1"/>
          <p:nvPr/>
        </p:nvSpPr>
        <p:spPr>
          <a:xfrm rot="17820000">
            <a:off x="6350025" y="5314118"/>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Deliver value proposition</a:t>
            </a:r>
            <a:endParaRPr lang="en-US" sz="1100" dirty="0"/>
          </a:p>
        </p:txBody>
      </p:sp>
      <p:sp>
        <p:nvSpPr>
          <p:cNvPr id="33" name="Develop relationships 12"/>
          <p:cNvSpPr/>
          <p:nvPr/>
        </p:nvSpPr>
        <p:spPr>
          <a:xfrm>
            <a:off x="5074920" y="914400"/>
            <a:ext cx="5577840" cy="5577840"/>
          </a:xfrm>
          <a:prstGeom prst="blockArc">
            <a:avLst>
              <a:gd name="adj1" fmla="val 7560000"/>
              <a:gd name="adj2" fmla="val 8640000"/>
              <a:gd name="adj3" fmla="val 23770"/>
            </a:avLst>
          </a:prstGeom>
          <a:solidFill>
            <a:srgbClr val="FFFFFF"/>
          </a:solidFill>
          <a:ln w="12700">
            <a:solidFill>
              <a:srgbClr val="D2D8CD"/>
            </a:solidFill>
            <a:prstDash val="solid"/>
          </a:ln>
        </p:spPr>
      </p:sp>
      <p:sp>
        <p:nvSpPr>
          <p:cNvPr id="34" name="Competency 8"/>
          <p:cNvSpPr txBox="1"/>
          <p:nvPr/>
        </p:nvSpPr>
        <p:spPr>
          <a:xfrm rot="18900000">
            <a:off x="5811905" y="4923151"/>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Develop relationships</a:t>
            </a:r>
            <a:endParaRPr lang="en-US" sz="1100" dirty="0"/>
          </a:p>
        </p:txBody>
      </p:sp>
      <p:sp>
        <p:nvSpPr>
          <p:cNvPr id="35" name="Understand client needs 13"/>
          <p:cNvSpPr/>
          <p:nvPr/>
        </p:nvSpPr>
        <p:spPr>
          <a:xfrm>
            <a:off x="5074920" y="914400"/>
            <a:ext cx="5577840" cy="5577840"/>
          </a:xfrm>
          <a:prstGeom prst="blockArc">
            <a:avLst>
              <a:gd name="adj1" fmla="val 8640000"/>
              <a:gd name="adj2" fmla="val 9720000"/>
              <a:gd name="adj3" fmla="val 23770"/>
            </a:avLst>
          </a:prstGeom>
          <a:solidFill>
            <a:srgbClr val="FFFFFF"/>
          </a:solidFill>
          <a:ln w="12700">
            <a:solidFill>
              <a:srgbClr val="D2D8CD"/>
            </a:solidFill>
            <a:prstDash val="solid"/>
          </a:ln>
        </p:spPr>
      </p:sp>
      <p:sp>
        <p:nvSpPr>
          <p:cNvPr id="36" name="Competency 9"/>
          <p:cNvSpPr txBox="1"/>
          <p:nvPr/>
        </p:nvSpPr>
        <p:spPr>
          <a:xfrm rot="19980000">
            <a:off x="5420938" y="4385031"/>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Understand client needs</a:t>
            </a:r>
            <a:endParaRPr lang="en-US" sz="1100" dirty="0"/>
          </a:p>
        </p:txBody>
      </p:sp>
      <p:sp>
        <p:nvSpPr>
          <p:cNvPr id="37" name="Generate opportunities 14"/>
          <p:cNvSpPr/>
          <p:nvPr/>
        </p:nvSpPr>
        <p:spPr>
          <a:xfrm>
            <a:off x="5074920" y="914400"/>
            <a:ext cx="5577840" cy="5577840"/>
          </a:xfrm>
          <a:prstGeom prst="blockArc">
            <a:avLst>
              <a:gd name="adj1" fmla="val 9720000"/>
              <a:gd name="adj2" fmla="val 10800000"/>
              <a:gd name="adj3" fmla="val 23770"/>
            </a:avLst>
          </a:prstGeom>
          <a:solidFill>
            <a:srgbClr val="FFFFFF"/>
          </a:solidFill>
          <a:ln w="12700">
            <a:solidFill>
              <a:srgbClr val="D2D8CD"/>
            </a:solidFill>
            <a:prstDash val="solid"/>
          </a:ln>
        </p:spPr>
      </p:sp>
      <p:sp>
        <p:nvSpPr>
          <p:cNvPr id="38" name="Competency 10"/>
          <p:cNvSpPr txBox="1"/>
          <p:nvPr/>
        </p:nvSpPr>
        <p:spPr>
          <a:xfrm rot="21060000">
            <a:off x="5215394" y="3752433"/>
            <a:ext cx="1097280" cy="566928"/>
          </a:xfrm>
          <a:prstGeom prst="rect">
            <a:avLst/>
          </a:prstGeom>
          <a:noFill/>
          <a:ln/>
        </p:spPr>
        <p:txBody>
          <a:bodyPr wrap="square" lIns="0" tIns="0" rIns="0" bIns="0" rtlCol="0" anchor="ctr"/>
          <a:lstStyle/>
          <a:p>
            <a:pPr algn="ctr" indent="0" marL="0">
              <a:buNone/>
            </a:pPr>
            <a:r>
              <a:rPr lang="en-US" sz="1100" dirty="0">
                <a:solidFill>
                  <a:schemeClr val="tx1"/>
                </a:solidFill>
                <a:latin typeface="Figtree" pitchFamily="34" charset="0"/>
                <a:ea typeface="Figtree" pitchFamily="34" charset="-122"/>
                <a:cs typeface="Figtree" pitchFamily="34" charset="-120"/>
              </a:rPr>
              <a:t>Generate opportunities</a:t>
            </a:r>
            <a:endParaRPr lang="en-US" sz="1100" dirty="0"/>
          </a:p>
        </p:txBody>
      </p:sp>
      <p:sp>
        <p:nvSpPr>
          <p:cNvPr id="39" name="Talents band 15"/>
          <p:cNvSpPr/>
          <p:nvPr/>
        </p:nvSpPr>
        <p:spPr>
          <a:xfrm>
            <a:off x="6400800" y="2240280"/>
            <a:ext cx="2926080" cy="2926080"/>
          </a:xfrm>
          <a:prstGeom prst="blockArc">
            <a:avLst>
              <a:gd name="adj1" fmla="val 10800000"/>
              <a:gd name="adj2" fmla="val 0"/>
              <a:gd name="adj3" fmla="val 20313"/>
            </a:avLst>
          </a:prstGeom>
          <a:solidFill>
            <a:srgbClr val="1F3529"/>
          </a:solidFill>
          <a:ln w="12700">
            <a:solidFill>
              <a:srgbClr val="F5F7F0"/>
            </a:solidFill>
            <a:prstDash val="solid"/>
          </a:ln>
        </p:spPr>
      </p:sp>
      <p:sp>
        <p:nvSpPr>
          <p:cNvPr id="40" name="Competencies band 16"/>
          <p:cNvSpPr/>
          <p:nvPr/>
        </p:nvSpPr>
        <p:spPr>
          <a:xfrm>
            <a:off x="6400800" y="2240280"/>
            <a:ext cx="2926080" cy="2926080"/>
          </a:xfrm>
          <a:prstGeom prst="blockArc">
            <a:avLst>
              <a:gd name="adj1" fmla="val 0"/>
              <a:gd name="adj2" fmla="val 10800000"/>
              <a:gd name="adj3" fmla="val 20313"/>
            </a:avLst>
          </a:prstGeom>
          <a:solidFill>
            <a:srgbClr val="56604E"/>
          </a:solidFill>
          <a:ln w="12700">
            <a:solidFill>
              <a:srgbClr val="F5F7F0"/>
            </a:solidFill>
            <a:prstDash val="solid"/>
          </a:ln>
        </p:spPr>
      </p:sp>
      <p:sp>
        <p:nvSpPr>
          <p:cNvPr id="41" name="Talents label"/>
          <p:cNvSpPr txBox="1"/>
          <p:nvPr/>
        </p:nvSpPr>
        <p:spPr>
          <a:xfrm>
            <a:off x="7040880" y="2354580"/>
            <a:ext cx="1645920" cy="365760"/>
          </a:xfrm>
          <a:prstGeom prst="rect">
            <a:avLst/>
          </a:prstGeom>
          <a:noFill/>
          <a:ln/>
        </p:spPr>
        <p:txBody>
          <a:bodyPr wrap="square" lIns="0" tIns="0" rIns="0" bIns="0" rtlCol="0" anchor="ctr"/>
          <a:lstStyle/>
          <a:p>
            <a:pPr algn="ctr" indent="0" marL="0">
              <a:buNone/>
            </a:pPr>
            <a:r>
              <a:rPr lang="en-US" sz="1200" b="1" spc="300" kern="0" dirty="0">
                <a:solidFill>
                  <a:schemeClr val="bg2"/>
                </a:solidFill>
              </a:rPr>
              <a:t>TALENTS</a:t>
            </a:r>
            <a:endParaRPr lang="en-US" sz="1200" dirty="0"/>
          </a:p>
        </p:txBody>
      </p:sp>
      <p:sp>
        <p:nvSpPr>
          <p:cNvPr id="42" name="Competencies label"/>
          <p:cNvSpPr txBox="1"/>
          <p:nvPr/>
        </p:nvSpPr>
        <p:spPr>
          <a:xfrm>
            <a:off x="6995160" y="4686300"/>
            <a:ext cx="1737360" cy="365760"/>
          </a:xfrm>
          <a:prstGeom prst="rect">
            <a:avLst/>
          </a:prstGeom>
          <a:noFill/>
          <a:ln/>
        </p:spPr>
        <p:txBody>
          <a:bodyPr wrap="square" lIns="0" tIns="0" rIns="0" bIns="0" rtlCol="0" anchor="ctr"/>
          <a:lstStyle/>
          <a:p>
            <a:pPr algn="ctr" indent="0" marL="0">
              <a:buNone/>
            </a:pPr>
            <a:r>
              <a:rPr lang="en-US" sz="1100" b="1" spc="200" kern="0" dirty="0">
                <a:solidFill>
                  <a:schemeClr val="bg2"/>
                </a:solidFill>
              </a:rPr>
              <a:t>COMPETENCIES</a:t>
            </a:r>
            <a:endParaRPr lang="en-US" sz="1100" dirty="0"/>
          </a:p>
        </p:txBody>
      </p:sp>
      <p:sp>
        <p:nvSpPr>
          <p:cNvPr id="43" name="Hub"/>
          <p:cNvSpPr/>
          <p:nvPr/>
        </p:nvSpPr>
        <p:spPr>
          <a:xfrm>
            <a:off x="6995160" y="2834640"/>
            <a:ext cx="1737360" cy="1737360"/>
          </a:xfrm>
          <a:prstGeom prst="ellipse">
            <a:avLst/>
          </a:prstGeom>
          <a:solidFill>
            <a:srgbClr val="F5F7F0"/>
          </a:solidFill>
          <a:ln w="38100">
            <a:solidFill>
              <a:srgbClr val="FFFFFF"/>
            </a:solidFill>
            <a:prstDash val="solid"/>
          </a:ln>
          <a:effectLst>
            <a:outerShdw sx="100000" sy="100000" kx="0" ky="0" algn="bl" rotWithShape="0" blurRad="127000" dist="25400" dir="5400000">
              <a:srgbClr val="16261D">
                <a:alpha val="18000"/>
              </a:srgbClr>
            </a:outerShdw>
          </a:effectLst>
        </p:spPr>
      </p:sp>
      <p:sp>
        <p:nvSpPr>
          <p:cNvPr id="44" name="Hub label"/>
          <p:cNvSpPr txBox="1"/>
          <p:nvPr/>
        </p:nvSpPr>
        <p:spPr>
          <a:xfrm>
            <a:off x="7132320" y="3474720"/>
            <a:ext cx="1463040" cy="457200"/>
          </a:xfrm>
          <a:prstGeom prst="rect">
            <a:avLst/>
          </a:prstGeom>
          <a:noFill/>
          <a:ln/>
        </p:spPr>
        <p:txBody>
          <a:bodyPr wrap="square" lIns="0" tIns="0" rIns="0" bIns="0" rtlCol="0" anchor="ctr"/>
          <a:lstStyle/>
          <a:p>
            <a:pPr algn="ctr" indent="0" marL="0">
              <a:buNone/>
            </a:pPr>
            <a:r>
              <a:rPr lang="en-US" sz="2200" dirty="0">
                <a:solidFill>
                  <a:schemeClr val="tx1"/>
                </a:solidFill>
                <a:latin typeface="Georgia" pitchFamily="34" charset="0"/>
                <a:ea typeface="Georgia" pitchFamily="34" charset="-122"/>
                <a:cs typeface="Georgia" pitchFamily="34" charset="-120"/>
              </a:rPr>
              <a:t>Seller</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HIRING SELLERS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Hiring paradigms: three trade-offs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Domain knowledge 1"/>
          <p:cNvSpPr/>
          <p:nvPr/>
        </p:nvSpPr>
        <p:spPr>
          <a:xfrm>
            <a:off x="365760" y="1371600"/>
            <a:ext cx="3666744" cy="1188720"/>
          </a:xfrm>
          <a:prstGeom prst="roundRect">
            <a:avLst>
              <a:gd name="adj" fmla="val 9231"/>
            </a:avLst>
          </a:prstGeom>
          <a:solidFill>
            <a:srgbClr val="16261D"/>
          </a:solidFill>
          <a:ln/>
          <a:effectLst>
            <a:outerShdw sx="100000" sy="100000" kx="0" ky="0" algn="bl" rotWithShape="0" blurRad="177800" dist="50800" dir="5400000">
              <a:srgbClr val="16261D">
                <a:alpha val="14000"/>
              </a:srgbClr>
            </a:outerShdw>
          </a:effectLst>
        </p:spPr>
      </p:sp>
      <p:sp>
        <p:nvSpPr>
          <p:cNvPr id="6" name="Icon badge 2"/>
          <p:cNvSpPr/>
          <p:nvPr/>
        </p:nvSpPr>
        <p:spPr>
          <a:xfrm>
            <a:off x="640080" y="1600200"/>
            <a:ext cx="731520" cy="731520"/>
          </a:xfrm>
          <a:prstGeom prst="ellipse">
            <a:avLst/>
          </a:prstGeom>
          <a:solidFill>
            <a:srgbClr val="1F3529"/>
          </a:solidFill>
          <a:ln/>
        </p:spPr>
      </p:sp>
      <p:pic>
        <p:nvPicPr>
          <p:cNvPr id="7" name="Image 0" descr="School icon">    </p:cNvPr>
          <p:cNvPicPr>
            <a:picLocks noChangeAspect="1"/>
          </p:cNvPicPr>
          <p:nvPr/>
        </p:nvPicPr>
        <p:blipFill>
          <a:blip r:embed="rId1"/>
          <a:stretch>
            <a:fillRect/>
          </a:stretch>
        </p:blipFill>
        <p:spPr>
          <a:xfrm>
            <a:off x="801014" y="1761134"/>
            <a:ext cx="409651" cy="409651"/>
          </a:xfrm>
          <a:prstGeom prst="rect">
            <a:avLst/>
          </a:prstGeom>
        </p:spPr>
      </p:pic>
      <p:sp>
        <p:nvSpPr>
          <p:cNvPr id="8" name="Text 3"/>
          <p:cNvSpPr txBox="1"/>
          <p:nvPr/>
        </p:nvSpPr>
        <p:spPr>
          <a:xfrm>
            <a:off x="1554480" y="1371600"/>
            <a:ext cx="2295144" cy="1188720"/>
          </a:xfrm>
          <a:prstGeom prst="rect">
            <a:avLst/>
          </a:prstGeom>
          <a:noFill/>
          <a:ln/>
        </p:spPr>
        <p:txBody>
          <a:bodyPr wrap="square" lIns="0" tIns="0" rIns="0" bIns="0" rtlCol="0" anchor="ctr"/>
          <a:lstStyle/>
          <a:p>
            <a:pPr indent="0" marL="0">
              <a:buNone/>
            </a:pPr>
            <a:r>
              <a:rPr lang="en-US" sz="1900" b="1" dirty="0">
                <a:solidFill>
                  <a:srgbClr val="F5F7F0"/>
                </a:solidFill>
              </a:rPr>
              <a:t>Domain knowledge</a:t>
            </a:r>
            <a:endParaRPr lang="en-US" sz="1900" dirty="0"/>
          </a:p>
        </p:txBody>
      </p:sp>
      <p:sp>
        <p:nvSpPr>
          <p:cNvPr id="9" name="For 4"/>
          <p:cNvSpPr/>
          <p:nvPr/>
        </p:nvSpPr>
        <p:spPr>
          <a:xfrm>
            <a:off x="365760" y="2743200"/>
            <a:ext cx="3666744" cy="1645920"/>
          </a:xfrm>
          <a:prstGeom prst="roundRect">
            <a:avLst>
              <a:gd name="adj" fmla="val 6667"/>
            </a:avLst>
          </a:prstGeom>
          <a:solidFill>
            <a:srgbClr val="FFFFFF"/>
          </a:solidFill>
          <a:ln/>
          <a:effectLst>
            <a:outerShdw sx="100000" sy="100000" kx="0" ky="0" algn="bl" rotWithShape="0" blurRad="177800" dist="50800" dir="5400000">
              <a:srgbClr val="16261D">
                <a:alpha val="14000"/>
              </a:srgbClr>
            </a:outerShdw>
          </a:effectLst>
        </p:spPr>
      </p:sp>
      <p:sp>
        <p:nvSpPr>
          <p:cNvPr id="10" name="Text 5"/>
          <p:cNvSpPr txBox="1"/>
          <p:nvPr/>
        </p:nvSpPr>
        <p:spPr>
          <a:xfrm>
            <a:off x="640080" y="2926080"/>
            <a:ext cx="1828800" cy="274320"/>
          </a:xfrm>
          <a:prstGeom prst="rect">
            <a:avLst/>
          </a:prstGeom>
          <a:noFill/>
          <a:ln/>
        </p:spPr>
        <p:txBody>
          <a:bodyPr wrap="square" lIns="0" tIns="0" rIns="0" bIns="0" rtlCol="0" anchor="t"/>
          <a:lstStyle/>
          <a:p>
            <a:pPr indent="0" marL="0">
              <a:buNone/>
            </a:pPr>
            <a:r>
              <a:rPr lang="en-US" sz="1000" b="1" spc="300" kern="0" dirty="0">
                <a:solidFill>
                  <a:srgbClr val="1F3529"/>
                </a:solidFill>
              </a:rPr>
              <a:t>FOR</a:t>
            </a:r>
            <a:endParaRPr lang="en-US" sz="1000" dirty="0"/>
          </a:p>
        </p:txBody>
      </p:sp>
      <p:sp>
        <p:nvSpPr>
          <p:cNvPr id="11" name="Text 6"/>
          <p:cNvSpPr txBox="1"/>
          <p:nvPr/>
        </p:nvSpPr>
        <p:spPr>
          <a:xfrm>
            <a:off x="640080" y="324612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Customer understanding</a:t>
            </a:r>
            <a:endParaRPr lang="en-US" sz="1400" dirty="0"/>
          </a:p>
          <a:p>
            <a:pPr marL="177800" indent="-177800">
              <a:spcAft>
                <a:spcPts val="400"/>
              </a:spcAft>
              <a:buSzPct val="100000"/>
              <a:buChar char="•"/>
            </a:pPr>
            <a:r>
              <a:rPr lang="en-US" sz="1400" dirty="0">
                <a:solidFill>
                  <a:srgbClr val="20241F"/>
                </a:solidFill>
              </a:rPr>
              <a:t>Credibility</a:t>
            </a:r>
            <a:endParaRPr lang="en-US" sz="1400" dirty="0"/>
          </a:p>
          <a:p>
            <a:pPr marL="177800" indent="-177800">
              <a:spcAft>
                <a:spcPts val="400"/>
              </a:spcAft>
              <a:buSzPct val="100000"/>
              <a:buChar char="•"/>
            </a:pPr>
            <a:r>
              <a:rPr lang="en-US" sz="1400" dirty="0">
                <a:solidFill>
                  <a:srgbClr val="20241F"/>
                </a:solidFill>
              </a:rPr>
              <a:t>A ready-made network</a:t>
            </a:r>
            <a:endParaRPr lang="en-US" sz="1400" dirty="0"/>
          </a:p>
        </p:txBody>
      </p:sp>
      <p:sp>
        <p:nvSpPr>
          <p:cNvPr id="12" name="Against 7"/>
          <p:cNvSpPr/>
          <p:nvPr/>
        </p:nvSpPr>
        <p:spPr>
          <a:xfrm>
            <a:off x="365760" y="4526280"/>
            <a:ext cx="3666744" cy="1645920"/>
          </a:xfrm>
          <a:prstGeom prst="roundRect">
            <a:avLst>
              <a:gd name="adj" fmla="val 6667"/>
            </a:avLst>
          </a:prstGeom>
          <a:solidFill>
            <a:srgbClr val="F6EDEB"/>
          </a:solidFill>
          <a:ln/>
          <a:effectLst>
            <a:outerShdw sx="100000" sy="100000" kx="0" ky="0" algn="bl" rotWithShape="0" blurRad="177800" dist="50800" dir="5400000">
              <a:srgbClr val="16261D">
                <a:alpha val="14000"/>
              </a:srgbClr>
            </a:outerShdw>
          </a:effectLst>
        </p:spPr>
      </p:sp>
      <p:sp>
        <p:nvSpPr>
          <p:cNvPr id="13" name="Text 8"/>
          <p:cNvSpPr txBox="1"/>
          <p:nvPr/>
        </p:nvSpPr>
        <p:spPr>
          <a:xfrm>
            <a:off x="640080" y="4709160"/>
            <a:ext cx="1828800" cy="274320"/>
          </a:xfrm>
          <a:prstGeom prst="rect">
            <a:avLst/>
          </a:prstGeom>
          <a:noFill/>
          <a:ln/>
        </p:spPr>
        <p:txBody>
          <a:bodyPr wrap="square" lIns="0" tIns="0" rIns="0" bIns="0" rtlCol="0" anchor="t"/>
          <a:lstStyle/>
          <a:p>
            <a:pPr indent="0" marL="0">
              <a:buNone/>
            </a:pPr>
            <a:r>
              <a:rPr lang="en-US" sz="1000" b="1" spc="300" kern="0" dirty="0">
                <a:solidFill>
                  <a:srgbClr val="A2574A"/>
                </a:solidFill>
              </a:rPr>
              <a:t>AGAINST</a:t>
            </a:r>
            <a:endParaRPr lang="en-US" sz="1000" dirty="0"/>
          </a:p>
        </p:txBody>
      </p:sp>
      <p:sp>
        <p:nvSpPr>
          <p:cNvPr id="14" name="Text 9"/>
          <p:cNvSpPr txBox="1"/>
          <p:nvPr/>
        </p:nvSpPr>
        <p:spPr>
          <a:xfrm>
            <a:off x="640080" y="502920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May not profile as a seller</a:t>
            </a:r>
            <a:endParaRPr lang="en-US" sz="1400" dirty="0"/>
          </a:p>
          <a:p>
            <a:pPr marL="177800" indent="-177800">
              <a:spcAft>
                <a:spcPts val="400"/>
              </a:spcAft>
              <a:buSzPct val="100000"/>
              <a:buChar char="•"/>
            </a:pPr>
            <a:r>
              <a:rPr lang="en-US" sz="1400" dirty="0">
                <a:solidFill>
                  <a:srgbClr val="20241F"/>
                </a:solidFill>
              </a:rPr>
              <a:t>Needs sales skills</a:t>
            </a:r>
            <a:endParaRPr lang="en-US" sz="1400" dirty="0"/>
          </a:p>
        </p:txBody>
      </p:sp>
      <p:sp>
        <p:nvSpPr>
          <p:cNvPr id="15" name="Sales experience 10"/>
          <p:cNvSpPr/>
          <p:nvPr/>
        </p:nvSpPr>
        <p:spPr>
          <a:xfrm>
            <a:off x="4261104" y="1371600"/>
            <a:ext cx="3666744" cy="1188720"/>
          </a:xfrm>
          <a:prstGeom prst="roundRect">
            <a:avLst>
              <a:gd name="adj" fmla="val 9231"/>
            </a:avLst>
          </a:prstGeom>
          <a:solidFill>
            <a:srgbClr val="16261D"/>
          </a:solidFill>
          <a:ln/>
          <a:effectLst>
            <a:outerShdw sx="100000" sy="100000" kx="0" ky="0" algn="bl" rotWithShape="0" blurRad="177800" dist="50800" dir="5400000">
              <a:srgbClr val="16261D">
                <a:alpha val="14000"/>
              </a:srgbClr>
            </a:outerShdw>
          </a:effectLst>
        </p:spPr>
      </p:sp>
      <p:sp>
        <p:nvSpPr>
          <p:cNvPr id="16" name="Icon badge 11"/>
          <p:cNvSpPr/>
          <p:nvPr/>
        </p:nvSpPr>
        <p:spPr>
          <a:xfrm>
            <a:off x="4535424" y="1600200"/>
            <a:ext cx="731520" cy="731520"/>
          </a:xfrm>
          <a:prstGeom prst="ellipse">
            <a:avLst/>
          </a:prstGeom>
          <a:solidFill>
            <a:srgbClr val="1F3529"/>
          </a:solidFill>
          <a:ln/>
        </p:spPr>
      </p:sp>
      <p:pic>
        <p:nvPicPr>
          <p:cNvPr id="17" name="Image 1" descr="UserStar icon">    </p:cNvPr>
          <p:cNvPicPr>
            <a:picLocks noChangeAspect="1"/>
          </p:cNvPicPr>
          <p:nvPr/>
        </p:nvPicPr>
        <p:blipFill>
          <a:blip r:embed="rId2"/>
          <a:stretch>
            <a:fillRect/>
          </a:stretch>
        </p:blipFill>
        <p:spPr>
          <a:xfrm>
            <a:off x="4696358" y="1761134"/>
            <a:ext cx="409651" cy="409651"/>
          </a:xfrm>
          <a:prstGeom prst="rect">
            <a:avLst/>
          </a:prstGeom>
        </p:spPr>
      </p:pic>
      <p:sp>
        <p:nvSpPr>
          <p:cNvPr id="18" name="Text 12"/>
          <p:cNvSpPr txBox="1"/>
          <p:nvPr/>
        </p:nvSpPr>
        <p:spPr>
          <a:xfrm>
            <a:off x="5449824" y="1371600"/>
            <a:ext cx="2295144" cy="1188720"/>
          </a:xfrm>
          <a:prstGeom prst="rect">
            <a:avLst/>
          </a:prstGeom>
          <a:noFill/>
          <a:ln/>
        </p:spPr>
        <p:txBody>
          <a:bodyPr wrap="square" lIns="0" tIns="0" rIns="0" bIns="0" rtlCol="0" anchor="ctr"/>
          <a:lstStyle/>
          <a:p>
            <a:pPr indent="0" marL="0">
              <a:buNone/>
            </a:pPr>
            <a:r>
              <a:rPr lang="en-US" sz="1900" b="1" dirty="0">
                <a:solidFill>
                  <a:srgbClr val="F5F7F0"/>
                </a:solidFill>
              </a:rPr>
              <a:t>Sales experience</a:t>
            </a:r>
            <a:endParaRPr lang="en-US" sz="1900" dirty="0"/>
          </a:p>
        </p:txBody>
      </p:sp>
      <p:sp>
        <p:nvSpPr>
          <p:cNvPr id="19" name="For 13"/>
          <p:cNvSpPr/>
          <p:nvPr/>
        </p:nvSpPr>
        <p:spPr>
          <a:xfrm>
            <a:off x="4261104" y="2743200"/>
            <a:ext cx="3666744" cy="1645920"/>
          </a:xfrm>
          <a:prstGeom prst="roundRect">
            <a:avLst>
              <a:gd name="adj" fmla="val 6667"/>
            </a:avLst>
          </a:prstGeom>
          <a:solidFill>
            <a:srgbClr val="FFFFFF"/>
          </a:solidFill>
          <a:ln/>
          <a:effectLst>
            <a:outerShdw sx="100000" sy="100000" kx="0" ky="0" algn="bl" rotWithShape="0" blurRad="177800" dist="50800" dir="5400000">
              <a:srgbClr val="16261D">
                <a:alpha val="14000"/>
              </a:srgbClr>
            </a:outerShdw>
          </a:effectLst>
        </p:spPr>
      </p:sp>
      <p:sp>
        <p:nvSpPr>
          <p:cNvPr id="20" name="Text 14"/>
          <p:cNvSpPr txBox="1"/>
          <p:nvPr/>
        </p:nvSpPr>
        <p:spPr>
          <a:xfrm>
            <a:off x="4535424" y="2926080"/>
            <a:ext cx="1828800" cy="274320"/>
          </a:xfrm>
          <a:prstGeom prst="rect">
            <a:avLst/>
          </a:prstGeom>
          <a:noFill/>
          <a:ln/>
        </p:spPr>
        <p:txBody>
          <a:bodyPr wrap="square" lIns="0" tIns="0" rIns="0" bIns="0" rtlCol="0" anchor="t"/>
          <a:lstStyle/>
          <a:p>
            <a:pPr indent="0" marL="0">
              <a:buNone/>
            </a:pPr>
            <a:r>
              <a:rPr lang="en-US" sz="1000" b="1" spc="300" kern="0" dirty="0">
                <a:solidFill>
                  <a:srgbClr val="1F3529"/>
                </a:solidFill>
              </a:rPr>
              <a:t>FOR</a:t>
            </a:r>
            <a:endParaRPr lang="en-US" sz="1000" dirty="0"/>
          </a:p>
        </p:txBody>
      </p:sp>
      <p:sp>
        <p:nvSpPr>
          <p:cNvPr id="21" name="Text 15"/>
          <p:cNvSpPr txBox="1"/>
          <p:nvPr/>
        </p:nvSpPr>
        <p:spPr>
          <a:xfrm>
            <a:off x="4535424" y="324612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Should profile as a seller</a:t>
            </a:r>
            <a:endParaRPr lang="en-US" sz="1400" dirty="0"/>
          </a:p>
          <a:p>
            <a:pPr marL="177800" indent="-177800">
              <a:spcAft>
                <a:spcPts val="400"/>
              </a:spcAft>
              <a:buSzPct val="100000"/>
              <a:buChar char="•"/>
            </a:pPr>
            <a:r>
              <a:rPr lang="en-US" sz="1400" dirty="0">
                <a:solidFill>
                  <a:srgbClr val="20241F"/>
                </a:solidFill>
              </a:rPr>
              <a:t>Success tends to travel</a:t>
            </a:r>
            <a:endParaRPr lang="en-US" sz="1400" dirty="0"/>
          </a:p>
        </p:txBody>
      </p:sp>
      <p:sp>
        <p:nvSpPr>
          <p:cNvPr id="22" name="Against 16"/>
          <p:cNvSpPr/>
          <p:nvPr/>
        </p:nvSpPr>
        <p:spPr>
          <a:xfrm>
            <a:off x="4261104" y="4526280"/>
            <a:ext cx="3666744" cy="1645920"/>
          </a:xfrm>
          <a:prstGeom prst="roundRect">
            <a:avLst>
              <a:gd name="adj" fmla="val 6667"/>
            </a:avLst>
          </a:prstGeom>
          <a:solidFill>
            <a:srgbClr val="F6EDEB"/>
          </a:solidFill>
          <a:ln/>
          <a:effectLst>
            <a:outerShdw sx="100000" sy="100000" kx="0" ky="0" algn="bl" rotWithShape="0" blurRad="177800" dist="50800" dir="5400000">
              <a:srgbClr val="16261D">
                <a:alpha val="14000"/>
              </a:srgbClr>
            </a:outerShdw>
          </a:effectLst>
        </p:spPr>
      </p:sp>
      <p:sp>
        <p:nvSpPr>
          <p:cNvPr id="23" name="Text 17"/>
          <p:cNvSpPr txBox="1"/>
          <p:nvPr/>
        </p:nvSpPr>
        <p:spPr>
          <a:xfrm>
            <a:off x="4535424" y="4709160"/>
            <a:ext cx="1828800" cy="274320"/>
          </a:xfrm>
          <a:prstGeom prst="rect">
            <a:avLst/>
          </a:prstGeom>
          <a:noFill/>
          <a:ln/>
        </p:spPr>
        <p:txBody>
          <a:bodyPr wrap="square" lIns="0" tIns="0" rIns="0" bIns="0" rtlCol="0" anchor="t"/>
          <a:lstStyle/>
          <a:p>
            <a:pPr indent="0" marL="0">
              <a:buNone/>
            </a:pPr>
            <a:r>
              <a:rPr lang="en-US" sz="1000" b="1" spc="300" kern="0" dirty="0">
                <a:solidFill>
                  <a:srgbClr val="A2574A"/>
                </a:solidFill>
              </a:rPr>
              <a:t>AGAINST</a:t>
            </a:r>
            <a:endParaRPr lang="en-US" sz="1000" dirty="0"/>
          </a:p>
        </p:txBody>
      </p:sp>
      <p:sp>
        <p:nvSpPr>
          <p:cNvPr id="24" name="Text 18"/>
          <p:cNvSpPr txBox="1"/>
          <p:nvPr/>
        </p:nvSpPr>
        <p:spPr>
          <a:xfrm>
            <a:off x="4535424" y="502920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Most expensive option</a:t>
            </a:r>
            <a:endParaRPr lang="en-US" sz="1400" dirty="0"/>
          </a:p>
          <a:p>
            <a:pPr marL="177800" indent="-177800">
              <a:spcAft>
                <a:spcPts val="400"/>
              </a:spcAft>
              <a:buSzPct val="100000"/>
              <a:buChar char="•"/>
            </a:pPr>
            <a:r>
              <a:rPr lang="en-US" sz="1400" dirty="0">
                <a:solidFill>
                  <a:srgbClr val="20241F"/>
                </a:solidFill>
              </a:rPr>
              <a:t>May lack domain knowledge</a:t>
            </a:r>
            <a:endParaRPr lang="en-US" sz="1400" dirty="0"/>
          </a:p>
          <a:p>
            <a:pPr marL="177800" indent="-177800">
              <a:spcAft>
                <a:spcPts val="400"/>
              </a:spcAft>
              <a:buSzPct val="100000"/>
              <a:buChar char="•"/>
            </a:pPr>
            <a:r>
              <a:rPr lang="en-US" sz="1400" dirty="0">
                <a:solidFill>
                  <a:srgbClr val="20241F"/>
                </a:solidFill>
              </a:rPr>
              <a:t>Stars are rarely available</a:t>
            </a:r>
            <a:endParaRPr lang="en-US" sz="1400" dirty="0"/>
          </a:p>
        </p:txBody>
      </p:sp>
      <p:sp>
        <p:nvSpPr>
          <p:cNvPr id="25" name="Talent and disposition 19"/>
          <p:cNvSpPr/>
          <p:nvPr/>
        </p:nvSpPr>
        <p:spPr>
          <a:xfrm>
            <a:off x="8156448" y="1371600"/>
            <a:ext cx="3666744" cy="1188720"/>
          </a:xfrm>
          <a:prstGeom prst="roundRect">
            <a:avLst>
              <a:gd name="adj" fmla="val 9231"/>
            </a:avLst>
          </a:prstGeom>
          <a:solidFill>
            <a:srgbClr val="16261D"/>
          </a:solidFill>
          <a:ln/>
          <a:effectLst>
            <a:outerShdw sx="100000" sy="100000" kx="0" ky="0" algn="bl" rotWithShape="0" blurRad="177800" dist="50800" dir="5400000">
              <a:srgbClr val="16261D">
                <a:alpha val="14000"/>
              </a:srgbClr>
            </a:outerShdw>
          </a:effectLst>
        </p:spPr>
      </p:sp>
      <p:sp>
        <p:nvSpPr>
          <p:cNvPr id="26" name="Icon badge 20"/>
          <p:cNvSpPr/>
          <p:nvPr/>
        </p:nvSpPr>
        <p:spPr>
          <a:xfrm>
            <a:off x="8430768" y="1600200"/>
            <a:ext cx="731520" cy="731520"/>
          </a:xfrm>
          <a:prstGeom prst="ellipse">
            <a:avLst/>
          </a:prstGeom>
          <a:solidFill>
            <a:srgbClr val="1F3529"/>
          </a:solidFill>
          <a:ln/>
        </p:spPr>
      </p:sp>
      <p:pic>
        <p:nvPicPr>
          <p:cNvPr id="27" name="Image 2" descr="Sparkles icon">    </p:cNvPr>
          <p:cNvPicPr>
            <a:picLocks noChangeAspect="1"/>
          </p:cNvPicPr>
          <p:nvPr/>
        </p:nvPicPr>
        <p:blipFill>
          <a:blip r:embed="rId3"/>
          <a:stretch>
            <a:fillRect/>
          </a:stretch>
        </p:blipFill>
        <p:spPr>
          <a:xfrm>
            <a:off x="8591702" y="1761134"/>
            <a:ext cx="409651" cy="409651"/>
          </a:xfrm>
          <a:prstGeom prst="rect">
            <a:avLst/>
          </a:prstGeom>
        </p:spPr>
      </p:pic>
      <p:sp>
        <p:nvSpPr>
          <p:cNvPr id="28" name="Text 21"/>
          <p:cNvSpPr txBox="1"/>
          <p:nvPr/>
        </p:nvSpPr>
        <p:spPr>
          <a:xfrm>
            <a:off x="9345168" y="1371600"/>
            <a:ext cx="2295144" cy="1188720"/>
          </a:xfrm>
          <a:prstGeom prst="rect">
            <a:avLst/>
          </a:prstGeom>
          <a:noFill/>
          <a:ln/>
        </p:spPr>
        <p:txBody>
          <a:bodyPr wrap="square" lIns="0" tIns="0" rIns="0" bIns="0" rtlCol="0" anchor="ctr"/>
          <a:lstStyle/>
          <a:p>
            <a:pPr indent="0" marL="0">
              <a:buNone/>
            </a:pPr>
            <a:r>
              <a:rPr lang="en-US" sz="1900" b="1" dirty="0">
                <a:solidFill>
                  <a:srgbClr val="F5F7F0"/>
                </a:solidFill>
              </a:rPr>
              <a:t>Talent and disposition</a:t>
            </a:r>
            <a:endParaRPr lang="en-US" sz="1900" dirty="0"/>
          </a:p>
        </p:txBody>
      </p:sp>
      <p:sp>
        <p:nvSpPr>
          <p:cNvPr id="29" name="For 22"/>
          <p:cNvSpPr/>
          <p:nvPr/>
        </p:nvSpPr>
        <p:spPr>
          <a:xfrm>
            <a:off x="8156448" y="2743200"/>
            <a:ext cx="3666744" cy="1645920"/>
          </a:xfrm>
          <a:prstGeom prst="roundRect">
            <a:avLst>
              <a:gd name="adj" fmla="val 6667"/>
            </a:avLst>
          </a:prstGeom>
          <a:solidFill>
            <a:srgbClr val="FFFFFF"/>
          </a:solidFill>
          <a:ln/>
          <a:effectLst>
            <a:outerShdw sx="100000" sy="100000" kx="0" ky="0" algn="bl" rotWithShape="0" blurRad="177800" dist="50800" dir="5400000">
              <a:srgbClr val="16261D">
                <a:alpha val="14000"/>
              </a:srgbClr>
            </a:outerShdw>
          </a:effectLst>
        </p:spPr>
      </p:sp>
      <p:sp>
        <p:nvSpPr>
          <p:cNvPr id="30" name="Text 23"/>
          <p:cNvSpPr txBox="1"/>
          <p:nvPr/>
        </p:nvSpPr>
        <p:spPr>
          <a:xfrm>
            <a:off x="8430768" y="2926080"/>
            <a:ext cx="1828800" cy="274320"/>
          </a:xfrm>
          <a:prstGeom prst="rect">
            <a:avLst/>
          </a:prstGeom>
          <a:noFill/>
          <a:ln/>
        </p:spPr>
        <p:txBody>
          <a:bodyPr wrap="square" lIns="0" tIns="0" rIns="0" bIns="0" rtlCol="0" anchor="t"/>
          <a:lstStyle/>
          <a:p>
            <a:pPr indent="0" marL="0">
              <a:buNone/>
            </a:pPr>
            <a:r>
              <a:rPr lang="en-US" sz="1000" b="1" spc="300" kern="0" dirty="0">
                <a:solidFill>
                  <a:srgbClr val="1F3529"/>
                </a:solidFill>
              </a:rPr>
              <a:t>FOR</a:t>
            </a:r>
            <a:endParaRPr lang="en-US" sz="1000" dirty="0"/>
          </a:p>
        </p:txBody>
      </p:sp>
      <p:sp>
        <p:nvSpPr>
          <p:cNvPr id="31" name="Text 24"/>
          <p:cNvSpPr txBox="1"/>
          <p:nvPr/>
        </p:nvSpPr>
        <p:spPr>
          <a:xfrm>
            <a:off x="8430768" y="324612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Most cost-effective</a:t>
            </a:r>
            <a:endParaRPr lang="en-US" sz="1400" dirty="0"/>
          </a:p>
        </p:txBody>
      </p:sp>
      <p:sp>
        <p:nvSpPr>
          <p:cNvPr id="32" name="Against 25"/>
          <p:cNvSpPr/>
          <p:nvPr/>
        </p:nvSpPr>
        <p:spPr>
          <a:xfrm>
            <a:off x="8156448" y="4526280"/>
            <a:ext cx="3666744" cy="1645920"/>
          </a:xfrm>
          <a:prstGeom prst="roundRect">
            <a:avLst>
              <a:gd name="adj" fmla="val 6667"/>
            </a:avLst>
          </a:prstGeom>
          <a:solidFill>
            <a:srgbClr val="F6EDEB"/>
          </a:solidFill>
          <a:ln/>
          <a:effectLst>
            <a:outerShdw sx="100000" sy="100000" kx="0" ky="0" algn="bl" rotWithShape="0" blurRad="177800" dist="50800" dir="5400000">
              <a:srgbClr val="16261D">
                <a:alpha val="14000"/>
              </a:srgbClr>
            </a:outerShdw>
          </a:effectLst>
        </p:spPr>
      </p:sp>
      <p:sp>
        <p:nvSpPr>
          <p:cNvPr id="33" name="Text 26"/>
          <p:cNvSpPr txBox="1"/>
          <p:nvPr/>
        </p:nvSpPr>
        <p:spPr>
          <a:xfrm>
            <a:off x="8430768" y="4709160"/>
            <a:ext cx="1828800" cy="274320"/>
          </a:xfrm>
          <a:prstGeom prst="rect">
            <a:avLst/>
          </a:prstGeom>
          <a:noFill/>
          <a:ln/>
        </p:spPr>
        <p:txBody>
          <a:bodyPr wrap="square" lIns="0" tIns="0" rIns="0" bIns="0" rtlCol="0" anchor="t"/>
          <a:lstStyle/>
          <a:p>
            <a:pPr indent="0" marL="0">
              <a:buNone/>
            </a:pPr>
            <a:r>
              <a:rPr lang="en-US" sz="1000" b="1" spc="300" kern="0" dirty="0">
                <a:solidFill>
                  <a:srgbClr val="A2574A"/>
                </a:solidFill>
              </a:rPr>
              <a:t>AGAINST</a:t>
            </a:r>
            <a:endParaRPr lang="en-US" sz="1000" dirty="0"/>
          </a:p>
        </p:txBody>
      </p:sp>
      <p:sp>
        <p:nvSpPr>
          <p:cNvPr id="34" name="Text 27"/>
          <p:cNvSpPr txBox="1"/>
          <p:nvPr/>
        </p:nvSpPr>
        <p:spPr>
          <a:xfrm>
            <a:off x="8430768" y="5029200"/>
            <a:ext cx="3118104"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20241F"/>
                </a:solidFill>
              </a:rPr>
              <a:t>Needs the most enablement</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HIRING SELLERS</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Pick a lane: capture it in profile maps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Enterprise account manager 28"/>
          <p:cNvSpPr/>
          <p:nvPr/>
        </p:nvSpPr>
        <p:spPr>
          <a:xfrm>
            <a:off x="365760" y="1371600"/>
            <a:ext cx="7818120" cy="2377440"/>
          </a:xfrm>
          <a:prstGeom prst="roundRect">
            <a:avLst>
              <a:gd name="adj" fmla="val 4615"/>
            </a:avLst>
          </a:prstGeom>
          <a:solidFill>
            <a:srgbClr val="FFFFFF"/>
          </a:solidFill>
          <a:ln/>
          <a:effectLst>
            <a:outerShdw sx="100000" sy="100000" kx="0" ky="0" algn="bl" rotWithShape="0" blurRad="177800" dist="50800" dir="5400000">
              <a:srgbClr val="16261D">
                <a:alpha val="14000"/>
              </a:srgbClr>
            </a:outerShdw>
          </a:effectLst>
        </p:spPr>
      </p:sp>
      <p:sp>
        <p:nvSpPr>
          <p:cNvPr id="6" name="Role header"/>
          <p:cNvSpPr/>
          <p:nvPr/>
        </p:nvSpPr>
        <p:spPr>
          <a:xfrm>
            <a:off x="365760" y="1371600"/>
            <a:ext cx="7818120" cy="457200"/>
          </a:xfrm>
          <a:prstGeom prst="roundRect">
            <a:avLst>
              <a:gd name="adj" fmla="val 24000"/>
            </a:avLst>
          </a:prstGeom>
          <a:solidFill>
            <a:srgbClr val="1F3529"/>
          </a:solidFill>
          <a:ln/>
        </p:spPr>
      </p:sp>
      <p:sp>
        <p:nvSpPr>
          <p:cNvPr id="7" name="Role header base"/>
          <p:cNvSpPr/>
          <p:nvPr/>
        </p:nvSpPr>
        <p:spPr>
          <a:xfrm>
            <a:off x="365760" y="1645920"/>
            <a:ext cx="7818120" cy="182880"/>
          </a:xfrm>
          <a:prstGeom prst="rect">
            <a:avLst/>
          </a:prstGeom>
          <a:solidFill>
            <a:srgbClr val="1F3529"/>
          </a:solidFill>
          <a:ln/>
        </p:spPr>
      </p:sp>
      <p:sp>
        <p:nvSpPr>
          <p:cNvPr id="8" name="Text 29"/>
          <p:cNvSpPr txBox="1"/>
          <p:nvPr/>
        </p:nvSpPr>
        <p:spPr>
          <a:xfrm>
            <a:off x="640080" y="1371600"/>
            <a:ext cx="5486400" cy="457200"/>
          </a:xfrm>
          <a:prstGeom prst="rect">
            <a:avLst/>
          </a:prstGeom>
          <a:noFill/>
          <a:ln/>
        </p:spPr>
        <p:txBody>
          <a:bodyPr wrap="square" lIns="0" tIns="0" rIns="0" bIns="0" rtlCol="0" anchor="ctr"/>
          <a:lstStyle/>
          <a:p>
            <a:pPr indent="0" marL="0">
              <a:buNone/>
            </a:pPr>
            <a:r>
              <a:rPr lang="en-US" sz="1500" b="1" dirty="0">
                <a:solidFill>
                  <a:srgbClr val="F5F7F0"/>
                </a:solidFill>
              </a:rPr>
              <a:t>Enterprise account manager</a:t>
            </a:r>
            <a:endParaRPr lang="en-US" sz="1500" dirty="0"/>
          </a:p>
        </p:txBody>
      </p:sp>
      <p:sp>
        <p:nvSpPr>
          <p:cNvPr id="9" name="Text 30"/>
          <p:cNvSpPr txBox="1"/>
          <p:nvPr/>
        </p:nvSpPr>
        <p:spPr>
          <a:xfrm>
            <a:off x="640080" y="19659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TALENTS</a:t>
            </a:r>
            <a:endParaRPr lang="en-US" sz="1000" dirty="0"/>
          </a:p>
        </p:txBody>
      </p:sp>
      <p:sp>
        <p:nvSpPr>
          <p:cNvPr id="10" name="Text 31"/>
          <p:cNvSpPr txBox="1"/>
          <p:nvPr/>
        </p:nvSpPr>
        <p:spPr>
          <a:xfrm>
            <a:off x="640080" y="22677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Sales disposition</a:t>
            </a:r>
            <a:endParaRPr lang="en-US" sz="1200" dirty="0"/>
          </a:p>
          <a:p>
            <a:pPr marL="139700" indent="-139700">
              <a:spcAft>
                <a:spcPts val="100"/>
              </a:spcAft>
              <a:buSzPct val="100000"/>
              <a:buChar char="•"/>
            </a:pPr>
            <a:r>
              <a:rPr lang="en-US" sz="1200" dirty="0">
                <a:solidFill>
                  <a:srgbClr val="20241F"/>
                </a:solidFill>
              </a:rPr>
              <a:t>Aptitude</a:t>
            </a:r>
            <a:endParaRPr lang="en-US" sz="1200" dirty="0"/>
          </a:p>
          <a:p>
            <a:pPr marL="139700" indent="-139700">
              <a:spcAft>
                <a:spcPts val="100"/>
              </a:spcAft>
              <a:buSzPct val="100000"/>
              <a:buChar char="•"/>
            </a:pPr>
            <a:r>
              <a:rPr lang="en-US" sz="1200" dirty="0">
                <a:solidFill>
                  <a:srgbClr val="20241F"/>
                </a:solidFill>
              </a:rPr>
              <a:t>5 years’ sales experience</a:t>
            </a:r>
            <a:endParaRPr lang="en-US" sz="1200" dirty="0"/>
          </a:p>
          <a:p>
            <a:pPr marL="139700" indent="-139700">
              <a:spcAft>
                <a:spcPts val="100"/>
              </a:spcAft>
              <a:buSzPct val="100000"/>
              <a:buChar char="•"/>
            </a:pPr>
            <a:r>
              <a:rPr lang="en-US" sz="1200" dirty="0">
                <a:solidFill>
                  <a:srgbClr val="20241F"/>
                </a:solidFill>
              </a:rPr>
              <a:t>Executive presence</a:t>
            </a:r>
            <a:endParaRPr lang="en-US" sz="1200" dirty="0"/>
          </a:p>
          <a:p>
            <a:pPr marL="139700" indent="-139700">
              <a:spcAft>
                <a:spcPts val="100"/>
              </a:spcAft>
              <a:buSzPct val="100000"/>
              <a:buChar char="•"/>
            </a:pPr>
            <a:r>
              <a:rPr lang="en-US" sz="1200" dirty="0">
                <a:solidFill>
                  <a:srgbClr val="20241F"/>
                </a:solidFill>
              </a:rPr>
              <a:t>Business acumen</a:t>
            </a:r>
            <a:endParaRPr lang="en-US" sz="1200" dirty="0"/>
          </a:p>
        </p:txBody>
      </p:sp>
      <p:sp>
        <p:nvSpPr>
          <p:cNvPr id="11" name="Text 32"/>
          <p:cNvSpPr txBox="1"/>
          <p:nvPr/>
        </p:nvSpPr>
        <p:spPr>
          <a:xfrm>
            <a:off x="3200400" y="19659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SKILLS TO BUILD</a:t>
            </a:r>
            <a:endParaRPr lang="en-US" sz="1000" dirty="0"/>
          </a:p>
        </p:txBody>
      </p:sp>
      <p:sp>
        <p:nvSpPr>
          <p:cNvPr id="12" name="Text 33"/>
          <p:cNvSpPr txBox="1"/>
          <p:nvPr/>
        </p:nvSpPr>
        <p:spPr>
          <a:xfrm>
            <a:off x="3200400" y="22677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Domain knowledge</a:t>
            </a:r>
            <a:endParaRPr lang="en-US" sz="1200" dirty="0"/>
          </a:p>
          <a:p>
            <a:pPr marL="139700" indent="-139700">
              <a:spcAft>
                <a:spcPts val="100"/>
              </a:spcAft>
              <a:buSzPct val="100000"/>
              <a:buChar char="•"/>
            </a:pPr>
            <a:r>
              <a:rPr lang="en-US" sz="1200" dirty="0">
                <a:solidFill>
                  <a:srgbClr val="20241F"/>
                </a:solidFill>
              </a:rPr>
              <a:t>Our segments</a:t>
            </a:r>
            <a:endParaRPr lang="en-US" sz="1200" dirty="0"/>
          </a:p>
          <a:p>
            <a:pPr marL="139700" indent="-139700">
              <a:spcAft>
                <a:spcPts val="100"/>
              </a:spcAft>
              <a:buSzPct val="100000"/>
              <a:buChar char="•"/>
            </a:pPr>
            <a:r>
              <a:rPr lang="en-US" sz="1200" dirty="0">
                <a:solidFill>
                  <a:srgbClr val="20241F"/>
                </a:solidFill>
              </a:rPr>
              <a:t>Six key personas</a:t>
            </a:r>
            <a:endParaRPr lang="en-US" sz="1200" dirty="0"/>
          </a:p>
          <a:p>
            <a:pPr marL="139700" indent="-139700">
              <a:spcAft>
                <a:spcPts val="100"/>
              </a:spcAft>
              <a:buSzPct val="100000"/>
              <a:buChar char="•"/>
            </a:pPr>
            <a:r>
              <a:rPr lang="en-US" sz="1200" dirty="0">
                <a:solidFill>
                  <a:srgbClr val="20241F"/>
                </a:solidFill>
              </a:rPr>
              <a:t>Sales methodology</a:t>
            </a:r>
            <a:endParaRPr lang="en-US" sz="1200" dirty="0"/>
          </a:p>
          <a:p>
            <a:pPr marL="139700" indent="-139700">
              <a:spcAft>
                <a:spcPts val="100"/>
              </a:spcAft>
              <a:buSzPct val="100000"/>
              <a:buChar char="•"/>
            </a:pPr>
            <a:r>
              <a:rPr lang="en-US" sz="1200" dirty="0">
                <a:solidFill>
                  <a:srgbClr val="20241F"/>
                </a:solidFill>
              </a:rPr>
              <a:t>Our processes</a:t>
            </a:r>
            <a:endParaRPr lang="en-US" sz="1200" dirty="0"/>
          </a:p>
        </p:txBody>
      </p:sp>
      <p:sp>
        <p:nvSpPr>
          <p:cNvPr id="13" name="Text 34"/>
          <p:cNvSpPr txBox="1"/>
          <p:nvPr/>
        </p:nvSpPr>
        <p:spPr>
          <a:xfrm>
            <a:off x="5760720" y="19659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HOW TO MEASURE</a:t>
            </a:r>
            <a:endParaRPr lang="en-US" sz="1000" dirty="0"/>
          </a:p>
        </p:txBody>
      </p:sp>
      <p:sp>
        <p:nvSpPr>
          <p:cNvPr id="14" name="Text 35"/>
          <p:cNvSpPr txBox="1"/>
          <p:nvPr/>
        </p:nvSpPr>
        <p:spPr>
          <a:xfrm>
            <a:off x="5760720" y="22677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Domain certification</a:t>
            </a:r>
            <a:endParaRPr lang="en-US" sz="1200" dirty="0"/>
          </a:p>
          <a:p>
            <a:pPr marL="139700" indent="-139700">
              <a:spcAft>
                <a:spcPts val="100"/>
              </a:spcAft>
              <a:buSzPct val="100000"/>
              <a:buChar char="•"/>
            </a:pPr>
            <a:r>
              <a:rPr lang="en-US" sz="1200" dirty="0">
                <a:solidFill>
                  <a:srgbClr val="20241F"/>
                </a:solidFill>
              </a:rPr>
              <a:t>Pipeline build pace</a:t>
            </a:r>
            <a:endParaRPr lang="en-US" sz="1200" dirty="0"/>
          </a:p>
          <a:p>
            <a:pPr marL="139700" indent="-139700">
              <a:spcAft>
                <a:spcPts val="100"/>
              </a:spcAft>
              <a:buSzPct val="100000"/>
              <a:buChar char="•"/>
            </a:pPr>
            <a:r>
              <a:rPr lang="en-US" sz="1200" dirty="0">
                <a:solidFill>
                  <a:srgbClr val="20241F"/>
                </a:solidFill>
              </a:rPr>
              <a:t>Bookings</a:t>
            </a:r>
            <a:endParaRPr lang="en-US" sz="1200" dirty="0"/>
          </a:p>
          <a:p>
            <a:pPr marL="139700" indent="-139700">
              <a:spcAft>
                <a:spcPts val="100"/>
              </a:spcAft>
              <a:buSzPct val="100000"/>
              <a:buChar char="•"/>
            </a:pPr>
            <a:r>
              <a:rPr lang="en-US" sz="1200" dirty="0">
                <a:solidFill>
                  <a:srgbClr val="20241F"/>
                </a:solidFill>
              </a:rPr>
              <a:t>Forecast accuracy</a:t>
            </a:r>
            <a:endParaRPr lang="en-US" sz="1200" dirty="0"/>
          </a:p>
        </p:txBody>
      </p:sp>
      <p:sp>
        <p:nvSpPr>
          <p:cNvPr id="15" name="Mid-market account executive 36"/>
          <p:cNvSpPr/>
          <p:nvPr/>
        </p:nvSpPr>
        <p:spPr>
          <a:xfrm>
            <a:off x="365760" y="3886200"/>
            <a:ext cx="7818120" cy="2377440"/>
          </a:xfrm>
          <a:prstGeom prst="roundRect">
            <a:avLst>
              <a:gd name="adj" fmla="val 4615"/>
            </a:avLst>
          </a:prstGeom>
          <a:solidFill>
            <a:srgbClr val="FFFFFF"/>
          </a:solidFill>
          <a:ln/>
          <a:effectLst>
            <a:outerShdw sx="100000" sy="100000" kx="0" ky="0" algn="bl" rotWithShape="0" blurRad="177800" dist="50800" dir="5400000">
              <a:srgbClr val="16261D">
                <a:alpha val="14000"/>
              </a:srgbClr>
            </a:outerShdw>
          </a:effectLst>
        </p:spPr>
      </p:sp>
      <p:sp>
        <p:nvSpPr>
          <p:cNvPr id="16" name="Role header"/>
          <p:cNvSpPr/>
          <p:nvPr/>
        </p:nvSpPr>
        <p:spPr>
          <a:xfrm>
            <a:off x="365760" y="3886200"/>
            <a:ext cx="7818120" cy="457200"/>
          </a:xfrm>
          <a:prstGeom prst="roundRect">
            <a:avLst>
              <a:gd name="adj" fmla="val 24000"/>
            </a:avLst>
          </a:prstGeom>
          <a:solidFill>
            <a:srgbClr val="1F3529"/>
          </a:solidFill>
          <a:ln/>
        </p:spPr>
      </p:sp>
      <p:sp>
        <p:nvSpPr>
          <p:cNvPr id="17" name="Role header base"/>
          <p:cNvSpPr/>
          <p:nvPr/>
        </p:nvSpPr>
        <p:spPr>
          <a:xfrm>
            <a:off x="365760" y="4160520"/>
            <a:ext cx="7818120" cy="182880"/>
          </a:xfrm>
          <a:prstGeom prst="rect">
            <a:avLst/>
          </a:prstGeom>
          <a:solidFill>
            <a:srgbClr val="1F3529"/>
          </a:solidFill>
          <a:ln/>
        </p:spPr>
      </p:sp>
      <p:sp>
        <p:nvSpPr>
          <p:cNvPr id="18" name="Text 37"/>
          <p:cNvSpPr txBox="1"/>
          <p:nvPr/>
        </p:nvSpPr>
        <p:spPr>
          <a:xfrm>
            <a:off x="640080" y="3886200"/>
            <a:ext cx="5486400" cy="457200"/>
          </a:xfrm>
          <a:prstGeom prst="rect">
            <a:avLst/>
          </a:prstGeom>
          <a:noFill/>
          <a:ln/>
        </p:spPr>
        <p:txBody>
          <a:bodyPr wrap="square" lIns="0" tIns="0" rIns="0" bIns="0" rtlCol="0" anchor="ctr"/>
          <a:lstStyle/>
          <a:p>
            <a:pPr indent="0" marL="0">
              <a:buNone/>
            </a:pPr>
            <a:r>
              <a:rPr lang="en-US" sz="1500" b="1" dirty="0">
                <a:solidFill>
                  <a:srgbClr val="F5F7F0"/>
                </a:solidFill>
              </a:rPr>
              <a:t>Mid-market account executive</a:t>
            </a:r>
            <a:endParaRPr lang="en-US" sz="1500" dirty="0"/>
          </a:p>
        </p:txBody>
      </p:sp>
      <p:sp>
        <p:nvSpPr>
          <p:cNvPr id="19" name="Text 38"/>
          <p:cNvSpPr txBox="1"/>
          <p:nvPr/>
        </p:nvSpPr>
        <p:spPr>
          <a:xfrm>
            <a:off x="640080" y="44805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TALENTS</a:t>
            </a:r>
            <a:endParaRPr lang="en-US" sz="1000" dirty="0"/>
          </a:p>
        </p:txBody>
      </p:sp>
      <p:sp>
        <p:nvSpPr>
          <p:cNvPr id="20" name="Text 39"/>
          <p:cNvSpPr txBox="1"/>
          <p:nvPr/>
        </p:nvSpPr>
        <p:spPr>
          <a:xfrm>
            <a:off x="640080" y="47823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Sales disposition</a:t>
            </a:r>
            <a:endParaRPr lang="en-US" sz="1200" dirty="0"/>
          </a:p>
          <a:p>
            <a:pPr marL="139700" indent="-139700">
              <a:spcAft>
                <a:spcPts val="100"/>
              </a:spcAft>
              <a:buSzPct val="100000"/>
              <a:buChar char="•"/>
            </a:pPr>
            <a:r>
              <a:rPr lang="en-US" sz="1200" dirty="0">
                <a:solidFill>
                  <a:srgbClr val="20241F"/>
                </a:solidFill>
              </a:rPr>
              <a:t>Aptitude</a:t>
            </a:r>
            <a:endParaRPr lang="en-US" sz="1200" dirty="0"/>
          </a:p>
          <a:p>
            <a:pPr marL="139700" indent="-139700">
              <a:spcAft>
                <a:spcPts val="100"/>
              </a:spcAft>
              <a:buSzPct val="100000"/>
              <a:buChar char="•"/>
            </a:pPr>
            <a:r>
              <a:rPr lang="en-US" sz="1200" dirty="0">
                <a:solidFill>
                  <a:srgbClr val="20241F"/>
                </a:solidFill>
              </a:rPr>
              <a:t>2+ years’ domain experience</a:t>
            </a:r>
            <a:endParaRPr lang="en-US" sz="1200" dirty="0"/>
          </a:p>
          <a:p>
            <a:pPr marL="139700" indent="-139700">
              <a:spcAft>
                <a:spcPts val="100"/>
              </a:spcAft>
              <a:buSzPct val="100000"/>
              <a:buChar char="•"/>
            </a:pPr>
            <a:r>
              <a:rPr lang="en-US" sz="1200" dirty="0">
                <a:solidFill>
                  <a:srgbClr val="20241F"/>
                </a:solidFill>
              </a:rPr>
              <a:t>Business acumen</a:t>
            </a:r>
            <a:endParaRPr lang="en-US" sz="1200" dirty="0"/>
          </a:p>
        </p:txBody>
      </p:sp>
      <p:sp>
        <p:nvSpPr>
          <p:cNvPr id="21" name="Text 40"/>
          <p:cNvSpPr txBox="1"/>
          <p:nvPr/>
        </p:nvSpPr>
        <p:spPr>
          <a:xfrm>
            <a:off x="3200400" y="44805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SKILLS TO BUILD</a:t>
            </a:r>
            <a:endParaRPr lang="en-US" sz="1000" dirty="0"/>
          </a:p>
        </p:txBody>
      </p:sp>
      <p:sp>
        <p:nvSpPr>
          <p:cNvPr id="22" name="Text 41"/>
          <p:cNvSpPr txBox="1"/>
          <p:nvPr/>
        </p:nvSpPr>
        <p:spPr>
          <a:xfrm>
            <a:off x="3200400" y="47823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Prospecting</a:t>
            </a:r>
            <a:endParaRPr lang="en-US" sz="1200" dirty="0"/>
          </a:p>
          <a:p>
            <a:pPr marL="139700" indent="-139700">
              <a:spcAft>
                <a:spcPts val="100"/>
              </a:spcAft>
              <a:buSzPct val="100000"/>
              <a:buChar char="•"/>
            </a:pPr>
            <a:r>
              <a:rPr lang="en-US" sz="1200" dirty="0">
                <a:solidFill>
                  <a:srgbClr val="20241F"/>
                </a:solidFill>
              </a:rPr>
              <a:t>Discovery</a:t>
            </a:r>
            <a:endParaRPr lang="en-US" sz="1200" dirty="0"/>
          </a:p>
          <a:p>
            <a:pPr marL="139700" indent="-139700">
              <a:spcAft>
                <a:spcPts val="100"/>
              </a:spcAft>
              <a:buSzPct val="100000"/>
              <a:buChar char="•"/>
            </a:pPr>
            <a:r>
              <a:rPr lang="en-US" sz="1200" dirty="0">
                <a:solidFill>
                  <a:srgbClr val="20241F"/>
                </a:solidFill>
              </a:rPr>
              <a:t>Qualifying</a:t>
            </a:r>
            <a:endParaRPr lang="en-US" sz="1200" dirty="0"/>
          </a:p>
          <a:p>
            <a:pPr marL="139700" indent="-139700">
              <a:spcAft>
                <a:spcPts val="100"/>
              </a:spcAft>
              <a:buSzPct val="100000"/>
              <a:buChar char="•"/>
            </a:pPr>
            <a:r>
              <a:rPr lang="en-US" sz="1200" dirty="0">
                <a:solidFill>
                  <a:srgbClr val="20241F"/>
                </a:solidFill>
              </a:rPr>
              <a:t>Value selling</a:t>
            </a:r>
            <a:endParaRPr lang="en-US" sz="1200" dirty="0"/>
          </a:p>
          <a:p>
            <a:pPr marL="139700" indent="-139700">
              <a:spcAft>
                <a:spcPts val="100"/>
              </a:spcAft>
              <a:buSzPct val="100000"/>
              <a:buChar char="•"/>
            </a:pPr>
            <a:r>
              <a:rPr lang="en-US" sz="1200" dirty="0">
                <a:solidFill>
                  <a:srgbClr val="20241F"/>
                </a:solidFill>
              </a:rPr>
              <a:t>ROI communication</a:t>
            </a:r>
            <a:endParaRPr lang="en-US" sz="1200" dirty="0"/>
          </a:p>
        </p:txBody>
      </p:sp>
      <p:sp>
        <p:nvSpPr>
          <p:cNvPr id="23" name="Text 42"/>
          <p:cNvSpPr txBox="1"/>
          <p:nvPr/>
        </p:nvSpPr>
        <p:spPr>
          <a:xfrm>
            <a:off x="5760720" y="4480560"/>
            <a:ext cx="2377440" cy="274320"/>
          </a:xfrm>
          <a:prstGeom prst="rect">
            <a:avLst/>
          </a:prstGeom>
          <a:noFill/>
          <a:ln/>
        </p:spPr>
        <p:txBody>
          <a:bodyPr wrap="square" lIns="0" tIns="0" rIns="0" bIns="0" rtlCol="0" anchor="t"/>
          <a:lstStyle/>
          <a:p>
            <a:pPr indent="0" marL="0">
              <a:buNone/>
            </a:pPr>
            <a:r>
              <a:rPr lang="en-US" sz="1000" b="1" spc="200" kern="0" dirty="0">
                <a:solidFill>
                  <a:srgbClr val="56604E"/>
                </a:solidFill>
              </a:rPr>
              <a:t>HOW TO MEASURE</a:t>
            </a:r>
            <a:endParaRPr lang="en-US" sz="1000" dirty="0"/>
          </a:p>
        </p:txBody>
      </p:sp>
      <p:sp>
        <p:nvSpPr>
          <p:cNvPr id="24" name="Text 43"/>
          <p:cNvSpPr txBox="1"/>
          <p:nvPr/>
        </p:nvSpPr>
        <p:spPr>
          <a:xfrm>
            <a:off x="5760720" y="4782312"/>
            <a:ext cx="2377440" cy="1417320"/>
          </a:xfrm>
          <a:prstGeom prst="rect">
            <a:avLst/>
          </a:prstGeom>
          <a:noFill/>
          <a:ln/>
        </p:spPr>
        <p:txBody>
          <a:bodyPr wrap="square" lIns="0" tIns="0" rIns="0" bIns="0" rtlCol="0" anchor="t"/>
          <a:lstStyle/>
          <a:p>
            <a:pPr marL="139700" indent="-139700">
              <a:spcAft>
                <a:spcPts val="100"/>
              </a:spcAft>
              <a:buSzPct val="100000"/>
              <a:buChar char="•"/>
            </a:pPr>
            <a:r>
              <a:rPr lang="en-US" sz="1200" dirty="0">
                <a:solidFill>
                  <a:srgbClr val="20241F"/>
                </a:solidFill>
              </a:rPr>
              <a:t>Sales skill certification</a:t>
            </a:r>
            <a:endParaRPr lang="en-US" sz="1200" dirty="0"/>
          </a:p>
          <a:p>
            <a:pPr marL="139700" indent="-139700">
              <a:spcAft>
                <a:spcPts val="100"/>
              </a:spcAft>
              <a:buSzPct val="100000"/>
              <a:buChar char="•"/>
            </a:pPr>
            <a:r>
              <a:rPr lang="en-US" sz="1200" dirty="0">
                <a:solidFill>
                  <a:srgbClr val="20241F"/>
                </a:solidFill>
              </a:rPr>
              <a:t>Pipeline build pace</a:t>
            </a:r>
            <a:endParaRPr lang="en-US" sz="1200" dirty="0"/>
          </a:p>
          <a:p>
            <a:pPr marL="139700" indent="-139700">
              <a:spcAft>
                <a:spcPts val="100"/>
              </a:spcAft>
              <a:buSzPct val="100000"/>
              <a:buChar char="•"/>
            </a:pPr>
            <a:r>
              <a:rPr lang="en-US" sz="1200" dirty="0">
                <a:solidFill>
                  <a:srgbClr val="20241F"/>
                </a:solidFill>
              </a:rPr>
              <a:t>Bookings</a:t>
            </a:r>
            <a:endParaRPr lang="en-US" sz="1200" dirty="0"/>
          </a:p>
          <a:p>
            <a:pPr marL="139700" indent="-139700">
              <a:spcAft>
                <a:spcPts val="100"/>
              </a:spcAft>
              <a:buSzPct val="100000"/>
              <a:buChar char="•"/>
            </a:pPr>
            <a:r>
              <a:rPr lang="en-US" sz="1200" dirty="0">
                <a:solidFill>
                  <a:srgbClr val="20241F"/>
                </a:solidFill>
              </a:rPr>
              <a:t>Forecast accuracy</a:t>
            </a:r>
            <a:endParaRPr lang="en-US" sz="1200" dirty="0"/>
          </a:p>
        </p:txBody>
      </p:sp>
      <p:sp>
        <p:nvSpPr>
          <p:cNvPr id="25" name="Human resources 44"/>
          <p:cNvSpPr/>
          <p:nvPr/>
        </p:nvSpPr>
        <p:spPr>
          <a:xfrm>
            <a:off x="8458200" y="1371600"/>
            <a:ext cx="3364992" cy="1527048"/>
          </a:xfrm>
          <a:prstGeom prst="roundRect">
            <a:avLst>
              <a:gd name="adj" fmla="val 7186"/>
            </a:avLst>
          </a:prstGeom>
          <a:solidFill>
            <a:srgbClr val="16261D"/>
          </a:solidFill>
          <a:ln/>
          <a:effectLst>
            <a:outerShdw sx="100000" sy="100000" kx="0" ky="0" algn="bl" rotWithShape="0" blurRad="177800" dist="50800" dir="5400000">
              <a:srgbClr val="16261D">
                <a:alpha val="14000"/>
              </a:srgbClr>
            </a:outerShdw>
          </a:effectLst>
        </p:spPr>
      </p:sp>
      <p:sp>
        <p:nvSpPr>
          <p:cNvPr id="26" name="Text 45"/>
          <p:cNvSpPr txBox="1"/>
          <p:nvPr/>
        </p:nvSpPr>
        <p:spPr>
          <a:xfrm>
            <a:off x="8686800" y="1508760"/>
            <a:ext cx="731520" cy="365760"/>
          </a:xfrm>
          <a:prstGeom prst="rect">
            <a:avLst/>
          </a:prstGeom>
          <a:noFill/>
          <a:ln/>
        </p:spPr>
        <p:txBody>
          <a:bodyPr wrap="square" lIns="0" tIns="0" rIns="0" bIns="0" rtlCol="0" anchor="t"/>
          <a:lstStyle/>
          <a:p>
            <a:pPr indent="0" marL="0">
              <a:buNone/>
            </a:pPr>
            <a:r>
              <a:rPr lang="en-US" sz="1800" dirty="0">
                <a:solidFill>
                  <a:srgbClr val="93A87B"/>
                </a:solidFill>
                <a:latin typeface="Georgia" pitchFamily="34" charset="0"/>
                <a:ea typeface="Georgia" pitchFamily="34" charset="-122"/>
                <a:cs typeface="Georgia" pitchFamily="34" charset="-120"/>
              </a:rPr>
              <a:t>01</a:t>
            </a:r>
            <a:endParaRPr lang="en-US" sz="1800" dirty="0"/>
          </a:p>
        </p:txBody>
      </p:sp>
      <p:sp>
        <p:nvSpPr>
          <p:cNvPr id="27" name="Icon badge 46"/>
          <p:cNvSpPr/>
          <p:nvPr/>
        </p:nvSpPr>
        <p:spPr>
          <a:xfrm>
            <a:off x="10881360" y="1554480"/>
            <a:ext cx="731520" cy="731520"/>
          </a:xfrm>
          <a:prstGeom prst="ellipse">
            <a:avLst/>
          </a:prstGeom>
          <a:solidFill>
            <a:srgbClr val="1F3529"/>
          </a:solidFill>
          <a:ln/>
        </p:spPr>
      </p:sp>
      <p:pic>
        <p:nvPicPr>
          <p:cNvPr id="28" name="Image 0" descr="UsersGroup icon">    </p:cNvPr>
          <p:cNvPicPr>
            <a:picLocks noChangeAspect="1"/>
          </p:cNvPicPr>
          <p:nvPr/>
        </p:nvPicPr>
        <p:blipFill>
          <a:blip r:embed="rId1"/>
          <a:stretch>
            <a:fillRect/>
          </a:stretch>
        </p:blipFill>
        <p:spPr>
          <a:xfrm>
            <a:off x="11042294" y="1715414"/>
            <a:ext cx="409651" cy="409651"/>
          </a:xfrm>
          <a:prstGeom prst="rect">
            <a:avLst/>
          </a:prstGeom>
        </p:spPr>
      </p:pic>
      <p:sp>
        <p:nvSpPr>
          <p:cNvPr id="29" name="Text 47"/>
          <p:cNvSpPr txBox="1"/>
          <p:nvPr/>
        </p:nvSpPr>
        <p:spPr>
          <a:xfrm>
            <a:off x="8686800" y="1920240"/>
            <a:ext cx="2194560" cy="365760"/>
          </a:xfrm>
          <a:prstGeom prst="rect">
            <a:avLst/>
          </a:prstGeom>
          <a:noFill/>
          <a:ln/>
        </p:spPr>
        <p:txBody>
          <a:bodyPr wrap="square" lIns="0" tIns="0" rIns="0" bIns="0" rtlCol="0" anchor="t"/>
          <a:lstStyle/>
          <a:p>
            <a:pPr indent="0" marL="0">
              <a:buNone/>
            </a:pPr>
            <a:r>
              <a:rPr lang="en-US" sz="1600" b="1" dirty="0">
                <a:solidFill>
                  <a:srgbClr val="F5F7F0"/>
                </a:solidFill>
              </a:rPr>
              <a:t>Human resources</a:t>
            </a:r>
            <a:endParaRPr lang="en-US" sz="1600" dirty="0"/>
          </a:p>
        </p:txBody>
      </p:sp>
      <p:sp>
        <p:nvSpPr>
          <p:cNvPr id="30" name="Text 48"/>
          <p:cNvSpPr txBox="1"/>
          <p:nvPr/>
        </p:nvSpPr>
        <p:spPr>
          <a:xfrm>
            <a:off x="8686800" y="2286000"/>
            <a:ext cx="2194560" cy="548640"/>
          </a:xfrm>
          <a:prstGeom prst="rect">
            <a:avLst/>
          </a:prstGeom>
          <a:noFill/>
          <a:ln/>
        </p:spPr>
        <p:txBody>
          <a:bodyPr wrap="square" lIns="0" tIns="0" rIns="0" bIns="0" rtlCol="0" anchor="t"/>
          <a:lstStyle/>
          <a:p>
            <a:pPr indent="0" marL="0">
              <a:buNone/>
            </a:pPr>
            <a:r>
              <a:rPr lang="en-US" sz="1200" dirty="0">
                <a:solidFill>
                  <a:srgbClr val="C9D3C0"/>
                </a:solidFill>
              </a:rPr>
              <a:t>Hires against the talents</a:t>
            </a:r>
            <a:endParaRPr lang="en-US" sz="1200" dirty="0"/>
          </a:p>
        </p:txBody>
      </p:sp>
      <p:sp>
        <p:nvSpPr>
          <p:cNvPr id="31" name="Management 49"/>
          <p:cNvSpPr/>
          <p:nvPr/>
        </p:nvSpPr>
        <p:spPr>
          <a:xfrm>
            <a:off x="8458200" y="3044952"/>
            <a:ext cx="3364992" cy="1527048"/>
          </a:xfrm>
          <a:prstGeom prst="roundRect">
            <a:avLst>
              <a:gd name="adj" fmla="val 7186"/>
            </a:avLst>
          </a:prstGeom>
          <a:solidFill>
            <a:srgbClr val="16261D"/>
          </a:solidFill>
          <a:ln/>
          <a:effectLst>
            <a:outerShdw sx="100000" sy="100000" kx="0" ky="0" algn="bl" rotWithShape="0" blurRad="177800" dist="50800" dir="5400000">
              <a:srgbClr val="16261D">
                <a:alpha val="14000"/>
              </a:srgbClr>
            </a:outerShdw>
          </a:effectLst>
        </p:spPr>
      </p:sp>
      <p:sp>
        <p:nvSpPr>
          <p:cNvPr id="32" name="Text 50"/>
          <p:cNvSpPr txBox="1"/>
          <p:nvPr/>
        </p:nvSpPr>
        <p:spPr>
          <a:xfrm>
            <a:off x="8686800" y="3182112"/>
            <a:ext cx="731520" cy="365760"/>
          </a:xfrm>
          <a:prstGeom prst="rect">
            <a:avLst/>
          </a:prstGeom>
          <a:noFill/>
          <a:ln/>
        </p:spPr>
        <p:txBody>
          <a:bodyPr wrap="square" lIns="0" tIns="0" rIns="0" bIns="0" rtlCol="0" anchor="t"/>
          <a:lstStyle/>
          <a:p>
            <a:pPr indent="0" marL="0">
              <a:buNone/>
            </a:pPr>
            <a:r>
              <a:rPr lang="en-US" sz="1800" dirty="0">
                <a:solidFill>
                  <a:srgbClr val="93A87B"/>
                </a:solidFill>
                <a:latin typeface="Georgia" pitchFamily="34" charset="0"/>
                <a:ea typeface="Georgia" pitchFamily="34" charset="-122"/>
                <a:cs typeface="Georgia" pitchFamily="34" charset="-120"/>
              </a:rPr>
              <a:t>02</a:t>
            </a:r>
            <a:endParaRPr lang="en-US" sz="1800" dirty="0"/>
          </a:p>
        </p:txBody>
      </p:sp>
      <p:sp>
        <p:nvSpPr>
          <p:cNvPr id="33" name="Icon badge 51"/>
          <p:cNvSpPr/>
          <p:nvPr/>
        </p:nvSpPr>
        <p:spPr>
          <a:xfrm>
            <a:off x="10881360" y="3227832"/>
            <a:ext cx="731520" cy="731520"/>
          </a:xfrm>
          <a:prstGeom prst="ellipse">
            <a:avLst/>
          </a:prstGeom>
          <a:solidFill>
            <a:srgbClr val="1F3529"/>
          </a:solidFill>
          <a:ln/>
        </p:spPr>
      </p:sp>
      <p:pic>
        <p:nvPicPr>
          <p:cNvPr id="34" name="Image 1" descr="Users icon">    </p:cNvPr>
          <p:cNvPicPr>
            <a:picLocks noChangeAspect="1"/>
          </p:cNvPicPr>
          <p:nvPr/>
        </p:nvPicPr>
        <p:blipFill>
          <a:blip r:embed="rId2"/>
          <a:stretch>
            <a:fillRect/>
          </a:stretch>
        </p:blipFill>
        <p:spPr>
          <a:xfrm>
            <a:off x="11042294" y="3388766"/>
            <a:ext cx="409651" cy="409651"/>
          </a:xfrm>
          <a:prstGeom prst="rect">
            <a:avLst/>
          </a:prstGeom>
        </p:spPr>
      </p:pic>
      <p:sp>
        <p:nvSpPr>
          <p:cNvPr id="35" name="Text 52"/>
          <p:cNvSpPr txBox="1"/>
          <p:nvPr/>
        </p:nvSpPr>
        <p:spPr>
          <a:xfrm>
            <a:off x="8686800" y="3593592"/>
            <a:ext cx="2194560" cy="365760"/>
          </a:xfrm>
          <a:prstGeom prst="rect">
            <a:avLst/>
          </a:prstGeom>
          <a:noFill/>
          <a:ln/>
        </p:spPr>
        <p:txBody>
          <a:bodyPr wrap="square" lIns="0" tIns="0" rIns="0" bIns="0" rtlCol="0" anchor="t"/>
          <a:lstStyle/>
          <a:p>
            <a:pPr indent="0" marL="0">
              <a:buNone/>
            </a:pPr>
            <a:r>
              <a:rPr lang="en-US" sz="1600" b="1" dirty="0">
                <a:solidFill>
                  <a:srgbClr val="F5F7F0"/>
                </a:solidFill>
              </a:rPr>
              <a:t>Management</a:t>
            </a:r>
            <a:endParaRPr lang="en-US" sz="1600" dirty="0"/>
          </a:p>
        </p:txBody>
      </p:sp>
      <p:sp>
        <p:nvSpPr>
          <p:cNvPr id="36" name="Text 53"/>
          <p:cNvSpPr txBox="1"/>
          <p:nvPr/>
        </p:nvSpPr>
        <p:spPr>
          <a:xfrm>
            <a:off x="8686800" y="3959352"/>
            <a:ext cx="2194560" cy="548640"/>
          </a:xfrm>
          <a:prstGeom prst="rect">
            <a:avLst/>
          </a:prstGeom>
          <a:noFill/>
          <a:ln/>
        </p:spPr>
        <p:txBody>
          <a:bodyPr wrap="square" lIns="0" tIns="0" rIns="0" bIns="0" rtlCol="0" anchor="t"/>
          <a:lstStyle/>
          <a:p>
            <a:pPr indent="0" marL="0">
              <a:buNone/>
            </a:pPr>
            <a:r>
              <a:rPr lang="en-US" sz="1200" dirty="0">
                <a:solidFill>
                  <a:srgbClr val="C9D3C0"/>
                </a:solidFill>
              </a:rPr>
              <a:t>Coaches and measures against the metrics</a:t>
            </a:r>
            <a:endParaRPr lang="en-US" sz="1200" dirty="0"/>
          </a:p>
        </p:txBody>
      </p:sp>
      <p:sp>
        <p:nvSpPr>
          <p:cNvPr id="37" name="Training 54"/>
          <p:cNvSpPr/>
          <p:nvPr/>
        </p:nvSpPr>
        <p:spPr>
          <a:xfrm>
            <a:off x="8458200" y="4718304"/>
            <a:ext cx="3364992" cy="1527048"/>
          </a:xfrm>
          <a:prstGeom prst="roundRect">
            <a:avLst>
              <a:gd name="adj" fmla="val 7186"/>
            </a:avLst>
          </a:prstGeom>
          <a:solidFill>
            <a:srgbClr val="16261D"/>
          </a:solidFill>
          <a:ln/>
          <a:effectLst>
            <a:outerShdw sx="100000" sy="100000" kx="0" ky="0" algn="bl" rotWithShape="0" blurRad="177800" dist="50800" dir="5400000">
              <a:srgbClr val="16261D">
                <a:alpha val="14000"/>
              </a:srgbClr>
            </a:outerShdw>
          </a:effectLst>
        </p:spPr>
      </p:sp>
      <p:sp>
        <p:nvSpPr>
          <p:cNvPr id="38" name="Text 55"/>
          <p:cNvSpPr txBox="1"/>
          <p:nvPr/>
        </p:nvSpPr>
        <p:spPr>
          <a:xfrm>
            <a:off x="8686800" y="4855464"/>
            <a:ext cx="731520" cy="365760"/>
          </a:xfrm>
          <a:prstGeom prst="rect">
            <a:avLst/>
          </a:prstGeom>
          <a:noFill/>
          <a:ln/>
        </p:spPr>
        <p:txBody>
          <a:bodyPr wrap="square" lIns="0" tIns="0" rIns="0" bIns="0" rtlCol="0" anchor="t"/>
          <a:lstStyle/>
          <a:p>
            <a:pPr indent="0" marL="0">
              <a:buNone/>
            </a:pPr>
            <a:r>
              <a:rPr lang="en-US" sz="1800" dirty="0">
                <a:solidFill>
                  <a:srgbClr val="93A87B"/>
                </a:solidFill>
                <a:latin typeface="Georgia" pitchFamily="34" charset="0"/>
                <a:ea typeface="Georgia" pitchFamily="34" charset="-122"/>
                <a:cs typeface="Georgia" pitchFamily="34" charset="-120"/>
              </a:rPr>
              <a:t>03</a:t>
            </a:r>
            <a:endParaRPr lang="en-US" sz="1800" dirty="0"/>
          </a:p>
        </p:txBody>
      </p:sp>
      <p:sp>
        <p:nvSpPr>
          <p:cNvPr id="39" name="Icon badge 56"/>
          <p:cNvSpPr/>
          <p:nvPr/>
        </p:nvSpPr>
        <p:spPr>
          <a:xfrm>
            <a:off x="10881360" y="4901184"/>
            <a:ext cx="731520" cy="731520"/>
          </a:xfrm>
          <a:prstGeom prst="ellipse">
            <a:avLst/>
          </a:prstGeom>
          <a:solidFill>
            <a:srgbClr val="1F3529"/>
          </a:solidFill>
          <a:ln/>
        </p:spPr>
      </p:sp>
      <p:pic>
        <p:nvPicPr>
          <p:cNvPr id="40" name="Image 2" descr="School icon">    </p:cNvPr>
          <p:cNvPicPr>
            <a:picLocks noChangeAspect="1"/>
          </p:cNvPicPr>
          <p:nvPr/>
        </p:nvPicPr>
        <p:blipFill>
          <a:blip r:embed="rId3"/>
          <a:stretch>
            <a:fillRect/>
          </a:stretch>
        </p:blipFill>
        <p:spPr>
          <a:xfrm>
            <a:off x="11042294" y="5062118"/>
            <a:ext cx="409651" cy="409651"/>
          </a:xfrm>
          <a:prstGeom prst="rect">
            <a:avLst/>
          </a:prstGeom>
        </p:spPr>
      </p:pic>
      <p:sp>
        <p:nvSpPr>
          <p:cNvPr id="41" name="Text 57"/>
          <p:cNvSpPr txBox="1"/>
          <p:nvPr/>
        </p:nvSpPr>
        <p:spPr>
          <a:xfrm>
            <a:off x="8686800" y="5266944"/>
            <a:ext cx="2194560" cy="365760"/>
          </a:xfrm>
          <a:prstGeom prst="rect">
            <a:avLst/>
          </a:prstGeom>
          <a:noFill/>
          <a:ln/>
        </p:spPr>
        <p:txBody>
          <a:bodyPr wrap="square" lIns="0" tIns="0" rIns="0" bIns="0" rtlCol="0" anchor="t"/>
          <a:lstStyle/>
          <a:p>
            <a:pPr indent="0" marL="0">
              <a:buNone/>
            </a:pPr>
            <a:r>
              <a:rPr lang="en-US" sz="1600" b="1" dirty="0">
                <a:solidFill>
                  <a:srgbClr val="F5F7F0"/>
                </a:solidFill>
              </a:rPr>
              <a:t>Training</a:t>
            </a:r>
            <a:endParaRPr lang="en-US" sz="1600" dirty="0"/>
          </a:p>
        </p:txBody>
      </p:sp>
      <p:sp>
        <p:nvSpPr>
          <p:cNvPr id="42" name="Text 58"/>
          <p:cNvSpPr txBox="1"/>
          <p:nvPr/>
        </p:nvSpPr>
        <p:spPr>
          <a:xfrm>
            <a:off x="8686800" y="5632704"/>
            <a:ext cx="2194560" cy="548640"/>
          </a:xfrm>
          <a:prstGeom prst="rect">
            <a:avLst/>
          </a:prstGeom>
          <a:noFill/>
          <a:ln/>
        </p:spPr>
        <p:txBody>
          <a:bodyPr wrap="square" lIns="0" tIns="0" rIns="0" bIns="0" rtlCol="0" anchor="t"/>
          <a:lstStyle/>
          <a:p>
            <a:pPr indent="0" marL="0">
              <a:buNone/>
            </a:pPr>
            <a:r>
              <a:rPr lang="en-US" sz="1200" dirty="0">
                <a:solidFill>
                  <a:srgbClr val="C9D3C0"/>
                </a:solidFill>
              </a:rPr>
              <a:t>Builds the skills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ONBOARDING</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Boot camp: what every new seller learns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Hg Growth Summit 2025</a:t>
            </a:r>
            <a:endParaRPr lang="en-US" sz="1000" dirty="0"/>
          </a:p>
        </p:txBody>
      </p:sp>
      <p:sp>
        <p:nvSpPr>
          <p:cNvPr id="5" name="Customer 59"/>
          <p:cNvSpPr/>
          <p:nvPr/>
        </p:nvSpPr>
        <p:spPr>
          <a:xfrm>
            <a:off x="365760" y="1371600"/>
            <a:ext cx="1792224" cy="4892040"/>
          </a:xfrm>
          <a:prstGeom prst="roundRect">
            <a:avLst>
              <a:gd name="adj" fmla="val 6122"/>
            </a:avLst>
          </a:prstGeom>
          <a:solidFill>
            <a:srgbClr val="1F3529"/>
          </a:solidFill>
          <a:ln/>
          <a:effectLst>
            <a:outerShdw sx="100000" sy="100000" kx="0" ky="0" algn="bl" rotWithShape="0" blurRad="228600" dist="50800" dir="5400000">
              <a:srgbClr val="16261D">
                <a:alpha val="30000"/>
              </a:srgbClr>
            </a:outerShdw>
          </a:effectLst>
        </p:spPr>
      </p:sp>
      <p:sp>
        <p:nvSpPr>
          <p:cNvPr id="6" name="Text 60"/>
          <p:cNvSpPr txBox="1"/>
          <p:nvPr/>
        </p:nvSpPr>
        <p:spPr>
          <a:xfrm>
            <a:off x="548640" y="1554480"/>
            <a:ext cx="1426464" cy="731520"/>
          </a:xfrm>
          <a:prstGeom prst="rect">
            <a:avLst/>
          </a:prstGeom>
          <a:noFill/>
          <a:ln/>
        </p:spPr>
        <p:txBody>
          <a:bodyPr wrap="square" lIns="0" tIns="0" rIns="0" bIns="0" rtlCol="0" anchor="t"/>
          <a:lstStyle/>
          <a:p>
            <a:pPr indent="0" marL="0">
              <a:buNone/>
            </a:pPr>
            <a:r>
              <a:rPr lang="en-US" sz="1500" b="1" dirty="0">
                <a:solidFill>
                  <a:srgbClr val="F5F7F0"/>
                </a:solidFill>
              </a:rPr>
              <a:t>Customer</a:t>
            </a:r>
            <a:endParaRPr lang="en-US" sz="1500" dirty="0"/>
          </a:p>
        </p:txBody>
      </p:sp>
      <p:sp>
        <p:nvSpPr>
          <p:cNvPr id="7" name="Text 61"/>
          <p:cNvSpPr txBox="1"/>
          <p:nvPr/>
        </p:nvSpPr>
        <p:spPr>
          <a:xfrm>
            <a:off x="54864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F5F7F0"/>
                </a:solidFill>
              </a:rPr>
              <a:t>Vertical overview</a:t>
            </a:r>
            <a:endParaRPr lang="en-US" sz="1200" dirty="0"/>
          </a:p>
          <a:p>
            <a:pPr marL="127000" indent="-127000">
              <a:spcAft>
                <a:spcPts val="400"/>
              </a:spcAft>
              <a:buSzPct val="100000"/>
              <a:buChar char="•"/>
            </a:pPr>
            <a:r>
              <a:rPr lang="en-US" sz="1200" dirty="0">
                <a:solidFill>
                  <a:srgbClr val="F5F7F0"/>
                </a:solidFill>
              </a:rPr>
              <a:t>Personas</a:t>
            </a:r>
            <a:endParaRPr lang="en-US" sz="1200" dirty="0"/>
          </a:p>
          <a:p>
            <a:pPr marL="127000" indent="-127000">
              <a:spcAft>
                <a:spcPts val="400"/>
              </a:spcAft>
              <a:buSzPct val="100000"/>
              <a:buChar char="•"/>
            </a:pPr>
            <a:r>
              <a:rPr lang="en-US" sz="1200" dirty="0">
                <a:solidFill>
                  <a:srgbClr val="F5F7F0"/>
                </a:solidFill>
              </a:rPr>
              <a:t>Problems we solve</a:t>
            </a:r>
            <a:endParaRPr lang="en-US" sz="1200" dirty="0"/>
          </a:p>
          <a:p>
            <a:pPr marL="127000" indent="-127000">
              <a:spcAft>
                <a:spcPts val="400"/>
              </a:spcAft>
              <a:buSzPct val="100000"/>
              <a:buChar char="•"/>
            </a:pPr>
            <a:r>
              <a:rPr lang="en-US" sz="1200" dirty="0">
                <a:solidFill>
                  <a:srgbClr val="F5F7F0"/>
                </a:solidFill>
              </a:rPr>
              <a:t>Other problems they have</a:t>
            </a:r>
            <a:endParaRPr lang="en-US" sz="1200" dirty="0"/>
          </a:p>
          <a:p>
            <a:pPr marL="127000" indent="-127000">
              <a:spcAft>
                <a:spcPts val="400"/>
              </a:spcAft>
              <a:buSzPct val="100000"/>
              <a:buChar char="•"/>
            </a:pPr>
            <a:r>
              <a:rPr lang="en-US" sz="1200" dirty="0">
                <a:solidFill>
                  <a:srgbClr val="F5F7F0"/>
                </a:solidFill>
              </a:rPr>
              <a:t>Latest trends</a:t>
            </a:r>
            <a:endParaRPr lang="en-US" sz="1200" dirty="0"/>
          </a:p>
        </p:txBody>
      </p:sp>
      <p:sp>
        <p:nvSpPr>
          <p:cNvPr id="8" name="Icon badge 62"/>
          <p:cNvSpPr/>
          <p:nvPr/>
        </p:nvSpPr>
        <p:spPr>
          <a:xfrm>
            <a:off x="918972" y="5394960"/>
            <a:ext cx="685800" cy="685800"/>
          </a:xfrm>
          <a:prstGeom prst="ellipse">
            <a:avLst/>
          </a:prstGeom>
          <a:solidFill>
            <a:srgbClr val="16261D"/>
          </a:solidFill>
          <a:ln/>
        </p:spPr>
      </p:sp>
      <p:pic>
        <p:nvPicPr>
          <p:cNvPr id="9" name="Image 0" descr="UsersGroup icon">    </p:cNvPr>
          <p:cNvPicPr>
            <a:picLocks noChangeAspect="1"/>
          </p:cNvPicPr>
          <p:nvPr/>
        </p:nvPicPr>
        <p:blipFill>
          <a:blip r:embed="rId1"/>
          <a:stretch>
            <a:fillRect/>
          </a:stretch>
        </p:blipFill>
        <p:spPr>
          <a:xfrm>
            <a:off x="1069848" y="5545836"/>
            <a:ext cx="384048" cy="384048"/>
          </a:xfrm>
          <a:prstGeom prst="rect">
            <a:avLst/>
          </a:prstGeom>
        </p:spPr>
      </p:pic>
      <p:sp>
        <p:nvSpPr>
          <p:cNvPr id="10" name="Your company 63"/>
          <p:cNvSpPr/>
          <p:nvPr/>
        </p:nvSpPr>
        <p:spPr>
          <a:xfrm>
            <a:off x="2286000" y="1371600"/>
            <a:ext cx="1792224" cy="4892040"/>
          </a:xfrm>
          <a:prstGeom prst="roundRect">
            <a:avLst>
              <a:gd name="adj" fmla="val 6122"/>
            </a:avLst>
          </a:prstGeom>
          <a:solidFill>
            <a:srgbClr val="2B4535"/>
          </a:solidFill>
          <a:ln/>
          <a:effectLst>
            <a:outerShdw sx="100000" sy="100000" kx="0" ky="0" algn="bl" rotWithShape="0" blurRad="228600" dist="50800" dir="5400000">
              <a:srgbClr val="16261D">
                <a:alpha val="30000"/>
              </a:srgbClr>
            </a:outerShdw>
          </a:effectLst>
        </p:spPr>
      </p:sp>
      <p:sp>
        <p:nvSpPr>
          <p:cNvPr id="11" name="Text 64"/>
          <p:cNvSpPr txBox="1"/>
          <p:nvPr/>
        </p:nvSpPr>
        <p:spPr>
          <a:xfrm>
            <a:off x="2468880" y="1554480"/>
            <a:ext cx="1426464" cy="731520"/>
          </a:xfrm>
          <a:prstGeom prst="rect">
            <a:avLst/>
          </a:prstGeom>
          <a:noFill/>
          <a:ln/>
        </p:spPr>
        <p:txBody>
          <a:bodyPr wrap="square" lIns="0" tIns="0" rIns="0" bIns="0" rtlCol="0" anchor="t"/>
          <a:lstStyle/>
          <a:p>
            <a:pPr indent="0" marL="0">
              <a:buNone/>
            </a:pPr>
            <a:r>
              <a:rPr lang="en-US" sz="1500" b="1" dirty="0">
                <a:solidFill>
                  <a:srgbClr val="F5F7F0"/>
                </a:solidFill>
              </a:rPr>
              <a:t>Your company</a:t>
            </a:r>
            <a:endParaRPr lang="en-US" sz="1500" dirty="0"/>
          </a:p>
        </p:txBody>
      </p:sp>
      <p:sp>
        <p:nvSpPr>
          <p:cNvPr id="12" name="Text 65"/>
          <p:cNvSpPr txBox="1"/>
          <p:nvPr/>
        </p:nvSpPr>
        <p:spPr>
          <a:xfrm>
            <a:off x="246888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F5F7F0"/>
                </a:solidFill>
              </a:rPr>
              <a:t>History</a:t>
            </a:r>
            <a:endParaRPr lang="en-US" sz="1200" dirty="0"/>
          </a:p>
          <a:p>
            <a:pPr marL="127000" indent="-127000">
              <a:spcAft>
                <a:spcPts val="400"/>
              </a:spcAft>
              <a:buSzPct val="100000"/>
              <a:buChar char="•"/>
            </a:pPr>
            <a:r>
              <a:rPr lang="en-US" sz="1200" dirty="0">
                <a:solidFill>
                  <a:srgbClr val="F5F7F0"/>
                </a:solidFill>
              </a:rPr>
              <a:t>3–5 year vision</a:t>
            </a:r>
            <a:endParaRPr lang="en-US" sz="1200" dirty="0"/>
          </a:p>
          <a:p>
            <a:pPr marL="127000" indent="-127000">
              <a:spcAft>
                <a:spcPts val="400"/>
              </a:spcAft>
              <a:buSzPct val="100000"/>
              <a:buChar char="•"/>
            </a:pPr>
            <a:r>
              <a:rPr lang="en-US" sz="1200" dirty="0">
                <a:solidFill>
                  <a:srgbClr val="F5F7F0"/>
                </a:solidFill>
              </a:rPr>
              <a:t>Mission</a:t>
            </a:r>
            <a:endParaRPr lang="en-US" sz="1200" dirty="0"/>
          </a:p>
          <a:p>
            <a:pPr marL="127000" indent="-127000">
              <a:spcAft>
                <a:spcPts val="400"/>
              </a:spcAft>
              <a:buSzPct val="100000"/>
              <a:buChar char="•"/>
            </a:pPr>
            <a:r>
              <a:rPr lang="en-US" sz="1200" dirty="0">
                <a:solidFill>
                  <a:srgbClr val="F5F7F0"/>
                </a:solidFill>
              </a:rPr>
              <a:t>Customer success stories</a:t>
            </a:r>
            <a:endParaRPr lang="en-US" sz="1200" dirty="0"/>
          </a:p>
        </p:txBody>
      </p:sp>
      <p:sp>
        <p:nvSpPr>
          <p:cNvPr id="13" name="Icon badge 66"/>
          <p:cNvSpPr/>
          <p:nvPr/>
        </p:nvSpPr>
        <p:spPr>
          <a:xfrm>
            <a:off x="2839212" y="5394960"/>
            <a:ext cx="685800" cy="685800"/>
          </a:xfrm>
          <a:prstGeom prst="ellipse">
            <a:avLst/>
          </a:prstGeom>
          <a:solidFill>
            <a:srgbClr val="16261D"/>
          </a:solidFill>
          <a:ln/>
        </p:spPr>
      </p:sp>
      <p:pic>
        <p:nvPicPr>
          <p:cNvPr id="14" name="Image 1" descr="Target icon">    </p:cNvPr>
          <p:cNvPicPr>
            <a:picLocks noChangeAspect="1"/>
          </p:cNvPicPr>
          <p:nvPr/>
        </p:nvPicPr>
        <p:blipFill>
          <a:blip r:embed="rId2"/>
          <a:stretch>
            <a:fillRect/>
          </a:stretch>
        </p:blipFill>
        <p:spPr>
          <a:xfrm>
            <a:off x="2990088" y="5545836"/>
            <a:ext cx="384048" cy="384048"/>
          </a:xfrm>
          <a:prstGeom prst="rect">
            <a:avLst/>
          </a:prstGeom>
        </p:spPr>
      </p:pic>
      <p:sp>
        <p:nvSpPr>
          <p:cNvPr id="15" name="Processes and systems 67"/>
          <p:cNvSpPr/>
          <p:nvPr/>
        </p:nvSpPr>
        <p:spPr>
          <a:xfrm>
            <a:off x="4206240" y="1371600"/>
            <a:ext cx="1792224" cy="4892040"/>
          </a:xfrm>
          <a:prstGeom prst="roundRect">
            <a:avLst>
              <a:gd name="adj" fmla="val 6122"/>
            </a:avLst>
          </a:prstGeom>
          <a:solidFill>
            <a:srgbClr val="56604E"/>
          </a:solidFill>
          <a:ln/>
          <a:effectLst>
            <a:outerShdw sx="100000" sy="100000" kx="0" ky="0" algn="bl" rotWithShape="0" blurRad="228600" dist="50800" dir="5400000">
              <a:srgbClr val="16261D">
                <a:alpha val="30000"/>
              </a:srgbClr>
            </a:outerShdw>
          </a:effectLst>
        </p:spPr>
      </p:sp>
      <p:sp>
        <p:nvSpPr>
          <p:cNvPr id="16" name="Text 68"/>
          <p:cNvSpPr txBox="1"/>
          <p:nvPr/>
        </p:nvSpPr>
        <p:spPr>
          <a:xfrm>
            <a:off x="4389120" y="1554480"/>
            <a:ext cx="1426464" cy="731520"/>
          </a:xfrm>
          <a:prstGeom prst="rect">
            <a:avLst/>
          </a:prstGeom>
          <a:noFill/>
          <a:ln/>
        </p:spPr>
        <p:txBody>
          <a:bodyPr wrap="square" lIns="0" tIns="0" rIns="0" bIns="0" rtlCol="0" anchor="t"/>
          <a:lstStyle/>
          <a:p>
            <a:pPr indent="0" marL="0">
              <a:buNone/>
            </a:pPr>
            <a:r>
              <a:rPr lang="en-US" sz="1500" b="1" dirty="0">
                <a:solidFill>
                  <a:srgbClr val="F5F7F0"/>
                </a:solidFill>
              </a:rPr>
              <a:t>Processes and systems</a:t>
            </a:r>
            <a:endParaRPr lang="en-US" sz="1500" dirty="0"/>
          </a:p>
        </p:txBody>
      </p:sp>
      <p:sp>
        <p:nvSpPr>
          <p:cNvPr id="17" name="Text 69"/>
          <p:cNvSpPr txBox="1"/>
          <p:nvPr/>
        </p:nvSpPr>
        <p:spPr>
          <a:xfrm>
            <a:off x="438912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F5F7F0"/>
                </a:solidFill>
              </a:rPr>
              <a:t>Lead process</a:t>
            </a:r>
            <a:endParaRPr lang="en-US" sz="1200" dirty="0"/>
          </a:p>
          <a:p>
            <a:pPr marL="127000" indent="-127000">
              <a:spcAft>
                <a:spcPts val="400"/>
              </a:spcAft>
              <a:buSzPct val="100000"/>
              <a:buChar char="•"/>
            </a:pPr>
            <a:r>
              <a:rPr lang="en-US" sz="1200" dirty="0">
                <a:solidFill>
                  <a:srgbClr val="F5F7F0"/>
                </a:solidFill>
              </a:rPr>
              <a:t>Sales process</a:t>
            </a:r>
            <a:endParaRPr lang="en-US" sz="1200" dirty="0"/>
          </a:p>
          <a:p>
            <a:pPr marL="127000" indent="-127000">
              <a:spcAft>
                <a:spcPts val="400"/>
              </a:spcAft>
              <a:buSzPct val="100000"/>
              <a:buChar char="•"/>
            </a:pPr>
            <a:r>
              <a:rPr lang="en-US" sz="1200" dirty="0">
                <a:solidFill>
                  <a:srgbClr val="F5F7F0"/>
                </a:solidFill>
              </a:rPr>
              <a:t>Forecast process</a:t>
            </a:r>
            <a:endParaRPr lang="en-US" sz="1200" dirty="0"/>
          </a:p>
          <a:p>
            <a:pPr marL="127000" indent="-127000">
              <a:spcAft>
                <a:spcPts val="400"/>
              </a:spcAft>
              <a:buSzPct val="100000"/>
              <a:buChar char="•"/>
            </a:pPr>
            <a:r>
              <a:rPr lang="en-US" sz="1200" dirty="0">
                <a:solidFill>
                  <a:srgbClr val="F5F7F0"/>
                </a:solidFill>
              </a:rPr>
              <a:t>CRM</a:t>
            </a:r>
            <a:endParaRPr lang="en-US" sz="1200" dirty="0"/>
          </a:p>
          <a:p>
            <a:pPr marL="127000" indent="-127000">
              <a:spcAft>
                <a:spcPts val="400"/>
              </a:spcAft>
              <a:buSzPct val="100000"/>
              <a:buChar char="•"/>
            </a:pPr>
            <a:r>
              <a:rPr lang="en-US" sz="1200" dirty="0">
                <a:solidFill>
                  <a:srgbClr val="F5F7F0"/>
                </a:solidFill>
              </a:rPr>
              <a:t>Tech stack</a:t>
            </a:r>
            <a:endParaRPr lang="en-US" sz="1200" dirty="0"/>
          </a:p>
          <a:p>
            <a:pPr marL="127000" indent="-127000">
              <a:spcAft>
                <a:spcPts val="400"/>
              </a:spcAft>
              <a:buSzPct val="100000"/>
              <a:buChar char="•"/>
            </a:pPr>
            <a:r>
              <a:rPr lang="en-US" sz="1200" dirty="0">
                <a:solidFill>
                  <a:srgbClr val="F5F7F0"/>
                </a:solidFill>
              </a:rPr>
              <a:t>Comp plan</a:t>
            </a:r>
            <a:endParaRPr lang="en-US" sz="1200" dirty="0"/>
          </a:p>
        </p:txBody>
      </p:sp>
      <p:sp>
        <p:nvSpPr>
          <p:cNvPr id="18" name="Icon badge 70"/>
          <p:cNvSpPr/>
          <p:nvPr/>
        </p:nvSpPr>
        <p:spPr>
          <a:xfrm>
            <a:off x="4759452" y="5394960"/>
            <a:ext cx="685800" cy="685800"/>
          </a:xfrm>
          <a:prstGeom prst="ellipse">
            <a:avLst/>
          </a:prstGeom>
          <a:solidFill>
            <a:srgbClr val="16261D"/>
          </a:solidFill>
          <a:ln/>
        </p:spPr>
      </p:sp>
      <p:pic>
        <p:nvPicPr>
          <p:cNvPr id="19" name="Image 2" descr="Stack2 icon">    </p:cNvPr>
          <p:cNvPicPr>
            <a:picLocks noChangeAspect="1"/>
          </p:cNvPicPr>
          <p:nvPr/>
        </p:nvPicPr>
        <p:blipFill>
          <a:blip r:embed="rId3"/>
          <a:stretch>
            <a:fillRect/>
          </a:stretch>
        </p:blipFill>
        <p:spPr>
          <a:xfrm>
            <a:off x="4910328" y="5545836"/>
            <a:ext cx="384048" cy="384048"/>
          </a:xfrm>
          <a:prstGeom prst="rect">
            <a:avLst/>
          </a:prstGeom>
        </p:spPr>
      </p:pic>
      <p:sp>
        <p:nvSpPr>
          <p:cNvPr id="20" name="Sales skills 71"/>
          <p:cNvSpPr/>
          <p:nvPr/>
        </p:nvSpPr>
        <p:spPr>
          <a:xfrm>
            <a:off x="6126480" y="1371600"/>
            <a:ext cx="1792224" cy="4892040"/>
          </a:xfrm>
          <a:prstGeom prst="roundRect">
            <a:avLst>
              <a:gd name="adj" fmla="val 6122"/>
            </a:avLst>
          </a:prstGeom>
          <a:solidFill>
            <a:srgbClr val="6E7D60"/>
          </a:solidFill>
          <a:ln/>
          <a:effectLst>
            <a:outerShdw sx="100000" sy="100000" kx="0" ky="0" algn="bl" rotWithShape="0" blurRad="228600" dist="50800" dir="5400000">
              <a:srgbClr val="16261D">
                <a:alpha val="30000"/>
              </a:srgbClr>
            </a:outerShdw>
          </a:effectLst>
        </p:spPr>
      </p:sp>
      <p:sp>
        <p:nvSpPr>
          <p:cNvPr id="21" name="Text 72"/>
          <p:cNvSpPr txBox="1"/>
          <p:nvPr/>
        </p:nvSpPr>
        <p:spPr>
          <a:xfrm>
            <a:off x="6309360" y="1554480"/>
            <a:ext cx="1426464" cy="731520"/>
          </a:xfrm>
          <a:prstGeom prst="rect">
            <a:avLst/>
          </a:prstGeom>
          <a:noFill/>
          <a:ln/>
        </p:spPr>
        <p:txBody>
          <a:bodyPr wrap="square" lIns="0" tIns="0" rIns="0" bIns="0" rtlCol="0" anchor="t"/>
          <a:lstStyle/>
          <a:p>
            <a:pPr indent="0" marL="0">
              <a:buNone/>
            </a:pPr>
            <a:r>
              <a:rPr lang="en-US" sz="1500" b="1" dirty="0">
                <a:solidFill>
                  <a:srgbClr val="F5F7F0"/>
                </a:solidFill>
              </a:rPr>
              <a:t>Sales skills</a:t>
            </a:r>
            <a:endParaRPr lang="en-US" sz="1500" dirty="0"/>
          </a:p>
        </p:txBody>
      </p:sp>
      <p:sp>
        <p:nvSpPr>
          <p:cNvPr id="22" name="Text 73"/>
          <p:cNvSpPr txBox="1"/>
          <p:nvPr/>
        </p:nvSpPr>
        <p:spPr>
          <a:xfrm>
            <a:off x="630936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F5F7F0"/>
                </a:solidFill>
              </a:rPr>
              <a:t>Prospecting</a:t>
            </a:r>
            <a:endParaRPr lang="en-US" sz="1200" dirty="0"/>
          </a:p>
          <a:p>
            <a:pPr marL="127000" indent="-127000">
              <a:spcAft>
                <a:spcPts val="400"/>
              </a:spcAft>
              <a:buSzPct val="100000"/>
              <a:buChar char="•"/>
            </a:pPr>
            <a:r>
              <a:rPr lang="en-US" sz="1200" dirty="0">
                <a:solidFill>
                  <a:srgbClr val="F5F7F0"/>
                </a:solidFill>
              </a:rPr>
              <a:t>Qualifying</a:t>
            </a:r>
            <a:endParaRPr lang="en-US" sz="1200" dirty="0"/>
          </a:p>
          <a:p>
            <a:pPr marL="127000" indent="-127000">
              <a:spcAft>
                <a:spcPts val="400"/>
              </a:spcAft>
              <a:buSzPct val="100000"/>
              <a:buChar char="•"/>
            </a:pPr>
            <a:r>
              <a:rPr lang="en-US" sz="1200" dirty="0">
                <a:solidFill>
                  <a:srgbClr val="F5F7F0"/>
                </a:solidFill>
              </a:rPr>
              <a:t>Discovery</a:t>
            </a:r>
            <a:endParaRPr lang="en-US" sz="1200" dirty="0"/>
          </a:p>
          <a:p>
            <a:pPr marL="127000" indent="-127000">
              <a:spcAft>
                <a:spcPts val="400"/>
              </a:spcAft>
              <a:buSzPct val="100000"/>
              <a:buChar char="•"/>
            </a:pPr>
            <a:r>
              <a:rPr lang="en-US" sz="1200" dirty="0">
                <a:solidFill>
                  <a:srgbClr val="F5F7F0"/>
                </a:solidFill>
              </a:rPr>
              <a:t>Pre-call planning</a:t>
            </a:r>
            <a:endParaRPr lang="en-US" sz="1200" dirty="0"/>
          </a:p>
          <a:p>
            <a:pPr marL="127000" indent="-127000">
              <a:spcAft>
                <a:spcPts val="400"/>
              </a:spcAft>
              <a:buSzPct val="100000"/>
              <a:buChar char="•"/>
            </a:pPr>
            <a:r>
              <a:rPr lang="en-US" sz="1200" dirty="0">
                <a:solidFill>
                  <a:srgbClr val="F5F7F0"/>
                </a:solidFill>
              </a:rPr>
              <a:t>Opportunity management</a:t>
            </a:r>
            <a:endParaRPr lang="en-US" sz="1200" dirty="0"/>
          </a:p>
          <a:p>
            <a:pPr marL="127000" indent="-127000">
              <a:spcAft>
                <a:spcPts val="400"/>
              </a:spcAft>
              <a:buSzPct val="100000"/>
              <a:buChar char="•"/>
            </a:pPr>
            <a:r>
              <a:rPr lang="en-US" sz="1200" dirty="0">
                <a:solidFill>
                  <a:srgbClr val="F5F7F0"/>
                </a:solidFill>
              </a:rPr>
              <a:t>Closing</a:t>
            </a:r>
            <a:endParaRPr lang="en-US" sz="1200" dirty="0"/>
          </a:p>
          <a:p>
            <a:pPr marL="127000" indent="-127000">
              <a:spcAft>
                <a:spcPts val="400"/>
              </a:spcAft>
              <a:buSzPct val="100000"/>
              <a:buChar char="•"/>
            </a:pPr>
            <a:r>
              <a:rPr lang="en-US" sz="1200" dirty="0">
                <a:solidFill>
                  <a:srgbClr val="F5F7F0"/>
                </a:solidFill>
              </a:rPr>
              <a:t>Account planning</a:t>
            </a:r>
            <a:endParaRPr lang="en-US" sz="1200" dirty="0"/>
          </a:p>
        </p:txBody>
      </p:sp>
      <p:sp>
        <p:nvSpPr>
          <p:cNvPr id="23" name="Icon badge 74"/>
          <p:cNvSpPr/>
          <p:nvPr/>
        </p:nvSpPr>
        <p:spPr>
          <a:xfrm>
            <a:off x="6679692" y="5394960"/>
            <a:ext cx="685800" cy="685800"/>
          </a:xfrm>
          <a:prstGeom prst="ellipse">
            <a:avLst/>
          </a:prstGeom>
          <a:solidFill>
            <a:srgbClr val="16261D"/>
          </a:solidFill>
          <a:ln/>
        </p:spPr>
      </p:sp>
      <p:pic>
        <p:nvPicPr>
          <p:cNvPr id="24" name="Image 3" descr="HeartHandshake icon">    </p:cNvPr>
          <p:cNvPicPr>
            <a:picLocks noChangeAspect="1"/>
          </p:cNvPicPr>
          <p:nvPr/>
        </p:nvPicPr>
        <p:blipFill>
          <a:blip r:embed="rId4"/>
          <a:stretch>
            <a:fillRect/>
          </a:stretch>
        </p:blipFill>
        <p:spPr>
          <a:xfrm>
            <a:off x="6830568" y="5545836"/>
            <a:ext cx="384048" cy="384048"/>
          </a:xfrm>
          <a:prstGeom prst="rect">
            <a:avLst/>
          </a:prstGeom>
        </p:spPr>
      </p:pic>
      <p:sp>
        <p:nvSpPr>
          <p:cNvPr id="25" name="Other functions 75"/>
          <p:cNvSpPr/>
          <p:nvPr/>
        </p:nvSpPr>
        <p:spPr>
          <a:xfrm>
            <a:off x="8046720" y="1371600"/>
            <a:ext cx="1792224" cy="4892040"/>
          </a:xfrm>
          <a:prstGeom prst="roundRect">
            <a:avLst>
              <a:gd name="adj" fmla="val 6122"/>
            </a:avLst>
          </a:prstGeom>
          <a:solidFill>
            <a:srgbClr val="1F3529"/>
          </a:solidFill>
          <a:ln/>
          <a:effectLst>
            <a:outerShdw sx="100000" sy="100000" kx="0" ky="0" algn="bl" rotWithShape="0" blurRad="228600" dist="50800" dir="5400000">
              <a:srgbClr val="16261D">
                <a:alpha val="30000"/>
              </a:srgbClr>
            </a:outerShdw>
          </a:effectLst>
        </p:spPr>
      </p:sp>
      <p:sp>
        <p:nvSpPr>
          <p:cNvPr id="26" name="Text 76"/>
          <p:cNvSpPr txBox="1"/>
          <p:nvPr/>
        </p:nvSpPr>
        <p:spPr>
          <a:xfrm>
            <a:off x="8229600" y="1554480"/>
            <a:ext cx="1426464" cy="731520"/>
          </a:xfrm>
          <a:prstGeom prst="rect">
            <a:avLst/>
          </a:prstGeom>
          <a:noFill/>
          <a:ln/>
        </p:spPr>
        <p:txBody>
          <a:bodyPr wrap="square" lIns="0" tIns="0" rIns="0" bIns="0" rtlCol="0" anchor="t"/>
          <a:lstStyle/>
          <a:p>
            <a:pPr indent="0" marL="0">
              <a:buNone/>
            </a:pPr>
            <a:r>
              <a:rPr lang="en-US" sz="1500" b="1" dirty="0">
                <a:solidFill>
                  <a:srgbClr val="F5F7F0"/>
                </a:solidFill>
              </a:rPr>
              <a:t>Other functions</a:t>
            </a:r>
            <a:endParaRPr lang="en-US" sz="1500" dirty="0"/>
          </a:p>
        </p:txBody>
      </p:sp>
      <p:sp>
        <p:nvSpPr>
          <p:cNvPr id="27" name="Text 77"/>
          <p:cNvSpPr txBox="1"/>
          <p:nvPr/>
        </p:nvSpPr>
        <p:spPr>
          <a:xfrm>
            <a:off x="822960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F5F7F0"/>
                </a:solidFill>
              </a:rPr>
              <a:t>Marketing</a:t>
            </a:r>
            <a:endParaRPr lang="en-US" sz="1200" dirty="0"/>
          </a:p>
          <a:p>
            <a:pPr marL="127000" indent="-127000">
              <a:spcAft>
                <a:spcPts val="400"/>
              </a:spcAft>
              <a:buSzPct val="100000"/>
              <a:buChar char="•"/>
            </a:pPr>
            <a:r>
              <a:rPr lang="en-US" sz="1200" dirty="0">
                <a:solidFill>
                  <a:srgbClr val="F5F7F0"/>
                </a:solidFill>
              </a:rPr>
              <a:t>Customer success</a:t>
            </a:r>
            <a:endParaRPr lang="en-US" sz="1200" dirty="0"/>
          </a:p>
          <a:p>
            <a:pPr marL="127000" indent="-127000">
              <a:spcAft>
                <a:spcPts val="400"/>
              </a:spcAft>
              <a:buSzPct val="100000"/>
              <a:buChar char="•"/>
            </a:pPr>
            <a:r>
              <a:rPr lang="en-US" sz="1200" dirty="0">
                <a:solidFill>
                  <a:srgbClr val="F5F7F0"/>
                </a:solidFill>
              </a:rPr>
              <a:t>Revenue ops</a:t>
            </a:r>
            <a:endParaRPr lang="en-US" sz="1200" dirty="0"/>
          </a:p>
          <a:p>
            <a:pPr marL="127000" indent="-127000">
              <a:spcAft>
                <a:spcPts val="400"/>
              </a:spcAft>
              <a:buSzPct val="100000"/>
              <a:buChar char="•"/>
            </a:pPr>
            <a:r>
              <a:rPr lang="en-US" sz="1200" dirty="0">
                <a:solidFill>
                  <a:srgbClr val="F5F7F0"/>
                </a:solidFill>
              </a:rPr>
              <a:t>Legal</a:t>
            </a:r>
            <a:endParaRPr lang="en-US" sz="1200" dirty="0"/>
          </a:p>
          <a:p>
            <a:pPr marL="127000" indent="-127000">
              <a:spcAft>
                <a:spcPts val="400"/>
              </a:spcAft>
              <a:buSzPct val="100000"/>
              <a:buChar char="•"/>
            </a:pPr>
            <a:r>
              <a:rPr lang="en-US" sz="1200" dirty="0">
                <a:solidFill>
                  <a:srgbClr val="F5F7F0"/>
                </a:solidFill>
              </a:rPr>
              <a:t>Customer support</a:t>
            </a:r>
            <a:endParaRPr lang="en-US" sz="1200" dirty="0"/>
          </a:p>
          <a:p>
            <a:pPr marL="127000" indent="-127000">
              <a:spcAft>
                <a:spcPts val="400"/>
              </a:spcAft>
              <a:buSzPct val="100000"/>
              <a:buChar char="•"/>
            </a:pPr>
            <a:r>
              <a:rPr lang="en-US" sz="1200" dirty="0">
                <a:solidFill>
                  <a:srgbClr val="F5F7F0"/>
                </a:solidFill>
              </a:rPr>
              <a:t>Pre-sales</a:t>
            </a:r>
            <a:endParaRPr lang="en-US" sz="1200" dirty="0"/>
          </a:p>
          <a:p>
            <a:pPr marL="127000" indent="-127000">
              <a:spcAft>
                <a:spcPts val="400"/>
              </a:spcAft>
              <a:buSzPct val="100000"/>
              <a:buChar char="•"/>
            </a:pPr>
            <a:r>
              <a:rPr lang="en-US" sz="1200" dirty="0">
                <a:solidFill>
                  <a:srgbClr val="F5F7F0"/>
                </a:solidFill>
              </a:rPr>
              <a:t>Professional services</a:t>
            </a:r>
            <a:endParaRPr lang="en-US" sz="1200" dirty="0"/>
          </a:p>
        </p:txBody>
      </p:sp>
      <p:sp>
        <p:nvSpPr>
          <p:cNvPr id="28" name="Icon badge 78"/>
          <p:cNvSpPr/>
          <p:nvPr/>
        </p:nvSpPr>
        <p:spPr>
          <a:xfrm>
            <a:off x="8599932" y="5394960"/>
            <a:ext cx="685800" cy="685800"/>
          </a:xfrm>
          <a:prstGeom prst="ellipse">
            <a:avLst/>
          </a:prstGeom>
          <a:solidFill>
            <a:srgbClr val="16261D"/>
          </a:solidFill>
          <a:ln/>
        </p:spPr>
      </p:sp>
      <p:pic>
        <p:nvPicPr>
          <p:cNvPr id="29" name="Image 4" descr="Users icon">    </p:cNvPr>
          <p:cNvPicPr>
            <a:picLocks noChangeAspect="1"/>
          </p:cNvPicPr>
          <p:nvPr/>
        </p:nvPicPr>
        <p:blipFill>
          <a:blip r:embed="rId5"/>
          <a:stretch>
            <a:fillRect/>
          </a:stretch>
        </p:blipFill>
        <p:spPr>
          <a:xfrm>
            <a:off x="8750808" y="5545836"/>
            <a:ext cx="384048" cy="384048"/>
          </a:xfrm>
          <a:prstGeom prst="rect">
            <a:avLst/>
          </a:prstGeom>
        </p:spPr>
      </p:pic>
      <p:sp>
        <p:nvSpPr>
          <p:cNvPr id="30" name="Products 79"/>
          <p:cNvSpPr/>
          <p:nvPr/>
        </p:nvSpPr>
        <p:spPr>
          <a:xfrm>
            <a:off x="9966960" y="1371600"/>
            <a:ext cx="1792224" cy="4892040"/>
          </a:xfrm>
          <a:prstGeom prst="roundRect">
            <a:avLst>
              <a:gd name="adj" fmla="val 6122"/>
            </a:avLst>
          </a:prstGeom>
          <a:solidFill>
            <a:srgbClr val="93A87B"/>
          </a:solidFill>
          <a:ln/>
          <a:effectLst>
            <a:outerShdw sx="100000" sy="100000" kx="0" ky="0" algn="bl" rotWithShape="0" blurRad="228600" dist="50800" dir="5400000">
              <a:srgbClr val="16261D">
                <a:alpha val="30000"/>
              </a:srgbClr>
            </a:outerShdw>
          </a:effectLst>
        </p:spPr>
      </p:sp>
      <p:sp>
        <p:nvSpPr>
          <p:cNvPr id="31" name="Text 80"/>
          <p:cNvSpPr txBox="1"/>
          <p:nvPr/>
        </p:nvSpPr>
        <p:spPr>
          <a:xfrm>
            <a:off x="10149840" y="1554480"/>
            <a:ext cx="1426464" cy="731520"/>
          </a:xfrm>
          <a:prstGeom prst="rect">
            <a:avLst/>
          </a:prstGeom>
          <a:noFill/>
          <a:ln/>
        </p:spPr>
        <p:txBody>
          <a:bodyPr wrap="square" lIns="0" tIns="0" rIns="0" bIns="0" rtlCol="0" anchor="t"/>
          <a:lstStyle/>
          <a:p>
            <a:pPr indent="0" marL="0">
              <a:buNone/>
            </a:pPr>
            <a:r>
              <a:rPr lang="en-US" sz="1500" b="1" dirty="0">
                <a:solidFill>
                  <a:srgbClr val="16261D"/>
                </a:solidFill>
              </a:rPr>
              <a:t>Products</a:t>
            </a:r>
            <a:endParaRPr lang="en-US" sz="1500" dirty="0"/>
          </a:p>
        </p:txBody>
      </p:sp>
      <p:sp>
        <p:nvSpPr>
          <p:cNvPr id="32" name="Text 81"/>
          <p:cNvSpPr txBox="1"/>
          <p:nvPr/>
        </p:nvSpPr>
        <p:spPr>
          <a:xfrm>
            <a:off x="10149840" y="2377440"/>
            <a:ext cx="1472184" cy="2834640"/>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rgbClr val="16261D"/>
                </a:solidFill>
              </a:rPr>
              <a:t>Current products</a:t>
            </a:r>
            <a:endParaRPr lang="en-US" sz="1200" dirty="0"/>
          </a:p>
          <a:p>
            <a:pPr marL="127000" indent="-127000">
              <a:spcAft>
                <a:spcPts val="400"/>
              </a:spcAft>
              <a:buSzPct val="100000"/>
              <a:buChar char="•"/>
            </a:pPr>
            <a:r>
              <a:rPr lang="en-US" sz="1200" dirty="0">
                <a:solidFill>
                  <a:srgbClr val="16261D"/>
                </a:solidFill>
              </a:rPr>
              <a:t>Product roadmap</a:t>
            </a:r>
            <a:endParaRPr lang="en-US" sz="1200" dirty="0"/>
          </a:p>
          <a:p>
            <a:pPr marL="127000" indent="-127000">
              <a:spcAft>
                <a:spcPts val="400"/>
              </a:spcAft>
              <a:buSzPct val="100000"/>
              <a:buChar char="•"/>
            </a:pPr>
            <a:r>
              <a:rPr lang="en-US" sz="1200" dirty="0">
                <a:solidFill>
                  <a:srgbClr val="16261D"/>
                </a:solidFill>
              </a:rPr>
              <a:t>Competitors</a:t>
            </a:r>
            <a:endParaRPr lang="en-US" sz="1200" dirty="0"/>
          </a:p>
          <a:p>
            <a:pPr marL="127000" indent="-127000">
              <a:spcAft>
                <a:spcPts val="400"/>
              </a:spcAft>
              <a:buSzPct val="100000"/>
              <a:buChar char="•"/>
            </a:pPr>
            <a:r>
              <a:rPr lang="en-US" sz="1200" dirty="0">
                <a:solidFill>
                  <a:srgbClr val="16261D"/>
                </a:solidFill>
              </a:rPr>
              <a:t>Objection handlers</a:t>
            </a:r>
            <a:endParaRPr lang="en-US" sz="1200" dirty="0"/>
          </a:p>
        </p:txBody>
      </p:sp>
      <p:sp>
        <p:nvSpPr>
          <p:cNvPr id="33" name="Icon badge 82"/>
          <p:cNvSpPr/>
          <p:nvPr/>
        </p:nvSpPr>
        <p:spPr>
          <a:xfrm>
            <a:off x="10520172" y="5394960"/>
            <a:ext cx="685800" cy="685800"/>
          </a:xfrm>
          <a:prstGeom prst="ellipse">
            <a:avLst/>
          </a:prstGeom>
          <a:solidFill>
            <a:srgbClr val="16261D"/>
          </a:solidFill>
          <a:ln/>
        </p:spPr>
      </p:sp>
      <p:pic>
        <p:nvPicPr>
          <p:cNvPr id="34" name="Image 5" descr="Sparkles icon">    </p:cNvPr>
          <p:cNvPicPr>
            <a:picLocks noChangeAspect="1"/>
          </p:cNvPicPr>
          <p:nvPr/>
        </p:nvPicPr>
        <p:blipFill>
          <a:blip r:embed="rId6"/>
          <a:stretch>
            <a:fillRect/>
          </a:stretch>
        </p:blipFill>
        <p:spPr>
          <a:xfrm>
            <a:off x="10671048" y="5545836"/>
            <a:ext cx="384048" cy="38404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THE REVOPS FLYWHEEL</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RevOps is more than sales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Intro"/>
          <p:cNvSpPr txBox="1"/>
          <p:nvPr/>
        </p:nvSpPr>
        <p:spPr>
          <a:xfrm>
            <a:off x="365760" y="1371600"/>
            <a:ext cx="3931920" cy="1097280"/>
          </a:xfrm>
          <a:prstGeom prst="rect">
            <a:avLst/>
          </a:prstGeom>
          <a:noFill/>
          <a:ln/>
        </p:spPr>
        <p:txBody>
          <a:bodyPr wrap="square" lIns="0" tIns="0" rIns="0" bIns="0" rtlCol="0" anchor="t"/>
          <a:lstStyle/>
          <a:p>
            <a:pPr indent="0" marL="0">
              <a:buNone/>
            </a:pPr>
            <a:r>
              <a:rPr lang="en-US" sz="1500" dirty="0">
                <a:solidFill>
                  <a:schemeClr val="tx1"/>
                </a:solidFill>
              </a:rPr>
              <a:t>RevOps spans the whole revenue engine. Every capability on the wheel sits in one of three functions, and each one feeds the others.</a:t>
            </a:r>
            <a:endParaRPr lang="en-US" sz="1500" dirty="0"/>
          </a:p>
        </p:txBody>
      </p:sp>
      <p:sp>
        <p:nvSpPr>
          <p:cNvPr id="6" name="Stat total"/>
          <p:cNvSpPr txBox="1"/>
          <p:nvPr/>
        </p:nvSpPr>
        <p:spPr>
          <a:xfrm>
            <a:off x="365760" y="2697480"/>
            <a:ext cx="3931920" cy="1234440"/>
          </a:xfrm>
          <a:prstGeom prst="rect">
            <a:avLst/>
          </a:prstGeom>
          <a:noFill/>
          <a:ln/>
        </p:spPr>
        <p:txBody>
          <a:bodyPr wrap="square" lIns="0" tIns="0" rIns="0" bIns="0" rtlCol="0" anchor="t"/>
          <a:lstStyle/>
          <a:p>
            <a:pPr indent="0" marL="0">
              <a:buNone/>
            </a:pPr>
            <a:r>
              <a:rPr lang="en-US" sz="7200" dirty="0">
                <a:solidFill>
                  <a:schemeClr val="tx2"/>
                </a:solidFill>
                <a:latin typeface="Georgia" pitchFamily="34" charset="0"/>
                <a:ea typeface="Georgia" pitchFamily="34" charset="-122"/>
                <a:cs typeface="Georgia" pitchFamily="34" charset="-120"/>
              </a:rPr>
              <a:t>62</a:t>
            </a:r>
            <a:endParaRPr lang="en-US" sz="7200" dirty="0"/>
          </a:p>
          <a:p>
            <a:pPr indent="0" marL="0">
              <a:buNone/>
            </a:pPr>
            <a:r>
              <a:rPr lang="en-US" sz="1300" dirty="0">
                <a:solidFill>
                  <a:schemeClr val="accent3"/>
                </a:solidFill>
                <a:latin typeface="Figtree" pitchFamily="34" charset="0"/>
                <a:ea typeface="Figtree" pitchFamily="34" charset="-122"/>
                <a:cs typeface="Figtree" pitchFamily="34" charset="-120"/>
              </a:rPr>
              <a:t>capabilities in one operating model</a:t>
            </a:r>
            <a:endParaRPr lang="en-US" sz="7200" dirty="0"/>
          </a:p>
        </p:txBody>
      </p:sp>
      <p:sp>
        <p:nvSpPr>
          <p:cNvPr id="7" name="Key Sales"/>
          <p:cNvSpPr/>
          <p:nvPr/>
        </p:nvSpPr>
        <p:spPr>
          <a:xfrm>
            <a:off x="365760" y="4261104"/>
            <a:ext cx="292608" cy="292608"/>
          </a:xfrm>
          <a:prstGeom prst="ellipse">
            <a:avLst/>
          </a:prstGeom>
          <a:solidFill>
            <a:srgbClr val="1F3529"/>
          </a:solidFill>
          <a:ln/>
        </p:spPr>
      </p:sp>
      <p:sp>
        <p:nvSpPr>
          <p:cNvPr id="8" name="Key label Sales"/>
          <p:cNvSpPr txBox="1"/>
          <p:nvPr/>
        </p:nvSpPr>
        <p:spPr>
          <a:xfrm>
            <a:off x="822960" y="4160520"/>
            <a:ext cx="3108960" cy="502920"/>
          </a:xfrm>
          <a:prstGeom prst="rect">
            <a:avLst/>
          </a:prstGeom>
          <a:noFill/>
          <a:ln/>
        </p:spPr>
        <p:txBody>
          <a:bodyPr wrap="square" lIns="0" tIns="0" rIns="0" bIns="0" rtlCol="0" anchor="ctr"/>
          <a:lstStyle/>
          <a:p>
            <a:pPr indent="0" marL="0">
              <a:buNone/>
            </a:pPr>
            <a:r>
              <a:rPr lang="en-US" sz="1500" dirty="0">
                <a:solidFill>
                  <a:schemeClr val="tx1"/>
                </a:solidFill>
              </a:rPr>
              <a:t>Sales</a:t>
            </a:r>
            <a:endParaRPr lang="en-US" sz="1500" dirty="0"/>
          </a:p>
          <a:p>
            <a:pPr indent="0" marL="0">
              <a:buNone/>
            </a:pPr>
            <a:r>
              <a:rPr lang="en-US" sz="1100" dirty="0">
                <a:solidFill>
                  <a:schemeClr val="accent3"/>
                </a:solidFill>
                <a:latin typeface="Figtree" pitchFamily="34" charset="0"/>
                <a:ea typeface="Figtree" pitchFamily="34" charset="-122"/>
                <a:cs typeface="Figtree" pitchFamily="34" charset="-120"/>
              </a:rPr>
              <a:t>22 capabilities</a:t>
            </a:r>
            <a:endParaRPr lang="en-US" sz="1500" dirty="0"/>
          </a:p>
        </p:txBody>
      </p:sp>
      <p:sp>
        <p:nvSpPr>
          <p:cNvPr id="9" name="Key Customer Success"/>
          <p:cNvSpPr/>
          <p:nvPr/>
        </p:nvSpPr>
        <p:spPr>
          <a:xfrm>
            <a:off x="365760" y="4946904"/>
            <a:ext cx="292608" cy="292608"/>
          </a:xfrm>
          <a:prstGeom prst="ellipse">
            <a:avLst/>
          </a:prstGeom>
          <a:solidFill>
            <a:srgbClr val="93A87B"/>
          </a:solidFill>
          <a:ln/>
        </p:spPr>
      </p:sp>
      <p:sp>
        <p:nvSpPr>
          <p:cNvPr id="10" name="Key label Customer Success"/>
          <p:cNvSpPr txBox="1"/>
          <p:nvPr/>
        </p:nvSpPr>
        <p:spPr>
          <a:xfrm>
            <a:off x="822960" y="4846320"/>
            <a:ext cx="3108960" cy="502920"/>
          </a:xfrm>
          <a:prstGeom prst="rect">
            <a:avLst/>
          </a:prstGeom>
          <a:noFill/>
          <a:ln/>
        </p:spPr>
        <p:txBody>
          <a:bodyPr wrap="square" lIns="0" tIns="0" rIns="0" bIns="0" rtlCol="0" anchor="ctr"/>
          <a:lstStyle/>
          <a:p>
            <a:pPr indent="0" marL="0">
              <a:buNone/>
            </a:pPr>
            <a:r>
              <a:rPr lang="en-US" sz="1500" dirty="0">
                <a:solidFill>
                  <a:schemeClr val="tx1"/>
                </a:solidFill>
              </a:rPr>
              <a:t>Customer Success</a:t>
            </a:r>
            <a:endParaRPr lang="en-US" sz="1500" dirty="0"/>
          </a:p>
          <a:p>
            <a:pPr indent="0" marL="0">
              <a:buNone/>
            </a:pPr>
            <a:r>
              <a:rPr lang="en-US" sz="1100" dirty="0">
                <a:solidFill>
                  <a:schemeClr val="accent3"/>
                </a:solidFill>
                <a:latin typeface="Figtree" pitchFamily="34" charset="0"/>
                <a:ea typeface="Figtree" pitchFamily="34" charset="-122"/>
                <a:cs typeface="Figtree" pitchFamily="34" charset="-120"/>
              </a:rPr>
              <a:t>20 capabilities</a:t>
            </a:r>
            <a:endParaRPr lang="en-US" sz="1500" dirty="0"/>
          </a:p>
        </p:txBody>
      </p:sp>
      <p:sp>
        <p:nvSpPr>
          <p:cNvPr id="11" name="Key Marketing"/>
          <p:cNvSpPr/>
          <p:nvPr/>
        </p:nvSpPr>
        <p:spPr>
          <a:xfrm>
            <a:off x="365760" y="5632704"/>
            <a:ext cx="292608" cy="292608"/>
          </a:xfrm>
          <a:prstGeom prst="ellipse">
            <a:avLst/>
          </a:prstGeom>
          <a:solidFill>
            <a:srgbClr val="56604E"/>
          </a:solidFill>
          <a:ln/>
        </p:spPr>
      </p:sp>
      <p:sp>
        <p:nvSpPr>
          <p:cNvPr id="12" name="Key label Marketing"/>
          <p:cNvSpPr txBox="1"/>
          <p:nvPr/>
        </p:nvSpPr>
        <p:spPr>
          <a:xfrm>
            <a:off x="822960" y="5532120"/>
            <a:ext cx="3108960" cy="502920"/>
          </a:xfrm>
          <a:prstGeom prst="rect">
            <a:avLst/>
          </a:prstGeom>
          <a:noFill/>
          <a:ln/>
        </p:spPr>
        <p:txBody>
          <a:bodyPr wrap="square" lIns="0" tIns="0" rIns="0" bIns="0" rtlCol="0" anchor="ctr"/>
          <a:lstStyle/>
          <a:p>
            <a:pPr indent="0" marL="0">
              <a:buNone/>
            </a:pPr>
            <a:r>
              <a:rPr lang="en-US" sz="1500" dirty="0">
                <a:solidFill>
                  <a:schemeClr val="tx1"/>
                </a:solidFill>
              </a:rPr>
              <a:t>Marketing</a:t>
            </a:r>
            <a:endParaRPr lang="en-US" sz="1500" dirty="0"/>
          </a:p>
          <a:p>
            <a:pPr indent="0" marL="0">
              <a:buNone/>
            </a:pPr>
            <a:r>
              <a:rPr lang="en-US" sz="1100" dirty="0">
                <a:solidFill>
                  <a:schemeClr val="accent3"/>
                </a:solidFill>
                <a:latin typeface="Figtree" pitchFamily="34" charset="0"/>
                <a:ea typeface="Figtree" pitchFamily="34" charset="-122"/>
                <a:cs typeface="Figtree" pitchFamily="34" charset="-120"/>
              </a:rPr>
              <a:t>20 capabilities</a:t>
            </a:r>
            <a:endParaRPr lang="en-US" sz="1500" dirty="0"/>
          </a:p>
        </p:txBody>
      </p:sp>
      <p:sp>
        <p:nvSpPr>
          <p:cNvPr id="13" name="Wheel shadow"/>
          <p:cNvSpPr/>
          <p:nvPr/>
        </p:nvSpPr>
        <p:spPr>
          <a:xfrm>
            <a:off x="5486400" y="621792"/>
            <a:ext cx="6035040" cy="6035040"/>
          </a:xfrm>
          <a:prstGeom prst="ellipse">
            <a:avLst/>
          </a:prstGeom>
          <a:solidFill>
            <a:srgbClr val="F5F7F0"/>
          </a:solidFill>
          <a:ln/>
          <a:effectLst>
            <a:outerShdw sx="100000" sy="100000" kx="0" ky="0" algn="bl" rotWithShape="0" blurRad="381000" dist="101600" dir="5400000">
              <a:srgbClr val="16261D">
                <a:alpha val="25000"/>
              </a:srgbClr>
            </a:outerShdw>
          </a:effectLst>
        </p:spPr>
      </p:sp>
      <p:sp>
        <p:nvSpPr>
          <p:cNvPr id="14" name="Sales 1"/>
          <p:cNvSpPr/>
          <p:nvPr/>
        </p:nvSpPr>
        <p:spPr>
          <a:xfrm>
            <a:off x="6903720" y="2039112"/>
            <a:ext cx="3200400" cy="3200400"/>
          </a:xfrm>
          <a:prstGeom prst="blockArc">
            <a:avLst>
              <a:gd name="adj1" fmla="val 16200000"/>
              <a:gd name="adj2" fmla="val 2264516"/>
              <a:gd name="adj3" fmla="val 21429"/>
            </a:avLst>
          </a:prstGeom>
          <a:solidFill>
            <a:srgbClr val="1F3529"/>
          </a:solidFill>
          <a:ln w="25400">
            <a:solidFill>
              <a:srgbClr val="F5F7F0"/>
            </a:solidFill>
            <a:prstDash val="solid"/>
          </a:ln>
        </p:spPr>
      </p:sp>
      <p:sp>
        <p:nvSpPr>
          <p:cNvPr id="15" name="Sales Communication 2"/>
          <p:cNvSpPr/>
          <p:nvPr/>
        </p:nvSpPr>
        <p:spPr>
          <a:xfrm>
            <a:off x="5486400" y="621792"/>
            <a:ext cx="6035040" cy="6035040"/>
          </a:xfrm>
          <a:prstGeom prst="blockArc">
            <a:avLst>
              <a:gd name="adj1" fmla="val 16200000"/>
              <a:gd name="adj2" fmla="val 16548387"/>
              <a:gd name="adj3" fmla="val 23485"/>
            </a:avLst>
          </a:prstGeom>
          <a:solidFill>
            <a:srgbClr val="1F3529"/>
          </a:solidFill>
          <a:ln w="25400">
            <a:solidFill>
              <a:srgbClr val="F5F7F0"/>
            </a:solidFill>
            <a:prstDash val="solid"/>
          </a:ln>
        </p:spPr>
      </p:sp>
      <p:sp>
        <p:nvSpPr>
          <p:cNvPr id="16" name="Sales Performance Tracking 3"/>
          <p:cNvSpPr/>
          <p:nvPr/>
        </p:nvSpPr>
        <p:spPr>
          <a:xfrm>
            <a:off x="5486400" y="621792"/>
            <a:ext cx="6035040" cy="6035040"/>
          </a:xfrm>
          <a:prstGeom prst="blockArc">
            <a:avLst>
              <a:gd name="adj1" fmla="val 16548387"/>
              <a:gd name="adj2" fmla="val 16896774"/>
              <a:gd name="adj3" fmla="val 23485"/>
            </a:avLst>
          </a:prstGeom>
          <a:solidFill>
            <a:srgbClr val="1F3529"/>
          </a:solidFill>
          <a:ln w="25400">
            <a:solidFill>
              <a:srgbClr val="F5F7F0"/>
            </a:solidFill>
            <a:prstDash val="solid"/>
          </a:ln>
        </p:spPr>
      </p:sp>
      <p:sp>
        <p:nvSpPr>
          <p:cNvPr id="17" name="Sales Channel Optimisation 4"/>
          <p:cNvSpPr/>
          <p:nvPr/>
        </p:nvSpPr>
        <p:spPr>
          <a:xfrm>
            <a:off x="5486400" y="621792"/>
            <a:ext cx="6035040" cy="6035040"/>
          </a:xfrm>
          <a:prstGeom prst="blockArc">
            <a:avLst>
              <a:gd name="adj1" fmla="val 16896774"/>
              <a:gd name="adj2" fmla="val 17245161"/>
              <a:gd name="adj3" fmla="val 23485"/>
            </a:avLst>
          </a:prstGeom>
          <a:solidFill>
            <a:srgbClr val="1F3529"/>
          </a:solidFill>
          <a:ln w="25400">
            <a:solidFill>
              <a:srgbClr val="F5F7F0"/>
            </a:solidFill>
            <a:prstDash val="solid"/>
          </a:ln>
        </p:spPr>
      </p:sp>
      <p:sp>
        <p:nvSpPr>
          <p:cNvPr id="18" name="Pricing Strategy 5"/>
          <p:cNvSpPr/>
          <p:nvPr/>
        </p:nvSpPr>
        <p:spPr>
          <a:xfrm>
            <a:off x="5486400" y="621792"/>
            <a:ext cx="6035040" cy="6035040"/>
          </a:xfrm>
          <a:prstGeom prst="blockArc">
            <a:avLst>
              <a:gd name="adj1" fmla="val 17245161"/>
              <a:gd name="adj2" fmla="val 17593548"/>
              <a:gd name="adj3" fmla="val 23485"/>
            </a:avLst>
          </a:prstGeom>
          <a:solidFill>
            <a:srgbClr val="1F3529"/>
          </a:solidFill>
          <a:ln w="25400">
            <a:solidFill>
              <a:srgbClr val="F5F7F0"/>
            </a:solidFill>
            <a:prstDash val="solid"/>
          </a:ln>
        </p:spPr>
      </p:sp>
      <p:sp>
        <p:nvSpPr>
          <p:cNvPr id="19" name="Client Onboarding 6"/>
          <p:cNvSpPr/>
          <p:nvPr/>
        </p:nvSpPr>
        <p:spPr>
          <a:xfrm>
            <a:off x="5486400" y="621792"/>
            <a:ext cx="6035040" cy="6035040"/>
          </a:xfrm>
          <a:prstGeom prst="blockArc">
            <a:avLst>
              <a:gd name="adj1" fmla="val 17593548"/>
              <a:gd name="adj2" fmla="val 17941935"/>
              <a:gd name="adj3" fmla="val 23485"/>
            </a:avLst>
          </a:prstGeom>
          <a:solidFill>
            <a:srgbClr val="1F3529"/>
          </a:solidFill>
          <a:ln w="25400">
            <a:solidFill>
              <a:srgbClr val="F5F7F0"/>
            </a:solidFill>
            <a:prstDash val="solid"/>
          </a:ln>
        </p:spPr>
      </p:sp>
      <p:sp>
        <p:nvSpPr>
          <p:cNvPr id="20" name="Deal Structuring 7"/>
          <p:cNvSpPr/>
          <p:nvPr/>
        </p:nvSpPr>
        <p:spPr>
          <a:xfrm>
            <a:off x="5486400" y="621792"/>
            <a:ext cx="6035040" cy="6035040"/>
          </a:xfrm>
          <a:prstGeom prst="blockArc">
            <a:avLst>
              <a:gd name="adj1" fmla="val 17941935"/>
              <a:gd name="adj2" fmla="val 18290323"/>
              <a:gd name="adj3" fmla="val 23485"/>
            </a:avLst>
          </a:prstGeom>
          <a:solidFill>
            <a:srgbClr val="1F3529"/>
          </a:solidFill>
          <a:ln w="25400">
            <a:solidFill>
              <a:srgbClr val="F5F7F0"/>
            </a:solidFill>
            <a:prstDash val="solid"/>
          </a:ln>
        </p:spPr>
      </p:sp>
      <p:sp>
        <p:nvSpPr>
          <p:cNvPr id="21" name="Proposal Management 8"/>
          <p:cNvSpPr/>
          <p:nvPr/>
        </p:nvSpPr>
        <p:spPr>
          <a:xfrm>
            <a:off x="5486400" y="621792"/>
            <a:ext cx="6035040" cy="6035040"/>
          </a:xfrm>
          <a:prstGeom prst="blockArc">
            <a:avLst>
              <a:gd name="adj1" fmla="val 18290323"/>
              <a:gd name="adj2" fmla="val 18638710"/>
              <a:gd name="adj3" fmla="val 23485"/>
            </a:avLst>
          </a:prstGeom>
          <a:solidFill>
            <a:srgbClr val="1F3529"/>
          </a:solidFill>
          <a:ln w="25400">
            <a:solidFill>
              <a:srgbClr val="F5F7F0"/>
            </a:solidFill>
            <a:prstDash val="solid"/>
          </a:ln>
        </p:spPr>
      </p:sp>
      <p:sp>
        <p:nvSpPr>
          <p:cNvPr id="22" name="Sales Automation 9"/>
          <p:cNvSpPr/>
          <p:nvPr/>
        </p:nvSpPr>
        <p:spPr>
          <a:xfrm>
            <a:off x="5486400" y="621792"/>
            <a:ext cx="6035040" cy="6035040"/>
          </a:xfrm>
          <a:prstGeom prst="blockArc">
            <a:avLst>
              <a:gd name="adj1" fmla="val 18638710"/>
              <a:gd name="adj2" fmla="val 18987097"/>
              <a:gd name="adj3" fmla="val 23485"/>
            </a:avLst>
          </a:prstGeom>
          <a:solidFill>
            <a:srgbClr val="1F3529"/>
          </a:solidFill>
          <a:ln w="25400">
            <a:solidFill>
              <a:srgbClr val="F5F7F0"/>
            </a:solidFill>
            <a:prstDash val="solid"/>
          </a:ln>
        </p:spPr>
      </p:sp>
      <p:sp>
        <p:nvSpPr>
          <p:cNvPr id="23" name="Win/Loss Analysis 10"/>
          <p:cNvSpPr/>
          <p:nvPr/>
        </p:nvSpPr>
        <p:spPr>
          <a:xfrm>
            <a:off x="5486400" y="621792"/>
            <a:ext cx="6035040" cy="6035040"/>
          </a:xfrm>
          <a:prstGeom prst="blockArc">
            <a:avLst>
              <a:gd name="adj1" fmla="val 18987097"/>
              <a:gd name="adj2" fmla="val 19335484"/>
              <a:gd name="adj3" fmla="val 23485"/>
            </a:avLst>
          </a:prstGeom>
          <a:solidFill>
            <a:srgbClr val="1F3529"/>
          </a:solidFill>
          <a:ln w="25400">
            <a:solidFill>
              <a:srgbClr val="F5F7F0"/>
            </a:solidFill>
            <a:prstDash val="solid"/>
          </a:ln>
        </p:spPr>
      </p:sp>
      <p:sp>
        <p:nvSpPr>
          <p:cNvPr id="24" name="Account Management 11"/>
          <p:cNvSpPr/>
          <p:nvPr/>
        </p:nvSpPr>
        <p:spPr>
          <a:xfrm>
            <a:off x="5486400" y="621792"/>
            <a:ext cx="6035040" cy="6035040"/>
          </a:xfrm>
          <a:prstGeom prst="blockArc">
            <a:avLst>
              <a:gd name="adj1" fmla="val 19335484"/>
              <a:gd name="adj2" fmla="val 19683871"/>
              <a:gd name="adj3" fmla="val 23485"/>
            </a:avLst>
          </a:prstGeom>
          <a:solidFill>
            <a:srgbClr val="1F3529"/>
          </a:solidFill>
          <a:ln w="25400">
            <a:solidFill>
              <a:srgbClr val="F5F7F0"/>
            </a:solidFill>
            <a:prstDash val="solid"/>
          </a:ln>
        </p:spPr>
      </p:sp>
      <p:sp>
        <p:nvSpPr>
          <p:cNvPr id="25" name="Channel Sales 12"/>
          <p:cNvSpPr/>
          <p:nvPr/>
        </p:nvSpPr>
        <p:spPr>
          <a:xfrm>
            <a:off x="5486400" y="621792"/>
            <a:ext cx="6035040" cy="6035040"/>
          </a:xfrm>
          <a:prstGeom prst="blockArc">
            <a:avLst>
              <a:gd name="adj1" fmla="val 19683871"/>
              <a:gd name="adj2" fmla="val 20032258"/>
              <a:gd name="adj3" fmla="val 23485"/>
            </a:avLst>
          </a:prstGeom>
          <a:solidFill>
            <a:srgbClr val="1F3529"/>
          </a:solidFill>
          <a:ln w="25400">
            <a:solidFill>
              <a:srgbClr val="F5F7F0"/>
            </a:solidFill>
            <a:prstDash val="solid"/>
          </a:ln>
        </p:spPr>
      </p:sp>
      <p:sp>
        <p:nvSpPr>
          <p:cNvPr id="26" name="Discount Control 13"/>
          <p:cNvSpPr/>
          <p:nvPr/>
        </p:nvSpPr>
        <p:spPr>
          <a:xfrm>
            <a:off x="5486400" y="621792"/>
            <a:ext cx="6035040" cy="6035040"/>
          </a:xfrm>
          <a:prstGeom prst="blockArc">
            <a:avLst>
              <a:gd name="adj1" fmla="val 20032258"/>
              <a:gd name="adj2" fmla="val 20380645"/>
              <a:gd name="adj3" fmla="val 23485"/>
            </a:avLst>
          </a:prstGeom>
          <a:solidFill>
            <a:srgbClr val="1F3529"/>
          </a:solidFill>
          <a:ln w="25400">
            <a:solidFill>
              <a:srgbClr val="F5F7F0"/>
            </a:solidFill>
            <a:prstDash val="solid"/>
          </a:ln>
        </p:spPr>
      </p:sp>
      <p:sp>
        <p:nvSpPr>
          <p:cNvPr id="27" name="Quota Attainment 14"/>
          <p:cNvSpPr/>
          <p:nvPr/>
        </p:nvSpPr>
        <p:spPr>
          <a:xfrm>
            <a:off x="5486400" y="621792"/>
            <a:ext cx="6035040" cy="6035040"/>
          </a:xfrm>
          <a:prstGeom prst="blockArc">
            <a:avLst>
              <a:gd name="adj1" fmla="val 20380645"/>
              <a:gd name="adj2" fmla="val 20729032"/>
              <a:gd name="adj3" fmla="val 23485"/>
            </a:avLst>
          </a:prstGeom>
          <a:solidFill>
            <a:srgbClr val="1F3529"/>
          </a:solidFill>
          <a:ln w="25400">
            <a:solidFill>
              <a:srgbClr val="F5F7F0"/>
            </a:solidFill>
            <a:prstDash val="solid"/>
          </a:ln>
        </p:spPr>
      </p:sp>
      <p:sp>
        <p:nvSpPr>
          <p:cNvPr id="28" name="Training &amp; Development 15"/>
          <p:cNvSpPr/>
          <p:nvPr/>
        </p:nvSpPr>
        <p:spPr>
          <a:xfrm>
            <a:off x="5486400" y="621792"/>
            <a:ext cx="6035040" cy="6035040"/>
          </a:xfrm>
          <a:prstGeom prst="blockArc">
            <a:avLst>
              <a:gd name="adj1" fmla="val 20729032"/>
              <a:gd name="adj2" fmla="val 21077419"/>
              <a:gd name="adj3" fmla="val 23485"/>
            </a:avLst>
          </a:prstGeom>
          <a:solidFill>
            <a:srgbClr val="1F3529"/>
          </a:solidFill>
          <a:ln w="25400">
            <a:solidFill>
              <a:srgbClr val="F5F7F0"/>
            </a:solidFill>
            <a:prstDash val="solid"/>
          </a:ln>
        </p:spPr>
      </p:sp>
      <p:sp>
        <p:nvSpPr>
          <p:cNvPr id="29" name="Sales Enablement 16"/>
          <p:cNvSpPr/>
          <p:nvPr/>
        </p:nvSpPr>
        <p:spPr>
          <a:xfrm>
            <a:off x="5486400" y="621792"/>
            <a:ext cx="6035040" cy="6035040"/>
          </a:xfrm>
          <a:prstGeom prst="blockArc">
            <a:avLst>
              <a:gd name="adj1" fmla="val 21077419"/>
              <a:gd name="adj2" fmla="val 21425806"/>
              <a:gd name="adj3" fmla="val 23485"/>
            </a:avLst>
          </a:prstGeom>
          <a:solidFill>
            <a:srgbClr val="1F3529"/>
          </a:solidFill>
          <a:ln w="25400">
            <a:solidFill>
              <a:srgbClr val="F5F7F0"/>
            </a:solidFill>
            <a:prstDash val="solid"/>
          </a:ln>
        </p:spPr>
      </p:sp>
      <p:sp>
        <p:nvSpPr>
          <p:cNvPr id="30" name="Territory Management 17"/>
          <p:cNvSpPr/>
          <p:nvPr/>
        </p:nvSpPr>
        <p:spPr>
          <a:xfrm>
            <a:off x="5486400" y="621792"/>
            <a:ext cx="6035040" cy="6035040"/>
          </a:xfrm>
          <a:prstGeom prst="blockArc">
            <a:avLst>
              <a:gd name="adj1" fmla="val 21425806"/>
              <a:gd name="adj2" fmla="val 174194"/>
              <a:gd name="adj3" fmla="val 23485"/>
            </a:avLst>
          </a:prstGeom>
          <a:solidFill>
            <a:srgbClr val="1F3529"/>
          </a:solidFill>
          <a:ln w="25400">
            <a:solidFill>
              <a:srgbClr val="F5F7F0"/>
            </a:solidFill>
            <a:prstDash val="solid"/>
          </a:ln>
        </p:spPr>
      </p:sp>
      <p:sp>
        <p:nvSpPr>
          <p:cNvPr id="31" name="CRM Management 18"/>
          <p:cNvSpPr/>
          <p:nvPr/>
        </p:nvSpPr>
        <p:spPr>
          <a:xfrm>
            <a:off x="5486400" y="621792"/>
            <a:ext cx="6035040" cy="6035040"/>
          </a:xfrm>
          <a:prstGeom prst="blockArc">
            <a:avLst>
              <a:gd name="adj1" fmla="val 174194"/>
              <a:gd name="adj2" fmla="val 522581"/>
              <a:gd name="adj3" fmla="val 23485"/>
            </a:avLst>
          </a:prstGeom>
          <a:solidFill>
            <a:srgbClr val="1F3529"/>
          </a:solidFill>
          <a:ln w="25400">
            <a:solidFill>
              <a:srgbClr val="F5F7F0"/>
            </a:solidFill>
            <a:prstDash val="solid"/>
          </a:ln>
        </p:spPr>
      </p:sp>
      <p:sp>
        <p:nvSpPr>
          <p:cNvPr id="32" name="Sales Forecasting 19"/>
          <p:cNvSpPr/>
          <p:nvPr/>
        </p:nvSpPr>
        <p:spPr>
          <a:xfrm>
            <a:off x="5486400" y="621792"/>
            <a:ext cx="6035040" cy="6035040"/>
          </a:xfrm>
          <a:prstGeom prst="blockArc">
            <a:avLst>
              <a:gd name="adj1" fmla="val 522581"/>
              <a:gd name="adj2" fmla="val 870968"/>
              <a:gd name="adj3" fmla="val 23485"/>
            </a:avLst>
          </a:prstGeom>
          <a:solidFill>
            <a:srgbClr val="1F3529"/>
          </a:solidFill>
          <a:ln w="25400">
            <a:solidFill>
              <a:srgbClr val="F5F7F0"/>
            </a:solidFill>
            <a:prstDash val="solid"/>
          </a:ln>
        </p:spPr>
      </p:sp>
      <p:sp>
        <p:nvSpPr>
          <p:cNvPr id="33" name="Contract Negotiation 20"/>
          <p:cNvSpPr/>
          <p:nvPr/>
        </p:nvSpPr>
        <p:spPr>
          <a:xfrm>
            <a:off x="5486400" y="621792"/>
            <a:ext cx="6035040" cy="6035040"/>
          </a:xfrm>
          <a:prstGeom prst="blockArc">
            <a:avLst>
              <a:gd name="adj1" fmla="val 870968"/>
              <a:gd name="adj2" fmla="val 1219355"/>
              <a:gd name="adj3" fmla="val 23485"/>
            </a:avLst>
          </a:prstGeom>
          <a:solidFill>
            <a:srgbClr val="1F3529"/>
          </a:solidFill>
          <a:ln w="25400">
            <a:solidFill>
              <a:srgbClr val="F5F7F0"/>
            </a:solidFill>
            <a:prstDash val="solid"/>
          </a:ln>
        </p:spPr>
      </p:sp>
      <p:sp>
        <p:nvSpPr>
          <p:cNvPr id="34" name="Sales Demos 21"/>
          <p:cNvSpPr/>
          <p:nvPr/>
        </p:nvSpPr>
        <p:spPr>
          <a:xfrm>
            <a:off x="5486400" y="621792"/>
            <a:ext cx="6035040" cy="6035040"/>
          </a:xfrm>
          <a:prstGeom prst="blockArc">
            <a:avLst>
              <a:gd name="adj1" fmla="val 1219355"/>
              <a:gd name="adj2" fmla="val 1567742"/>
              <a:gd name="adj3" fmla="val 23485"/>
            </a:avLst>
          </a:prstGeom>
          <a:solidFill>
            <a:srgbClr val="1F3529"/>
          </a:solidFill>
          <a:ln w="25400">
            <a:solidFill>
              <a:srgbClr val="F5F7F0"/>
            </a:solidFill>
            <a:prstDash val="solid"/>
          </a:ln>
        </p:spPr>
      </p:sp>
      <p:sp>
        <p:nvSpPr>
          <p:cNvPr id="35" name="Prospecting 22"/>
          <p:cNvSpPr/>
          <p:nvPr/>
        </p:nvSpPr>
        <p:spPr>
          <a:xfrm>
            <a:off x="5486400" y="621792"/>
            <a:ext cx="6035040" cy="6035040"/>
          </a:xfrm>
          <a:prstGeom prst="blockArc">
            <a:avLst>
              <a:gd name="adj1" fmla="val 1567742"/>
              <a:gd name="adj2" fmla="val 1916129"/>
              <a:gd name="adj3" fmla="val 23485"/>
            </a:avLst>
          </a:prstGeom>
          <a:solidFill>
            <a:srgbClr val="1F3529"/>
          </a:solidFill>
          <a:ln w="25400">
            <a:solidFill>
              <a:srgbClr val="F5F7F0"/>
            </a:solidFill>
            <a:prstDash val="solid"/>
          </a:ln>
        </p:spPr>
      </p:sp>
      <p:sp>
        <p:nvSpPr>
          <p:cNvPr id="36" name="Pipeline Management 23"/>
          <p:cNvSpPr/>
          <p:nvPr/>
        </p:nvSpPr>
        <p:spPr>
          <a:xfrm>
            <a:off x="5486400" y="621792"/>
            <a:ext cx="6035040" cy="6035040"/>
          </a:xfrm>
          <a:prstGeom prst="blockArc">
            <a:avLst>
              <a:gd name="adj1" fmla="val 1916129"/>
              <a:gd name="adj2" fmla="val 2264516"/>
              <a:gd name="adj3" fmla="val 23485"/>
            </a:avLst>
          </a:prstGeom>
          <a:solidFill>
            <a:srgbClr val="1F3529"/>
          </a:solidFill>
          <a:ln w="25400">
            <a:solidFill>
              <a:srgbClr val="F5F7F0"/>
            </a:solidFill>
            <a:prstDash val="solid"/>
          </a:ln>
        </p:spPr>
      </p:sp>
      <p:sp>
        <p:nvSpPr>
          <p:cNvPr id="37" name="Label 24"/>
          <p:cNvSpPr txBox="1"/>
          <p:nvPr/>
        </p:nvSpPr>
        <p:spPr>
          <a:xfrm rot="-5225806">
            <a:off x="7957922" y="1262295"/>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Communication</a:t>
            </a:r>
            <a:endParaRPr lang="en-US" sz="700" dirty="0"/>
          </a:p>
        </p:txBody>
      </p:sp>
      <p:sp>
        <p:nvSpPr>
          <p:cNvPr id="38" name="Label 25"/>
          <p:cNvSpPr txBox="1"/>
          <p:nvPr/>
        </p:nvSpPr>
        <p:spPr>
          <a:xfrm rot="-4877419">
            <a:off x="8190606" y="128595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Performance Tracking</a:t>
            </a:r>
            <a:endParaRPr lang="en-US" sz="700" dirty="0"/>
          </a:p>
        </p:txBody>
      </p:sp>
      <p:sp>
        <p:nvSpPr>
          <p:cNvPr id="39" name="Label 26"/>
          <p:cNvSpPr txBox="1"/>
          <p:nvPr/>
        </p:nvSpPr>
        <p:spPr>
          <a:xfrm rot="-4529032">
            <a:off x="8419702" y="133303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Channel Optimisation</a:t>
            </a:r>
            <a:endParaRPr lang="en-US" sz="700" dirty="0"/>
          </a:p>
        </p:txBody>
      </p:sp>
      <p:sp>
        <p:nvSpPr>
          <p:cNvPr id="40" name="Label 27"/>
          <p:cNvSpPr txBox="1"/>
          <p:nvPr/>
        </p:nvSpPr>
        <p:spPr>
          <a:xfrm rot="-4180645">
            <a:off x="8642859" y="140305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Pricing Strategy</a:t>
            </a:r>
            <a:endParaRPr lang="en-US" sz="700" dirty="0"/>
          </a:p>
        </p:txBody>
      </p:sp>
      <p:sp>
        <p:nvSpPr>
          <p:cNvPr id="41" name="Label 28"/>
          <p:cNvSpPr txBox="1"/>
          <p:nvPr/>
        </p:nvSpPr>
        <p:spPr>
          <a:xfrm rot="-3832258">
            <a:off x="8857788" y="149528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Client Onboarding</a:t>
            </a:r>
            <a:endParaRPr lang="en-US" sz="700" dirty="0"/>
          </a:p>
        </p:txBody>
      </p:sp>
      <p:sp>
        <p:nvSpPr>
          <p:cNvPr id="42" name="Label 29"/>
          <p:cNvSpPr txBox="1"/>
          <p:nvPr/>
        </p:nvSpPr>
        <p:spPr>
          <a:xfrm rot="-3483871">
            <a:off x="9062284" y="1608791"/>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Deal Structuring</a:t>
            </a:r>
            <a:endParaRPr lang="en-US" sz="700" dirty="0"/>
          </a:p>
        </p:txBody>
      </p:sp>
      <p:sp>
        <p:nvSpPr>
          <p:cNvPr id="43" name="Label 30"/>
          <p:cNvSpPr txBox="1"/>
          <p:nvPr/>
        </p:nvSpPr>
        <p:spPr>
          <a:xfrm rot="-3135484">
            <a:off x="9254247" y="174240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Proposal Management</a:t>
            </a:r>
            <a:endParaRPr lang="en-US" sz="700" dirty="0"/>
          </a:p>
        </p:txBody>
      </p:sp>
      <p:sp>
        <p:nvSpPr>
          <p:cNvPr id="44" name="Label 31"/>
          <p:cNvSpPr txBox="1"/>
          <p:nvPr/>
        </p:nvSpPr>
        <p:spPr>
          <a:xfrm rot="-2787097">
            <a:off x="9431708" y="189474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Automation</a:t>
            </a:r>
            <a:endParaRPr lang="en-US" sz="700" dirty="0"/>
          </a:p>
        </p:txBody>
      </p:sp>
      <p:sp>
        <p:nvSpPr>
          <p:cNvPr id="45" name="Label 32"/>
          <p:cNvSpPr txBox="1"/>
          <p:nvPr/>
        </p:nvSpPr>
        <p:spPr>
          <a:xfrm rot="-2438710">
            <a:off x="9592846" y="206426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Win/Loss Analysis</a:t>
            </a:r>
            <a:endParaRPr lang="en-US" sz="700" dirty="0"/>
          </a:p>
        </p:txBody>
      </p:sp>
      <p:sp>
        <p:nvSpPr>
          <p:cNvPr id="46" name="Label 33"/>
          <p:cNvSpPr txBox="1"/>
          <p:nvPr/>
        </p:nvSpPr>
        <p:spPr>
          <a:xfrm rot="-2090323">
            <a:off x="9736008" y="224921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Account Management</a:t>
            </a:r>
            <a:endParaRPr lang="en-US" sz="700" dirty="0"/>
          </a:p>
        </p:txBody>
      </p:sp>
      <p:sp>
        <p:nvSpPr>
          <p:cNvPr id="47" name="Label 34"/>
          <p:cNvSpPr txBox="1"/>
          <p:nvPr/>
        </p:nvSpPr>
        <p:spPr>
          <a:xfrm rot="-1741935">
            <a:off x="9859724" y="2447698"/>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Channel Sales</a:t>
            </a:r>
            <a:endParaRPr lang="en-US" sz="700" dirty="0"/>
          </a:p>
        </p:txBody>
      </p:sp>
      <p:sp>
        <p:nvSpPr>
          <p:cNvPr id="48" name="Label 35"/>
          <p:cNvSpPr txBox="1"/>
          <p:nvPr/>
        </p:nvSpPr>
        <p:spPr>
          <a:xfrm rot="-1393548">
            <a:off x="9962725" y="2657680"/>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Discount Control</a:t>
            </a:r>
            <a:endParaRPr lang="en-US" sz="700" dirty="0"/>
          </a:p>
        </p:txBody>
      </p:sp>
      <p:sp>
        <p:nvSpPr>
          <p:cNvPr id="49" name="Label 36"/>
          <p:cNvSpPr txBox="1"/>
          <p:nvPr/>
        </p:nvSpPr>
        <p:spPr>
          <a:xfrm rot="-1045161">
            <a:off x="10043954" y="287700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Quota Attainment</a:t>
            </a:r>
            <a:endParaRPr lang="en-US" sz="700" dirty="0"/>
          </a:p>
        </p:txBody>
      </p:sp>
      <p:sp>
        <p:nvSpPr>
          <p:cNvPr id="50" name="Label 37"/>
          <p:cNvSpPr txBox="1"/>
          <p:nvPr/>
        </p:nvSpPr>
        <p:spPr>
          <a:xfrm rot="-696774">
            <a:off x="10102578" y="310342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Training &amp; Development</a:t>
            </a:r>
            <a:endParaRPr lang="en-US" sz="700" dirty="0"/>
          </a:p>
        </p:txBody>
      </p:sp>
      <p:sp>
        <p:nvSpPr>
          <p:cNvPr id="51" name="Label 38"/>
          <p:cNvSpPr txBox="1"/>
          <p:nvPr/>
        </p:nvSpPr>
        <p:spPr>
          <a:xfrm rot="-348387">
            <a:off x="10137994" y="3334609"/>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Enablement</a:t>
            </a:r>
            <a:endParaRPr lang="en-US" sz="700" dirty="0"/>
          </a:p>
        </p:txBody>
      </p:sp>
      <p:sp>
        <p:nvSpPr>
          <p:cNvPr id="52" name="Label 39"/>
          <p:cNvSpPr txBox="1"/>
          <p:nvPr/>
        </p:nvSpPr>
        <p:spPr>
          <a:xfrm>
            <a:off x="10149840" y="356819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Territory Management</a:t>
            </a:r>
            <a:endParaRPr lang="en-US" sz="700" dirty="0"/>
          </a:p>
        </p:txBody>
      </p:sp>
      <p:sp>
        <p:nvSpPr>
          <p:cNvPr id="53" name="Label 40"/>
          <p:cNvSpPr txBox="1"/>
          <p:nvPr/>
        </p:nvSpPr>
        <p:spPr>
          <a:xfrm rot="348387">
            <a:off x="10137994" y="3801775"/>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CRM Management</a:t>
            </a:r>
            <a:endParaRPr lang="en-US" sz="700" dirty="0"/>
          </a:p>
        </p:txBody>
      </p:sp>
      <p:sp>
        <p:nvSpPr>
          <p:cNvPr id="54" name="Label 41"/>
          <p:cNvSpPr txBox="1"/>
          <p:nvPr/>
        </p:nvSpPr>
        <p:spPr>
          <a:xfrm rot="696774">
            <a:off x="10102578" y="403296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Forecasting</a:t>
            </a:r>
            <a:endParaRPr lang="en-US" sz="700" dirty="0"/>
          </a:p>
        </p:txBody>
      </p:sp>
      <p:sp>
        <p:nvSpPr>
          <p:cNvPr id="55" name="Label 42"/>
          <p:cNvSpPr txBox="1"/>
          <p:nvPr/>
        </p:nvSpPr>
        <p:spPr>
          <a:xfrm rot="1045161">
            <a:off x="10043954" y="4259380"/>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Contract Negotiation</a:t>
            </a:r>
            <a:endParaRPr lang="en-US" sz="700" dirty="0"/>
          </a:p>
        </p:txBody>
      </p:sp>
      <p:sp>
        <p:nvSpPr>
          <p:cNvPr id="56" name="Label 43"/>
          <p:cNvSpPr txBox="1"/>
          <p:nvPr/>
        </p:nvSpPr>
        <p:spPr>
          <a:xfrm rot="1393548">
            <a:off x="9962725" y="447870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Sales Demos</a:t>
            </a:r>
            <a:endParaRPr lang="en-US" sz="700" dirty="0"/>
          </a:p>
        </p:txBody>
      </p:sp>
      <p:sp>
        <p:nvSpPr>
          <p:cNvPr id="57" name="Label 44"/>
          <p:cNvSpPr txBox="1"/>
          <p:nvPr/>
        </p:nvSpPr>
        <p:spPr>
          <a:xfrm rot="1741935">
            <a:off x="9859724" y="4688686"/>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Prospecting</a:t>
            </a:r>
            <a:endParaRPr lang="en-US" sz="700" dirty="0"/>
          </a:p>
        </p:txBody>
      </p:sp>
      <p:sp>
        <p:nvSpPr>
          <p:cNvPr id="58" name="Label 45"/>
          <p:cNvSpPr txBox="1"/>
          <p:nvPr/>
        </p:nvSpPr>
        <p:spPr>
          <a:xfrm rot="2090323">
            <a:off x="9736008" y="4887170"/>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Pipeline Management</a:t>
            </a:r>
            <a:endParaRPr lang="en-US" sz="700" dirty="0"/>
          </a:p>
        </p:txBody>
      </p:sp>
      <p:sp>
        <p:nvSpPr>
          <p:cNvPr id="59" name="Function Sales"/>
          <p:cNvSpPr txBox="1"/>
          <p:nvPr/>
        </p:nvSpPr>
        <p:spPr>
          <a:xfrm>
            <a:off x="9084090" y="2811284"/>
            <a:ext cx="1097280" cy="548640"/>
          </a:xfrm>
          <a:prstGeom prst="rect">
            <a:avLst/>
          </a:prstGeom>
          <a:noFill/>
          <a:ln/>
        </p:spPr>
        <p:txBody>
          <a:bodyPr wrap="square" lIns="0" tIns="0" rIns="0" bIns="0" rtlCol="0" anchor="ctr"/>
          <a:lstStyle/>
          <a:p>
            <a:pPr algn="ctr" indent="0" marL="0">
              <a:buNone/>
            </a:pPr>
            <a:r>
              <a:rPr lang="en-US" sz="1200" b="1" dirty="0">
                <a:solidFill>
                  <a:srgbClr val="F5F7F0"/>
                </a:solidFill>
              </a:rPr>
              <a:t>Sales</a:t>
            </a:r>
            <a:endParaRPr lang="en-US" sz="1200" dirty="0"/>
          </a:p>
        </p:txBody>
      </p:sp>
      <p:sp>
        <p:nvSpPr>
          <p:cNvPr id="60" name="Customer Success 46"/>
          <p:cNvSpPr/>
          <p:nvPr/>
        </p:nvSpPr>
        <p:spPr>
          <a:xfrm>
            <a:off x="6903720" y="2039112"/>
            <a:ext cx="3200400" cy="3200400"/>
          </a:xfrm>
          <a:prstGeom prst="blockArc">
            <a:avLst>
              <a:gd name="adj1" fmla="val 2264516"/>
              <a:gd name="adj2" fmla="val 9232258"/>
              <a:gd name="adj3" fmla="val 21429"/>
            </a:avLst>
          </a:prstGeom>
          <a:solidFill>
            <a:srgbClr val="93A87B"/>
          </a:solidFill>
          <a:ln w="25400">
            <a:solidFill>
              <a:srgbClr val="F5F7F0"/>
            </a:solidFill>
            <a:prstDash val="solid"/>
          </a:ln>
        </p:spPr>
      </p:sp>
      <p:sp>
        <p:nvSpPr>
          <p:cNvPr id="61" name="Advocacy Programme 47"/>
          <p:cNvSpPr/>
          <p:nvPr/>
        </p:nvSpPr>
        <p:spPr>
          <a:xfrm>
            <a:off x="5486400" y="621792"/>
            <a:ext cx="6035040" cy="6035040"/>
          </a:xfrm>
          <a:prstGeom prst="blockArc">
            <a:avLst>
              <a:gd name="adj1" fmla="val 2264516"/>
              <a:gd name="adj2" fmla="val 2612903"/>
              <a:gd name="adj3" fmla="val 23485"/>
            </a:avLst>
          </a:prstGeom>
          <a:solidFill>
            <a:srgbClr val="93A87B"/>
          </a:solidFill>
          <a:ln w="25400">
            <a:solidFill>
              <a:srgbClr val="F5F7F0"/>
            </a:solidFill>
            <a:prstDash val="solid"/>
          </a:ln>
        </p:spPr>
      </p:sp>
      <p:sp>
        <p:nvSpPr>
          <p:cNvPr id="62" name="Success Planning 48"/>
          <p:cNvSpPr/>
          <p:nvPr/>
        </p:nvSpPr>
        <p:spPr>
          <a:xfrm>
            <a:off x="5486400" y="621792"/>
            <a:ext cx="6035040" cy="6035040"/>
          </a:xfrm>
          <a:prstGeom prst="blockArc">
            <a:avLst>
              <a:gd name="adj1" fmla="val 2612903"/>
              <a:gd name="adj2" fmla="val 2961290"/>
              <a:gd name="adj3" fmla="val 23485"/>
            </a:avLst>
          </a:prstGeom>
          <a:solidFill>
            <a:srgbClr val="93A87B"/>
          </a:solidFill>
          <a:ln w="25400">
            <a:solidFill>
              <a:srgbClr val="F5F7F0"/>
            </a:solidFill>
            <a:prstDash val="solid"/>
          </a:ln>
        </p:spPr>
      </p:sp>
      <p:sp>
        <p:nvSpPr>
          <p:cNvPr id="63" name="Customer Analytics 49"/>
          <p:cNvSpPr/>
          <p:nvPr/>
        </p:nvSpPr>
        <p:spPr>
          <a:xfrm>
            <a:off x="5486400" y="621792"/>
            <a:ext cx="6035040" cy="6035040"/>
          </a:xfrm>
          <a:prstGeom prst="blockArc">
            <a:avLst>
              <a:gd name="adj1" fmla="val 2961290"/>
              <a:gd name="adj2" fmla="val 3309677"/>
              <a:gd name="adj3" fmla="val 23485"/>
            </a:avLst>
          </a:prstGeom>
          <a:solidFill>
            <a:srgbClr val="93A87B"/>
          </a:solidFill>
          <a:ln w="25400">
            <a:solidFill>
              <a:srgbClr val="F5F7F0"/>
            </a:solidFill>
            <a:prstDash val="solid"/>
          </a:ln>
        </p:spPr>
      </p:sp>
      <p:sp>
        <p:nvSpPr>
          <p:cNvPr id="64" name="Voice of Customer 50"/>
          <p:cNvSpPr/>
          <p:nvPr/>
        </p:nvSpPr>
        <p:spPr>
          <a:xfrm>
            <a:off x="5486400" y="621792"/>
            <a:ext cx="6035040" cy="6035040"/>
          </a:xfrm>
          <a:prstGeom prst="blockArc">
            <a:avLst>
              <a:gd name="adj1" fmla="val 3309677"/>
              <a:gd name="adj2" fmla="val 3658065"/>
              <a:gd name="adj3" fmla="val 23485"/>
            </a:avLst>
          </a:prstGeom>
          <a:solidFill>
            <a:srgbClr val="93A87B"/>
          </a:solidFill>
          <a:ln w="25400">
            <a:solidFill>
              <a:srgbClr val="F5F7F0"/>
            </a:solidFill>
            <a:prstDash val="solid"/>
          </a:ln>
        </p:spPr>
      </p:sp>
      <p:sp>
        <p:nvSpPr>
          <p:cNvPr id="65" name="Community Building 51"/>
          <p:cNvSpPr/>
          <p:nvPr/>
        </p:nvSpPr>
        <p:spPr>
          <a:xfrm>
            <a:off x="5486400" y="621792"/>
            <a:ext cx="6035040" cy="6035040"/>
          </a:xfrm>
          <a:prstGeom prst="blockArc">
            <a:avLst>
              <a:gd name="adj1" fmla="val 3658065"/>
              <a:gd name="adj2" fmla="val 4006452"/>
              <a:gd name="adj3" fmla="val 23485"/>
            </a:avLst>
          </a:prstGeom>
          <a:solidFill>
            <a:srgbClr val="93A87B"/>
          </a:solidFill>
          <a:ln w="25400">
            <a:solidFill>
              <a:srgbClr val="F5F7F0"/>
            </a:solidFill>
            <a:prstDash val="solid"/>
          </a:ln>
        </p:spPr>
      </p:sp>
      <p:sp>
        <p:nvSpPr>
          <p:cNvPr id="66" name="Customer Health 52"/>
          <p:cNvSpPr/>
          <p:nvPr/>
        </p:nvSpPr>
        <p:spPr>
          <a:xfrm>
            <a:off x="5486400" y="621792"/>
            <a:ext cx="6035040" cy="6035040"/>
          </a:xfrm>
          <a:prstGeom prst="blockArc">
            <a:avLst>
              <a:gd name="adj1" fmla="val 4006452"/>
              <a:gd name="adj2" fmla="val 4354839"/>
              <a:gd name="adj3" fmla="val 23485"/>
            </a:avLst>
          </a:prstGeom>
          <a:solidFill>
            <a:srgbClr val="93A87B"/>
          </a:solidFill>
          <a:ln w="25400">
            <a:solidFill>
              <a:srgbClr val="F5F7F0"/>
            </a:solidFill>
            <a:prstDash val="solid"/>
          </a:ln>
        </p:spPr>
      </p:sp>
      <p:sp>
        <p:nvSpPr>
          <p:cNvPr id="67" name="Escalation Handling 53"/>
          <p:cNvSpPr/>
          <p:nvPr/>
        </p:nvSpPr>
        <p:spPr>
          <a:xfrm>
            <a:off x="5486400" y="621792"/>
            <a:ext cx="6035040" cy="6035040"/>
          </a:xfrm>
          <a:prstGeom prst="blockArc">
            <a:avLst>
              <a:gd name="adj1" fmla="val 4354839"/>
              <a:gd name="adj2" fmla="val 4703226"/>
              <a:gd name="adj3" fmla="val 23485"/>
            </a:avLst>
          </a:prstGeom>
          <a:solidFill>
            <a:srgbClr val="93A87B"/>
          </a:solidFill>
          <a:ln w="25400">
            <a:solidFill>
              <a:srgbClr val="F5F7F0"/>
            </a:solidFill>
            <a:prstDash val="solid"/>
          </a:ln>
        </p:spPr>
      </p:sp>
      <p:sp>
        <p:nvSpPr>
          <p:cNvPr id="68" name="SLA Management 54"/>
          <p:cNvSpPr/>
          <p:nvPr/>
        </p:nvSpPr>
        <p:spPr>
          <a:xfrm>
            <a:off x="5486400" y="621792"/>
            <a:ext cx="6035040" cy="6035040"/>
          </a:xfrm>
          <a:prstGeom prst="blockArc">
            <a:avLst>
              <a:gd name="adj1" fmla="val 4703226"/>
              <a:gd name="adj2" fmla="val 5051613"/>
              <a:gd name="adj3" fmla="val 23485"/>
            </a:avLst>
          </a:prstGeom>
          <a:solidFill>
            <a:srgbClr val="93A87B"/>
          </a:solidFill>
          <a:ln w="25400">
            <a:solidFill>
              <a:srgbClr val="F5F7F0"/>
            </a:solidFill>
            <a:prstDash val="solid"/>
          </a:ln>
        </p:spPr>
      </p:sp>
      <p:sp>
        <p:nvSpPr>
          <p:cNvPr id="69" name="QBRs 55"/>
          <p:cNvSpPr/>
          <p:nvPr/>
        </p:nvSpPr>
        <p:spPr>
          <a:xfrm>
            <a:off x="5486400" y="621792"/>
            <a:ext cx="6035040" cy="6035040"/>
          </a:xfrm>
          <a:prstGeom prst="blockArc">
            <a:avLst>
              <a:gd name="adj1" fmla="val 5051613"/>
              <a:gd name="adj2" fmla="val 5400000"/>
              <a:gd name="adj3" fmla="val 23485"/>
            </a:avLst>
          </a:prstGeom>
          <a:solidFill>
            <a:srgbClr val="93A87B"/>
          </a:solidFill>
          <a:ln w="25400">
            <a:solidFill>
              <a:srgbClr val="F5F7F0"/>
            </a:solidFill>
            <a:prstDash val="solid"/>
          </a:ln>
        </p:spPr>
      </p:sp>
      <p:sp>
        <p:nvSpPr>
          <p:cNvPr id="70" name="Customer Reviews 56"/>
          <p:cNvSpPr/>
          <p:nvPr/>
        </p:nvSpPr>
        <p:spPr>
          <a:xfrm>
            <a:off x="5486400" y="621792"/>
            <a:ext cx="6035040" cy="6035040"/>
          </a:xfrm>
          <a:prstGeom prst="blockArc">
            <a:avLst>
              <a:gd name="adj1" fmla="val 5400000"/>
              <a:gd name="adj2" fmla="val 5748387"/>
              <a:gd name="adj3" fmla="val 23485"/>
            </a:avLst>
          </a:prstGeom>
          <a:solidFill>
            <a:srgbClr val="93A87B"/>
          </a:solidFill>
          <a:ln w="25400">
            <a:solidFill>
              <a:srgbClr val="F5F7F0"/>
            </a:solidFill>
            <a:prstDash val="solid"/>
          </a:ln>
        </p:spPr>
      </p:sp>
      <p:sp>
        <p:nvSpPr>
          <p:cNvPr id="71" name="Contract Renewals 57"/>
          <p:cNvSpPr/>
          <p:nvPr/>
        </p:nvSpPr>
        <p:spPr>
          <a:xfrm>
            <a:off x="5486400" y="621792"/>
            <a:ext cx="6035040" cy="6035040"/>
          </a:xfrm>
          <a:prstGeom prst="blockArc">
            <a:avLst>
              <a:gd name="adj1" fmla="val 5748387"/>
              <a:gd name="adj2" fmla="val 6096774"/>
              <a:gd name="adj3" fmla="val 23485"/>
            </a:avLst>
          </a:prstGeom>
          <a:solidFill>
            <a:srgbClr val="93A87B"/>
          </a:solidFill>
          <a:ln w="25400">
            <a:solidFill>
              <a:srgbClr val="F5F7F0"/>
            </a:solidFill>
            <a:prstDash val="solid"/>
          </a:ln>
        </p:spPr>
      </p:sp>
      <p:sp>
        <p:nvSpPr>
          <p:cNvPr id="72" name="Customer Training 58"/>
          <p:cNvSpPr/>
          <p:nvPr/>
        </p:nvSpPr>
        <p:spPr>
          <a:xfrm>
            <a:off x="5486400" y="621792"/>
            <a:ext cx="6035040" cy="6035040"/>
          </a:xfrm>
          <a:prstGeom prst="blockArc">
            <a:avLst>
              <a:gd name="adj1" fmla="val 6096774"/>
              <a:gd name="adj2" fmla="val 6445161"/>
              <a:gd name="adj3" fmla="val 23485"/>
            </a:avLst>
          </a:prstGeom>
          <a:solidFill>
            <a:srgbClr val="93A87B"/>
          </a:solidFill>
          <a:ln w="25400">
            <a:solidFill>
              <a:srgbClr val="F5F7F0"/>
            </a:solidFill>
            <a:prstDash val="solid"/>
          </a:ln>
        </p:spPr>
      </p:sp>
      <p:sp>
        <p:nvSpPr>
          <p:cNvPr id="73" name="Relationship Management 59"/>
          <p:cNvSpPr/>
          <p:nvPr/>
        </p:nvSpPr>
        <p:spPr>
          <a:xfrm>
            <a:off x="5486400" y="621792"/>
            <a:ext cx="6035040" cy="6035040"/>
          </a:xfrm>
          <a:prstGeom prst="blockArc">
            <a:avLst>
              <a:gd name="adj1" fmla="val 6445161"/>
              <a:gd name="adj2" fmla="val 6793548"/>
              <a:gd name="adj3" fmla="val 23485"/>
            </a:avLst>
          </a:prstGeom>
          <a:solidFill>
            <a:srgbClr val="93A87B"/>
          </a:solidFill>
          <a:ln w="25400">
            <a:solidFill>
              <a:srgbClr val="F5F7F0"/>
            </a:solidFill>
            <a:prstDash val="solid"/>
          </a:ln>
        </p:spPr>
      </p:sp>
      <p:sp>
        <p:nvSpPr>
          <p:cNvPr id="74" name="Customer Support 60"/>
          <p:cNvSpPr/>
          <p:nvPr/>
        </p:nvSpPr>
        <p:spPr>
          <a:xfrm>
            <a:off x="5486400" y="621792"/>
            <a:ext cx="6035040" cy="6035040"/>
          </a:xfrm>
          <a:prstGeom prst="blockArc">
            <a:avLst>
              <a:gd name="adj1" fmla="val 6793548"/>
              <a:gd name="adj2" fmla="val 7141935"/>
              <a:gd name="adj3" fmla="val 23485"/>
            </a:avLst>
          </a:prstGeom>
          <a:solidFill>
            <a:srgbClr val="93A87B"/>
          </a:solidFill>
          <a:ln w="25400">
            <a:solidFill>
              <a:srgbClr val="F5F7F0"/>
            </a:solidFill>
            <a:prstDash val="solid"/>
          </a:ln>
        </p:spPr>
      </p:sp>
      <p:sp>
        <p:nvSpPr>
          <p:cNvPr id="75" name="Customer Satisfaction 61"/>
          <p:cNvSpPr/>
          <p:nvPr/>
        </p:nvSpPr>
        <p:spPr>
          <a:xfrm>
            <a:off x="5486400" y="621792"/>
            <a:ext cx="6035040" cy="6035040"/>
          </a:xfrm>
          <a:prstGeom prst="blockArc">
            <a:avLst>
              <a:gd name="adj1" fmla="val 7141935"/>
              <a:gd name="adj2" fmla="val 7490323"/>
              <a:gd name="adj3" fmla="val 23485"/>
            </a:avLst>
          </a:prstGeom>
          <a:solidFill>
            <a:srgbClr val="93A87B"/>
          </a:solidFill>
          <a:ln w="25400">
            <a:solidFill>
              <a:srgbClr val="F5F7F0"/>
            </a:solidFill>
            <a:prstDash val="solid"/>
          </a:ln>
        </p:spPr>
      </p:sp>
      <p:sp>
        <p:nvSpPr>
          <p:cNvPr id="76" name="Upselling &amp; Cross-selling 62"/>
          <p:cNvSpPr/>
          <p:nvPr/>
        </p:nvSpPr>
        <p:spPr>
          <a:xfrm>
            <a:off x="5486400" y="621792"/>
            <a:ext cx="6035040" cy="6035040"/>
          </a:xfrm>
          <a:prstGeom prst="blockArc">
            <a:avLst>
              <a:gd name="adj1" fmla="val 7490323"/>
              <a:gd name="adj2" fmla="val 7838710"/>
              <a:gd name="adj3" fmla="val 23485"/>
            </a:avLst>
          </a:prstGeom>
          <a:solidFill>
            <a:srgbClr val="93A87B"/>
          </a:solidFill>
          <a:ln w="25400">
            <a:solidFill>
              <a:srgbClr val="F5F7F0"/>
            </a:solidFill>
            <a:prstDash val="solid"/>
          </a:ln>
        </p:spPr>
      </p:sp>
      <p:sp>
        <p:nvSpPr>
          <p:cNvPr id="77" name="Retention &amp; Churn 63"/>
          <p:cNvSpPr/>
          <p:nvPr/>
        </p:nvSpPr>
        <p:spPr>
          <a:xfrm>
            <a:off x="5486400" y="621792"/>
            <a:ext cx="6035040" cy="6035040"/>
          </a:xfrm>
          <a:prstGeom prst="blockArc">
            <a:avLst>
              <a:gd name="adj1" fmla="val 7838710"/>
              <a:gd name="adj2" fmla="val 8187097"/>
              <a:gd name="adj3" fmla="val 23485"/>
            </a:avLst>
          </a:prstGeom>
          <a:solidFill>
            <a:srgbClr val="93A87B"/>
          </a:solidFill>
          <a:ln w="25400">
            <a:solidFill>
              <a:srgbClr val="F5F7F0"/>
            </a:solidFill>
            <a:prstDash val="solid"/>
          </a:ln>
        </p:spPr>
      </p:sp>
      <p:sp>
        <p:nvSpPr>
          <p:cNvPr id="78" name="Account Management 64"/>
          <p:cNvSpPr/>
          <p:nvPr/>
        </p:nvSpPr>
        <p:spPr>
          <a:xfrm>
            <a:off x="5486400" y="621792"/>
            <a:ext cx="6035040" cy="6035040"/>
          </a:xfrm>
          <a:prstGeom prst="blockArc">
            <a:avLst>
              <a:gd name="adj1" fmla="val 8187097"/>
              <a:gd name="adj2" fmla="val 8535484"/>
              <a:gd name="adj3" fmla="val 23485"/>
            </a:avLst>
          </a:prstGeom>
          <a:solidFill>
            <a:srgbClr val="93A87B"/>
          </a:solidFill>
          <a:ln w="25400">
            <a:solidFill>
              <a:srgbClr val="F5F7F0"/>
            </a:solidFill>
            <a:prstDash val="solid"/>
          </a:ln>
        </p:spPr>
      </p:sp>
      <p:sp>
        <p:nvSpPr>
          <p:cNvPr id="79" name="Product Adoption 65"/>
          <p:cNvSpPr/>
          <p:nvPr/>
        </p:nvSpPr>
        <p:spPr>
          <a:xfrm>
            <a:off x="5486400" y="621792"/>
            <a:ext cx="6035040" cy="6035040"/>
          </a:xfrm>
          <a:prstGeom prst="blockArc">
            <a:avLst>
              <a:gd name="adj1" fmla="val 8535484"/>
              <a:gd name="adj2" fmla="val 8883871"/>
              <a:gd name="adj3" fmla="val 23485"/>
            </a:avLst>
          </a:prstGeom>
          <a:solidFill>
            <a:srgbClr val="93A87B"/>
          </a:solidFill>
          <a:ln w="25400">
            <a:solidFill>
              <a:srgbClr val="F5F7F0"/>
            </a:solidFill>
            <a:prstDash val="solid"/>
          </a:ln>
        </p:spPr>
      </p:sp>
      <p:sp>
        <p:nvSpPr>
          <p:cNvPr id="80" name="Customer Onboarding 66"/>
          <p:cNvSpPr/>
          <p:nvPr/>
        </p:nvSpPr>
        <p:spPr>
          <a:xfrm>
            <a:off x="5486400" y="621792"/>
            <a:ext cx="6035040" cy="6035040"/>
          </a:xfrm>
          <a:prstGeom prst="blockArc">
            <a:avLst>
              <a:gd name="adj1" fmla="val 8883871"/>
              <a:gd name="adj2" fmla="val 9232258"/>
              <a:gd name="adj3" fmla="val 23485"/>
            </a:avLst>
          </a:prstGeom>
          <a:solidFill>
            <a:srgbClr val="93A87B"/>
          </a:solidFill>
          <a:ln w="25400">
            <a:solidFill>
              <a:srgbClr val="F5F7F0"/>
            </a:solidFill>
            <a:prstDash val="solid"/>
          </a:ln>
        </p:spPr>
      </p:sp>
      <p:sp>
        <p:nvSpPr>
          <p:cNvPr id="81" name="Label 67"/>
          <p:cNvSpPr txBox="1"/>
          <p:nvPr/>
        </p:nvSpPr>
        <p:spPr>
          <a:xfrm rot="2438710">
            <a:off x="9592846" y="5072120"/>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Advocacy Programme</a:t>
            </a:r>
            <a:endParaRPr lang="en-US" sz="700" dirty="0"/>
          </a:p>
        </p:txBody>
      </p:sp>
      <p:sp>
        <p:nvSpPr>
          <p:cNvPr id="82" name="Label 68"/>
          <p:cNvSpPr txBox="1"/>
          <p:nvPr/>
        </p:nvSpPr>
        <p:spPr>
          <a:xfrm rot="2787097">
            <a:off x="9431708" y="524163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Success Planning</a:t>
            </a:r>
            <a:endParaRPr lang="en-US" sz="700" dirty="0"/>
          </a:p>
        </p:txBody>
      </p:sp>
      <p:sp>
        <p:nvSpPr>
          <p:cNvPr id="83" name="Label 69"/>
          <p:cNvSpPr txBox="1"/>
          <p:nvPr/>
        </p:nvSpPr>
        <p:spPr>
          <a:xfrm rot="3135484">
            <a:off x="9254247" y="5393982"/>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Analytics</a:t>
            </a:r>
            <a:endParaRPr lang="en-US" sz="700" dirty="0"/>
          </a:p>
        </p:txBody>
      </p:sp>
      <p:sp>
        <p:nvSpPr>
          <p:cNvPr id="84" name="Label 70"/>
          <p:cNvSpPr txBox="1"/>
          <p:nvPr/>
        </p:nvSpPr>
        <p:spPr>
          <a:xfrm rot="3483871">
            <a:off x="9062284" y="5527593"/>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Voice of Customer</a:t>
            </a:r>
            <a:endParaRPr lang="en-US" sz="700" dirty="0"/>
          </a:p>
        </p:txBody>
      </p:sp>
      <p:sp>
        <p:nvSpPr>
          <p:cNvPr id="85" name="Label 71"/>
          <p:cNvSpPr txBox="1"/>
          <p:nvPr/>
        </p:nvSpPr>
        <p:spPr>
          <a:xfrm rot="3832258">
            <a:off x="8857788" y="564109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Community Building</a:t>
            </a:r>
            <a:endParaRPr lang="en-US" sz="700" dirty="0"/>
          </a:p>
        </p:txBody>
      </p:sp>
      <p:sp>
        <p:nvSpPr>
          <p:cNvPr id="86" name="Label 72"/>
          <p:cNvSpPr txBox="1"/>
          <p:nvPr/>
        </p:nvSpPr>
        <p:spPr>
          <a:xfrm rot="4180645">
            <a:off x="8642859" y="5733330"/>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Health</a:t>
            </a:r>
            <a:endParaRPr lang="en-US" sz="700" dirty="0"/>
          </a:p>
        </p:txBody>
      </p:sp>
      <p:sp>
        <p:nvSpPr>
          <p:cNvPr id="87" name="Label 73"/>
          <p:cNvSpPr txBox="1"/>
          <p:nvPr/>
        </p:nvSpPr>
        <p:spPr>
          <a:xfrm rot="4529032">
            <a:off x="8419702" y="580334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Escalation Handling</a:t>
            </a:r>
            <a:endParaRPr lang="en-US" sz="700" dirty="0"/>
          </a:p>
        </p:txBody>
      </p:sp>
      <p:sp>
        <p:nvSpPr>
          <p:cNvPr id="88" name="Label 74"/>
          <p:cNvSpPr txBox="1"/>
          <p:nvPr/>
        </p:nvSpPr>
        <p:spPr>
          <a:xfrm rot="4877419">
            <a:off x="8190606" y="585042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SLA Management</a:t>
            </a:r>
            <a:endParaRPr lang="en-US" sz="700" dirty="0"/>
          </a:p>
        </p:txBody>
      </p:sp>
      <p:sp>
        <p:nvSpPr>
          <p:cNvPr id="89" name="Label 75"/>
          <p:cNvSpPr txBox="1"/>
          <p:nvPr/>
        </p:nvSpPr>
        <p:spPr>
          <a:xfrm rot="5225806">
            <a:off x="7957922" y="5874089"/>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QBRs</a:t>
            </a:r>
            <a:endParaRPr lang="en-US" sz="700" dirty="0"/>
          </a:p>
        </p:txBody>
      </p:sp>
      <p:sp>
        <p:nvSpPr>
          <p:cNvPr id="90" name="Label 76"/>
          <p:cNvSpPr txBox="1"/>
          <p:nvPr/>
        </p:nvSpPr>
        <p:spPr>
          <a:xfrm rot="16374194">
            <a:off x="7724038" y="5874089"/>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Reviews</a:t>
            </a:r>
            <a:endParaRPr lang="en-US" sz="700" dirty="0"/>
          </a:p>
        </p:txBody>
      </p:sp>
      <p:sp>
        <p:nvSpPr>
          <p:cNvPr id="91" name="Label 77"/>
          <p:cNvSpPr txBox="1"/>
          <p:nvPr/>
        </p:nvSpPr>
        <p:spPr>
          <a:xfrm rot="16722581">
            <a:off x="7491354" y="585042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Contract Renewals</a:t>
            </a:r>
            <a:endParaRPr lang="en-US" sz="700" dirty="0"/>
          </a:p>
        </p:txBody>
      </p:sp>
      <p:sp>
        <p:nvSpPr>
          <p:cNvPr id="92" name="Label 78"/>
          <p:cNvSpPr txBox="1"/>
          <p:nvPr/>
        </p:nvSpPr>
        <p:spPr>
          <a:xfrm rot="17070968">
            <a:off x="7262258" y="580334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Training</a:t>
            </a:r>
            <a:endParaRPr lang="en-US" sz="700" dirty="0"/>
          </a:p>
        </p:txBody>
      </p:sp>
      <p:sp>
        <p:nvSpPr>
          <p:cNvPr id="93" name="Label 79"/>
          <p:cNvSpPr txBox="1"/>
          <p:nvPr/>
        </p:nvSpPr>
        <p:spPr>
          <a:xfrm rot="17419355">
            <a:off x="7039101" y="5733330"/>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Relationship Management</a:t>
            </a:r>
            <a:endParaRPr lang="en-US" sz="700" dirty="0"/>
          </a:p>
        </p:txBody>
      </p:sp>
      <p:sp>
        <p:nvSpPr>
          <p:cNvPr id="94" name="Label 80"/>
          <p:cNvSpPr txBox="1"/>
          <p:nvPr/>
        </p:nvSpPr>
        <p:spPr>
          <a:xfrm rot="17767742">
            <a:off x="6824172" y="564109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Support</a:t>
            </a:r>
            <a:endParaRPr lang="en-US" sz="700" dirty="0"/>
          </a:p>
        </p:txBody>
      </p:sp>
      <p:sp>
        <p:nvSpPr>
          <p:cNvPr id="95" name="Label 81"/>
          <p:cNvSpPr txBox="1"/>
          <p:nvPr/>
        </p:nvSpPr>
        <p:spPr>
          <a:xfrm rot="18116129">
            <a:off x="6619676" y="5527593"/>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Satisfaction</a:t>
            </a:r>
            <a:endParaRPr lang="en-US" sz="700" dirty="0"/>
          </a:p>
        </p:txBody>
      </p:sp>
      <p:sp>
        <p:nvSpPr>
          <p:cNvPr id="96" name="Label 82"/>
          <p:cNvSpPr txBox="1"/>
          <p:nvPr/>
        </p:nvSpPr>
        <p:spPr>
          <a:xfrm rot="18464516">
            <a:off x="6427713" y="5393982"/>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Upselling &amp; Cross-selling</a:t>
            </a:r>
            <a:endParaRPr lang="en-US" sz="700" dirty="0"/>
          </a:p>
        </p:txBody>
      </p:sp>
      <p:sp>
        <p:nvSpPr>
          <p:cNvPr id="97" name="Label 83"/>
          <p:cNvSpPr txBox="1"/>
          <p:nvPr/>
        </p:nvSpPr>
        <p:spPr>
          <a:xfrm rot="18812903">
            <a:off x="6250252" y="5241637"/>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Retention &amp; Churn</a:t>
            </a:r>
            <a:endParaRPr lang="en-US" sz="700" dirty="0"/>
          </a:p>
        </p:txBody>
      </p:sp>
      <p:sp>
        <p:nvSpPr>
          <p:cNvPr id="98" name="Label 84"/>
          <p:cNvSpPr txBox="1"/>
          <p:nvPr/>
        </p:nvSpPr>
        <p:spPr>
          <a:xfrm rot="19161290">
            <a:off x="6089114" y="5072120"/>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Account Management</a:t>
            </a:r>
            <a:endParaRPr lang="en-US" sz="700" dirty="0"/>
          </a:p>
        </p:txBody>
      </p:sp>
      <p:sp>
        <p:nvSpPr>
          <p:cNvPr id="99" name="Label 85"/>
          <p:cNvSpPr txBox="1"/>
          <p:nvPr/>
        </p:nvSpPr>
        <p:spPr>
          <a:xfrm rot="19509677">
            <a:off x="5945952" y="4887170"/>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Product Adoption</a:t>
            </a:r>
            <a:endParaRPr lang="en-US" sz="700" dirty="0"/>
          </a:p>
        </p:txBody>
      </p:sp>
      <p:sp>
        <p:nvSpPr>
          <p:cNvPr id="100" name="Label 86"/>
          <p:cNvSpPr txBox="1"/>
          <p:nvPr/>
        </p:nvSpPr>
        <p:spPr>
          <a:xfrm rot="19858065">
            <a:off x="5822236" y="4688686"/>
            <a:ext cx="1325880" cy="142240"/>
          </a:xfrm>
          <a:prstGeom prst="rect">
            <a:avLst/>
          </a:prstGeom>
          <a:noFill/>
          <a:ln/>
        </p:spPr>
        <p:txBody>
          <a:bodyPr wrap="square" lIns="0" tIns="0" rIns="0" bIns="0" rtlCol="0" anchor="ctr"/>
          <a:lstStyle/>
          <a:p>
            <a:pPr algn="ctr" indent="0" marL="0">
              <a:buNone/>
            </a:pPr>
            <a:r>
              <a:rPr lang="en-US" sz="700" dirty="0">
                <a:solidFill>
                  <a:srgbClr val="16261D"/>
                </a:solidFill>
                <a:latin typeface="Figtree" pitchFamily="34" charset="0"/>
                <a:ea typeface="Figtree" pitchFamily="34" charset="-122"/>
                <a:cs typeface="Figtree" pitchFamily="34" charset="-120"/>
              </a:rPr>
              <a:t>Customer Onboarding</a:t>
            </a:r>
            <a:endParaRPr lang="en-US" sz="700" dirty="0"/>
          </a:p>
        </p:txBody>
      </p:sp>
      <p:sp>
        <p:nvSpPr>
          <p:cNvPr id="101" name="Function Customer Success"/>
          <p:cNvSpPr txBox="1"/>
          <p:nvPr/>
        </p:nvSpPr>
        <p:spPr>
          <a:xfrm>
            <a:off x="7828081" y="4615841"/>
            <a:ext cx="1097280" cy="548640"/>
          </a:xfrm>
          <a:prstGeom prst="rect">
            <a:avLst/>
          </a:prstGeom>
          <a:noFill/>
          <a:ln/>
        </p:spPr>
        <p:txBody>
          <a:bodyPr wrap="square" lIns="0" tIns="0" rIns="0" bIns="0" rtlCol="0" anchor="ctr"/>
          <a:lstStyle/>
          <a:p>
            <a:pPr algn="ctr" indent="0" marL="0">
              <a:buNone/>
            </a:pPr>
            <a:r>
              <a:rPr lang="en-US" sz="1200" b="1" dirty="0">
                <a:solidFill>
                  <a:srgbClr val="16261D"/>
                </a:solidFill>
              </a:rPr>
              <a:t>Customer Success</a:t>
            </a:r>
            <a:endParaRPr lang="en-US" sz="1200" dirty="0"/>
          </a:p>
        </p:txBody>
      </p:sp>
      <p:sp>
        <p:nvSpPr>
          <p:cNvPr id="102" name="Marketing 87"/>
          <p:cNvSpPr/>
          <p:nvPr/>
        </p:nvSpPr>
        <p:spPr>
          <a:xfrm>
            <a:off x="6903720" y="2039112"/>
            <a:ext cx="3200400" cy="3200400"/>
          </a:xfrm>
          <a:prstGeom prst="blockArc">
            <a:avLst>
              <a:gd name="adj1" fmla="val 9232258"/>
              <a:gd name="adj2" fmla="val 16200000"/>
              <a:gd name="adj3" fmla="val 21429"/>
            </a:avLst>
          </a:prstGeom>
          <a:solidFill>
            <a:srgbClr val="56604E"/>
          </a:solidFill>
          <a:ln w="25400">
            <a:solidFill>
              <a:srgbClr val="F5F7F0"/>
            </a:solidFill>
            <a:prstDash val="solid"/>
          </a:ln>
        </p:spPr>
      </p:sp>
      <p:sp>
        <p:nvSpPr>
          <p:cNvPr id="103" name="Reporting &amp; Forecasting 88"/>
          <p:cNvSpPr/>
          <p:nvPr/>
        </p:nvSpPr>
        <p:spPr>
          <a:xfrm>
            <a:off x="5486400" y="621792"/>
            <a:ext cx="6035040" cy="6035040"/>
          </a:xfrm>
          <a:prstGeom prst="blockArc">
            <a:avLst>
              <a:gd name="adj1" fmla="val 9232258"/>
              <a:gd name="adj2" fmla="val 9580645"/>
              <a:gd name="adj3" fmla="val 23485"/>
            </a:avLst>
          </a:prstGeom>
          <a:solidFill>
            <a:srgbClr val="56604E"/>
          </a:solidFill>
          <a:ln w="25400">
            <a:solidFill>
              <a:srgbClr val="F5F7F0"/>
            </a:solidFill>
            <a:prstDash val="solid"/>
          </a:ln>
        </p:spPr>
      </p:sp>
      <p:sp>
        <p:nvSpPr>
          <p:cNvPr id="104" name="Budget Management 89"/>
          <p:cNvSpPr/>
          <p:nvPr/>
        </p:nvSpPr>
        <p:spPr>
          <a:xfrm>
            <a:off x="5486400" y="621792"/>
            <a:ext cx="6035040" cy="6035040"/>
          </a:xfrm>
          <a:prstGeom prst="blockArc">
            <a:avLst>
              <a:gd name="adj1" fmla="val 9580645"/>
              <a:gd name="adj2" fmla="val 9929032"/>
              <a:gd name="adj3" fmla="val 23485"/>
            </a:avLst>
          </a:prstGeom>
          <a:solidFill>
            <a:srgbClr val="56604E"/>
          </a:solidFill>
          <a:ln w="25400">
            <a:solidFill>
              <a:srgbClr val="F5F7F0"/>
            </a:solidFill>
            <a:prstDash val="solid"/>
          </a:ln>
        </p:spPr>
      </p:sp>
      <p:sp>
        <p:nvSpPr>
          <p:cNvPr id="105" name="A/B Testing 90"/>
          <p:cNvSpPr/>
          <p:nvPr/>
        </p:nvSpPr>
        <p:spPr>
          <a:xfrm>
            <a:off x="5486400" y="621792"/>
            <a:ext cx="6035040" cy="6035040"/>
          </a:xfrm>
          <a:prstGeom prst="blockArc">
            <a:avLst>
              <a:gd name="adj1" fmla="val 9929032"/>
              <a:gd name="adj2" fmla="val 10277419"/>
              <a:gd name="adj3" fmla="val 23485"/>
            </a:avLst>
          </a:prstGeom>
          <a:solidFill>
            <a:srgbClr val="56604E"/>
          </a:solidFill>
          <a:ln w="25400">
            <a:solidFill>
              <a:srgbClr val="F5F7F0"/>
            </a:solidFill>
            <a:prstDash val="solid"/>
          </a:ln>
        </p:spPr>
      </p:sp>
      <p:sp>
        <p:nvSpPr>
          <p:cNvPr id="106" name="Retention Campaigns 91"/>
          <p:cNvSpPr/>
          <p:nvPr/>
        </p:nvSpPr>
        <p:spPr>
          <a:xfrm>
            <a:off x="5486400" y="621792"/>
            <a:ext cx="6035040" cy="6035040"/>
          </a:xfrm>
          <a:prstGeom prst="blockArc">
            <a:avLst>
              <a:gd name="adj1" fmla="val 10277419"/>
              <a:gd name="adj2" fmla="val 10625806"/>
              <a:gd name="adj3" fmla="val 23485"/>
            </a:avLst>
          </a:prstGeom>
          <a:solidFill>
            <a:srgbClr val="56604E"/>
          </a:solidFill>
          <a:ln w="25400">
            <a:solidFill>
              <a:srgbClr val="F5F7F0"/>
            </a:solidFill>
            <a:prstDash val="solid"/>
          </a:ln>
        </p:spPr>
      </p:sp>
      <p:sp>
        <p:nvSpPr>
          <p:cNvPr id="107" name="Marketing Analytics 92"/>
          <p:cNvSpPr/>
          <p:nvPr/>
        </p:nvSpPr>
        <p:spPr>
          <a:xfrm>
            <a:off x="5486400" y="621792"/>
            <a:ext cx="6035040" cy="6035040"/>
          </a:xfrm>
          <a:prstGeom prst="blockArc">
            <a:avLst>
              <a:gd name="adj1" fmla="val 10625806"/>
              <a:gd name="adj2" fmla="val 10974194"/>
              <a:gd name="adj3" fmla="val 23485"/>
            </a:avLst>
          </a:prstGeom>
          <a:solidFill>
            <a:srgbClr val="56604E"/>
          </a:solidFill>
          <a:ln w="25400">
            <a:solidFill>
              <a:srgbClr val="F5F7F0"/>
            </a:solidFill>
            <a:prstDash val="solid"/>
          </a:ln>
        </p:spPr>
      </p:sp>
      <p:sp>
        <p:nvSpPr>
          <p:cNvPr id="108" name="Targeting &amp; Personalisation 93"/>
          <p:cNvSpPr/>
          <p:nvPr/>
        </p:nvSpPr>
        <p:spPr>
          <a:xfrm>
            <a:off x="5486400" y="621792"/>
            <a:ext cx="6035040" cy="6035040"/>
          </a:xfrm>
          <a:prstGeom prst="blockArc">
            <a:avLst>
              <a:gd name="adj1" fmla="val 10974194"/>
              <a:gd name="adj2" fmla="val 11322581"/>
              <a:gd name="adj3" fmla="val 23485"/>
            </a:avLst>
          </a:prstGeom>
          <a:solidFill>
            <a:srgbClr val="56604E"/>
          </a:solidFill>
          <a:ln w="25400">
            <a:solidFill>
              <a:srgbClr val="F5F7F0"/>
            </a:solidFill>
            <a:prstDash val="solid"/>
          </a:ln>
        </p:spPr>
      </p:sp>
      <p:sp>
        <p:nvSpPr>
          <p:cNvPr id="109" name="Customer Segmentation 94"/>
          <p:cNvSpPr/>
          <p:nvPr/>
        </p:nvSpPr>
        <p:spPr>
          <a:xfrm>
            <a:off x="5486400" y="621792"/>
            <a:ext cx="6035040" cy="6035040"/>
          </a:xfrm>
          <a:prstGeom prst="blockArc">
            <a:avLst>
              <a:gd name="adj1" fmla="val 11322581"/>
              <a:gd name="adj2" fmla="val 11670968"/>
              <a:gd name="adj3" fmla="val 23485"/>
            </a:avLst>
          </a:prstGeom>
          <a:solidFill>
            <a:srgbClr val="56604E"/>
          </a:solidFill>
          <a:ln w="25400">
            <a:solidFill>
              <a:srgbClr val="F5F7F0"/>
            </a:solidFill>
            <a:prstDash val="solid"/>
          </a:ln>
        </p:spPr>
      </p:sp>
      <p:sp>
        <p:nvSpPr>
          <p:cNvPr id="110" name="Affiliate Marketing 95"/>
          <p:cNvSpPr/>
          <p:nvPr/>
        </p:nvSpPr>
        <p:spPr>
          <a:xfrm>
            <a:off x="5486400" y="621792"/>
            <a:ext cx="6035040" cy="6035040"/>
          </a:xfrm>
          <a:prstGeom prst="blockArc">
            <a:avLst>
              <a:gd name="adj1" fmla="val 11670968"/>
              <a:gd name="adj2" fmla="val 12019355"/>
              <a:gd name="adj3" fmla="val 23485"/>
            </a:avLst>
          </a:prstGeom>
          <a:solidFill>
            <a:srgbClr val="56604E"/>
          </a:solidFill>
          <a:ln w="25400">
            <a:solidFill>
              <a:srgbClr val="F5F7F0"/>
            </a:solidFill>
            <a:prstDash val="solid"/>
          </a:ln>
        </p:spPr>
      </p:sp>
      <p:sp>
        <p:nvSpPr>
          <p:cNvPr id="111" name="Influencer Partnerships 96"/>
          <p:cNvSpPr/>
          <p:nvPr/>
        </p:nvSpPr>
        <p:spPr>
          <a:xfrm>
            <a:off x="5486400" y="621792"/>
            <a:ext cx="6035040" cy="6035040"/>
          </a:xfrm>
          <a:prstGeom prst="blockArc">
            <a:avLst>
              <a:gd name="adj1" fmla="val 12019355"/>
              <a:gd name="adj2" fmla="val 12367742"/>
              <a:gd name="adj3" fmla="val 23485"/>
            </a:avLst>
          </a:prstGeom>
          <a:solidFill>
            <a:srgbClr val="56604E"/>
          </a:solidFill>
          <a:ln w="25400">
            <a:solidFill>
              <a:srgbClr val="F5F7F0"/>
            </a:solidFill>
            <a:prstDash val="solid"/>
          </a:ln>
        </p:spPr>
      </p:sp>
      <p:sp>
        <p:nvSpPr>
          <p:cNvPr id="112" name="Public Relations 97"/>
          <p:cNvSpPr/>
          <p:nvPr/>
        </p:nvSpPr>
        <p:spPr>
          <a:xfrm>
            <a:off x="5486400" y="621792"/>
            <a:ext cx="6035040" cy="6035040"/>
          </a:xfrm>
          <a:prstGeom prst="blockArc">
            <a:avLst>
              <a:gd name="adj1" fmla="val 12367742"/>
              <a:gd name="adj2" fmla="val 12716129"/>
              <a:gd name="adj3" fmla="val 23485"/>
            </a:avLst>
          </a:prstGeom>
          <a:solidFill>
            <a:srgbClr val="56604E"/>
          </a:solidFill>
          <a:ln w="25400">
            <a:solidFill>
              <a:srgbClr val="F5F7F0"/>
            </a:solidFill>
            <a:prstDash val="solid"/>
          </a:ln>
        </p:spPr>
      </p:sp>
      <p:sp>
        <p:nvSpPr>
          <p:cNvPr id="113" name="Paid Advertising 98"/>
          <p:cNvSpPr/>
          <p:nvPr/>
        </p:nvSpPr>
        <p:spPr>
          <a:xfrm>
            <a:off x="5486400" y="621792"/>
            <a:ext cx="6035040" cy="6035040"/>
          </a:xfrm>
          <a:prstGeom prst="blockArc">
            <a:avLst>
              <a:gd name="adj1" fmla="val 12716129"/>
              <a:gd name="adj2" fmla="val 13064516"/>
              <a:gd name="adj3" fmla="val 23485"/>
            </a:avLst>
          </a:prstGeom>
          <a:solidFill>
            <a:srgbClr val="56604E"/>
          </a:solidFill>
          <a:ln w="25400">
            <a:solidFill>
              <a:srgbClr val="F5F7F0"/>
            </a:solidFill>
            <a:prstDash val="solid"/>
          </a:ln>
        </p:spPr>
      </p:sp>
      <p:sp>
        <p:nvSpPr>
          <p:cNvPr id="114" name="Competitor Analysis 99"/>
          <p:cNvSpPr/>
          <p:nvPr/>
        </p:nvSpPr>
        <p:spPr>
          <a:xfrm>
            <a:off x="5486400" y="621792"/>
            <a:ext cx="6035040" cy="6035040"/>
          </a:xfrm>
          <a:prstGeom prst="blockArc">
            <a:avLst>
              <a:gd name="adj1" fmla="val 13064516"/>
              <a:gd name="adj2" fmla="val 13412903"/>
              <a:gd name="adj3" fmla="val 23485"/>
            </a:avLst>
          </a:prstGeom>
          <a:solidFill>
            <a:srgbClr val="56604E"/>
          </a:solidFill>
          <a:ln w="25400">
            <a:solidFill>
              <a:srgbClr val="F5F7F0"/>
            </a:solidFill>
            <a:prstDash val="solid"/>
          </a:ln>
        </p:spPr>
      </p:sp>
      <p:sp>
        <p:nvSpPr>
          <p:cNvPr id="115" name="Market Research 100"/>
          <p:cNvSpPr/>
          <p:nvPr/>
        </p:nvSpPr>
        <p:spPr>
          <a:xfrm>
            <a:off x="5486400" y="621792"/>
            <a:ext cx="6035040" cy="6035040"/>
          </a:xfrm>
          <a:prstGeom prst="blockArc">
            <a:avLst>
              <a:gd name="adj1" fmla="val 13412903"/>
              <a:gd name="adj2" fmla="val 13761290"/>
              <a:gd name="adj3" fmla="val 23485"/>
            </a:avLst>
          </a:prstGeom>
          <a:solidFill>
            <a:srgbClr val="56604E"/>
          </a:solidFill>
          <a:ln w="25400">
            <a:solidFill>
              <a:srgbClr val="F5F7F0"/>
            </a:solidFill>
            <a:prstDash val="solid"/>
          </a:ln>
        </p:spPr>
      </p:sp>
      <p:sp>
        <p:nvSpPr>
          <p:cNvPr id="116" name="Email Marketing 101"/>
          <p:cNvSpPr/>
          <p:nvPr/>
        </p:nvSpPr>
        <p:spPr>
          <a:xfrm>
            <a:off x="5486400" y="621792"/>
            <a:ext cx="6035040" cy="6035040"/>
          </a:xfrm>
          <a:prstGeom prst="blockArc">
            <a:avLst>
              <a:gd name="adj1" fmla="val 13761290"/>
              <a:gd name="adj2" fmla="val 14109677"/>
              <a:gd name="adj3" fmla="val 23485"/>
            </a:avLst>
          </a:prstGeom>
          <a:solidFill>
            <a:srgbClr val="56604E"/>
          </a:solidFill>
          <a:ln w="25400">
            <a:solidFill>
              <a:srgbClr val="F5F7F0"/>
            </a:solidFill>
            <a:prstDash val="solid"/>
          </a:ln>
        </p:spPr>
      </p:sp>
      <p:sp>
        <p:nvSpPr>
          <p:cNvPr id="117" name="Webinars &amp; Events 102"/>
          <p:cNvSpPr/>
          <p:nvPr/>
        </p:nvSpPr>
        <p:spPr>
          <a:xfrm>
            <a:off x="5486400" y="621792"/>
            <a:ext cx="6035040" cy="6035040"/>
          </a:xfrm>
          <a:prstGeom prst="blockArc">
            <a:avLst>
              <a:gd name="adj1" fmla="val 14109677"/>
              <a:gd name="adj2" fmla="val 14458065"/>
              <a:gd name="adj3" fmla="val 23485"/>
            </a:avLst>
          </a:prstGeom>
          <a:solidFill>
            <a:srgbClr val="56604E"/>
          </a:solidFill>
          <a:ln w="25400">
            <a:solidFill>
              <a:srgbClr val="F5F7F0"/>
            </a:solidFill>
            <a:prstDash val="solid"/>
          </a:ln>
        </p:spPr>
      </p:sp>
      <p:sp>
        <p:nvSpPr>
          <p:cNvPr id="118" name="Social Media 103"/>
          <p:cNvSpPr/>
          <p:nvPr/>
        </p:nvSpPr>
        <p:spPr>
          <a:xfrm>
            <a:off x="5486400" y="621792"/>
            <a:ext cx="6035040" cy="6035040"/>
          </a:xfrm>
          <a:prstGeom prst="blockArc">
            <a:avLst>
              <a:gd name="adj1" fmla="val 14458065"/>
              <a:gd name="adj2" fmla="val 14806452"/>
              <a:gd name="adj3" fmla="val 23485"/>
            </a:avLst>
          </a:prstGeom>
          <a:solidFill>
            <a:srgbClr val="56604E"/>
          </a:solidFill>
          <a:ln w="25400">
            <a:solidFill>
              <a:srgbClr val="F5F7F0"/>
            </a:solidFill>
            <a:prstDash val="solid"/>
          </a:ln>
        </p:spPr>
      </p:sp>
      <p:sp>
        <p:nvSpPr>
          <p:cNvPr id="119" name="SEO Optimisation 104"/>
          <p:cNvSpPr/>
          <p:nvPr/>
        </p:nvSpPr>
        <p:spPr>
          <a:xfrm>
            <a:off x="5486400" y="621792"/>
            <a:ext cx="6035040" cy="6035040"/>
          </a:xfrm>
          <a:prstGeom prst="blockArc">
            <a:avLst>
              <a:gd name="adj1" fmla="val 14806452"/>
              <a:gd name="adj2" fmla="val 15154839"/>
              <a:gd name="adj3" fmla="val 23485"/>
            </a:avLst>
          </a:prstGeom>
          <a:solidFill>
            <a:srgbClr val="56604E"/>
          </a:solidFill>
          <a:ln w="25400">
            <a:solidFill>
              <a:srgbClr val="F5F7F0"/>
            </a:solidFill>
            <a:prstDash val="solid"/>
          </a:ln>
        </p:spPr>
      </p:sp>
      <p:sp>
        <p:nvSpPr>
          <p:cNvPr id="120" name="Content Strategy 105"/>
          <p:cNvSpPr/>
          <p:nvPr/>
        </p:nvSpPr>
        <p:spPr>
          <a:xfrm>
            <a:off x="5486400" y="621792"/>
            <a:ext cx="6035040" cy="6035040"/>
          </a:xfrm>
          <a:prstGeom prst="blockArc">
            <a:avLst>
              <a:gd name="adj1" fmla="val 15154839"/>
              <a:gd name="adj2" fmla="val 15503226"/>
              <a:gd name="adj3" fmla="val 23485"/>
            </a:avLst>
          </a:prstGeom>
          <a:solidFill>
            <a:srgbClr val="56604E"/>
          </a:solidFill>
          <a:ln w="25400">
            <a:solidFill>
              <a:srgbClr val="F5F7F0"/>
            </a:solidFill>
            <a:prstDash val="solid"/>
          </a:ln>
        </p:spPr>
      </p:sp>
      <p:sp>
        <p:nvSpPr>
          <p:cNvPr id="121" name="Brand Awareness 106"/>
          <p:cNvSpPr/>
          <p:nvPr/>
        </p:nvSpPr>
        <p:spPr>
          <a:xfrm>
            <a:off x="5486400" y="621792"/>
            <a:ext cx="6035040" cy="6035040"/>
          </a:xfrm>
          <a:prstGeom prst="blockArc">
            <a:avLst>
              <a:gd name="adj1" fmla="val 15503226"/>
              <a:gd name="adj2" fmla="val 15851613"/>
              <a:gd name="adj3" fmla="val 23485"/>
            </a:avLst>
          </a:prstGeom>
          <a:solidFill>
            <a:srgbClr val="56604E"/>
          </a:solidFill>
          <a:ln w="25400">
            <a:solidFill>
              <a:srgbClr val="F5F7F0"/>
            </a:solidFill>
            <a:prstDash val="solid"/>
          </a:ln>
        </p:spPr>
      </p:sp>
      <p:sp>
        <p:nvSpPr>
          <p:cNvPr id="122" name="Lead Generation 107"/>
          <p:cNvSpPr/>
          <p:nvPr/>
        </p:nvSpPr>
        <p:spPr>
          <a:xfrm>
            <a:off x="5486400" y="621792"/>
            <a:ext cx="6035040" cy="6035040"/>
          </a:xfrm>
          <a:prstGeom prst="blockArc">
            <a:avLst>
              <a:gd name="adj1" fmla="val 15851613"/>
              <a:gd name="adj2" fmla="val 16200000"/>
              <a:gd name="adj3" fmla="val 23485"/>
            </a:avLst>
          </a:prstGeom>
          <a:solidFill>
            <a:srgbClr val="56604E"/>
          </a:solidFill>
          <a:ln w="25400">
            <a:solidFill>
              <a:srgbClr val="F5F7F0"/>
            </a:solidFill>
            <a:prstDash val="solid"/>
          </a:ln>
        </p:spPr>
      </p:sp>
      <p:sp>
        <p:nvSpPr>
          <p:cNvPr id="123" name="Label 108"/>
          <p:cNvSpPr txBox="1"/>
          <p:nvPr/>
        </p:nvSpPr>
        <p:spPr>
          <a:xfrm rot="20206452">
            <a:off x="5719235" y="447870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Reporting &amp; Forecasting</a:t>
            </a:r>
            <a:endParaRPr lang="en-US" sz="700" dirty="0"/>
          </a:p>
        </p:txBody>
      </p:sp>
      <p:sp>
        <p:nvSpPr>
          <p:cNvPr id="124" name="Label 109"/>
          <p:cNvSpPr txBox="1"/>
          <p:nvPr/>
        </p:nvSpPr>
        <p:spPr>
          <a:xfrm rot="20554839">
            <a:off x="5638006" y="4259380"/>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Budget Management</a:t>
            </a:r>
            <a:endParaRPr lang="en-US" sz="700" dirty="0"/>
          </a:p>
        </p:txBody>
      </p:sp>
      <p:sp>
        <p:nvSpPr>
          <p:cNvPr id="125" name="Label 110"/>
          <p:cNvSpPr txBox="1"/>
          <p:nvPr/>
        </p:nvSpPr>
        <p:spPr>
          <a:xfrm rot="20903226">
            <a:off x="5579382" y="403296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A/B Testing</a:t>
            </a:r>
            <a:endParaRPr lang="en-US" sz="700" dirty="0"/>
          </a:p>
        </p:txBody>
      </p:sp>
      <p:sp>
        <p:nvSpPr>
          <p:cNvPr id="126" name="Label 111"/>
          <p:cNvSpPr txBox="1"/>
          <p:nvPr/>
        </p:nvSpPr>
        <p:spPr>
          <a:xfrm rot="21251613">
            <a:off x="5543966" y="3801775"/>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Retention Campaigns</a:t>
            </a:r>
            <a:endParaRPr lang="en-US" sz="700" dirty="0"/>
          </a:p>
        </p:txBody>
      </p:sp>
      <p:sp>
        <p:nvSpPr>
          <p:cNvPr id="127" name="Label 112"/>
          <p:cNvSpPr txBox="1"/>
          <p:nvPr/>
        </p:nvSpPr>
        <p:spPr>
          <a:xfrm rot="21600000">
            <a:off x="5532120" y="356819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Marketing Analytics</a:t>
            </a:r>
            <a:endParaRPr lang="en-US" sz="700" dirty="0"/>
          </a:p>
        </p:txBody>
      </p:sp>
      <p:sp>
        <p:nvSpPr>
          <p:cNvPr id="128" name="Label 113"/>
          <p:cNvSpPr txBox="1"/>
          <p:nvPr/>
        </p:nvSpPr>
        <p:spPr>
          <a:xfrm rot="348387">
            <a:off x="5543966" y="3334609"/>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Targeting &amp; Personalisation</a:t>
            </a:r>
            <a:endParaRPr lang="en-US" sz="700" dirty="0"/>
          </a:p>
        </p:txBody>
      </p:sp>
      <p:sp>
        <p:nvSpPr>
          <p:cNvPr id="129" name="Label 114"/>
          <p:cNvSpPr txBox="1"/>
          <p:nvPr/>
        </p:nvSpPr>
        <p:spPr>
          <a:xfrm rot="696774">
            <a:off x="5579382" y="310342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Customer Segmentation</a:t>
            </a:r>
            <a:endParaRPr lang="en-US" sz="700" dirty="0"/>
          </a:p>
        </p:txBody>
      </p:sp>
      <p:sp>
        <p:nvSpPr>
          <p:cNvPr id="130" name="Label 115"/>
          <p:cNvSpPr txBox="1"/>
          <p:nvPr/>
        </p:nvSpPr>
        <p:spPr>
          <a:xfrm rot="1045161">
            <a:off x="5638006" y="287700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Affiliate Marketing</a:t>
            </a:r>
            <a:endParaRPr lang="en-US" sz="700" dirty="0"/>
          </a:p>
        </p:txBody>
      </p:sp>
      <p:sp>
        <p:nvSpPr>
          <p:cNvPr id="131" name="Label 116"/>
          <p:cNvSpPr txBox="1"/>
          <p:nvPr/>
        </p:nvSpPr>
        <p:spPr>
          <a:xfrm rot="1393548">
            <a:off x="5719235" y="2657680"/>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Influencer Partnerships</a:t>
            </a:r>
            <a:endParaRPr lang="en-US" sz="700" dirty="0"/>
          </a:p>
        </p:txBody>
      </p:sp>
      <p:sp>
        <p:nvSpPr>
          <p:cNvPr id="132" name="Label 117"/>
          <p:cNvSpPr txBox="1"/>
          <p:nvPr/>
        </p:nvSpPr>
        <p:spPr>
          <a:xfrm rot="1741935">
            <a:off x="5822236" y="2447698"/>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Public Relations</a:t>
            </a:r>
            <a:endParaRPr lang="en-US" sz="700" dirty="0"/>
          </a:p>
        </p:txBody>
      </p:sp>
      <p:sp>
        <p:nvSpPr>
          <p:cNvPr id="133" name="Label 118"/>
          <p:cNvSpPr txBox="1"/>
          <p:nvPr/>
        </p:nvSpPr>
        <p:spPr>
          <a:xfrm rot="2090323">
            <a:off x="5945952" y="224921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Paid Advertising</a:t>
            </a:r>
            <a:endParaRPr lang="en-US" sz="700" dirty="0"/>
          </a:p>
        </p:txBody>
      </p:sp>
      <p:sp>
        <p:nvSpPr>
          <p:cNvPr id="134" name="Label 119"/>
          <p:cNvSpPr txBox="1"/>
          <p:nvPr/>
        </p:nvSpPr>
        <p:spPr>
          <a:xfrm rot="2438710">
            <a:off x="6089114" y="206426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Competitor Analysis</a:t>
            </a:r>
            <a:endParaRPr lang="en-US" sz="700" dirty="0"/>
          </a:p>
        </p:txBody>
      </p:sp>
      <p:sp>
        <p:nvSpPr>
          <p:cNvPr id="135" name="Label 120"/>
          <p:cNvSpPr txBox="1"/>
          <p:nvPr/>
        </p:nvSpPr>
        <p:spPr>
          <a:xfrm rot="2787097">
            <a:off x="6250252" y="189474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Market Research</a:t>
            </a:r>
            <a:endParaRPr lang="en-US" sz="700" dirty="0"/>
          </a:p>
        </p:txBody>
      </p:sp>
      <p:sp>
        <p:nvSpPr>
          <p:cNvPr id="136" name="Label 121"/>
          <p:cNvSpPr txBox="1"/>
          <p:nvPr/>
        </p:nvSpPr>
        <p:spPr>
          <a:xfrm rot="3135484">
            <a:off x="6427713" y="1742402"/>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Email Marketing</a:t>
            </a:r>
            <a:endParaRPr lang="en-US" sz="700" dirty="0"/>
          </a:p>
        </p:txBody>
      </p:sp>
      <p:sp>
        <p:nvSpPr>
          <p:cNvPr id="137" name="Label 122"/>
          <p:cNvSpPr txBox="1"/>
          <p:nvPr/>
        </p:nvSpPr>
        <p:spPr>
          <a:xfrm rot="3483871">
            <a:off x="6619676" y="1608791"/>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Webinars &amp; Events</a:t>
            </a:r>
            <a:endParaRPr lang="en-US" sz="700" dirty="0"/>
          </a:p>
        </p:txBody>
      </p:sp>
      <p:sp>
        <p:nvSpPr>
          <p:cNvPr id="138" name="Label 123"/>
          <p:cNvSpPr txBox="1"/>
          <p:nvPr/>
        </p:nvSpPr>
        <p:spPr>
          <a:xfrm rot="3832258">
            <a:off x="6824172" y="149528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Social Media</a:t>
            </a:r>
            <a:endParaRPr lang="en-US" sz="700" dirty="0"/>
          </a:p>
        </p:txBody>
      </p:sp>
      <p:sp>
        <p:nvSpPr>
          <p:cNvPr id="139" name="Label 124"/>
          <p:cNvSpPr txBox="1"/>
          <p:nvPr/>
        </p:nvSpPr>
        <p:spPr>
          <a:xfrm rot="4180645">
            <a:off x="7039101" y="1403054"/>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SEO Optimisation</a:t>
            </a:r>
            <a:endParaRPr lang="en-US" sz="700" dirty="0"/>
          </a:p>
        </p:txBody>
      </p:sp>
      <p:sp>
        <p:nvSpPr>
          <p:cNvPr id="140" name="Label 125"/>
          <p:cNvSpPr txBox="1"/>
          <p:nvPr/>
        </p:nvSpPr>
        <p:spPr>
          <a:xfrm rot="4529032">
            <a:off x="7262258" y="133303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Content Strategy</a:t>
            </a:r>
            <a:endParaRPr lang="en-US" sz="700" dirty="0"/>
          </a:p>
        </p:txBody>
      </p:sp>
      <p:sp>
        <p:nvSpPr>
          <p:cNvPr id="141" name="Label 126"/>
          <p:cNvSpPr txBox="1"/>
          <p:nvPr/>
        </p:nvSpPr>
        <p:spPr>
          <a:xfrm rot="4877419">
            <a:off x="7491354" y="1285957"/>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Brand Awareness</a:t>
            </a:r>
            <a:endParaRPr lang="en-US" sz="700" dirty="0"/>
          </a:p>
        </p:txBody>
      </p:sp>
      <p:sp>
        <p:nvSpPr>
          <p:cNvPr id="142" name="Label 127"/>
          <p:cNvSpPr txBox="1"/>
          <p:nvPr/>
        </p:nvSpPr>
        <p:spPr>
          <a:xfrm rot="5225806">
            <a:off x="7724038" y="1262295"/>
            <a:ext cx="1325880" cy="142240"/>
          </a:xfrm>
          <a:prstGeom prst="rect">
            <a:avLst/>
          </a:prstGeom>
          <a:noFill/>
          <a:ln/>
        </p:spPr>
        <p:txBody>
          <a:bodyPr wrap="square" lIns="0" tIns="0" rIns="0" bIns="0" rtlCol="0" anchor="ctr"/>
          <a:lstStyle/>
          <a:p>
            <a:pPr algn="ctr" indent="0" marL="0">
              <a:buNone/>
            </a:pPr>
            <a:r>
              <a:rPr lang="en-US" sz="700" dirty="0">
                <a:solidFill>
                  <a:srgbClr val="F5F7F0"/>
                </a:solidFill>
                <a:latin typeface="Figtree" pitchFamily="34" charset="0"/>
                <a:ea typeface="Figtree" pitchFamily="34" charset="-122"/>
                <a:cs typeface="Figtree" pitchFamily="34" charset="-120"/>
              </a:rPr>
              <a:t>Lead Generation</a:t>
            </a:r>
            <a:endParaRPr lang="en-US" sz="700" dirty="0"/>
          </a:p>
        </p:txBody>
      </p:sp>
      <p:sp>
        <p:nvSpPr>
          <p:cNvPr id="143" name="Function Marketing"/>
          <p:cNvSpPr txBox="1"/>
          <p:nvPr/>
        </p:nvSpPr>
        <p:spPr>
          <a:xfrm>
            <a:off x="6888280" y="2699926"/>
            <a:ext cx="1097280" cy="548640"/>
          </a:xfrm>
          <a:prstGeom prst="rect">
            <a:avLst/>
          </a:prstGeom>
          <a:noFill/>
          <a:ln/>
        </p:spPr>
        <p:txBody>
          <a:bodyPr wrap="square" lIns="0" tIns="0" rIns="0" bIns="0" rtlCol="0" anchor="ctr"/>
          <a:lstStyle/>
          <a:p>
            <a:pPr algn="ctr" indent="0" marL="0">
              <a:buNone/>
            </a:pPr>
            <a:r>
              <a:rPr lang="en-US" sz="1200" b="1" dirty="0">
                <a:solidFill>
                  <a:srgbClr val="F5F7F0"/>
                </a:solidFill>
              </a:rPr>
              <a:t>Marketing</a:t>
            </a:r>
            <a:endParaRPr lang="en-US" sz="1200" dirty="0"/>
          </a:p>
        </p:txBody>
      </p:sp>
      <p:sp>
        <p:nvSpPr>
          <p:cNvPr id="144" name="Hub"/>
          <p:cNvSpPr/>
          <p:nvPr/>
        </p:nvSpPr>
        <p:spPr>
          <a:xfrm>
            <a:off x="7589520" y="2724912"/>
            <a:ext cx="1828800" cy="1828800"/>
          </a:xfrm>
          <a:prstGeom prst="ellipse">
            <a:avLst/>
          </a:prstGeom>
          <a:solidFill>
            <a:srgbClr val="F5F7F0"/>
          </a:solidFill>
          <a:ln w="15875">
            <a:solidFill>
              <a:srgbClr val="F5F7F0"/>
            </a:solidFill>
            <a:prstDash val="solid"/>
          </a:ln>
        </p:spPr>
      </p:sp>
      <p:sp>
        <p:nvSpPr>
          <p:cNvPr id="145" name="Hub label"/>
          <p:cNvSpPr txBox="1"/>
          <p:nvPr/>
        </p:nvSpPr>
        <p:spPr>
          <a:xfrm>
            <a:off x="7726680" y="3227832"/>
            <a:ext cx="1554480" cy="822960"/>
          </a:xfrm>
          <a:prstGeom prst="rect">
            <a:avLst/>
          </a:prstGeom>
          <a:noFill/>
          <a:ln/>
        </p:spPr>
        <p:txBody>
          <a:bodyPr wrap="square" lIns="0" tIns="0" rIns="0" bIns="0" rtlCol="0" anchor="ctr"/>
          <a:lstStyle/>
          <a:p>
            <a:pPr algn="ctr" indent="0" marL="0">
              <a:buNone/>
            </a:pPr>
            <a:r>
              <a:rPr lang="en-US" sz="1700" dirty="0">
                <a:solidFill>
                  <a:schemeClr val="tx1"/>
                </a:solidFill>
                <a:latin typeface="Georgia" pitchFamily="34" charset="0"/>
                <a:ea typeface="Georgia" pitchFamily="34" charset="-122"/>
                <a:cs typeface="Georgia" pitchFamily="34" charset="-120"/>
              </a:rPr>
              <a:t>Revenue Operations</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THE REVOPS FLYWHEEL  ·  DRILL-IN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Sales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Fan shadow"/>
          <p:cNvSpPr/>
          <p:nvPr/>
        </p:nvSpPr>
        <p:spPr>
          <a:xfrm>
            <a:off x="838505" y="1143000"/>
            <a:ext cx="10515600" cy="10515600"/>
          </a:xfrm>
          <a:prstGeom prst="blockArc">
            <a:avLst>
              <a:gd name="adj1" fmla="val 12480000"/>
              <a:gd name="adj2" fmla="val 19920000"/>
              <a:gd name="adj3" fmla="val 36087"/>
            </a:avLst>
          </a:prstGeom>
          <a:solidFill>
            <a:srgbClr val="1F3529"/>
          </a:solidFill>
          <a:ln/>
          <a:effectLst>
            <a:outerShdw sx="100000" sy="100000" kx="0" ky="0" algn="bl" rotWithShape="0" blurRad="381000" dist="101600" dir="5400000">
              <a:srgbClr val="16261D">
                <a:alpha val="25000"/>
              </a:srgbClr>
            </a:outerShdw>
          </a:effectLst>
        </p:spPr>
      </p:sp>
      <p:sp>
        <p:nvSpPr>
          <p:cNvPr id="6" name="Sales 128"/>
          <p:cNvSpPr/>
          <p:nvPr/>
        </p:nvSpPr>
        <p:spPr>
          <a:xfrm>
            <a:off x="3124505" y="3429000"/>
            <a:ext cx="5943600" cy="5943600"/>
          </a:xfrm>
          <a:prstGeom prst="blockArc">
            <a:avLst>
              <a:gd name="adj1" fmla="val 12480000"/>
              <a:gd name="adj2" fmla="val 19920000"/>
              <a:gd name="adj3" fmla="val 25385"/>
            </a:avLst>
          </a:prstGeom>
          <a:solidFill>
            <a:srgbClr val="1F3529"/>
          </a:solidFill>
          <a:ln w="25400">
            <a:solidFill>
              <a:srgbClr val="F5F7F0"/>
            </a:solidFill>
            <a:prstDash val="solid"/>
          </a:ln>
        </p:spPr>
      </p:sp>
      <p:sp>
        <p:nvSpPr>
          <p:cNvPr id="7" name="Sales Communication 129"/>
          <p:cNvSpPr/>
          <p:nvPr/>
        </p:nvSpPr>
        <p:spPr>
          <a:xfrm>
            <a:off x="838505" y="1143000"/>
            <a:ext cx="10515600" cy="10515600"/>
          </a:xfrm>
          <a:prstGeom prst="blockArc">
            <a:avLst>
              <a:gd name="adj1" fmla="val 12480000"/>
              <a:gd name="adj2" fmla="val 12818182"/>
              <a:gd name="adj3" fmla="val 21739"/>
            </a:avLst>
          </a:prstGeom>
          <a:solidFill>
            <a:srgbClr val="1F3529"/>
          </a:solidFill>
          <a:ln w="25400">
            <a:solidFill>
              <a:srgbClr val="F5F7F0"/>
            </a:solidFill>
            <a:prstDash val="solid"/>
          </a:ln>
        </p:spPr>
      </p:sp>
      <p:sp>
        <p:nvSpPr>
          <p:cNvPr id="8" name="Sales Performance Tracking 130"/>
          <p:cNvSpPr/>
          <p:nvPr/>
        </p:nvSpPr>
        <p:spPr>
          <a:xfrm>
            <a:off x="838505" y="1143000"/>
            <a:ext cx="10515600" cy="10515600"/>
          </a:xfrm>
          <a:prstGeom prst="blockArc">
            <a:avLst>
              <a:gd name="adj1" fmla="val 12818182"/>
              <a:gd name="adj2" fmla="val 13156364"/>
              <a:gd name="adj3" fmla="val 21739"/>
            </a:avLst>
          </a:prstGeom>
          <a:solidFill>
            <a:srgbClr val="1F3529"/>
          </a:solidFill>
          <a:ln w="25400">
            <a:solidFill>
              <a:srgbClr val="F5F7F0"/>
            </a:solidFill>
            <a:prstDash val="solid"/>
          </a:ln>
        </p:spPr>
      </p:sp>
      <p:sp>
        <p:nvSpPr>
          <p:cNvPr id="9" name="Sales Channel Optimisation 131"/>
          <p:cNvSpPr/>
          <p:nvPr/>
        </p:nvSpPr>
        <p:spPr>
          <a:xfrm>
            <a:off x="838505" y="1143000"/>
            <a:ext cx="10515600" cy="10515600"/>
          </a:xfrm>
          <a:prstGeom prst="blockArc">
            <a:avLst>
              <a:gd name="adj1" fmla="val 13156364"/>
              <a:gd name="adj2" fmla="val 13494545"/>
              <a:gd name="adj3" fmla="val 21739"/>
            </a:avLst>
          </a:prstGeom>
          <a:solidFill>
            <a:srgbClr val="1F3529"/>
          </a:solidFill>
          <a:ln w="25400">
            <a:solidFill>
              <a:srgbClr val="F5F7F0"/>
            </a:solidFill>
            <a:prstDash val="solid"/>
          </a:ln>
        </p:spPr>
      </p:sp>
      <p:sp>
        <p:nvSpPr>
          <p:cNvPr id="10" name="Pricing Strategy 132"/>
          <p:cNvSpPr/>
          <p:nvPr/>
        </p:nvSpPr>
        <p:spPr>
          <a:xfrm>
            <a:off x="838505" y="1143000"/>
            <a:ext cx="10515600" cy="10515600"/>
          </a:xfrm>
          <a:prstGeom prst="blockArc">
            <a:avLst>
              <a:gd name="adj1" fmla="val 13494545"/>
              <a:gd name="adj2" fmla="val 13832727"/>
              <a:gd name="adj3" fmla="val 21739"/>
            </a:avLst>
          </a:prstGeom>
          <a:solidFill>
            <a:srgbClr val="1F3529"/>
          </a:solidFill>
          <a:ln w="25400">
            <a:solidFill>
              <a:srgbClr val="F5F7F0"/>
            </a:solidFill>
            <a:prstDash val="solid"/>
          </a:ln>
        </p:spPr>
      </p:sp>
      <p:sp>
        <p:nvSpPr>
          <p:cNvPr id="11" name="Client Onboarding 133"/>
          <p:cNvSpPr/>
          <p:nvPr/>
        </p:nvSpPr>
        <p:spPr>
          <a:xfrm>
            <a:off x="838505" y="1143000"/>
            <a:ext cx="10515600" cy="10515600"/>
          </a:xfrm>
          <a:prstGeom prst="blockArc">
            <a:avLst>
              <a:gd name="adj1" fmla="val 13832727"/>
              <a:gd name="adj2" fmla="val 14170909"/>
              <a:gd name="adj3" fmla="val 21739"/>
            </a:avLst>
          </a:prstGeom>
          <a:solidFill>
            <a:srgbClr val="1F3529"/>
          </a:solidFill>
          <a:ln w="25400">
            <a:solidFill>
              <a:srgbClr val="F5F7F0"/>
            </a:solidFill>
            <a:prstDash val="solid"/>
          </a:ln>
        </p:spPr>
      </p:sp>
      <p:sp>
        <p:nvSpPr>
          <p:cNvPr id="12" name="Deal Structuring 134"/>
          <p:cNvSpPr/>
          <p:nvPr/>
        </p:nvSpPr>
        <p:spPr>
          <a:xfrm>
            <a:off x="838505" y="1143000"/>
            <a:ext cx="10515600" cy="10515600"/>
          </a:xfrm>
          <a:prstGeom prst="blockArc">
            <a:avLst>
              <a:gd name="adj1" fmla="val 14170909"/>
              <a:gd name="adj2" fmla="val 14509091"/>
              <a:gd name="adj3" fmla="val 21739"/>
            </a:avLst>
          </a:prstGeom>
          <a:solidFill>
            <a:srgbClr val="1F3529"/>
          </a:solidFill>
          <a:ln w="25400">
            <a:solidFill>
              <a:srgbClr val="F5F7F0"/>
            </a:solidFill>
            <a:prstDash val="solid"/>
          </a:ln>
        </p:spPr>
      </p:sp>
      <p:sp>
        <p:nvSpPr>
          <p:cNvPr id="13" name="Proposal Management 135"/>
          <p:cNvSpPr/>
          <p:nvPr/>
        </p:nvSpPr>
        <p:spPr>
          <a:xfrm>
            <a:off x="838505" y="1143000"/>
            <a:ext cx="10515600" cy="10515600"/>
          </a:xfrm>
          <a:prstGeom prst="blockArc">
            <a:avLst>
              <a:gd name="adj1" fmla="val 14509091"/>
              <a:gd name="adj2" fmla="val 14847273"/>
              <a:gd name="adj3" fmla="val 21739"/>
            </a:avLst>
          </a:prstGeom>
          <a:solidFill>
            <a:srgbClr val="1F3529"/>
          </a:solidFill>
          <a:ln w="25400">
            <a:solidFill>
              <a:srgbClr val="F5F7F0"/>
            </a:solidFill>
            <a:prstDash val="solid"/>
          </a:ln>
        </p:spPr>
      </p:sp>
      <p:sp>
        <p:nvSpPr>
          <p:cNvPr id="14" name="Sales Automation 136"/>
          <p:cNvSpPr/>
          <p:nvPr/>
        </p:nvSpPr>
        <p:spPr>
          <a:xfrm>
            <a:off x="838505" y="1143000"/>
            <a:ext cx="10515600" cy="10515600"/>
          </a:xfrm>
          <a:prstGeom prst="blockArc">
            <a:avLst>
              <a:gd name="adj1" fmla="val 14847273"/>
              <a:gd name="adj2" fmla="val 15185455"/>
              <a:gd name="adj3" fmla="val 21739"/>
            </a:avLst>
          </a:prstGeom>
          <a:solidFill>
            <a:srgbClr val="1F3529"/>
          </a:solidFill>
          <a:ln w="25400">
            <a:solidFill>
              <a:srgbClr val="F5F7F0"/>
            </a:solidFill>
            <a:prstDash val="solid"/>
          </a:ln>
        </p:spPr>
      </p:sp>
      <p:sp>
        <p:nvSpPr>
          <p:cNvPr id="15" name="Win/Loss Analysis 137"/>
          <p:cNvSpPr/>
          <p:nvPr/>
        </p:nvSpPr>
        <p:spPr>
          <a:xfrm>
            <a:off x="838505" y="1143000"/>
            <a:ext cx="10515600" cy="10515600"/>
          </a:xfrm>
          <a:prstGeom prst="blockArc">
            <a:avLst>
              <a:gd name="adj1" fmla="val 15185455"/>
              <a:gd name="adj2" fmla="val 15523636"/>
              <a:gd name="adj3" fmla="val 21739"/>
            </a:avLst>
          </a:prstGeom>
          <a:solidFill>
            <a:srgbClr val="1F3529"/>
          </a:solidFill>
          <a:ln w="25400">
            <a:solidFill>
              <a:srgbClr val="F5F7F0"/>
            </a:solidFill>
            <a:prstDash val="solid"/>
          </a:ln>
        </p:spPr>
      </p:sp>
      <p:sp>
        <p:nvSpPr>
          <p:cNvPr id="16" name="Account Management 138"/>
          <p:cNvSpPr/>
          <p:nvPr/>
        </p:nvSpPr>
        <p:spPr>
          <a:xfrm>
            <a:off x="838505" y="1143000"/>
            <a:ext cx="10515600" cy="10515600"/>
          </a:xfrm>
          <a:prstGeom prst="blockArc">
            <a:avLst>
              <a:gd name="adj1" fmla="val 15523636"/>
              <a:gd name="adj2" fmla="val 15861818"/>
              <a:gd name="adj3" fmla="val 21739"/>
            </a:avLst>
          </a:prstGeom>
          <a:solidFill>
            <a:srgbClr val="1F3529"/>
          </a:solidFill>
          <a:ln w="25400">
            <a:solidFill>
              <a:srgbClr val="F5F7F0"/>
            </a:solidFill>
            <a:prstDash val="solid"/>
          </a:ln>
        </p:spPr>
      </p:sp>
      <p:sp>
        <p:nvSpPr>
          <p:cNvPr id="17" name="Channel Sales 139"/>
          <p:cNvSpPr/>
          <p:nvPr/>
        </p:nvSpPr>
        <p:spPr>
          <a:xfrm>
            <a:off x="838505" y="1143000"/>
            <a:ext cx="10515600" cy="10515600"/>
          </a:xfrm>
          <a:prstGeom prst="blockArc">
            <a:avLst>
              <a:gd name="adj1" fmla="val 15861818"/>
              <a:gd name="adj2" fmla="val 16200000"/>
              <a:gd name="adj3" fmla="val 21739"/>
            </a:avLst>
          </a:prstGeom>
          <a:solidFill>
            <a:srgbClr val="1F3529"/>
          </a:solidFill>
          <a:ln w="25400">
            <a:solidFill>
              <a:srgbClr val="F5F7F0"/>
            </a:solidFill>
            <a:prstDash val="solid"/>
          </a:ln>
        </p:spPr>
      </p:sp>
      <p:sp>
        <p:nvSpPr>
          <p:cNvPr id="18" name="Discount Control 140"/>
          <p:cNvSpPr/>
          <p:nvPr/>
        </p:nvSpPr>
        <p:spPr>
          <a:xfrm>
            <a:off x="838505" y="1143000"/>
            <a:ext cx="10515600" cy="10515600"/>
          </a:xfrm>
          <a:prstGeom prst="blockArc">
            <a:avLst>
              <a:gd name="adj1" fmla="val 16200000"/>
              <a:gd name="adj2" fmla="val 16538182"/>
              <a:gd name="adj3" fmla="val 21739"/>
            </a:avLst>
          </a:prstGeom>
          <a:solidFill>
            <a:srgbClr val="1F3529"/>
          </a:solidFill>
          <a:ln w="25400">
            <a:solidFill>
              <a:srgbClr val="F5F7F0"/>
            </a:solidFill>
            <a:prstDash val="solid"/>
          </a:ln>
        </p:spPr>
      </p:sp>
      <p:sp>
        <p:nvSpPr>
          <p:cNvPr id="19" name="Quota Attainment 141"/>
          <p:cNvSpPr/>
          <p:nvPr/>
        </p:nvSpPr>
        <p:spPr>
          <a:xfrm>
            <a:off x="838505" y="1143000"/>
            <a:ext cx="10515600" cy="10515600"/>
          </a:xfrm>
          <a:prstGeom prst="blockArc">
            <a:avLst>
              <a:gd name="adj1" fmla="val 16538182"/>
              <a:gd name="adj2" fmla="val 16876364"/>
              <a:gd name="adj3" fmla="val 21739"/>
            </a:avLst>
          </a:prstGeom>
          <a:solidFill>
            <a:srgbClr val="1F3529"/>
          </a:solidFill>
          <a:ln w="25400">
            <a:solidFill>
              <a:srgbClr val="F5F7F0"/>
            </a:solidFill>
            <a:prstDash val="solid"/>
          </a:ln>
        </p:spPr>
      </p:sp>
      <p:sp>
        <p:nvSpPr>
          <p:cNvPr id="20" name="Training &amp; Development 142"/>
          <p:cNvSpPr/>
          <p:nvPr/>
        </p:nvSpPr>
        <p:spPr>
          <a:xfrm>
            <a:off x="838505" y="1143000"/>
            <a:ext cx="10515600" cy="10515600"/>
          </a:xfrm>
          <a:prstGeom prst="blockArc">
            <a:avLst>
              <a:gd name="adj1" fmla="val 16876364"/>
              <a:gd name="adj2" fmla="val 17214545"/>
              <a:gd name="adj3" fmla="val 21739"/>
            </a:avLst>
          </a:prstGeom>
          <a:solidFill>
            <a:srgbClr val="1F3529"/>
          </a:solidFill>
          <a:ln w="25400">
            <a:solidFill>
              <a:srgbClr val="F5F7F0"/>
            </a:solidFill>
            <a:prstDash val="solid"/>
          </a:ln>
        </p:spPr>
      </p:sp>
      <p:sp>
        <p:nvSpPr>
          <p:cNvPr id="21" name="Sales Enablement 143"/>
          <p:cNvSpPr/>
          <p:nvPr/>
        </p:nvSpPr>
        <p:spPr>
          <a:xfrm>
            <a:off x="838505" y="1143000"/>
            <a:ext cx="10515600" cy="10515600"/>
          </a:xfrm>
          <a:prstGeom prst="blockArc">
            <a:avLst>
              <a:gd name="adj1" fmla="val 17214545"/>
              <a:gd name="adj2" fmla="val 17552727"/>
              <a:gd name="adj3" fmla="val 21739"/>
            </a:avLst>
          </a:prstGeom>
          <a:solidFill>
            <a:srgbClr val="1F3529"/>
          </a:solidFill>
          <a:ln w="25400">
            <a:solidFill>
              <a:srgbClr val="F5F7F0"/>
            </a:solidFill>
            <a:prstDash val="solid"/>
          </a:ln>
        </p:spPr>
      </p:sp>
      <p:sp>
        <p:nvSpPr>
          <p:cNvPr id="22" name="Territory Management 144"/>
          <p:cNvSpPr/>
          <p:nvPr/>
        </p:nvSpPr>
        <p:spPr>
          <a:xfrm>
            <a:off x="838505" y="1143000"/>
            <a:ext cx="10515600" cy="10515600"/>
          </a:xfrm>
          <a:prstGeom prst="blockArc">
            <a:avLst>
              <a:gd name="adj1" fmla="val 17552727"/>
              <a:gd name="adj2" fmla="val 17890909"/>
              <a:gd name="adj3" fmla="val 21739"/>
            </a:avLst>
          </a:prstGeom>
          <a:solidFill>
            <a:srgbClr val="1F3529"/>
          </a:solidFill>
          <a:ln w="25400">
            <a:solidFill>
              <a:srgbClr val="F5F7F0"/>
            </a:solidFill>
            <a:prstDash val="solid"/>
          </a:ln>
        </p:spPr>
      </p:sp>
      <p:sp>
        <p:nvSpPr>
          <p:cNvPr id="23" name="CRM Management 145"/>
          <p:cNvSpPr/>
          <p:nvPr/>
        </p:nvSpPr>
        <p:spPr>
          <a:xfrm>
            <a:off x="838505" y="1143000"/>
            <a:ext cx="10515600" cy="10515600"/>
          </a:xfrm>
          <a:prstGeom prst="blockArc">
            <a:avLst>
              <a:gd name="adj1" fmla="val 17890909"/>
              <a:gd name="adj2" fmla="val 18229091"/>
              <a:gd name="adj3" fmla="val 21739"/>
            </a:avLst>
          </a:prstGeom>
          <a:solidFill>
            <a:srgbClr val="1F3529"/>
          </a:solidFill>
          <a:ln w="25400">
            <a:solidFill>
              <a:srgbClr val="F5F7F0"/>
            </a:solidFill>
            <a:prstDash val="solid"/>
          </a:ln>
        </p:spPr>
      </p:sp>
      <p:sp>
        <p:nvSpPr>
          <p:cNvPr id="24" name="Sales Forecasting 146"/>
          <p:cNvSpPr/>
          <p:nvPr/>
        </p:nvSpPr>
        <p:spPr>
          <a:xfrm>
            <a:off x="838505" y="1143000"/>
            <a:ext cx="10515600" cy="10515600"/>
          </a:xfrm>
          <a:prstGeom prst="blockArc">
            <a:avLst>
              <a:gd name="adj1" fmla="val 18229091"/>
              <a:gd name="adj2" fmla="val 18567273"/>
              <a:gd name="adj3" fmla="val 21739"/>
            </a:avLst>
          </a:prstGeom>
          <a:solidFill>
            <a:srgbClr val="1F3529"/>
          </a:solidFill>
          <a:ln w="25400">
            <a:solidFill>
              <a:srgbClr val="F5F7F0"/>
            </a:solidFill>
            <a:prstDash val="solid"/>
          </a:ln>
        </p:spPr>
      </p:sp>
      <p:sp>
        <p:nvSpPr>
          <p:cNvPr id="25" name="Contract Negotiation 147"/>
          <p:cNvSpPr/>
          <p:nvPr/>
        </p:nvSpPr>
        <p:spPr>
          <a:xfrm>
            <a:off x="838505" y="1143000"/>
            <a:ext cx="10515600" cy="10515600"/>
          </a:xfrm>
          <a:prstGeom prst="blockArc">
            <a:avLst>
              <a:gd name="adj1" fmla="val 18567273"/>
              <a:gd name="adj2" fmla="val 18905455"/>
              <a:gd name="adj3" fmla="val 21739"/>
            </a:avLst>
          </a:prstGeom>
          <a:solidFill>
            <a:srgbClr val="1F3529"/>
          </a:solidFill>
          <a:ln w="25400">
            <a:solidFill>
              <a:srgbClr val="F5F7F0"/>
            </a:solidFill>
            <a:prstDash val="solid"/>
          </a:ln>
        </p:spPr>
      </p:sp>
      <p:sp>
        <p:nvSpPr>
          <p:cNvPr id="26" name="Sales Demos 148"/>
          <p:cNvSpPr/>
          <p:nvPr/>
        </p:nvSpPr>
        <p:spPr>
          <a:xfrm>
            <a:off x="838505" y="1143000"/>
            <a:ext cx="10515600" cy="10515600"/>
          </a:xfrm>
          <a:prstGeom prst="blockArc">
            <a:avLst>
              <a:gd name="adj1" fmla="val 18905455"/>
              <a:gd name="adj2" fmla="val 19243636"/>
              <a:gd name="adj3" fmla="val 21739"/>
            </a:avLst>
          </a:prstGeom>
          <a:solidFill>
            <a:srgbClr val="1F3529"/>
          </a:solidFill>
          <a:ln w="25400">
            <a:solidFill>
              <a:srgbClr val="F5F7F0"/>
            </a:solidFill>
            <a:prstDash val="solid"/>
          </a:ln>
        </p:spPr>
      </p:sp>
      <p:sp>
        <p:nvSpPr>
          <p:cNvPr id="27" name="Prospecting 149"/>
          <p:cNvSpPr/>
          <p:nvPr/>
        </p:nvSpPr>
        <p:spPr>
          <a:xfrm>
            <a:off x="838505" y="1143000"/>
            <a:ext cx="10515600" cy="10515600"/>
          </a:xfrm>
          <a:prstGeom prst="blockArc">
            <a:avLst>
              <a:gd name="adj1" fmla="val 19243636"/>
              <a:gd name="adj2" fmla="val 19581818"/>
              <a:gd name="adj3" fmla="val 21739"/>
            </a:avLst>
          </a:prstGeom>
          <a:solidFill>
            <a:srgbClr val="1F3529"/>
          </a:solidFill>
          <a:ln w="25400">
            <a:solidFill>
              <a:srgbClr val="F5F7F0"/>
            </a:solidFill>
            <a:prstDash val="solid"/>
          </a:ln>
        </p:spPr>
      </p:sp>
      <p:sp>
        <p:nvSpPr>
          <p:cNvPr id="28" name="Pipeline Management 150"/>
          <p:cNvSpPr/>
          <p:nvPr/>
        </p:nvSpPr>
        <p:spPr>
          <a:xfrm>
            <a:off x="838505" y="1143000"/>
            <a:ext cx="10515600" cy="10515600"/>
          </a:xfrm>
          <a:prstGeom prst="blockArc">
            <a:avLst>
              <a:gd name="adj1" fmla="val 19581818"/>
              <a:gd name="adj2" fmla="val 19920000"/>
              <a:gd name="adj3" fmla="val 21739"/>
            </a:avLst>
          </a:prstGeom>
          <a:solidFill>
            <a:srgbClr val="1F3529"/>
          </a:solidFill>
          <a:ln w="25400">
            <a:solidFill>
              <a:srgbClr val="F5F7F0"/>
            </a:solidFill>
            <a:prstDash val="solid"/>
          </a:ln>
        </p:spPr>
      </p:sp>
      <p:sp>
        <p:nvSpPr>
          <p:cNvPr id="29" name="Label 151"/>
          <p:cNvSpPr txBox="1"/>
          <p:nvPr/>
        </p:nvSpPr>
        <p:spPr>
          <a:xfrm rot="1849091">
            <a:off x="1510965" y="4180965"/>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Communication</a:t>
            </a:r>
            <a:endParaRPr lang="en-US" sz="1100" dirty="0"/>
          </a:p>
        </p:txBody>
      </p:sp>
      <p:sp>
        <p:nvSpPr>
          <p:cNvPr id="30" name="Label 152"/>
          <p:cNvSpPr txBox="1"/>
          <p:nvPr/>
        </p:nvSpPr>
        <p:spPr>
          <a:xfrm rot="2187273">
            <a:off x="1735094" y="384408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Performance Tracking</a:t>
            </a:r>
            <a:endParaRPr lang="en-US" sz="1100" dirty="0"/>
          </a:p>
        </p:txBody>
      </p:sp>
      <p:sp>
        <p:nvSpPr>
          <p:cNvPr id="31" name="Label 153"/>
          <p:cNvSpPr txBox="1"/>
          <p:nvPr/>
        </p:nvSpPr>
        <p:spPr>
          <a:xfrm rot="2525455">
            <a:off x="1991225" y="3530853"/>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Channel Optimisation</a:t>
            </a:r>
            <a:endParaRPr lang="en-US" sz="1100" dirty="0"/>
          </a:p>
        </p:txBody>
      </p:sp>
      <p:sp>
        <p:nvSpPr>
          <p:cNvPr id="32" name="Label 154"/>
          <p:cNvSpPr txBox="1"/>
          <p:nvPr/>
        </p:nvSpPr>
        <p:spPr>
          <a:xfrm rot="2863636">
            <a:off x="2276882" y="324428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Pricing Strategy</a:t>
            </a:r>
            <a:endParaRPr lang="en-US" sz="1100" dirty="0"/>
          </a:p>
        </p:txBody>
      </p:sp>
      <p:sp>
        <p:nvSpPr>
          <p:cNvPr id="33" name="Label 155"/>
          <p:cNvSpPr txBox="1"/>
          <p:nvPr/>
        </p:nvSpPr>
        <p:spPr>
          <a:xfrm rot="3201818">
            <a:off x="2589303" y="2987164"/>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Client Onboarding</a:t>
            </a:r>
            <a:endParaRPr lang="en-US" sz="1100" dirty="0"/>
          </a:p>
        </p:txBody>
      </p:sp>
      <p:sp>
        <p:nvSpPr>
          <p:cNvPr id="34" name="Label 156"/>
          <p:cNvSpPr txBox="1"/>
          <p:nvPr/>
        </p:nvSpPr>
        <p:spPr>
          <a:xfrm rot="3540000">
            <a:off x="2925466" y="276196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Deal Structuring</a:t>
            </a:r>
            <a:endParaRPr lang="en-US" sz="1100" dirty="0"/>
          </a:p>
        </p:txBody>
      </p:sp>
      <p:sp>
        <p:nvSpPr>
          <p:cNvPr id="35" name="Label 157"/>
          <p:cNvSpPr txBox="1"/>
          <p:nvPr/>
        </p:nvSpPr>
        <p:spPr>
          <a:xfrm rot="3878182">
            <a:off x="3282122" y="2570877"/>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Proposal Management</a:t>
            </a:r>
            <a:endParaRPr lang="en-US" sz="1100" dirty="0"/>
          </a:p>
        </p:txBody>
      </p:sp>
      <p:sp>
        <p:nvSpPr>
          <p:cNvPr id="36" name="Label 158"/>
          <p:cNvSpPr txBox="1"/>
          <p:nvPr/>
        </p:nvSpPr>
        <p:spPr>
          <a:xfrm rot="4216364">
            <a:off x="3655821" y="241573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Automation</a:t>
            </a:r>
            <a:endParaRPr lang="en-US" sz="1100" dirty="0"/>
          </a:p>
        </p:txBody>
      </p:sp>
      <p:sp>
        <p:nvSpPr>
          <p:cNvPr id="37" name="Label 159"/>
          <p:cNvSpPr txBox="1"/>
          <p:nvPr/>
        </p:nvSpPr>
        <p:spPr>
          <a:xfrm rot="4554545">
            <a:off x="4042951" y="2298052"/>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Win/Loss Analysis</a:t>
            </a:r>
            <a:endParaRPr lang="en-US" sz="1100" dirty="0"/>
          </a:p>
        </p:txBody>
      </p:sp>
      <p:sp>
        <p:nvSpPr>
          <p:cNvPr id="38" name="Label 160"/>
          <p:cNvSpPr txBox="1"/>
          <p:nvPr/>
        </p:nvSpPr>
        <p:spPr>
          <a:xfrm rot="4892727">
            <a:off x="4439767" y="221895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Account Management</a:t>
            </a:r>
            <a:endParaRPr lang="en-US" sz="1100" dirty="0"/>
          </a:p>
        </p:txBody>
      </p:sp>
      <p:sp>
        <p:nvSpPr>
          <p:cNvPr id="39" name="Label 161"/>
          <p:cNvSpPr txBox="1"/>
          <p:nvPr/>
        </p:nvSpPr>
        <p:spPr>
          <a:xfrm rot="5230909">
            <a:off x="4842434" y="217921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Channel Sales</a:t>
            </a:r>
            <a:endParaRPr lang="en-US" sz="1100" dirty="0"/>
          </a:p>
        </p:txBody>
      </p:sp>
      <p:sp>
        <p:nvSpPr>
          <p:cNvPr id="40" name="Label 162"/>
          <p:cNvSpPr txBox="1"/>
          <p:nvPr/>
        </p:nvSpPr>
        <p:spPr>
          <a:xfrm rot="-5230909">
            <a:off x="5247056" y="217921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Discount Control</a:t>
            </a:r>
            <a:endParaRPr lang="en-US" sz="1100" dirty="0"/>
          </a:p>
        </p:txBody>
      </p:sp>
      <p:sp>
        <p:nvSpPr>
          <p:cNvPr id="41" name="Label 163"/>
          <p:cNvSpPr txBox="1"/>
          <p:nvPr/>
        </p:nvSpPr>
        <p:spPr>
          <a:xfrm rot="-4892727">
            <a:off x="5649722" y="221895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Quota Attainment</a:t>
            </a:r>
            <a:endParaRPr lang="en-US" sz="1100" dirty="0"/>
          </a:p>
        </p:txBody>
      </p:sp>
      <p:sp>
        <p:nvSpPr>
          <p:cNvPr id="42" name="Label 164"/>
          <p:cNvSpPr txBox="1"/>
          <p:nvPr/>
        </p:nvSpPr>
        <p:spPr>
          <a:xfrm rot="-4554545">
            <a:off x="6046539" y="2298052"/>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Training &amp; Development</a:t>
            </a:r>
            <a:endParaRPr lang="en-US" sz="1100" dirty="0"/>
          </a:p>
        </p:txBody>
      </p:sp>
      <p:sp>
        <p:nvSpPr>
          <p:cNvPr id="43" name="Label 165"/>
          <p:cNvSpPr txBox="1"/>
          <p:nvPr/>
        </p:nvSpPr>
        <p:spPr>
          <a:xfrm rot="-4216364">
            <a:off x="6433668" y="241573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Enablement</a:t>
            </a:r>
            <a:endParaRPr lang="en-US" sz="1100" dirty="0"/>
          </a:p>
        </p:txBody>
      </p:sp>
      <p:sp>
        <p:nvSpPr>
          <p:cNvPr id="44" name="Label 166"/>
          <p:cNvSpPr txBox="1"/>
          <p:nvPr/>
        </p:nvSpPr>
        <p:spPr>
          <a:xfrm rot="-3878182">
            <a:off x="6807368" y="2570877"/>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Territory Management</a:t>
            </a:r>
            <a:endParaRPr lang="en-US" sz="1100" dirty="0"/>
          </a:p>
        </p:txBody>
      </p:sp>
      <p:sp>
        <p:nvSpPr>
          <p:cNvPr id="45" name="Label 167"/>
          <p:cNvSpPr txBox="1"/>
          <p:nvPr/>
        </p:nvSpPr>
        <p:spPr>
          <a:xfrm rot="-3540000">
            <a:off x="7164023" y="276196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CRM Management</a:t>
            </a:r>
            <a:endParaRPr lang="en-US" sz="1100" dirty="0"/>
          </a:p>
        </p:txBody>
      </p:sp>
      <p:sp>
        <p:nvSpPr>
          <p:cNvPr id="46" name="Label 168"/>
          <p:cNvSpPr txBox="1"/>
          <p:nvPr/>
        </p:nvSpPr>
        <p:spPr>
          <a:xfrm rot="-3201818">
            <a:off x="7500187" y="2987164"/>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Forecasting</a:t>
            </a:r>
            <a:endParaRPr lang="en-US" sz="1100" dirty="0"/>
          </a:p>
        </p:txBody>
      </p:sp>
      <p:sp>
        <p:nvSpPr>
          <p:cNvPr id="47" name="Label 169"/>
          <p:cNvSpPr txBox="1"/>
          <p:nvPr/>
        </p:nvSpPr>
        <p:spPr>
          <a:xfrm rot="-2863636">
            <a:off x="7812608" y="324428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Contract Negotiation</a:t>
            </a:r>
            <a:endParaRPr lang="en-US" sz="1100" dirty="0"/>
          </a:p>
        </p:txBody>
      </p:sp>
      <p:sp>
        <p:nvSpPr>
          <p:cNvPr id="48" name="Label 170"/>
          <p:cNvSpPr txBox="1"/>
          <p:nvPr/>
        </p:nvSpPr>
        <p:spPr>
          <a:xfrm rot="-2525455">
            <a:off x="8098265" y="3530853"/>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Sales Demos</a:t>
            </a:r>
            <a:endParaRPr lang="en-US" sz="1100" dirty="0"/>
          </a:p>
        </p:txBody>
      </p:sp>
      <p:sp>
        <p:nvSpPr>
          <p:cNvPr id="49" name="Label 171"/>
          <p:cNvSpPr txBox="1"/>
          <p:nvPr/>
        </p:nvSpPr>
        <p:spPr>
          <a:xfrm rot="-2187273">
            <a:off x="8354396" y="3844088"/>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Prospecting</a:t>
            </a:r>
            <a:endParaRPr lang="en-US" sz="1100" dirty="0"/>
          </a:p>
        </p:txBody>
      </p:sp>
      <p:sp>
        <p:nvSpPr>
          <p:cNvPr id="50" name="Label 172"/>
          <p:cNvSpPr txBox="1"/>
          <p:nvPr/>
        </p:nvSpPr>
        <p:spPr>
          <a:xfrm rot="-1849091">
            <a:off x="8578524" y="4180965"/>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Pipeline Management</a:t>
            </a:r>
            <a:endParaRPr lang="en-US" sz="1100" dirty="0"/>
          </a:p>
        </p:txBody>
      </p:sp>
      <p:sp>
        <p:nvSpPr>
          <p:cNvPr id="51" name="Function label"/>
          <p:cNvSpPr txBox="1"/>
          <p:nvPr/>
        </p:nvSpPr>
        <p:spPr>
          <a:xfrm>
            <a:off x="4724705" y="3794760"/>
            <a:ext cx="2743200" cy="822960"/>
          </a:xfrm>
          <a:prstGeom prst="rect">
            <a:avLst/>
          </a:prstGeom>
          <a:noFill/>
          <a:ln/>
        </p:spPr>
        <p:txBody>
          <a:bodyPr wrap="square" lIns="0" tIns="0" rIns="0" bIns="0" rtlCol="0" anchor="ctr"/>
          <a:lstStyle/>
          <a:p>
            <a:pPr algn="ctr" indent="0" marL="0">
              <a:buNone/>
            </a:pPr>
            <a:r>
              <a:rPr lang="en-US" sz="2600" dirty="0">
                <a:solidFill>
                  <a:srgbClr val="F5F7F0"/>
                </a:solidFill>
                <a:latin typeface="Georgia" pitchFamily="34" charset="0"/>
                <a:ea typeface="Georgia" pitchFamily="34" charset="-122"/>
                <a:cs typeface="Georgia" pitchFamily="34" charset="-120"/>
              </a:rPr>
              <a:t>Sales</a:t>
            </a:r>
            <a:endParaRPr lang="en-US" sz="2600" dirty="0"/>
          </a:p>
          <a:p>
            <a:pPr algn="ctr" indent="0" marL="0">
              <a:buNone/>
            </a:pPr>
            <a:r>
              <a:rPr lang="en-US" sz="1200" dirty="0">
                <a:solidFill>
                  <a:srgbClr val="F5F7F0"/>
                </a:solidFill>
                <a:latin typeface="Figtree" pitchFamily="34" charset="0"/>
                <a:ea typeface="Figtree" pitchFamily="34" charset="-122"/>
                <a:cs typeface="Figtree" pitchFamily="34" charset="-120"/>
              </a:rPr>
              <a:t>22 capabilities</a:t>
            </a:r>
            <a:endParaRPr lang="en-US" sz="2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THE REVOPS FLYWHEEL  ·  DRILL-IN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Marketing</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Fan shadow"/>
          <p:cNvSpPr/>
          <p:nvPr/>
        </p:nvSpPr>
        <p:spPr>
          <a:xfrm>
            <a:off x="838505" y="1143000"/>
            <a:ext cx="10515600" cy="10515600"/>
          </a:xfrm>
          <a:prstGeom prst="blockArc">
            <a:avLst>
              <a:gd name="adj1" fmla="val 12480000"/>
              <a:gd name="adj2" fmla="val 19920000"/>
              <a:gd name="adj3" fmla="val 36087"/>
            </a:avLst>
          </a:prstGeom>
          <a:solidFill>
            <a:srgbClr val="56604E"/>
          </a:solidFill>
          <a:ln/>
          <a:effectLst>
            <a:outerShdw sx="100000" sy="100000" kx="0" ky="0" algn="bl" rotWithShape="0" blurRad="381000" dist="101600" dir="5400000">
              <a:srgbClr val="16261D">
                <a:alpha val="25000"/>
              </a:srgbClr>
            </a:outerShdw>
          </a:effectLst>
        </p:spPr>
      </p:sp>
      <p:sp>
        <p:nvSpPr>
          <p:cNvPr id="6" name="Marketing 173"/>
          <p:cNvSpPr/>
          <p:nvPr/>
        </p:nvSpPr>
        <p:spPr>
          <a:xfrm>
            <a:off x="3124505" y="3429000"/>
            <a:ext cx="5943600" cy="5943600"/>
          </a:xfrm>
          <a:prstGeom prst="blockArc">
            <a:avLst>
              <a:gd name="adj1" fmla="val 12480000"/>
              <a:gd name="adj2" fmla="val 19920000"/>
              <a:gd name="adj3" fmla="val 25385"/>
            </a:avLst>
          </a:prstGeom>
          <a:solidFill>
            <a:srgbClr val="56604E"/>
          </a:solidFill>
          <a:ln w="25400">
            <a:solidFill>
              <a:srgbClr val="F5F7F0"/>
            </a:solidFill>
            <a:prstDash val="solid"/>
          </a:ln>
        </p:spPr>
      </p:sp>
      <p:sp>
        <p:nvSpPr>
          <p:cNvPr id="7" name="Reporting &amp; Forecasting 174"/>
          <p:cNvSpPr/>
          <p:nvPr/>
        </p:nvSpPr>
        <p:spPr>
          <a:xfrm>
            <a:off x="838505" y="1143000"/>
            <a:ext cx="10515600" cy="10515600"/>
          </a:xfrm>
          <a:prstGeom prst="blockArc">
            <a:avLst>
              <a:gd name="adj1" fmla="val 12480000"/>
              <a:gd name="adj2" fmla="val 12852000"/>
              <a:gd name="adj3" fmla="val 21739"/>
            </a:avLst>
          </a:prstGeom>
          <a:solidFill>
            <a:srgbClr val="56604E"/>
          </a:solidFill>
          <a:ln w="25400">
            <a:solidFill>
              <a:srgbClr val="F5F7F0"/>
            </a:solidFill>
            <a:prstDash val="solid"/>
          </a:ln>
        </p:spPr>
      </p:sp>
      <p:sp>
        <p:nvSpPr>
          <p:cNvPr id="8" name="Budget Management 175"/>
          <p:cNvSpPr/>
          <p:nvPr/>
        </p:nvSpPr>
        <p:spPr>
          <a:xfrm>
            <a:off x="838505" y="1143000"/>
            <a:ext cx="10515600" cy="10515600"/>
          </a:xfrm>
          <a:prstGeom prst="blockArc">
            <a:avLst>
              <a:gd name="adj1" fmla="val 12852000"/>
              <a:gd name="adj2" fmla="val 13224000"/>
              <a:gd name="adj3" fmla="val 21739"/>
            </a:avLst>
          </a:prstGeom>
          <a:solidFill>
            <a:srgbClr val="56604E"/>
          </a:solidFill>
          <a:ln w="25400">
            <a:solidFill>
              <a:srgbClr val="F5F7F0"/>
            </a:solidFill>
            <a:prstDash val="solid"/>
          </a:ln>
        </p:spPr>
      </p:sp>
      <p:sp>
        <p:nvSpPr>
          <p:cNvPr id="9" name="A/B Testing 176"/>
          <p:cNvSpPr/>
          <p:nvPr/>
        </p:nvSpPr>
        <p:spPr>
          <a:xfrm>
            <a:off x="838505" y="1143000"/>
            <a:ext cx="10515600" cy="10515600"/>
          </a:xfrm>
          <a:prstGeom prst="blockArc">
            <a:avLst>
              <a:gd name="adj1" fmla="val 13224000"/>
              <a:gd name="adj2" fmla="val 13596000"/>
              <a:gd name="adj3" fmla="val 21739"/>
            </a:avLst>
          </a:prstGeom>
          <a:solidFill>
            <a:srgbClr val="56604E"/>
          </a:solidFill>
          <a:ln w="25400">
            <a:solidFill>
              <a:srgbClr val="F5F7F0"/>
            </a:solidFill>
            <a:prstDash val="solid"/>
          </a:ln>
        </p:spPr>
      </p:sp>
      <p:sp>
        <p:nvSpPr>
          <p:cNvPr id="10" name="Retention Campaigns 177"/>
          <p:cNvSpPr/>
          <p:nvPr/>
        </p:nvSpPr>
        <p:spPr>
          <a:xfrm>
            <a:off x="838505" y="1143000"/>
            <a:ext cx="10515600" cy="10515600"/>
          </a:xfrm>
          <a:prstGeom prst="blockArc">
            <a:avLst>
              <a:gd name="adj1" fmla="val 13596000"/>
              <a:gd name="adj2" fmla="val 13968000"/>
              <a:gd name="adj3" fmla="val 21739"/>
            </a:avLst>
          </a:prstGeom>
          <a:solidFill>
            <a:srgbClr val="56604E"/>
          </a:solidFill>
          <a:ln w="25400">
            <a:solidFill>
              <a:srgbClr val="F5F7F0"/>
            </a:solidFill>
            <a:prstDash val="solid"/>
          </a:ln>
        </p:spPr>
      </p:sp>
      <p:sp>
        <p:nvSpPr>
          <p:cNvPr id="11" name="Marketing Analytics 178"/>
          <p:cNvSpPr/>
          <p:nvPr/>
        </p:nvSpPr>
        <p:spPr>
          <a:xfrm>
            <a:off x="838505" y="1143000"/>
            <a:ext cx="10515600" cy="10515600"/>
          </a:xfrm>
          <a:prstGeom prst="blockArc">
            <a:avLst>
              <a:gd name="adj1" fmla="val 13968000"/>
              <a:gd name="adj2" fmla="val 14340000"/>
              <a:gd name="adj3" fmla="val 21739"/>
            </a:avLst>
          </a:prstGeom>
          <a:solidFill>
            <a:srgbClr val="56604E"/>
          </a:solidFill>
          <a:ln w="25400">
            <a:solidFill>
              <a:srgbClr val="F5F7F0"/>
            </a:solidFill>
            <a:prstDash val="solid"/>
          </a:ln>
        </p:spPr>
      </p:sp>
      <p:sp>
        <p:nvSpPr>
          <p:cNvPr id="12" name="Targeting &amp; Personalisation 179"/>
          <p:cNvSpPr/>
          <p:nvPr/>
        </p:nvSpPr>
        <p:spPr>
          <a:xfrm>
            <a:off x="838505" y="1143000"/>
            <a:ext cx="10515600" cy="10515600"/>
          </a:xfrm>
          <a:prstGeom prst="blockArc">
            <a:avLst>
              <a:gd name="adj1" fmla="val 14340000"/>
              <a:gd name="adj2" fmla="val 14712000"/>
              <a:gd name="adj3" fmla="val 21739"/>
            </a:avLst>
          </a:prstGeom>
          <a:solidFill>
            <a:srgbClr val="56604E"/>
          </a:solidFill>
          <a:ln w="25400">
            <a:solidFill>
              <a:srgbClr val="F5F7F0"/>
            </a:solidFill>
            <a:prstDash val="solid"/>
          </a:ln>
        </p:spPr>
      </p:sp>
      <p:sp>
        <p:nvSpPr>
          <p:cNvPr id="13" name="Customer Segmentation 180"/>
          <p:cNvSpPr/>
          <p:nvPr/>
        </p:nvSpPr>
        <p:spPr>
          <a:xfrm>
            <a:off x="838505" y="1143000"/>
            <a:ext cx="10515600" cy="10515600"/>
          </a:xfrm>
          <a:prstGeom prst="blockArc">
            <a:avLst>
              <a:gd name="adj1" fmla="val 14712000"/>
              <a:gd name="adj2" fmla="val 15084000"/>
              <a:gd name="adj3" fmla="val 21739"/>
            </a:avLst>
          </a:prstGeom>
          <a:solidFill>
            <a:srgbClr val="56604E"/>
          </a:solidFill>
          <a:ln w="25400">
            <a:solidFill>
              <a:srgbClr val="F5F7F0"/>
            </a:solidFill>
            <a:prstDash val="solid"/>
          </a:ln>
        </p:spPr>
      </p:sp>
      <p:sp>
        <p:nvSpPr>
          <p:cNvPr id="14" name="Affiliate Marketing 181"/>
          <p:cNvSpPr/>
          <p:nvPr/>
        </p:nvSpPr>
        <p:spPr>
          <a:xfrm>
            <a:off x="838505" y="1143000"/>
            <a:ext cx="10515600" cy="10515600"/>
          </a:xfrm>
          <a:prstGeom prst="blockArc">
            <a:avLst>
              <a:gd name="adj1" fmla="val 15084000"/>
              <a:gd name="adj2" fmla="val 15456000"/>
              <a:gd name="adj3" fmla="val 21739"/>
            </a:avLst>
          </a:prstGeom>
          <a:solidFill>
            <a:srgbClr val="56604E"/>
          </a:solidFill>
          <a:ln w="25400">
            <a:solidFill>
              <a:srgbClr val="F5F7F0"/>
            </a:solidFill>
            <a:prstDash val="solid"/>
          </a:ln>
        </p:spPr>
      </p:sp>
      <p:sp>
        <p:nvSpPr>
          <p:cNvPr id="15" name="Influencer Partnerships 182"/>
          <p:cNvSpPr/>
          <p:nvPr/>
        </p:nvSpPr>
        <p:spPr>
          <a:xfrm>
            <a:off x="838505" y="1143000"/>
            <a:ext cx="10515600" cy="10515600"/>
          </a:xfrm>
          <a:prstGeom prst="blockArc">
            <a:avLst>
              <a:gd name="adj1" fmla="val 15456000"/>
              <a:gd name="adj2" fmla="val 15828000"/>
              <a:gd name="adj3" fmla="val 21739"/>
            </a:avLst>
          </a:prstGeom>
          <a:solidFill>
            <a:srgbClr val="56604E"/>
          </a:solidFill>
          <a:ln w="25400">
            <a:solidFill>
              <a:srgbClr val="F5F7F0"/>
            </a:solidFill>
            <a:prstDash val="solid"/>
          </a:ln>
        </p:spPr>
      </p:sp>
      <p:sp>
        <p:nvSpPr>
          <p:cNvPr id="16" name="Public Relations 183"/>
          <p:cNvSpPr/>
          <p:nvPr/>
        </p:nvSpPr>
        <p:spPr>
          <a:xfrm>
            <a:off x="838505" y="1143000"/>
            <a:ext cx="10515600" cy="10515600"/>
          </a:xfrm>
          <a:prstGeom prst="blockArc">
            <a:avLst>
              <a:gd name="adj1" fmla="val 15828000"/>
              <a:gd name="adj2" fmla="val 16200000"/>
              <a:gd name="adj3" fmla="val 21739"/>
            </a:avLst>
          </a:prstGeom>
          <a:solidFill>
            <a:srgbClr val="56604E"/>
          </a:solidFill>
          <a:ln w="25400">
            <a:solidFill>
              <a:srgbClr val="F5F7F0"/>
            </a:solidFill>
            <a:prstDash val="solid"/>
          </a:ln>
        </p:spPr>
      </p:sp>
      <p:sp>
        <p:nvSpPr>
          <p:cNvPr id="17" name="Paid Advertising 184"/>
          <p:cNvSpPr/>
          <p:nvPr/>
        </p:nvSpPr>
        <p:spPr>
          <a:xfrm>
            <a:off x="838505" y="1143000"/>
            <a:ext cx="10515600" cy="10515600"/>
          </a:xfrm>
          <a:prstGeom prst="blockArc">
            <a:avLst>
              <a:gd name="adj1" fmla="val 16200000"/>
              <a:gd name="adj2" fmla="val 16572000"/>
              <a:gd name="adj3" fmla="val 21739"/>
            </a:avLst>
          </a:prstGeom>
          <a:solidFill>
            <a:srgbClr val="56604E"/>
          </a:solidFill>
          <a:ln w="25400">
            <a:solidFill>
              <a:srgbClr val="F5F7F0"/>
            </a:solidFill>
            <a:prstDash val="solid"/>
          </a:ln>
        </p:spPr>
      </p:sp>
      <p:sp>
        <p:nvSpPr>
          <p:cNvPr id="18" name="Competitor Analysis 185"/>
          <p:cNvSpPr/>
          <p:nvPr/>
        </p:nvSpPr>
        <p:spPr>
          <a:xfrm>
            <a:off x="838505" y="1143000"/>
            <a:ext cx="10515600" cy="10515600"/>
          </a:xfrm>
          <a:prstGeom prst="blockArc">
            <a:avLst>
              <a:gd name="adj1" fmla="val 16572000"/>
              <a:gd name="adj2" fmla="val 16944000"/>
              <a:gd name="adj3" fmla="val 21739"/>
            </a:avLst>
          </a:prstGeom>
          <a:solidFill>
            <a:srgbClr val="56604E"/>
          </a:solidFill>
          <a:ln w="25400">
            <a:solidFill>
              <a:srgbClr val="F5F7F0"/>
            </a:solidFill>
            <a:prstDash val="solid"/>
          </a:ln>
        </p:spPr>
      </p:sp>
      <p:sp>
        <p:nvSpPr>
          <p:cNvPr id="19" name="Market Research 186"/>
          <p:cNvSpPr/>
          <p:nvPr/>
        </p:nvSpPr>
        <p:spPr>
          <a:xfrm>
            <a:off x="838505" y="1143000"/>
            <a:ext cx="10515600" cy="10515600"/>
          </a:xfrm>
          <a:prstGeom prst="blockArc">
            <a:avLst>
              <a:gd name="adj1" fmla="val 16944000"/>
              <a:gd name="adj2" fmla="val 17316000"/>
              <a:gd name="adj3" fmla="val 21739"/>
            </a:avLst>
          </a:prstGeom>
          <a:solidFill>
            <a:srgbClr val="56604E"/>
          </a:solidFill>
          <a:ln w="25400">
            <a:solidFill>
              <a:srgbClr val="F5F7F0"/>
            </a:solidFill>
            <a:prstDash val="solid"/>
          </a:ln>
        </p:spPr>
      </p:sp>
      <p:sp>
        <p:nvSpPr>
          <p:cNvPr id="20" name="Email Marketing 187"/>
          <p:cNvSpPr/>
          <p:nvPr/>
        </p:nvSpPr>
        <p:spPr>
          <a:xfrm>
            <a:off x="838505" y="1143000"/>
            <a:ext cx="10515600" cy="10515600"/>
          </a:xfrm>
          <a:prstGeom prst="blockArc">
            <a:avLst>
              <a:gd name="adj1" fmla="val 17316000"/>
              <a:gd name="adj2" fmla="val 17688000"/>
              <a:gd name="adj3" fmla="val 21739"/>
            </a:avLst>
          </a:prstGeom>
          <a:solidFill>
            <a:srgbClr val="56604E"/>
          </a:solidFill>
          <a:ln w="25400">
            <a:solidFill>
              <a:srgbClr val="F5F7F0"/>
            </a:solidFill>
            <a:prstDash val="solid"/>
          </a:ln>
        </p:spPr>
      </p:sp>
      <p:sp>
        <p:nvSpPr>
          <p:cNvPr id="21" name="Webinars &amp; Events 188"/>
          <p:cNvSpPr/>
          <p:nvPr/>
        </p:nvSpPr>
        <p:spPr>
          <a:xfrm>
            <a:off x="838505" y="1143000"/>
            <a:ext cx="10515600" cy="10515600"/>
          </a:xfrm>
          <a:prstGeom prst="blockArc">
            <a:avLst>
              <a:gd name="adj1" fmla="val 17688000"/>
              <a:gd name="adj2" fmla="val 18060000"/>
              <a:gd name="adj3" fmla="val 21739"/>
            </a:avLst>
          </a:prstGeom>
          <a:solidFill>
            <a:srgbClr val="56604E"/>
          </a:solidFill>
          <a:ln w="25400">
            <a:solidFill>
              <a:srgbClr val="F5F7F0"/>
            </a:solidFill>
            <a:prstDash val="solid"/>
          </a:ln>
        </p:spPr>
      </p:sp>
      <p:sp>
        <p:nvSpPr>
          <p:cNvPr id="22" name="Social Media 189"/>
          <p:cNvSpPr/>
          <p:nvPr/>
        </p:nvSpPr>
        <p:spPr>
          <a:xfrm>
            <a:off x="838505" y="1143000"/>
            <a:ext cx="10515600" cy="10515600"/>
          </a:xfrm>
          <a:prstGeom prst="blockArc">
            <a:avLst>
              <a:gd name="adj1" fmla="val 18060000"/>
              <a:gd name="adj2" fmla="val 18432000"/>
              <a:gd name="adj3" fmla="val 21739"/>
            </a:avLst>
          </a:prstGeom>
          <a:solidFill>
            <a:srgbClr val="56604E"/>
          </a:solidFill>
          <a:ln w="25400">
            <a:solidFill>
              <a:srgbClr val="F5F7F0"/>
            </a:solidFill>
            <a:prstDash val="solid"/>
          </a:ln>
        </p:spPr>
      </p:sp>
      <p:sp>
        <p:nvSpPr>
          <p:cNvPr id="23" name="SEO Optimisation 190"/>
          <p:cNvSpPr/>
          <p:nvPr/>
        </p:nvSpPr>
        <p:spPr>
          <a:xfrm>
            <a:off x="838505" y="1143000"/>
            <a:ext cx="10515600" cy="10515600"/>
          </a:xfrm>
          <a:prstGeom prst="blockArc">
            <a:avLst>
              <a:gd name="adj1" fmla="val 18432000"/>
              <a:gd name="adj2" fmla="val 18804000"/>
              <a:gd name="adj3" fmla="val 21739"/>
            </a:avLst>
          </a:prstGeom>
          <a:solidFill>
            <a:srgbClr val="56604E"/>
          </a:solidFill>
          <a:ln w="25400">
            <a:solidFill>
              <a:srgbClr val="F5F7F0"/>
            </a:solidFill>
            <a:prstDash val="solid"/>
          </a:ln>
        </p:spPr>
      </p:sp>
      <p:sp>
        <p:nvSpPr>
          <p:cNvPr id="24" name="Content Strategy 191"/>
          <p:cNvSpPr/>
          <p:nvPr/>
        </p:nvSpPr>
        <p:spPr>
          <a:xfrm>
            <a:off x="838505" y="1143000"/>
            <a:ext cx="10515600" cy="10515600"/>
          </a:xfrm>
          <a:prstGeom prst="blockArc">
            <a:avLst>
              <a:gd name="adj1" fmla="val 18804000"/>
              <a:gd name="adj2" fmla="val 19176000"/>
              <a:gd name="adj3" fmla="val 21739"/>
            </a:avLst>
          </a:prstGeom>
          <a:solidFill>
            <a:srgbClr val="56604E"/>
          </a:solidFill>
          <a:ln w="25400">
            <a:solidFill>
              <a:srgbClr val="F5F7F0"/>
            </a:solidFill>
            <a:prstDash val="solid"/>
          </a:ln>
        </p:spPr>
      </p:sp>
      <p:sp>
        <p:nvSpPr>
          <p:cNvPr id="25" name="Brand Awareness 192"/>
          <p:cNvSpPr/>
          <p:nvPr/>
        </p:nvSpPr>
        <p:spPr>
          <a:xfrm>
            <a:off x="838505" y="1143000"/>
            <a:ext cx="10515600" cy="10515600"/>
          </a:xfrm>
          <a:prstGeom prst="blockArc">
            <a:avLst>
              <a:gd name="adj1" fmla="val 19176000"/>
              <a:gd name="adj2" fmla="val 19548000"/>
              <a:gd name="adj3" fmla="val 21739"/>
            </a:avLst>
          </a:prstGeom>
          <a:solidFill>
            <a:srgbClr val="56604E"/>
          </a:solidFill>
          <a:ln w="25400">
            <a:solidFill>
              <a:srgbClr val="F5F7F0"/>
            </a:solidFill>
            <a:prstDash val="solid"/>
          </a:ln>
        </p:spPr>
      </p:sp>
      <p:sp>
        <p:nvSpPr>
          <p:cNvPr id="26" name="Lead Generation 193"/>
          <p:cNvSpPr/>
          <p:nvPr/>
        </p:nvSpPr>
        <p:spPr>
          <a:xfrm>
            <a:off x="838505" y="1143000"/>
            <a:ext cx="10515600" cy="10515600"/>
          </a:xfrm>
          <a:prstGeom prst="blockArc">
            <a:avLst>
              <a:gd name="adj1" fmla="val 19548000"/>
              <a:gd name="adj2" fmla="val 19920000"/>
              <a:gd name="adj3" fmla="val 21739"/>
            </a:avLst>
          </a:prstGeom>
          <a:solidFill>
            <a:srgbClr val="56604E"/>
          </a:solidFill>
          <a:ln w="25400">
            <a:solidFill>
              <a:srgbClr val="F5F7F0"/>
            </a:solidFill>
            <a:prstDash val="solid"/>
          </a:ln>
        </p:spPr>
      </p:sp>
      <p:sp>
        <p:nvSpPr>
          <p:cNvPr id="27" name="Label 194"/>
          <p:cNvSpPr txBox="1"/>
          <p:nvPr/>
        </p:nvSpPr>
        <p:spPr>
          <a:xfrm rot="1866000">
            <a:off x="1521377" y="416360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Reporting &amp; Forecasting</a:t>
            </a:r>
            <a:endParaRPr lang="en-US" sz="1100" dirty="0"/>
          </a:p>
        </p:txBody>
      </p:sp>
      <p:sp>
        <p:nvSpPr>
          <p:cNvPr id="28" name="Label 195"/>
          <p:cNvSpPr txBox="1"/>
          <p:nvPr/>
        </p:nvSpPr>
        <p:spPr>
          <a:xfrm rot="2238000">
            <a:off x="1771531" y="379551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Budget Management</a:t>
            </a:r>
            <a:endParaRPr lang="en-US" sz="1100" dirty="0"/>
          </a:p>
        </p:txBody>
      </p:sp>
      <p:sp>
        <p:nvSpPr>
          <p:cNvPr id="29" name="Label 196"/>
          <p:cNvSpPr txBox="1"/>
          <p:nvPr/>
        </p:nvSpPr>
        <p:spPr>
          <a:xfrm rot="2610000">
            <a:off x="2059974" y="345659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A/B Testing</a:t>
            </a:r>
            <a:endParaRPr lang="en-US" sz="1100" dirty="0"/>
          </a:p>
        </p:txBody>
      </p:sp>
      <p:sp>
        <p:nvSpPr>
          <p:cNvPr id="30" name="Label 197"/>
          <p:cNvSpPr txBox="1"/>
          <p:nvPr/>
        </p:nvSpPr>
        <p:spPr>
          <a:xfrm rot="2982000">
            <a:off x="2383334" y="3150812"/>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Retention Campaigns</a:t>
            </a:r>
            <a:endParaRPr lang="en-US" sz="1100" dirty="0"/>
          </a:p>
        </p:txBody>
      </p:sp>
      <p:sp>
        <p:nvSpPr>
          <p:cNvPr id="31" name="Label 198"/>
          <p:cNvSpPr txBox="1"/>
          <p:nvPr/>
        </p:nvSpPr>
        <p:spPr>
          <a:xfrm rot="3354000">
            <a:off x="2737827" y="2881737"/>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Marketing Analytics</a:t>
            </a:r>
            <a:endParaRPr lang="en-US" sz="1100" dirty="0"/>
          </a:p>
        </p:txBody>
      </p:sp>
      <p:sp>
        <p:nvSpPr>
          <p:cNvPr id="32" name="Label 199"/>
          <p:cNvSpPr txBox="1"/>
          <p:nvPr/>
        </p:nvSpPr>
        <p:spPr>
          <a:xfrm rot="3726000">
            <a:off x="3119307" y="2652521"/>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Targeting &amp; Personalisation</a:t>
            </a:r>
            <a:endParaRPr lang="en-US" sz="1100" dirty="0"/>
          </a:p>
        </p:txBody>
      </p:sp>
      <p:sp>
        <p:nvSpPr>
          <p:cNvPr id="33" name="Label 200"/>
          <p:cNvSpPr txBox="1"/>
          <p:nvPr/>
        </p:nvSpPr>
        <p:spPr>
          <a:xfrm rot="4098000">
            <a:off x="3523311" y="2465845"/>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Customer Segmentation</a:t>
            </a:r>
            <a:endParaRPr lang="en-US" sz="1100" dirty="0"/>
          </a:p>
        </p:txBody>
      </p:sp>
      <p:sp>
        <p:nvSpPr>
          <p:cNvPr id="34" name="Label 201"/>
          <p:cNvSpPr txBox="1"/>
          <p:nvPr/>
        </p:nvSpPr>
        <p:spPr>
          <a:xfrm rot="4470000">
            <a:off x="3945112" y="2323893"/>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Affiliate Marketing</a:t>
            </a:r>
            <a:endParaRPr lang="en-US" sz="1100" dirty="0"/>
          </a:p>
        </p:txBody>
      </p:sp>
      <p:sp>
        <p:nvSpPr>
          <p:cNvPr id="35" name="Label 202"/>
          <p:cNvSpPr txBox="1"/>
          <p:nvPr/>
        </p:nvSpPr>
        <p:spPr>
          <a:xfrm rot="4842000">
            <a:off x="4379777" y="222832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Influencer Partnerships</a:t>
            </a:r>
            <a:endParaRPr lang="en-US" sz="1100" dirty="0"/>
          </a:p>
        </p:txBody>
      </p:sp>
      <p:sp>
        <p:nvSpPr>
          <p:cNvPr id="36" name="Label 203"/>
          <p:cNvSpPr txBox="1"/>
          <p:nvPr/>
        </p:nvSpPr>
        <p:spPr>
          <a:xfrm rot="5214000">
            <a:off x="4822221" y="2180261"/>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Public Relations</a:t>
            </a:r>
            <a:endParaRPr lang="en-US" sz="1100" dirty="0"/>
          </a:p>
        </p:txBody>
      </p:sp>
      <p:sp>
        <p:nvSpPr>
          <p:cNvPr id="37" name="Label 204"/>
          <p:cNvSpPr txBox="1"/>
          <p:nvPr/>
        </p:nvSpPr>
        <p:spPr>
          <a:xfrm rot="-5214000">
            <a:off x="5267268" y="2180261"/>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Paid Advertising</a:t>
            </a:r>
            <a:endParaRPr lang="en-US" sz="1100" dirty="0"/>
          </a:p>
        </p:txBody>
      </p:sp>
      <p:sp>
        <p:nvSpPr>
          <p:cNvPr id="38" name="Label 205"/>
          <p:cNvSpPr txBox="1"/>
          <p:nvPr/>
        </p:nvSpPr>
        <p:spPr>
          <a:xfrm rot="-4842000">
            <a:off x="5709712" y="2228326"/>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Competitor Analysis</a:t>
            </a:r>
            <a:endParaRPr lang="en-US" sz="1100" dirty="0"/>
          </a:p>
        </p:txBody>
      </p:sp>
      <p:sp>
        <p:nvSpPr>
          <p:cNvPr id="39" name="Label 206"/>
          <p:cNvSpPr txBox="1"/>
          <p:nvPr/>
        </p:nvSpPr>
        <p:spPr>
          <a:xfrm rot="-4470000">
            <a:off x="6144377" y="2323893"/>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Market Research</a:t>
            </a:r>
            <a:endParaRPr lang="en-US" sz="1100" dirty="0"/>
          </a:p>
        </p:txBody>
      </p:sp>
      <p:sp>
        <p:nvSpPr>
          <p:cNvPr id="40" name="Label 207"/>
          <p:cNvSpPr txBox="1"/>
          <p:nvPr/>
        </p:nvSpPr>
        <p:spPr>
          <a:xfrm rot="-4098000">
            <a:off x="6566179" y="2465845"/>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Email Marketing</a:t>
            </a:r>
            <a:endParaRPr lang="en-US" sz="1100" dirty="0"/>
          </a:p>
        </p:txBody>
      </p:sp>
      <p:sp>
        <p:nvSpPr>
          <p:cNvPr id="41" name="Label 208"/>
          <p:cNvSpPr txBox="1"/>
          <p:nvPr/>
        </p:nvSpPr>
        <p:spPr>
          <a:xfrm rot="-3726000">
            <a:off x="6970182" y="2652521"/>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Webinars &amp; Events</a:t>
            </a:r>
            <a:endParaRPr lang="en-US" sz="1100" dirty="0"/>
          </a:p>
        </p:txBody>
      </p:sp>
      <p:sp>
        <p:nvSpPr>
          <p:cNvPr id="42" name="Label 209"/>
          <p:cNvSpPr txBox="1"/>
          <p:nvPr/>
        </p:nvSpPr>
        <p:spPr>
          <a:xfrm rot="-3354000">
            <a:off x="7351662" y="2881737"/>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Social Media</a:t>
            </a:r>
            <a:endParaRPr lang="en-US" sz="1100" dirty="0"/>
          </a:p>
        </p:txBody>
      </p:sp>
      <p:sp>
        <p:nvSpPr>
          <p:cNvPr id="43" name="Label 210"/>
          <p:cNvSpPr txBox="1"/>
          <p:nvPr/>
        </p:nvSpPr>
        <p:spPr>
          <a:xfrm rot="-2982000">
            <a:off x="7706155" y="3150812"/>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SEO Optimisation</a:t>
            </a:r>
            <a:endParaRPr lang="en-US" sz="1100" dirty="0"/>
          </a:p>
        </p:txBody>
      </p:sp>
      <p:sp>
        <p:nvSpPr>
          <p:cNvPr id="44" name="Label 211"/>
          <p:cNvSpPr txBox="1"/>
          <p:nvPr/>
        </p:nvSpPr>
        <p:spPr>
          <a:xfrm rot="-2610000">
            <a:off x="8029515" y="345659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Content Strategy</a:t>
            </a:r>
            <a:endParaRPr lang="en-US" sz="1100" dirty="0"/>
          </a:p>
        </p:txBody>
      </p:sp>
      <p:sp>
        <p:nvSpPr>
          <p:cNvPr id="45" name="Label 212"/>
          <p:cNvSpPr txBox="1"/>
          <p:nvPr/>
        </p:nvSpPr>
        <p:spPr>
          <a:xfrm rot="-2238000">
            <a:off x="8317959" y="379551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Brand Awareness</a:t>
            </a:r>
            <a:endParaRPr lang="en-US" sz="1100" dirty="0"/>
          </a:p>
        </p:txBody>
      </p:sp>
      <p:sp>
        <p:nvSpPr>
          <p:cNvPr id="46" name="Label 213"/>
          <p:cNvSpPr txBox="1"/>
          <p:nvPr/>
        </p:nvSpPr>
        <p:spPr>
          <a:xfrm rot="-1866000">
            <a:off x="8568113" y="4163609"/>
            <a:ext cx="2103120" cy="223520"/>
          </a:xfrm>
          <a:prstGeom prst="rect">
            <a:avLst/>
          </a:prstGeom>
          <a:noFill/>
          <a:ln/>
        </p:spPr>
        <p:txBody>
          <a:bodyPr wrap="square" lIns="0" tIns="0" rIns="0" bIns="0" rtlCol="0" anchor="ctr"/>
          <a:lstStyle/>
          <a:p>
            <a:pPr algn="ctr" indent="0" marL="0">
              <a:buNone/>
            </a:pPr>
            <a:r>
              <a:rPr lang="en-US" sz="1100" dirty="0">
                <a:solidFill>
                  <a:srgbClr val="F5F7F0"/>
                </a:solidFill>
                <a:latin typeface="Figtree" pitchFamily="34" charset="0"/>
                <a:ea typeface="Figtree" pitchFamily="34" charset="-122"/>
                <a:cs typeface="Figtree" pitchFamily="34" charset="-120"/>
              </a:rPr>
              <a:t>Lead Generation</a:t>
            </a:r>
            <a:endParaRPr lang="en-US" sz="1100" dirty="0"/>
          </a:p>
        </p:txBody>
      </p:sp>
      <p:sp>
        <p:nvSpPr>
          <p:cNvPr id="47" name="Function label"/>
          <p:cNvSpPr txBox="1"/>
          <p:nvPr/>
        </p:nvSpPr>
        <p:spPr>
          <a:xfrm>
            <a:off x="4724705" y="3794760"/>
            <a:ext cx="2743200" cy="822960"/>
          </a:xfrm>
          <a:prstGeom prst="rect">
            <a:avLst/>
          </a:prstGeom>
          <a:noFill/>
          <a:ln/>
        </p:spPr>
        <p:txBody>
          <a:bodyPr wrap="square" lIns="0" tIns="0" rIns="0" bIns="0" rtlCol="0" anchor="ctr"/>
          <a:lstStyle/>
          <a:p>
            <a:pPr algn="ctr" indent="0" marL="0">
              <a:buNone/>
            </a:pPr>
            <a:r>
              <a:rPr lang="en-US" sz="2600" dirty="0">
                <a:solidFill>
                  <a:srgbClr val="F5F7F0"/>
                </a:solidFill>
                <a:latin typeface="Georgia" pitchFamily="34" charset="0"/>
                <a:ea typeface="Georgia" pitchFamily="34" charset="-122"/>
                <a:cs typeface="Georgia" pitchFamily="34" charset="-120"/>
              </a:rPr>
              <a:t>Marketing</a:t>
            </a:r>
            <a:endParaRPr lang="en-US" sz="2600" dirty="0"/>
          </a:p>
          <a:p>
            <a:pPr algn="ctr" indent="0" marL="0">
              <a:buNone/>
            </a:pPr>
            <a:r>
              <a:rPr lang="en-US" sz="1200" dirty="0">
                <a:solidFill>
                  <a:srgbClr val="F5F7F0"/>
                </a:solidFill>
                <a:latin typeface="Figtree" pitchFamily="34" charset="0"/>
                <a:ea typeface="Figtree" pitchFamily="34" charset="-122"/>
                <a:cs typeface="Figtree" pitchFamily="34" charset="-120"/>
              </a:rPr>
              <a:t>20 capabilities</a:t>
            </a:r>
            <a:endParaRPr lang="en-US" sz="2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3"/>
                </a:solidFill>
                <a:latin typeface="Figtree" pitchFamily="34" charset="0"/>
                <a:ea typeface="Figtree" pitchFamily="34" charset="-122"/>
                <a:cs typeface="Figtree" pitchFamily="34" charset="-120"/>
              </a:rPr>
              <a:t>THE REVOPS FLYWHEEL  ·  DRILL-IN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tx1"/>
                </a:solidFill>
              </a:rPr>
              <a:t>Customer Success</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3"/>
                </a:solidFill>
                <a:latin typeface="Figtree" pitchFamily="34" charset="0"/>
                <a:ea typeface="Figtree" pitchFamily="34" charset="-122"/>
                <a:cs typeface="Figtree" pitchFamily="34" charset="-120"/>
              </a:rPr>
              <a:t>Veridian Revenue Partners  ·  Adapted from NewEdge Growth, Hg Growth Summit 2025</a:t>
            </a:r>
            <a:endParaRPr lang="en-US" sz="1000" dirty="0"/>
          </a:p>
        </p:txBody>
      </p:sp>
      <p:sp>
        <p:nvSpPr>
          <p:cNvPr id="5" name="Fan shadow"/>
          <p:cNvSpPr/>
          <p:nvPr/>
        </p:nvSpPr>
        <p:spPr>
          <a:xfrm>
            <a:off x="838505" y="1143000"/>
            <a:ext cx="10515600" cy="10515600"/>
          </a:xfrm>
          <a:prstGeom prst="blockArc">
            <a:avLst>
              <a:gd name="adj1" fmla="val 12480000"/>
              <a:gd name="adj2" fmla="val 19920000"/>
              <a:gd name="adj3" fmla="val 36087"/>
            </a:avLst>
          </a:prstGeom>
          <a:solidFill>
            <a:srgbClr val="93A87B"/>
          </a:solidFill>
          <a:ln/>
          <a:effectLst>
            <a:outerShdw sx="100000" sy="100000" kx="0" ky="0" algn="bl" rotWithShape="0" blurRad="381000" dist="101600" dir="5400000">
              <a:srgbClr val="16261D">
                <a:alpha val="25000"/>
              </a:srgbClr>
            </a:outerShdw>
          </a:effectLst>
        </p:spPr>
      </p:sp>
      <p:sp>
        <p:nvSpPr>
          <p:cNvPr id="6" name="Customer Success 214"/>
          <p:cNvSpPr/>
          <p:nvPr/>
        </p:nvSpPr>
        <p:spPr>
          <a:xfrm>
            <a:off x="3124505" y="3429000"/>
            <a:ext cx="5943600" cy="5943600"/>
          </a:xfrm>
          <a:prstGeom prst="blockArc">
            <a:avLst>
              <a:gd name="adj1" fmla="val 12480000"/>
              <a:gd name="adj2" fmla="val 19920000"/>
              <a:gd name="adj3" fmla="val 25385"/>
            </a:avLst>
          </a:prstGeom>
          <a:solidFill>
            <a:srgbClr val="93A87B"/>
          </a:solidFill>
          <a:ln w="25400">
            <a:solidFill>
              <a:srgbClr val="F5F7F0"/>
            </a:solidFill>
            <a:prstDash val="solid"/>
          </a:ln>
        </p:spPr>
      </p:sp>
      <p:sp>
        <p:nvSpPr>
          <p:cNvPr id="7" name="Advocacy Programme 215"/>
          <p:cNvSpPr/>
          <p:nvPr/>
        </p:nvSpPr>
        <p:spPr>
          <a:xfrm>
            <a:off x="838505" y="1143000"/>
            <a:ext cx="10515600" cy="10515600"/>
          </a:xfrm>
          <a:prstGeom prst="blockArc">
            <a:avLst>
              <a:gd name="adj1" fmla="val 12480000"/>
              <a:gd name="adj2" fmla="val 12852000"/>
              <a:gd name="adj3" fmla="val 21739"/>
            </a:avLst>
          </a:prstGeom>
          <a:solidFill>
            <a:srgbClr val="93A87B"/>
          </a:solidFill>
          <a:ln w="25400">
            <a:solidFill>
              <a:srgbClr val="F5F7F0"/>
            </a:solidFill>
            <a:prstDash val="solid"/>
          </a:ln>
        </p:spPr>
      </p:sp>
      <p:sp>
        <p:nvSpPr>
          <p:cNvPr id="8" name="Success Planning 216"/>
          <p:cNvSpPr/>
          <p:nvPr/>
        </p:nvSpPr>
        <p:spPr>
          <a:xfrm>
            <a:off x="838505" y="1143000"/>
            <a:ext cx="10515600" cy="10515600"/>
          </a:xfrm>
          <a:prstGeom prst="blockArc">
            <a:avLst>
              <a:gd name="adj1" fmla="val 12852000"/>
              <a:gd name="adj2" fmla="val 13224000"/>
              <a:gd name="adj3" fmla="val 21739"/>
            </a:avLst>
          </a:prstGeom>
          <a:solidFill>
            <a:srgbClr val="93A87B"/>
          </a:solidFill>
          <a:ln w="25400">
            <a:solidFill>
              <a:srgbClr val="F5F7F0"/>
            </a:solidFill>
            <a:prstDash val="solid"/>
          </a:ln>
        </p:spPr>
      </p:sp>
      <p:sp>
        <p:nvSpPr>
          <p:cNvPr id="9" name="Customer Analytics 217"/>
          <p:cNvSpPr/>
          <p:nvPr/>
        </p:nvSpPr>
        <p:spPr>
          <a:xfrm>
            <a:off x="838505" y="1143000"/>
            <a:ext cx="10515600" cy="10515600"/>
          </a:xfrm>
          <a:prstGeom prst="blockArc">
            <a:avLst>
              <a:gd name="adj1" fmla="val 13224000"/>
              <a:gd name="adj2" fmla="val 13596000"/>
              <a:gd name="adj3" fmla="val 21739"/>
            </a:avLst>
          </a:prstGeom>
          <a:solidFill>
            <a:srgbClr val="93A87B"/>
          </a:solidFill>
          <a:ln w="25400">
            <a:solidFill>
              <a:srgbClr val="F5F7F0"/>
            </a:solidFill>
            <a:prstDash val="solid"/>
          </a:ln>
        </p:spPr>
      </p:sp>
      <p:sp>
        <p:nvSpPr>
          <p:cNvPr id="10" name="Voice of Customer 218"/>
          <p:cNvSpPr/>
          <p:nvPr/>
        </p:nvSpPr>
        <p:spPr>
          <a:xfrm>
            <a:off x="838505" y="1143000"/>
            <a:ext cx="10515600" cy="10515600"/>
          </a:xfrm>
          <a:prstGeom prst="blockArc">
            <a:avLst>
              <a:gd name="adj1" fmla="val 13596000"/>
              <a:gd name="adj2" fmla="val 13968000"/>
              <a:gd name="adj3" fmla="val 21739"/>
            </a:avLst>
          </a:prstGeom>
          <a:solidFill>
            <a:srgbClr val="93A87B"/>
          </a:solidFill>
          <a:ln w="25400">
            <a:solidFill>
              <a:srgbClr val="F5F7F0"/>
            </a:solidFill>
            <a:prstDash val="solid"/>
          </a:ln>
        </p:spPr>
      </p:sp>
      <p:sp>
        <p:nvSpPr>
          <p:cNvPr id="11" name="Community Building 219"/>
          <p:cNvSpPr/>
          <p:nvPr/>
        </p:nvSpPr>
        <p:spPr>
          <a:xfrm>
            <a:off x="838505" y="1143000"/>
            <a:ext cx="10515600" cy="10515600"/>
          </a:xfrm>
          <a:prstGeom prst="blockArc">
            <a:avLst>
              <a:gd name="adj1" fmla="val 13968000"/>
              <a:gd name="adj2" fmla="val 14340000"/>
              <a:gd name="adj3" fmla="val 21739"/>
            </a:avLst>
          </a:prstGeom>
          <a:solidFill>
            <a:srgbClr val="93A87B"/>
          </a:solidFill>
          <a:ln w="25400">
            <a:solidFill>
              <a:srgbClr val="F5F7F0"/>
            </a:solidFill>
            <a:prstDash val="solid"/>
          </a:ln>
        </p:spPr>
      </p:sp>
      <p:sp>
        <p:nvSpPr>
          <p:cNvPr id="12" name="Customer Health 220"/>
          <p:cNvSpPr/>
          <p:nvPr/>
        </p:nvSpPr>
        <p:spPr>
          <a:xfrm>
            <a:off x="838505" y="1143000"/>
            <a:ext cx="10515600" cy="10515600"/>
          </a:xfrm>
          <a:prstGeom prst="blockArc">
            <a:avLst>
              <a:gd name="adj1" fmla="val 14340000"/>
              <a:gd name="adj2" fmla="val 14712000"/>
              <a:gd name="adj3" fmla="val 21739"/>
            </a:avLst>
          </a:prstGeom>
          <a:solidFill>
            <a:srgbClr val="93A87B"/>
          </a:solidFill>
          <a:ln w="25400">
            <a:solidFill>
              <a:srgbClr val="F5F7F0"/>
            </a:solidFill>
            <a:prstDash val="solid"/>
          </a:ln>
        </p:spPr>
      </p:sp>
      <p:sp>
        <p:nvSpPr>
          <p:cNvPr id="13" name="Escalation Handling 221"/>
          <p:cNvSpPr/>
          <p:nvPr/>
        </p:nvSpPr>
        <p:spPr>
          <a:xfrm>
            <a:off x="838505" y="1143000"/>
            <a:ext cx="10515600" cy="10515600"/>
          </a:xfrm>
          <a:prstGeom prst="blockArc">
            <a:avLst>
              <a:gd name="adj1" fmla="val 14712000"/>
              <a:gd name="adj2" fmla="val 15084000"/>
              <a:gd name="adj3" fmla="val 21739"/>
            </a:avLst>
          </a:prstGeom>
          <a:solidFill>
            <a:srgbClr val="93A87B"/>
          </a:solidFill>
          <a:ln w="25400">
            <a:solidFill>
              <a:srgbClr val="F5F7F0"/>
            </a:solidFill>
            <a:prstDash val="solid"/>
          </a:ln>
        </p:spPr>
      </p:sp>
      <p:sp>
        <p:nvSpPr>
          <p:cNvPr id="14" name="SLA Management 222"/>
          <p:cNvSpPr/>
          <p:nvPr/>
        </p:nvSpPr>
        <p:spPr>
          <a:xfrm>
            <a:off x="838505" y="1143000"/>
            <a:ext cx="10515600" cy="10515600"/>
          </a:xfrm>
          <a:prstGeom prst="blockArc">
            <a:avLst>
              <a:gd name="adj1" fmla="val 15084000"/>
              <a:gd name="adj2" fmla="val 15456000"/>
              <a:gd name="adj3" fmla="val 21739"/>
            </a:avLst>
          </a:prstGeom>
          <a:solidFill>
            <a:srgbClr val="93A87B"/>
          </a:solidFill>
          <a:ln w="25400">
            <a:solidFill>
              <a:srgbClr val="F5F7F0"/>
            </a:solidFill>
            <a:prstDash val="solid"/>
          </a:ln>
        </p:spPr>
      </p:sp>
      <p:sp>
        <p:nvSpPr>
          <p:cNvPr id="15" name="QBRs 223"/>
          <p:cNvSpPr/>
          <p:nvPr/>
        </p:nvSpPr>
        <p:spPr>
          <a:xfrm>
            <a:off x="838505" y="1143000"/>
            <a:ext cx="10515600" cy="10515600"/>
          </a:xfrm>
          <a:prstGeom prst="blockArc">
            <a:avLst>
              <a:gd name="adj1" fmla="val 15456000"/>
              <a:gd name="adj2" fmla="val 15828000"/>
              <a:gd name="adj3" fmla="val 21739"/>
            </a:avLst>
          </a:prstGeom>
          <a:solidFill>
            <a:srgbClr val="93A87B"/>
          </a:solidFill>
          <a:ln w="25400">
            <a:solidFill>
              <a:srgbClr val="F5F7F0"/>
            </a:solidFill>
            <a:prstDash val="solid"/>
          </a:ln>
        </p:spPr>
      </p:sp>
      <p:sp>
        <p:nvSpPr>
          <p:cNvPr id="16" name="Customer Reviews 224"/>
          <p:cNvSpPr/>
          <p:nvPr/>
        </p:nvSpPr>
        <p:spPr>
          <a:xfrm>
            <a:off x="838505" y="1143000"/>
            <a:ext cx="10515600" cy="10515600"/>
          </a:xfrm>
          <a:prstGeom prst="blockArc">
            <a:avLst>
              <a:gd name="adj1" fmla="val 15828000"/>
              <a:gd name="adj2" fmla="val 16200000"/>
              <a:gd name="adj3" fmla="val 21739"/>
            </a:avLst>
          </a:prstGeom>
          <a:solidFill>
            <a:srgbClr val="93A87B"/>
          </a:solidFill>
          <a:ln w="25400">
            <a:solidFill>
              <a:srgbClr val="F5F7F0"/>
            </a:solidFill>
            <a:prstDash val="solid"/>
          </a:ln>
        </p:spPr>
      </p:sp>
      <p:sp>
        <p:nvSpPr>
          <p:cNvPr id="17" name="Contract Renewals 225"/>
          <p:cNvSpPr/>
          <p:nvPr/>
        </p:nvSpPr>
        <p:spPr>
          <a:xfrm>
            <a:off x="838505" y="1143000"/>
            <a:ext cx="10515600" cy="10515600"/>
          </a:xfrm>
          <a:prstGeom prst="blockArc">
            <a:avLst>
              <a:gd name="adj1" fmla="val 16200000"/>
              <a:gd name="adj2" fmla="val 16572000"/>
              <a:gd name="adj3" fmla="val 21739"/>
            </a:avLst>
          </a:prstGeom>
          <a:solidFill>
            <a:srgbClr val="93A87B"/>
          </a:solidFill>
          <a:ln w="25400">
            <a:solidFill>
              <a:srgbClr val="F5F7F0"/>
            </a:solidFill>
            <a:prstDash val="solid"/>
          </a:ln>
        </p:spPr>
      </p:sp>
      <p:sp>
        <p:nvSpPr>
          <p:cNvPr id="18" name="Customer Training 226"/>
          <p:cNvSpPr/>
          <p:nvPr/>
        </p:nvSpPr>
        <p:spPr>
          <a:xfrm>
            <a:off x="838505" y="1143000"/>
            <a:ext cx="10515600" cy="10515600"/>
          </a:xfrm>
          <a:prstGeom prst="blockArc">
            <a:avLst>
              <a:gd name="adj1" fmla="val 16572000"/>
              <a:gd name="adj2" fmla="val 16944000"/>
              <a:gd name="adj3" fmla="val 21739"/>
            </a:avLst>
          </a:prstGeom>
          <a:solidFill>
            <a:srgbClr val="93A87B"/>
          </a:solidFill>
          <a:ln w="25400">
            <a:solidFill>
              <a:srgbClr val="F5F7F0"/>
            </a:solidFill>
            <a:prstDash val="solid"/>
          </a:ln>
        </p:spPr>
      </p:sp>
      <p:sp>
        <p:nvSpPr>
          <p:cNvPr id="19" name="Relationship Management 227"/>
          <p:cNvSpPr/>
          <p:nvPr/>
        </p:nvSpPr>
        <p:spPr>
          <a:xfrm>
            <a:off x="838505" y="1143000"/>
            <a:ext cx="10515600" cy="10515600"/>
          </a:xfrm>
          <a:prstGeom prst="blockArc">
            <a:avLst>
              <a:gd name="adj1" fmla="val 16944000"/>
              <a:gd name="adj2" fmla="val 17316000"/>
              <a:gd name="adj3" fmla="val 21739"/>
            </a:avLst>
          </a:prstGeom>
          <a:solidFill>
            <a:srgbClr val="93A87B"/>
          </a:solidFill>
          <a:ln w="25400">
            <a:solidFill>
              <a:srgbClr val="F5F7F0"/>
            </a:solidFill>
            <a:prstDash val="solid"/>
          </a:ln>
        </p:spPr>
      </p:sp>
      <p:sp>
        <p:nvSpPr>
          <p:cNvPr id="20" name="Customer Support 228"/>
          <p:cNvSpPr/>
          <p:nvPr/>
        </p:nvSpPr>
        <p:spPr>
          <a:xfrm>
            <a:off x="838505" y="1143000"/>
            <a:ext cx="10515600" cy="10515600"/>
          </a:xfrm>
          <a:prstGeom prst="blockArc">
            <a:avLst>
              <a:gd name="adj1" fmla="val 17316000"/>
              <a:gd name="adj2" fmla="val 17688000"/>
              <a:gd name="adj3" fmla="val 21739"/>
            </a:avLst>
          </a:prstGeom>
          <a:solidFill>
            <a:srgbClr val="93A87B"/>
          </a:solidFill>
          <a:ln w="25400">
            <a:solidFill>
              <a:srgbClr val="F5F7F0"/>
            </a:solidFill>
            <a:prstDash val="solid"/>
          </a:ln>
        </p:spPr>
      </p:sp>
      <p:sp>
        <p:nvSpPr>
          <p:cNvPr id="21" name="Customer Satisfaction 229"/>
          <p:cNvSpPr/>
          <p:nvPr/>
        </p:nvSpPr>
        <p:spPr>
          <a:xfrm>
            <a:off x="838505" y="1143000"/>
            <a:ext cx="10515600" cy="10515600"/>
          </a:xfrm>
          <a:prstGeom prst="blockArc">
            <a:avLst>
              <a:gd name="adj1" fmla="val 17688000"/>
              <a:gd name="adj2" fmla="val 18060000"/>
              <a:gd name="adj3" fmla="val 21739"/>
            </a:avLst>
          </a:prstGeom>
          <a:solidFill>
            <a:srgbClr val="93A87B"/>
          </a:solidFill>
          <a:ln w="25400">
            <a:solidFill>
              <a:srgbClr val="F5F7F0"/>
            </a:solidFill>
            <a:prstDash val="solid"/>
          </a:ln>
        </p:spPr>
      </p:sp>
      <p:sp>
        <p:nvSpPr>
          <p:cNvPr id="22" name="Upselling &amp; Cross-selling 230"/>
          <p:cNvSpPr/>
          <p:nvPr/>
        </p:nvSpPr>
        <p:spPr>
          <a:xfrm>
            <a:off x="838505" y="1143000"/>
            <a:ext cx="10515600" cy="10515600"/>
          </a:xfrm>
          <a:prstGeom prst="blockArc">
            <a:avLst>
              <a:gd name="adj1" fmla="val 18060000"/>
              <a:gd name="adj2" fmla="val 18432000"/>
              <a:gd name="adj3" fmla="val 21739"/>
            </a:avLst>
          </a:prstGeom>
          <a:solidFill>
            <a:srgbClr val="93A87B"/>
          </a:solidFill>
          <a:ln w="25400">
            <a:solidFill>
              <a:srgbClr val="F5F7F0"/>
            </a:solidFill>
            <a:prstDash val="solid"/>
          </a:ln>
        </p:spPr>
      </p:sp>
      <p:sp>
        <p:nvSpPr>
          <p:cNvPr id="23" name="Retention &amp; Churn 231"/>
          <p:cNvSpPr/>
          <p:nvPr/>
        </p:nvSpPr>
        <p:spPr>
          <a:xfrm>
            <a:off x="838505" y="1143000"/>
            <a:ext cx="10515600" cy="10515600"/>
          </a:xfrm>
          <a:prstGeom prst="blockArc">
            <a:avLst>
              <a:gd name="adj1" fmla="val 18432000"/>
              <a:gd name="adj2" fmla="val 18804000"/>
              <a:gd name="adj3" fmla="val 21739"/>
            </a:avLst>
          </a:prstGeom>
          <a:solidFill>
            <a:srgbClr val="93A87B"/>
          </a:solidFill>
          <a:ln w="25400">
            <a:solidFill>
              <a:srgbClr val="F5F7F0"/>
            </a:solidFill>
            <a:prstDash val="solid"/>
          </a:ln>
        </p:spPr>
      </p:sp>
      <p:sp>
        <p:nvSpPr>
          <p:cNvPr id="24" name="Account Management 232"/>
          <p:cNvSpPr/>
          <p:nvPr/>
        </p:nvSpPr>
        <p:spPr>
          <a:xfrm>
            <a:off x="838505" y="1143000"/>
            <a:ext cx="10515600" cy="10515600"/>
          </a:xfrm>
          <a:prstGeom prst="blockArc">
            <a:avLst>
              <a:gd name="adj1" fmla="val 18804000"/>
              <a:gd name="adj2" fmla="val 19176000"/>
              <a:gd name="adj3" fmla="val 21739"/>
            </a:avLst>
          </a:prstGeom>
          <a:solidFill>
            <a:srgbClr val="93A87B"/>
          </a:solidFill>
          <a:ln w="25400">
            <a:solidFill>
              <a:srgbClr val="F5F7F0"/>
            </a:solidFill>
            <a:prstDash val="solid"/>
          </a:ln>
        </p:spPr>
      </p:sp>
      <p:sp>
        <p:nvSpPr>
          <p:cNvPr id="25" name="Product Adoption 233"/>
          <p:cNvSpPr/>
          <p:nvPr/>
        </p:nvSpPr>
        <p:spPr>
          <a:xfrm>
            <a:off x="838505" y="1143000"/>
            <a:ext cx="10515600" cy="10515600"/>
          </a:xfrm>
          <a:prstGeom prst="blockArc">
            <a:avLst>
              <a:gd name="adj1" fmla="val 19176000"/>
              <a:gd name="adj2" fmla="val 19548000"/>
              <a:gd name="adj3" fmla="val 21739"/>
            </a:avLst>
          </a:prstGeom>
          <a:solidFill>
            <a:srgbClr val="93A87B"/>
          </a:solidFill>
          <a:ln w="25400">
            <a:solidFill>
              <a:srgbClr val="F5F7F0"/>
            </a:solidFill>
            <a:prstDash val="solid"/>
          </a:ln>
        </p:spPr>
      </p:sp>
      <p:sp>
        <p:nvSpPr>
          <p:cNvPr id="26" name="Customer Onboarding 234"/>
          <p:cNvSpPr/>
          <p:nvPr/>
        </p:nvSpPr>
        <p:spPr>
          <a:xfrm>
            <a:off x="838505" y="1143000"/>
            <a:ext cx="10515600" cy="10515600"/>
          </a:xfrm>
          <a:prstGeom prst="blockArc">
            <a:avLst>
              <a:gd name="adj1" fmla="val 19548000"/>
              <a:gd name="adj2" fmla="val 19920000"/>
              <a:gd name="adj3" fmla="val 21739"/>
            </a:avLst>
          </a:prstGeom>
          <a:solidFill>
            <a:srgbClr val="93A87B"/>
          </a:solidFill>
          <a:ln w="25400">
            <a:solidFill>
              <a:srgbClr val="F5F7F0"/>
            </a:solidFill>
            <a:prstDash val="solid"/>
          </a:ln>
        </p:spPr>
      </p:sp>
      <p:sp>
        <p:nvSpPr>
          <p:cNvPr id="27" name="Label 235"/>
          <p:cNvSpPr txBox="1"/>
          <p:nvPr/>
        </p:nvSpPr>
        <p:spPr>
          <a:xfrm rot="1866000">
            <a:off x="1521377" y="416360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Advocacy Programme</a:t>
            </a:r>
            <a:endParaRPr lang="en-US" sz="1100" dirty="0"/>
          </a:p>
        </p:txBody>
      </p:sp>
      <p:sp>
        <p:nvSpPr>
          <p:cNvPr id="28" name="Label 236"/>
          <p:cNvSpPr txBox="1"/>
          <p:nvPr/>
        </p:nvSpPr>
        <p:spPr>
          <a:xfrm rot="2238000">
            <a:off x="1771531" y="379551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Success Planning</a:t>
            </a:r>
            <a:endParaRPr lang="en-US" sz="1100" dirty="0"/>
          </a:p>
        </p:txBody>
      </p:sp>
      <p:sp>
        <p:nvSpPr>
          <p:cNvPr id="29" name="Label 237"/>
          <p:cNvSpPr txBox="1"/>
          <p:nvPr/>
        </p:nvSpPr>
        <p:spPr>
          <a:xfrm rot="2610000">
            <a:off x="2059974" y="345659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Analytics</a:t>
            </a:r>
            <a:endParaRPr lang="en-US" sz="1100" dirty="0"/>
          </a:p>
        </p:txBody>
      </p:sp>
      <p:sp>
        <p:nvSpPr>
          <p:cNvPr id="30" name="Label 238"/>
          <p:cNvSpPr txBox="1"/>
          <p:nvPr/>
        </p:nvSpPr>
        <p:spPr>
          <a:xfrm rot="2982000">
            <a:off x="2383334" y="3150812"/>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Voice of Customer</a:t>
            </a:r>
            <a:endParaRPr lang="en-US" sz="1100" dirty="0"/>
          </a:p>
        </p:txBody>
      </p:sp>
      <p:sp>
        <p:nvSpPr>
          <p:cNvPr id="31" name="Label 239"/>
          <p:cNvSpPr txBox="1"/>
          <p:nvPr/>
        </p:nvSpPr>
        <p:spPr>
          <a:xfrm rot="3354000">
            <a:off x="2737827" y="2881737"/>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Community Building</a:t>
            </a:r>
            <a:endParaRPr lang="en-US" sz="1100" dirty="0"/>
          </a:p>
        </p:txBody>
      </p:sp>
      <p:sp>
        <p:nvSpPr>
          <p:cNvPr id="32" name="Label 240"/>
          <p:cNvSpPr txBox="1"/>
          <p:nvPr/>
        </p:nvSpPr>
        <p:spPr>
          <a:xfrm rot="3726000">
            <a:off x="3119307" y="2652521"/>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Health</a:t>
            </a:r>
            <a:endParaRPr lang="en-US" sz="1100" dirty="0"/>
          </a:p>
        </p:txBody>
      </p:sp>
      <p:sp>
        <p:nvSpPr>
          <p:cNvPr id="33" name="Label 241"/>
          <p:cNvSpPr txBox="1"/>
          <p:nvPr/>
        </p:nvSpPr>
        <p:spPr>
          <a:xfrm rot="4098000">
            <a:off x="3523311" y="2465845"/>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Escalation Handling</a:t>
            </a:r>
            <a:endParaRPr lang="en-US" sz="1100" dirty="0"/>
          </a:p>
        </p:txBody>
      </p:sp>
      <p:sp>
        <p:nvSpPr>
          <p:cNvPr id="34" name="Label 242"/>
          <p:cNvSpPr txBox="1"/>
          <p:nvPr/>
        </p:nvSpPr>
        <p:spPr>
          <a:xfrm rot="4470000">
            <a:off x="3945112" y="2323893"/>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SLA Management</a:t>
            </a:r>
            <a:endParaRPr lang="en-US" sz="1100" dirty="0"/>
          </a:p>
        </p:txBody>
      </p:sp>
      <p:sp>
        <p:nvSpPr>
          <p:cNvPr id="35" name="Label 243"/>
          <p:cNvSpPr txBox="1"/>
          <p:nvPr/>
        </p:nvSpPr>
        <p:spPr>
          <a:xfrm rot="4842000">
            <a:off x="4379777" y="2228326"/>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QBRs</a:t>
            </a:r>
            <a:endParaRPr lang="en-US" sz="1100" dirty="0"/>
          </a:p>
        </p:txBody>
      </p:sp>
      <p:sp>
        <p:nvSpPr>
          <p:cNvPr id="36" name="Label 244"/>
          <p:cNvSpPr txBox="1"/>
          <p:nvPr/>
        </p:nvSpPr>
        <p:spPr>
          <a:xfrm rot="5214000">
            <a:off x="4822221" y="2180261"/>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Reviews</a:t>
            </a:r>
            <a:endParaRPr lang="en-US" sz="1100" dirty="0"/>
          </a:p>
        </p:txBody>
      </p:sp>
      <p:sp>
        <p:nvSpPr>
          <p:cNvPr id="37" name="Label 245"/>
          <p:cNvSpPr txBox="1"/>
          <p:nvPr/>
        </p:nvSpPr>
        <p:spPr>
          <a:xfrm rot="-5214000">
            <a:off x="5267268" y="2180261"/>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Contract Renewals</a:t>
            </a:r>
            <a:endParaRPr lang="en-US" sz="1100" dirty="0"/>
          </a:p>
        </p:txBody>
      </p:sp>
      <p:sp>
        <p:nvSpPr>
          <p:cNvPr id="38" name="Label 246"/>
          <p:cNvSpPr txBox="1"/>
          <p:nvPr/>
        </p:nvSpPr>
        <p:spPr>
          <a:xfrm rot="-4842000">
            <a:off x="5709712" y="2228326"/>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Training</a:t>
            </a:r>
            <a:endParaRPr lang="en-US" sz="1100" dirty="0"/>
          </a:p>
        </p:txBody>
      </p:sp>
      <p:sp>
        <p:nvSpPr>
          <p:cNvPr id="39" name="Label 247"/>
          <p:cNvSpPr txBox="1"/>
          <p:nvPr/>
        </p:nvSpPr>
        <p:spPr>
          <a:xfrm rot="-4470000">
            <a:off x="6144377" y="2323893"/>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Relationship Management</a:t>
            </a:r>
            <a:endParaRPr lang="en-US" sz="1100" dirty="0"/>
          </a:p>
        </p:txBody>
      </p:sp>
      <p:sp>
        <p:nvSpPr>
          <p:cNvPr id="40" name="Label 248"/>
          <p:cNvSpPr txBox="1"/>
          <p:nvPr/>
        </p:nvSpPr>
        <p:spPr>
          <a:xfrm rot="-4098000">
            <a:off x="6566179" y="2465845"/>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Support</a:t>
            </a:r>
            <a:endParaRPr lang="en-US" sz="1100" dirty="0"/>
          </a:p>
        </p:txBody>
      </p:sp>
      <p:sp>
        <p:nvSpPr>
          <p:cNvPr id="41" name="Label 249"/>
          <p:cNvSpPr txBox="1"/>
          <p:nvPr/>
        </p:nvSpPr>
        <p:spPr>
          <a:xfrm rot="-3726000">
            <a:off x="6970182" y="2652521"/>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Satisfaction</a:t>
            </a:r>
            <a:endParaRPr lang="en-US" sz="1100" dirty="0"/>
          </a:p>
        </p:txBody>
      </p:sp>
      <p:sp>
        <p:nvSpPr>
          <p:cNvPr id="42" name="Label 250"/>
          <p:cNvSpPr txBox="1"/>
          <p:nvPr/>
        </p:nvSpPr>
        <p:spPr>
          <a:xfrm rot="-3354000">
            <a:off x="7351662" y="2881737"/>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Upselling &amp; Cross-selling</a:t>
            </a:r>
            <a:endParaRPr lang="en-US" sz="1100" dirty="0"/>
          </a:p>
        </p:txBody>
      </p:sp>
      <p:sp>
        <p:nvSpPr>
          <p:cNvPr id="43" name="Label 251"/>
          <p:cNvSpPr txBox="1"/>
          <p:nvPr/>
        </p:nvSpPr>
        <p:spPr>
          <a:xfrm rot="-2982000">
            <a:off x="7706155" y="3150812"/>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Retention &amp; Churn</a:t>
            </a:r>
            <a:endParaRPr lang="en-US" sz="1100" dirty="0"/>
          </a:p>
        </p:txBody>
      </p:sp>
      <p:sp>
        <p:nvSpPr>
          <p:cNvPr id="44" name="Label 252"/>
          <p:cNvSpPr txBox="1"/>
          <p:nvPr/>
        </p:nvSpPr>
        <p:spPr>
          <a:xfrm rot="-2610000">
            <a:off x="8029515" y="345659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Account Management</a:t>
            </a:r>
            <a:endParaRPr lang="en-US" sz="1100" dirty="0"/>
          </a:p>
        </p:txBody>
      </p:sp>
      <p:sp>
        <p:nvSpPr>
          <p:cNvPr id="45" name="Label 253"/>
          <p:cNvSpPr txBox="1"/>
          <p:nvPr/>
        </p:nvSpPr>
        <p:spPr>
          <a:xfrm rot="-2238000">
            <a:off x="8317959" y="379551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Product Adoption</a:t>
            </a:r>
            <a:endParaRPr lang="en-US" sz="1100" dirty="0"/>
          </a:p>
        </p:txBody>
      </p:sp>
      <p:sp>
        <p:nvSpPr>
          <p:cNvPr id="46" name="Label 254"/>
          <p:cNvSpPr txBox="1"/>
          <p:nvPr/>
        </p:nvSpPr>
        <p:spPr>
          <a:xfrm rot="-1866000">
            <a:off x="8568113" y="4163609"/>
            <a:ext cx="2103120" cy="223520"/>
          </a:xfrm>
          <a:prstGeom prst="rect">
            <a:avLst/>
          </a:prstGeom>
          <a:noFill/>
          <a:ln/>
        </p:spPr>
        <p:txBody>
          <a:bodyPr wrap="square" lIns="0" tIns="0" rIns="0" bIns="0" rtlCol="0" anchor="ctr"/>
          <a:lstStyle/>
          <a:p>
            <a:pPr algn="ctr" indent="0" marL="0">
              <a:buNone/>
            </a:pPr>
            <a:r>
              <a:rPr lang="en-US" sz="1100" dirty="0">
                <a:solidFill>
                  <a:srgbClr val="16261D"/>
                </a:solidFill>
                <a:latin typeface="Figtree" pitchFamily="34" charset="0"/>
                <a:ea typeface="Figtree" pitchFamily="34" charset="-122"/>
                <a:cs typeface="Figtree" pitchFamily="34" charset="-120"/>
              </a:rPr>
              <a:t>Customer Onboarding</a:t>
            </a:r>
            <a:endParaRPr lang="en-US" sz="1100" dirty="0"/>
          </a:p>
        </p:txBody>
      </p:sp>
      <p:sp>
        <p:nvSpPr>
          <p:cNvPr id="47" name="Function label"/>
          <p:cNvSpPr txBox="1"/>
          <p:nvPr/>
        </p:nvSpPr>
        <p:spPr>
          <a:xfrm>
            <a:off x="4724705" y="3794760"/>
            <a:ext cx="2743200" cy="822960"/>
          </a:xfrm>
          <a:prstGeom prst="rect">
            <a:avLst/>
          </a:prstGeom>
          <a:noFill/>
          <a:ln/>
        </p:spPr>
        <p:txBody>
          <a:bodyPr wrap="square" lIns="0" tIns="0" rIns="0" bIns="0" rtlCol="0" anchor="ctr"/>
          <a:lstStyle/>
          <a:p>
            <a:pPr algn="ctr" indent="0" marL="0">
              <a:buNone/>
            </a:pPr>
            <a:r>
              <a:rPr lang="en-US" sz="2600" dirty="0">
                <a:solidFill>
                  <a:srgbClr val="16261D"/>
                </a:solidFill>
                <a:latin typeface="Georgia" pitchFamily="34" charset="0"/>
                <a:ea typeface="Georgia" pitchFamily="34" charset="-122"/>
                <a:cs typeface="Georgia" pitchFamily="34" charset="-120"/>
              </a:rPr>
              <a:t>Customer Success</a:t>
            </a:r>
            <a:endParaRPr lang="en-US" sz="2600" dirty="0"/>
          </a:p>
          <a:p>
            <a:pPr algn="ctr" indent="0" marL="0">
              <a:buNone/>
            </a:pPr>
            <a:r>
              <a:rPr lang="en-US" sz="1200" dirty="0">
                <a:solidFill>
                  <a:srgbClr val="16261D"/>
                </a:solidFill>
                <a:latin typeface="Figtree" pitchFamily="34" charset="0"/>
                <a:ea typeface="Figtree" pitchFamily="34" charset="-122"/>
                <a:cs typeface="Figtree" pitchFamily="34" charset="-120"/>
              </a:rPr>
              <a:t>20 capabilities</a:t>
            </a:r>
            <a:endParaRPr lang="en-US" sz="2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365760" y="274320"/>
            <a:ext cx="8229600" cy="228600"/>
          </a:xfrm>
          <a:prstGeom prst="rect">
            <a:avLst/>
          </a:prstGeom>
          <a:noFill/>
          <a:ln/>
        </p:spPr>
        <p:txBody>
          <a:bodyPr wrap="square" lIns="0" tIns="0" rIns="0" bIns="0" rtlCol="0"/>
          <a:lstStyle/>
          <a:p>
            <a:pPr indent="0" marL="0">
              <a:buNone/>
            </a:pPr>
            <a:r>
              <a:rPr lang="en-US" sz="1000" b="1" spc="300" kern="0" dirty="0">
                <a:solidFill>
                  <a:schemeClr val="accent6"/>
                </a:solidFill>
                <a:latin typeface="Figtree" pitchFamily="34" charset="0"/>
                <a:ea typeface="Figtree" pitchFamily="34" charset="-122"/>
                <a:cs typeface="Figtree" pitchFamily="34" charset="-120"/>
              </a:rPr>
              <a:t>CRAWL, WALK, RUN</a:t>
            </a:r>
            <a:endParaRPr lang="en-US" sz="1000" dirty="0"/>
          </a:p>
        </p:txBody>
      </p:sp>
      <p:sp>
        <p:nvSpPr>
          <p:cNvPr id="3" name="Text 0"/>
          <p:cNvSpPr/>
          <p:nvPr>
            <p:ph idx="101" type="title" hasCustomPrompt="1"/>
          </p:nvPr>
        </p:nvSpPr>
        <p:spPr>
          <a:xfrm>
            <a:off x="365760" y="502920"/>
            <a:ext cx="9601200" cy="548640"/>
          </a:xfrm>
          <a:prstGeom prst="rect">
            <a:avLst/>
          </a:prstGeom>
          <a:noFill/>
          <a:ln/>
        </p:spPr>
        <p:txBody>
          <a:bodyPr wrap="square" lIns="0" tIns="0" rIns="0" bIns="0" rtlCol="0" anchor="ctr"/>
          <a:lstStyle/>
          <a:p>
            <a:pPr algn="l" indent="0" marL="0">
              <a:buNone/>
            </a:pPr>
            <a:r>
              <a:rPr lang="en-US" sz="3400" dirty="0">
                <a:solidFill>
                  <a:schemeClr val="bg2"/>
                </a:solidFill>
              </a:rPr>
              <a:t>The journey to predictable revenue growth</a:t>
            </a:r>
            <a:endParaRPr lang="en-US" sz="3400" dirty="0"/>
          </a:p>
        </p:txBody>
      </p:sp>
      <p:sp>
        <p:nvSpPr>
          <p:cNvPr id="4" name="Text 0"/>
          <p:cNvSpPr/>
          <p:nvPr>
            <p:ph idx="103" type="body" hasCustomPrompt="1"/>
          </p:nvPr>
        </p:nvSpPr>
        <p:spPr>
          <a:xfrm>
            <a:off x="365760" y="6510528"/>
            <a:ext cx="9601200" cy="228600"/>
          </a:xfrm>
          <a:prstGeom prst="rect">
            <a:avLst/>
          </a:prstGeom>
          <a:noFill/>
          <a:ln/>
        </p:spPr>
        <p:txBody>
          <a:bodyPr wrap="square" lIns="0" tIns="0" rIns="0" bIns="0" rtlCol="0"/>
          <a:lstStyle/>
          <a:p>
            <a:pPr indent="0" marL="0">
              <a:buNone/>
            </a:pPr>
            <a:r>
              <a:rPr lang="en-US" sz="1000" dirty="0">
                <a:solidFill>
                  <a:schemeClr val="accent6"/>
                </a:solidFill>
                <a:latin typeface="Figtree" pitchFamily="34" charset="0"/>
                <a:ea typeface="Figtree" pitchFamily="34" charset="-122"/>
                <a:cs typeface="Figtree" pitchFamily="34" charset="-120"/>
              </a:rPr>
              <a:t>Veridian Revenue Partners  ·  Adapted from Fullcast, Hg Growth Summit 2025</a:t>
            </a:r>
            <a:endParaRPr lang="en-US" sz="1000" dirty="0"/>
          </a:p>
        </p:txBody>
      </p:sp>
      <p:sp>
        <p:nvSpPr>
          <p:cNvPr id="5" name="Curve glow"/>
          <p:cNvSpPr/>
          <p:nvPr/>
        </p:nvSpPr>
        <p:spPr>
          <a:xfrm>
            <a:off x="365760" y="3291840"/>
            <a:ext cx="11064240" cy="2194560"/>
          </a:xfrm>
          <a:custGeom>
            <a:avLst/>
            <a:gdLst/>
            <a:ahLst/>
            <a:cxnLst/>
            <a:rect l="l" t="t" r="r" b="b"/>
            <a:pathLst>
              <a:path w="11064240" h="2194560">
                <a:moveTo>
                  <a:pt x="0" y="2194560"/>
                </a:moveTo>
                <a:lnTo>
                  <a:pt x="184404" y="2182917"/>
                </a:lnTo>
                <a:lnTo>
                  <a:pt x="368808" y="2170880"/>
                </a:lnTo>
                <a:lnTo>
                  <a:pt x="553212" y="2158435"/>
                </a:lnTo>
                <a:lnTo>
                  <a:pt x="737616" y="2145568"/>
                </a:lnTo>
                <a:lnTo>
                  <a:pt x="922020" y="2132265"/>
                </a:lnTo>
                <a:lnTo>
                  <a:pt x="1106424" y="2118511"/>
                </a:lnTo>
                <a:lnTo>
                  <a:pt x="1290828" y="2104291"/>
                </a:lnTo>
                <a:lnTo>
                  <a:pt x="1475232" y="2089588"/>
                </a:lnTo>
                <a:lnTo>
                  <a:pt x="1659636" y="2074388"/>
                </a:lnTo>
                <a:lnTo>
                  <a:pt x="1844040" y="2058672"/>
                </a:lnTo>
                <a:lnTo>
                  <a:pt x="2028444" y="2042424"/>
                </a:lnTo>
                <a:lnTo>
                  <a:pt x="2212848" y="2025624"/>
                </a:lnTo>
                <a:lnTo>
                  <a:pt x="2397252" y="2008256"/>
                </a:lnTo>
                <a:lnTo>
                  <a:pt x="2581656" y="1990298"/>
                </a:lnTo>
                <a:lnTo>
                  <a:pt x="2766060" y="1971732"/>
                </a:lnTo>
                <a:lnTo>
                  <a:pt x="2950464" y="1952537"/>
                </a:lnTo>
                <a:lnTo>
                  <a:pt x="3134868" y="1932691"/>
                </a:lnTo>
                <a:lnTo>
                  <a:pt x="3319272" y="1912173"/>
                </a:lnTo>
                <a:lnTo>
                  <a:pt x="3503676" y="1890958"/>
                </a:lnTo>
                <a:lnTo>
                  <a:pt x="3688080" y="1869025"/>
                </a:lnTo>
                <a:lnTo>
                  <a:pt x="3872484" y="1846349"/>
                </a:lnTo>
                <a:lnTo>
                  <a:pt x="4056888" y="1822904"/>
                </a:lnTo>
                <a:lnTo>
                  <a:pt x="4241292" y="1798664"/>
                </a:lnTo>
                <a:lnTo>
                  <a:pt x="4425696" y="1773602"/>
                </a:lnTo>
                <a:lnTo>
                  <a:pt x="4610100" y="1747691"/>
                </a:lnTo>
                <a:lnTo>
                  <a:pt x="4794504" y="1720902"/>
                </a:lnTo>
                <a:lnTo>
                  <a:pt x="4978908" y="1693205"/>
                </a:lnTo>
                <a:lnTo>
                  <a:pt x="5163312" y="1664569"/>
                </a:lnTo>
                <a:lnTo>
                  <a:pt x="5347716" y="1634962"/>
                </a:lnTo>
                <a:lnTo>
                  <a:pt x="5532120" y="1604352"/>
                </a:lnTo>
                <a:lnTo>
                  <a:pt x="5716524" y="1572704"/>
                </a:lnTo>
                <a:lnTo>
                  <a:pt x="5900928" y="1539984"/>
                </a:lnTo>
                <a:lnTo>
                  <a:pt x="6085332" y="1506154"/>
                </a:lnTo>
                <a:lnTo>
                  <a:pt x="6269736" y="1471178"/>
                </a:lnTo>
                <a:lnTo>
                  <a:pt x="6454140" y="1435017"/>
                </a:lnTo>
                <a:lnTo>
                  <a:pt x="6638544" y="1397629"/>
                </a:lnTo>
                <a:lnTo>
                  <a:pt x="6822948" y="1358975"/>
                </a:lnTo>
                <a:lnTo>
                  <a:pt x="7007352" y="1319010"/>
                </a:lnTo>
                <a:lnTo>
                  <a:pt x="7191756" y="1277690"/>
                </a:lnTo>
                <a:lnTo>
                  <a:pt x="7376160" y="1234970"/>
                </a:lnTo>
                <a:lnTo>
                  <a:pt x="7560564" y="1190802"/>
                </a:lnTo>
                <a:lnTo>
                  <a:pt x="7744968" y="1145137"/>
                </a:lnTo>
                <a:lnTo>
                  <a:pt x="7929372" y="1097925"/>
                </a:lnTo>
                <a:lnTo>
                  <a:pt x="8113776" y="1049111"/>
                </a:lnTo>
                <a:lnTo>
                  <a:pt x="8298180" y="998644"/>
                </a:lnTo>
                <a:lnTo>
                  <a:pt x="8482584" y="946466"/>
                </a:lnTo>
                <a:lnTo>
                  <a:pt x="8666988" y="892519"/>
                </a:lnTo>
                <a:lnTo>
                  <a:pt x="8851392" y="836743"/>
                </a:lnTo>
                <a:lnTo>
                  <a:pt x="9035796" y="779077"/>
                </a:lnTo>
                <a:lnTo>
                  <a:pt x="9220200" y="719457"/>
                </a:lnTo>
                <a:lnTo>
                  <a:pt x="9404604" y="657816"/>
                </a:lnTo>
                <a:lnTo>
                  <a:pt x="9589008" y="594085"/>
                </a:lnTo>
                <a:lnTo>
                  <a:pt x="9773412" y="528194"/>
                </a:lnTo>
                <a:lnTo>
                  <a:pt x="9957816" y="460070"/>
                </a:lnTo>
                <a:lnTo>
                  <a:pt x="10142220" y="389637"/>
                </a:lnTo>
                <a:lnTo>
                  <a:pt x="10326624" y="316816"/>
                </a:lnTo>
                <a:lnTo>
                  <a:pt x="10511028" y="241527"/>
                </a:lnTo>
                <a:lnTo>
                  <a:pt x="10695432" y="163686"/>
                </a:lnTo>
                <a:lnTo>
                  <a:pt x="10879836" y="83207"/>
                </a:lnTo>
                <a:lnTo>
                  <a:pt x="11064240" y="0"/>
                </a:lnTo>
              </a:path>
            </a:pathLst>
          </a:custGeom>
          <a:noFill/>
          <a:ln w="152400">
            <a:solidFill>
              <a:srgbClr val="93A87B">
                <a:alpha val="18000"/>
              </a:srgbClr>
            </a:solidFill>
            <a:prstDash val="solid"/>
          </a:ln>
        </p:spPr>
      </p:sp>
      <p:sp>
        <p:nvSpPr>
          <p:cNvPr id="6" name="Growth curve"/>
          <p:cNvSpPr/>
          <p:nvPr/>
        </p:nvSpPr>
        <p:spPr>
          <a:xfrm>
            <a:off x="365760" y="3291840"/>
            <a:ext cx="11064240" cy="2194560"/>
          </a:xfrm>
          <a:custGeom>
            <a:avLst/>
            <a:gdLst/>
            <a:ahLst/>
            <a:cxnLst/>
            <a:rect l="l" t="t" r="r" b="b"/>
            <a:pathLst>
              <a:path w="11064240" h="2194560">
                <a:moveTo>
                  <a:pt x="0" y="2194560"/>
                </a:moveTo>
                <a:lnTo>
                  <a:pt x="184404" y="2182917"/>
                </a:lnTo>
                <a:lnTo>
                  <a:pt x="368808" y="2170880"/>
                </a:lnTo>
                <a:lnTo>
                  <a:pt x="553212" y="2158435"/>
                </a:lnTo>
                <a:lnTo>
                  <a:pt x="737616" y="2145568"/>
                </a:lnTo>
                <a:lnTo>
                  <a:pt x="922020" y="2132265"/>
                </a:lnTo>
                <a:lnTo>
                  <a:pt x="1106424" y="2118511"/>
                </a:lnTo>
                <a:lnTo>
                  <a:pt x="1290828" y="2104291"/>
                </a:lnTo>
                <a:lnTo>
                  <a:pt x="1475232" y="2089588"/>
                </a:lnTo>
                <a:lnTo>
                  <a:pt x="1659636" y="2074388"/>
                </a:lnTo>
                <a:lnTo>
                  <a:pt x="1844040" y="2058672"/>
                </a:lnTo>
                <a:lnTo>
                  <a:pt x="2028444" y="2042424"/>
                </a:lnTo>
                <a:lnTo>
                  <a:pt x="2212848" y="2025624"/>
                </a:lnTo>
                <a:lnTo>
                  <a:pt x="2397252" y="2008256"/>
                </a:lnTo>
                <a:lnTo>
                  <a:pt x="2581656" y="1990298"/>
                </a:lnTo>
                <a:lnTo>
                  <a:pt x="2766060" y="1971732"/>
                </a:lnTo>
                <a:lnTo>
                  <a:pt x="2950464" y="1952537"/>
                </a:lnTo>
                <a:lnTo>
                  <a:pt x="3134868" y="1932691"/>
                </a:lnTo>
                <a:lnTo>
                  <a:pt x="3319272" y="1912173"/>
                </a:lnTo>
                <a:lnTo>
                  <a:pt x="3503676" y="1890958"/>
                </a:lnTo>
                <a:lnTo>
                  <a:pt x="3688080" y="1869025"/>
                </a:lnTo>
                <a:lnTo>
                  <a:pt x="3872484" y="1846349"/>
                </a:lnTo>
                <a:lnTo>
                  <a:pt x="4056888" y="1822904"/>
                </a:lnTo>
                <a:lnTo>
                  <a:pt x="4241292" y="1798664"/>
                </a:lnTo>
                <a:lnTo>
                  <a:pt x="4425696" y="1773602"/>
                </a:lnTo>
                <a:lnTo>
                  <a:pt x="4610100" y="1747691"/>
                </a:lnTo>
                <a:lnTo>
                  <a:pt x="4794504" y="1720902"/>
                </a:lnTo>
                <a:lnTo>
                  <a:pt x="4978908" y="1693205"/>
                </a:lnTo>
                <a:lnTo>
                  <a:pt x="5163312" y="1664569"/>
                </a:lnTo>
                <a:lnTo>
                  <a:pt x="5347716" y="1634962"/>
                </a:lnTo>
                <a:lnTo>
                  <a:pt x="5532120" y="1604352"/>
                </a:lnTo>
                <a:lnTo>
                  <a:pt x="5716524" y="1572704"/>
                </a:lnTo>
                <a:lnTo>
                  <a:pt x="5900928" y="1539984"/>
                </a:lnTo>
                <a:lnTo>
                  <a:pt x="6085332" y="1506154"/>
                </a:lnTo>
                <a:lnTo>
                  <a:pt x="6269736" y="1471178"/>
                </a:lnTo>
                <a:lnTo>
                  <a:pt x="6454140" y="1435017"/>
                </a:lnTo>
                <a:lnTo>
                  <a:pt x="6638544" y="1397629"/>
                </a:lnTo>
                <a:lnTo>
                  <a:pt x="6822948" y="1358975"/>
                </a:lnTo>
                <a:lnTo>
                  <a:pt x="7007352" y="1319010"/>
                </a:lnTo>
                <a:lnTo>
                  <a:pt x="7191756" y="1277690"/>
                </a:lnTo>
                <a:lnTo>
                  <a:pt x="7376160" y="1234970"/>
                </a:lnTo>
                <a:lnTo>
                  <a:pt x="7560564" y="1190802"/>
                </a:lnTo>
                <a:lnTo>
                  <a:pt x="7744968" y="1145137"/>
                </a:lnTo>
                <a:lnTo>
                  <a:pt x="7929372" y="1097925"/>
                </a:lnTo>
                <a:lnTo>
                  <a:pt x="8113776" y="1049111"/>
                </a:lnTo>
                <a:lnTo>
                  <a:pt x="8298180" y="998644"/>
                </a:lnTo>
                <a:lnTo>
                  <a:pt x="8482584" y="946466"/>
                </a:lnTo>
                <a:lnTo>
                  <a:pt x="8666988" y="892519"/>
                </a:lnTo>
                <a:lnTo>
                  <a:pt x="8851392" y="836743"/>
                </a:lnTo>
                <a:lnTo>
                  <a:pt x="9035796" y="779077"/>
                </a:lnTo>
                <a:lnTo>
                  <a:pt x="9220200" y="719457"/>
                </a:lnTo>
                <a:lnTo>
                  <a:pt x="9404604" y="657816"/>
                </a:lnTo>
                <a:lnTo>
                  <a:pt x="9589008" y="594085"/>
                </a:lnTo>
                <a:lnTo>
                  <a:pt x="9773412" y="528194"/>
                </a:lnTo>
                <a:lnTo>
                  <a:pt x="9957816" y="460070"/>
                </a:lnTo>
                <a:lnTo>
                  <a:pt x="10142220" y="389637"/>
                </a:lnTo>
                <a:lnTo>
                  <a:pt x="10326624" y="316816"/>
                </a:lnTo>
                <a:lnTo>
                  <a:pt x="10511028" y="241527"/>
                </a:lnTo>
                <a:lnTo>
                  <a:pt x="10695432" y="163686"/>
                </a:lnTo>
                <a:lnTo>
                  <a:pt x="10879836" y="83207"/>
                </a:lnTo>
                <a:lnTo>
                  <a:pt x="11064240" y="0"/>
                </a:lnTo>
              </a:path>
            </a:pathLst>
          </a:custGeom>
          <a:noFill/>
          <a:ln w="38100">
            <a:solidFill>
              <a:srgbClr val="93A87B"/>
            </a:solidFill>
            <a:prstDash val="solid"/>
            <a:tailEnd type="triangle"/>
          </a:ln>
        </p:spPr>
      </p:sp>
      <p:sp>
        <p:nvSpPr>
          <p:cNvPr id="7" name="Tick 1"/>
          <p:cNvSpPr/>
          <p:nvPr/>
        </p:nvSpPr>
        <p:spPr>
          <a:xfrm>
            <a:off x="2011680" y="4856397"/>
            <a:ext cx="0" cy="510979"/>
          </a:xfrm>
          <a:prstGeom prst="line">
            <a:avLst/>
          </a:prstGeom>
          <a:noFill/>
          <a:ln w="12700">
            <a:solidFill>
              <a:srgbClr val="93A87B">
                <a:alpha val="70000"/>
              </a:srgbClr>
            </a:solidFill>
            <a:prstDash val="dash"/>
          </a:ln>
        </p:spPr>
      </p:sp>
      <p:sp>
        <p:nvSpPr>
          <p:cNvPr id="8" name="Milestone 1"/>
          <p:cNvSpPr/>
          <p:nvPr/>
        </p:nvSpPr>
        <p:spPr>
          <a:xfrm>
            <a:off x="1911096" y="5266792"/>
            <a:ext cx="201168" cy="201168"/>
          </a:xfrm>
          <a:prstGeom prst="ellipse">
            <a:avLst/>
          </a:prstGeom>
          <a:solidFill>
            <a:srgbClr val="F5F7F0"/>
          </a:solidFill>
          <a:ln w="38100">
            <a:solidFill>
              <a:srgbClr val="93A87B"/>
            </a:solidFill>
            <a:prstDash val="solid"/>
          </a:ln>
        </p:spPr>
      </p:sp>
      <p:sp>
        <p:nvSpPr>
          <p:cNvPr id="9" name="Stage 1"/>
          <p:cNvSpPr txBox="1"/>
          <p:nvPr/>
        </p:nvSpPr>
        <p:spPr>
          <a:xfrm>
            <a:off x="2011680" y="2844717"/>
            <a:ext cx="2286000" cy="1920240"/>
          </a:xfrm>
          <a:prstGeom prst="rect">
            <a:avLst/>
          </a:prstGeom>
          <a:noFill/>
          <a:ln/>
        </p:spPr>
        <p:txBody>
          <a:bodyPr wrap="square" lIns="0" tIns="0" rIns="0" bIns="0" rtlCol="0" anchor="b"/>
          <a:lstStyle/>
          <a:p>
            <a:pPr indent="0" marL="0">
              <a:spcAft>
                <a:spcPts val="600"/>
              </a:spcAft>
              <a:buNone/>
            </a:pPr>
            <a:r>
              <a:rPr lang="en-US" sz="1300" b="1" dirty="0">
                <a:solidFill>
                  <a:schemeClr val="accent2"/>
                </a:solidFill>
                <a:latin typeface="Figtree" pitchFamily="34" charset="0"/>
                <a:ea typeface="Figtree" pitchFamily="34" charset="-122"/>
                <a:cs typeface="Figtree" pitchFamily="34" charset="-120"/>
              </a:rPr>
              <a:t>Revenue insights as a service</a:t>
            </a:r>
            <a:endParaRPr lang="en-US" sz="1300" dirty="0"/>
          </a:p>
          <a:p>
            <a:pPr indent="0" marL="0">
              <a:buNone/>
            </a:pPr>
            <a:r>
              <a:rPr lang="en-US" sz="1400" dirty="0">
                <a:solidFill>
                  <a:schemeClr val="bg2"/>
                </a:solidFill>
              </a:rPr>
              <a:t>Grade every opportunity on relationship strength and your sales methodology</a:t>
            </a:r>
            <a:endParaRPr lang="en-US" sz="1300" dirty="0"/>
          </a:p>
        </p:txBody>
      </p:sp>
      <p:sp>
        <p:nvSpPr>
          <p:cNvPr id="10" name="Icon badge 1"/>
          <p:cNvSpPr/>
          <p:nvPr/>
        </p:nvSpPr>
        <p:spPr>
          <a:xfrm>
            <a:off x="1682496" y="5623408"/>
            <a:ext cx="658368" cy="658368"/>
          </a:xfrm>
          <a:prstGeom prst="ellipse">
            <a:avLst/>
          </a:prstGeom>
          <a:solidFill>
            <a:srgbClr val="1F3529"/>
          </a:solidFill>
          <a:ln w="9525">
            <a:solidFill>
              <a:srgbClr val="93A87B">
                <a:alpha val="50000"/>
              </a:srgbClr>
            </a:solidFill>
            <a:prstDash val="solid"/>
          </a:ln>
          <a:effectLst>
            <a:outerShdw sx="100000" sy="100000" kx="0" ky="0" algn="bl" rotWithShape="0" blurRad="152400" dist="38100" dir="5400000">
              <a:srgbClr val="16261D">
                <a:alpha val="35000"/>
              </a:srgbClr>
            </a:outerShdw>
          </a:effectLst>
        </p:spPr>
      </p:sp>
      <p:pic>
        <p:nvPicPr>
          <p:cNvPr id="11" name="Image 0" descr="Revenue insights as a service icon">    </p:cNvPr>
          <p:cNvPicPr>
            <a:picLocks noChangeAspect="1"/>
          </p:cNvPicPr>
          <p:nvPr/>
        </p:nvPicPr>
        <p:blipFill>
          <a:blip r:embed="rId1"/>
          <a:stretch>
            <a:fillRect/>
          </a:stretch>
        </p:blipFill>
        <p:spPr>
          <a:xfrm>
            <a:off x="1819656" y="5760568"/>
            <a:ext cx="384048" cy="384048"/>
          </a:xfrm>
          <a:prstGeom prst="rect">
            <a:avLst/>
          </a:prstGeom>
        </p:spPr>
      </p:pic>
      <p:sp>
        <p:nvSpPr>
          <p:cNvPr id="12" name="Tick 2"/>
          <p:cNvSpPr/>
          <p:nvPr/>
        </p:nvSpPr>
        <p:spPr>
          <a:xfrm>
            <a:off x="4572000" y="4444914"/>
            <a:ext cx="0" cy="650260"/>
          </a:xfrm>
          <a:prstGeom prst="line">
            <a:avLst/>
          </a:prstGeom>
          <a:noFill/>
          <a:ln w="12700">
            <a:solidFill>
              <a:srgbClr val="93A87B">
                <a:alpha val="70000"/>
              </a:srgbClr>
            </a:solidFill>
            <a:prstDash val="dash"/>
          </a:ln>
        </p:spPr>
      </p:sp>
      <p:sp>
        <p:nvSpPr>
          <p:cNvPr id="13" name="Milestone 2"/>
          <p:cNvSpPr/>
          <p:nvPr/>
        </p:nvSpPr>
        <p:spPr>
          <a:xfrm>
            <a:off x="4471416" y="4994590"/>
            <a:ext cx="201168" cy="201168"/>
          </a:xfrm>
          <a:prstGeom prst="ellipse">
            <a:avLst/>
          </a:prstGeom>
          <a:solidFill>
            <a:srgbClr val="F5F7F0"/>
          </a:solidFill>
          <a:ln w="38100">
            <a:solidFill>
              <a:srgbClr val="93A87B"/>
            </a:solidFill>
            <a:prstDash val="solid"/>
          </a:ln>
        </p:spPr>
      </p:sp>
      <p:sp>
        <p:nvSpPr>
          <p:cNvPr id="14" name="Stage 2"/>
          <p:cNvSpPr txBox="1"/>
          <p:nvPr/>
        </p:nvSpPr>
        <p:spPr>
          <a:xfrm>
            <a:off x="4572000" y="2433234"/>
            <a:ext cx="2286000" cy="1920240"/>
          </a:xfrm>
          <a:prstGeom prst="rect">
            <a:avLst/>
          </a:prstGeom>
          <a:noFill/>
          <a:ln/>
        </p:spPr>
        <p:txBody>
          <a:bodyPr wrap="square" lIns="0" tIns="0" rIns="0" bIns="0" rtlCol="0" anchor="b"/>
          <a:lstStyle/>
          <a:p>
            <a:pPr indent="0" marL="0">
              <a:spcAft>
                <a:spcPts val="600"/>
              </a:spcAft>
              <a:buNone/>
            </a:pPr>
            <a:r>
              <a:rPr lang="en-US" sz="1300" b="1" dirty="0">
                <a:solidFill>
                  <a:schemeClr val="accent2"/>
                </a:solidFill>
                <a:latin typeface="Figtree" pitchFamily="34" charset="0"/>
                <a:ea typeface="Figtree" pitchFamily="34" charset="-122"/>
                <a:cs typeface="Figtree" pitchFamily="34" charset="-120"/>
              </a:rPr>
              <a:t>Automate emails, calendars and contacts</a:t>
            </a:r>
            <a:endParaRPr lang="en-US" sz="1300" dirty="0"/>
          </a:p>
          <a:p>
            <a:pPr indent="0" marL="0">
              <a:buNone/>
            </a:pPr>
            <a:r>
              <a:rPr lang="en-US" sz="1400" dirty="0">
                <a:solidFill>
                  <a:schemeClr val="bg2"/>
                </a:solidFill>
              </a:rPr>
              <a:t>Enrich your CRM with the data it is missing</a:t>
            </a:r>
            <a:endParaRPr lang="en-US" sz="1300" dirty="0"/>
          </a:p>
        </p:txBody>
      </p:sp>
      <p:sp>
        <p:nvSpPr>
          <p:cNvPr id="15" name="Icon badge 2"/>
          <p:cNvSpPr/>
          <p:nvPr/>
        </p:nvSpPr>
        <p:spPr>
          <a:xfrm>
            <a:off x="4242816" y="5351206"/>
            <a:ext cx="658368" cy="658368"/>
          </a:xfrm>
          <a:prstGeom prst="ellipse">
            <a:avLst/>
          </a:prstGeom>
          <a:solidFill>
            <a:srgbClr val="1F3529"/>
          </a:solidFill>
          <a:ln w="9525">
            <a:solidFill>
              <a:srgbClr val="93A87B">
                <a:alpha val="50000"/>
              </a:srgbClr>
            </a:solidFill>
            <a:prstDash val="solid"/>
          </a:ln>
          <a:effectLst>
            <a:outerShdw sx="100000" sy="100000" kx="0" ky="0" algn="bl" rotWithShape="0" blurRad="152400" dist="38100" dir="5400000">
              <a:srgbClr val="16261D">
                <a:alpha val="35000"/>
              </a:srgbClr>
            </a:outerShdw>
          </a:effectLst>
        </p:spPr>
      </p:sp>
      <p:pic>
        <p:nvPicPr>
          <p:cNvPr id="16" name="Image 1" descr="Automate emails, calendars and contacts icon">    </p:cNvPr>
          <p:cNvPicPr>
            <a:picLocks noChangeAspect="1"/>
          </p:cNvPicPr>
          <p:nvPr/>
        </p:nvPicPr>
        <p:blipFill>
          <a:blip r:embed="rId2"/>
          <a:stretch>
            <a:fillRect/>
          </a:stretch>
        </p:blipFill>
        <p:spPr>
          <a:xfrm>
            <a:off x="4379976" y="5488366"/>
            <a:ext cx="384048" cy="384048"/>
          </a:xfrm>
          <a:prstGeom prst="rect">
            <a:avLst/>
          </a:prstGeom>
        </p:spPr>
      </p:pic>
      <p:sp>
        <p:nvSpPr>
          <p:cNvPr id="17" name="Tick 3"/>
          <p:cNvSpPr/>
          <p:nvPr/>
        </p:nvSpPr>
        <p:spPr>
          <a:xfrm>
            <a:off x="7040880" y="3820182"/>
            <a:ext cx="0" cy="861723"/>
          </a:xfrm>
          <a:prstGeom prst="line">
            <a:avLst/>
          </a:prstGeom>
          <a:noFill/>
          <a:ln w="12700">
            <a:solidFill>
              <a:srgbClr val="93A87B">
                <a:alpha val="70000"/>
              </a:srgbClr>
            </a:solidFill>
            <a:prstDash val="dash"/>
          </a:ln>
        </p:spPr>
      </p:sp>
      <p:sp>
        <p:nvSpPr>
          <p:cNvPr id="18" name="Milestone 3"/>
          <p:cNvSpPr/>
          <p:nvPr/>
        </p:nvSpPr>
        <p:spPr>
          <a:xfrm>
            <a:off x="6940296" y="4581320"/>
            <a:ext cx="201168" cy="201168"/>
          </a:xfrm>
          <a:prstGeom prst="ellipse">
            <a:avLst/>
          </a:prstGeom>
          <a:solidFill>
            <a:srgbClr val="F5F7F0"/>
          </a:solidFill>
          <a:ln w="38100">
            <a:solidFill>
              <a:srgbClr val="93A87B"/>
            </a:solidFill>
            <a:prstDash val="solid"/>
          </a:ln>
        </p:spPr>
      </p:sp>
      <p:sp>
        <p:nvSpPr>
          <p:cNvPr id="19" name="Stage 3"/>
          <p:cNvSpPr txBox="1"/>
          <p:nvPr/>
        </p:nvSpPr>
        <p:spPr>
          <a:xfrm>
            <a:off x="7040880" y="1808502"/>
            <a:ext cx="2286000" cy="1920240"/>
          </a:xfrm>
          <a:prstGeom prst="rect">
            <a:avLst/>
          </a:prstGeom>
          <a:noFill/>
          <a:ln/>
        </p:spPr>
        <p:txBody>
          <a:bodyPr wrap="square" lIns="0" tIns="0" rIns="0" bIns="0" rtlCol="0" anchor="b"/>
          <a:lstStyle/>
          <a:p>
            <a:pPr indent="0" marL="0">
              <a:spcAft>
                <a:spcPts val="600"/>
              </a:spcAft>
              <a:buNone/>
            </a:pPr>
            <a:r>
              <a:rPr lang="en-US" sz="1300" b="1" dirty="0">
                <a:solidFill>
                  <a:schemeClr val="accent2"/>
                </a:solidFill>
                <a:latin typeface="Figtree" pitchFamily="34" charset="0"/>
                <a:ea typeface="Figtree" pitchFamily="34" charset="-122"/>
                <a:cs typeface="Figtree" pitchFamily="34" charset="-120"/>
              </a:rPr>
              <a:t>Clean the pipeline, coach sellers</a:t>
            </a:r>
            <a:endParaRPr lang="en-US" sz="1300" dirty="0"/>
          </a:p>
          <a:p>
            <a:pPr indent="0" marL="0">
              <a:buNone/>
            </a:pPr>
            <a:r>
              <a:rPr lang="en-US" sz="1400" dirty="0">
                <a:solidFill>
                  <a:schemeClr val="bg2"/>
                </a:solidFill>
              </a:rPr>
              <a:t>Kill the least likely deals quickly, commit the highly likely and coach on the middle</a:t>
            </a:r>
            <a:endParaRPr lang="en-US" sz="1300" dirty="0"/>
          </a:p>
        </p:txBody>
      </p:sp>
      <p:sp>
        <p:nvSpPr>
          <p:cNvPr id="20" name="Icon badge 3"/>
          <p:cNvSpPr/>
          <p:nvPr/>
        </p:nvSpPr>
        <p:spPr>
          <a:xfrm>
            <a:off x="6711696" y="4937936"/>
            <a:ext cx="658368" cy="658368"/>
          </a:xfrm>
          <a:prstGeom prst="ellipse">
            <a:avLst/>
          </a:prstGeom>
          <a:solidFill>
            <a:srgbClr val="1F3529"/>
          </a:solidFill>
          <a:ln w="9525">
            <a:solidFill>
              <a:srgbClr val="93A87B">
                <a:alpha val="50000"/>
              </a:srgbClr>
            </a:solidFill>
            <a:prstDash val="solid"/>
          </a:ln>
          <a:effectLst>
            <a:outerShdw sx="100000" sy="100000" kx="0" ky="0" algn="bl" rotWithShape="0" blurRad="152400" dist="38100" dir="5400000">
              <a:srgbClr val="16261D">
                <a:alpha val="35000"/>
              </a:srgbClr>
            </a:outerShdw>
          </a:effectLst>
        </p:spPr>
      </p:sp>
      <p:pic>
        <p:nvPicPr>
          <p:cNvPr id="21" name="Image 2" descr="Clean the pipeline, coach sellers icon">    </p:cNvPr>
          <p:cNvPicPr>
            <a:picLocks noChangeAspect="1"/>
          </p:cNvPicPr>
          <p:nvPr/>
        </p:nvPicPr>
        <p:blipFill>
          <a:blip r:embed="rId3"/>
          <a:stretch>
            <a:fillRect/>
          </a:stretch>
        </p:blipFill>
        <p:spPr>
          <a:xfrm>
            <a:off x="6848856" y="5075096"/>
            <a:ext cx="384048" cy="384048"/>
          </a:xfrm>
          <a:prstGeom prst="rect">
            <a:avLst/>
          </a:prstGeom>
        </p:spPr>
      </p:pic>
      <p:sp>
        <p:nvSpPr>
          <p:cNvPr id="22" name="Tick 4"/>
          <p:cNvSpPr/>
          <p:nvPr/>
        </p:nvSpPr>
        <p:spPr>
          <a:xfrm>
            <a:off x="9509760" y="3017520"/>
            <a:ext cx="0" cy="1018655"/>
          </a:xfrm>
          <a:prstGeom prst="line">
            <a:avLst/>
          </a:prstGeom>
          <a:noFill/>
          <a:ln w="12700">
            <a:solidFill>
              <a:srgbClr val="93A87B">
                <a:alpha val="70000"/>
              </a:srgbClr>
            </a:solidFill>
            <a:prstDash val="dash"/>
          </a:ln>
        </p:spPr>
      </p:sp>
      <p:sp>
        <p:nvSpPr>
          <p:cNvPr id="23" name="Milestone 4"/>
          <p:cNvSpPr/>
          <p:nvPr/>
        </p:nvSpPr>
        <p:spPr>
          <a:xfrm>
            <a:off x="9409176" y="3935591"/>
            <a:ext cx="201168" cy="201168"/>
          </a:xfrm>
          <a:prstGeom prst="ellipse">
            <a:avLst/>
          </a:prstGeom>
          <a:solidFill>
            <a:srgbClr val="F5F7F0"/>
          </a:solidFill>
          <a:ln w="38100">
            <a:solidFill>
              <a:srgbClr val="93A87B"/>
            </a:solidFill>
            <a:prstDash val="solid"/>
          </a:ln>
        </p:spPr>
      </p:sp>
      <p:sp>
        <p:nvSpPr>
          <p:cNvPr id="24" name="Stage 4"/>
          <p:cNvSpPr txBox="1"/>
          <p:nvPr/>
        </p:nvSpPr>
        <p:spPr>
          <a:xfrm>
            <a:off x="9509760" y="1005840"/>
            <a:ext cx="1920240" cy="1920240"/>
          </a:xfrm>
          <a:prstGeom prst="rect">
            <a:avLst/>
          </a:prstGeom>
          <a:noFill/>
          <a:ln/>
        </p:spPr>
        <p:txBody>
          <a:bodyPr wrap="square" lIns="0" tIns="0" rIns="0" bIns="0" rtlCol="0" anchor="b"/>
          <a:lstStyle/>
          <a:p>
            <a:pPr indent="0" marL="0">
              <a:spcAft>
                <a:spcPts val="600"/>
              </a:spcAft>
              <a:buNone/>
            </a:pPr>
            <a:r>
              <a:rPr lang="en-US" sz="1300" b="1" dirty="0">
                <a:solidFill>
                  <a:schemeClr val="accent2"/>
                </a:solidFill>
                <a:latin typeface="Figtree" pitchFamily="34" charset="0"/>
                <a:ea typeface="Figtree" pitchFamily="34" charset="-122"/>
                <a:cs typeface="Figtree" pitchFamily="34" charset="-120"/>
              </a:rPr>
              <a:t>Forecast more accurately</a:t>
            </a:r>
            <a:endParaRPr lang="en-US" sz="1300" dirty="0"/>
          </a:p>
          <a:p>
            <a:pPr indent="0" marL="0">
              <a:buNone/>
            </a:pPr>
            <a:r>
              <a:rPr lang="en-US" sz="1400" dirty="0">
                <a:solidFill>
                  <a:schemeClr val="bg2"/>
                </a:solidFill>
              </a:rPr>
              <a:t>Better forecast accuracy, focused deal reviews and faster diagnosis of sellers and teams</a:t>
            </a:r>
            <a:endParaRPr lang="en-US" sz="1300" dirty="0"/>
          </a:p>
        </p:txBody>
      </p:sp>
      <p:sp>
        <p:nvSpPr>
          <p:cNvPr id="25" name="Icon badge 4"/>
          <p:cNvSpPr/>
          <p:nvPr/>
        </p:nvSpPr>
        <p:spPr>
          <a:xfrm>
            <a:off x="9180576" y="4292207"/>
            <a:ext cx="658368" cy="658368"/>
          </a:xfrm>
          <a:prstGeom prst="ellipse">
            <a:avLst/>
          </a:prstGeom>
          <a:solidFill>
            <a:srgbClr val="1F3529"/>
          </a:solidFill>
          <a:ln w="9525">
            <a:solidFill>
              <a:srgbClr val="93A87B">
                <a:alpha val="50000"/>
              </a:srgbClr>
            </a:solidFill>
            <a:prstDash val="solid"/>
          </a:ln>
          <a:effectLst>
            <a:outerShdw sx="100000" sy="100000" kx="0" ky="0" algn="bl" rotWithShape="0" blurRad="152400" dist="38100" dir="5400000">
              <a:srgbClr val="16261D">
                <a:alpha val="35000"/>
              </a:srgbClr>
            </a:outerShdw>
          </a:effectLst>
        </p:spPr>
      </p:sp>
      <p:pic>
        <p:nvPicPr>
          <p:cNvPr id="26" name="Image 3" descr="Forecast more accurately icon">    </p:cNvPr>
          <p:cNvPicPr>
            <a:picLocks noChangeAspect="1"/>
          </p:cNvPicPr>
          <p:nvPr/>
        </p:nvPicPr>
        <p:blipFill>
          <a:blip r:embed="rId4"/>
          <a:stretch>
            <a:fillRect/>
          </a:stretch>
        </p:blipFill>
        <p:spPr>
          <a:xfrm>
            <a:off x="9317736" y="4429367"/>
            <a:ext cx="384048" cy="384048"/>
          </a:xfrm>
          <a:prstGeom prst="rect">
            <a:avLst/>
          </a:prstGeom>
        </p:spPr>
      </p:pic>
    </p:spTree>
  </p:cSld>
  <p:clrMapOvr>
    <a:masterClrMapping/>
  </p:clrMapOvr>
</p:sld>
</file>

<file path=ppt/theme/theme1.xml><?xml version="1.0" encoding="utf-8"?>
<a:theme xmlns:a="http://schemas.openxmlformats.org/drawingml/2006/main" name="Veridian Revenue Partners">
  <a:themeElements>
    <a:clrScheme name="Veridian Revenue Partners">
      <a:dk1>
        <a:srgbClr val="20241F"/>
      </a:dk1>
      <a:lt1>
        <a:srgbClr val="FFFFFF"/>
      </a:lt1>
      <a:dk2>
        <a:srgbClr val="16261D"/>
      </a:dk2>
      <a:lt2>
        <a:srgbClr val="F5F7F0"/>
      </a:lt2>
      <a:accent1>
        <a:srgbClr val="1F3529"/>
      </a:accent1>
      <a:accent2>
        <a:srgbClr val="93A87B"/>
      </a:accent2>
      <a:accent3>
        <a:srgbClr val="56604E"/>
      </a:accent3>
      <a:accent4>
        <a:srgbClr val="16261D"/>
      </a:accent4>
      <a:accent5>
        <a:srgbClr val="D2D8CD"/>
      </a:accent5>
      <a:accent6>
        <a:srgbClr val="C9D3C0"/>
      </a:accent6>
      <a:hlink>
        <a:srgbClr val="1F3529"/>
      </a:hlink>
      <a:folHlink>
        <a:srgbClr val="56604E"/>
      </a:folHlink>
    </a:clrScheme>
    <a:fontScheme name="Veridian Revenue Partner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Veridian Revenue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frameworks</dc:title>
  <dc:subject>PptxGenJS Presentation</dc:subject>
  <dc:creator>PptxGenJS</dc:creator>
  <cp:lastModifiedBy>PptxGenJS</cp:lastModifiedBy>
  <cp:revision>1</cp:revision>
  <dcterms:created xsi:type="dcterms:W3CDTF">2026-10-10T14:02:48Z</dcterms:created>
  <dcterms:modified xsi:type="dcterms:W3CDTF">2026-10-10T14:02:48Z</dcterms:modified>
</cp:coreProperties>
</file>