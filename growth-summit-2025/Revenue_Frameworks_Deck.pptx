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4ca1ce25-8e7c-854b-a808-79f4d6873f14}">
          <p14:sldIdLst>
            <p14:sldId id="256"/>
          </p14:sldIdLst>
        </p14:section>
        <p14:section name="Pipeline Review" id="{f1d5d5fe-d9c2-6431-1ae0-4cdf66afcf8f}">
          <p14:sldIdLst>
            <p14:sldId id="257"/>
          </p14:sldIdLst>
        </p14:section>
        <p14:section name="Seller profile" id="{3d4759c9-e5e7-0ee7-69dd-11a492782769}">
          <p14:sldIdLst>
            <p14:sldId id="258"/>
          </p14:sldIdLst>
        </p14:section>
        <p14:section name="Overview" id="{5a5df4bb-a931-01dc-636e-4cd12405031f}">
          <p14:sldIdLst>
            <p14:sldId id="259"/>
          </p14:sldIdLst>
        </p14:section>
        <p14:section name="Drill-ins" id="{6faf5865-5e97-f5bf-cea5-fc4358de170f}">
          <p14:sldIdLst>
            <p14:sldId id="260"/>
            <p14:sldId id="261"/>
            <p14:sldId id="262"/>
          </p14:sldIdLst>
        </p14:section>
        <p14:section name="Journey" id="{df564ff8-54b4-67c5-38e8-73e09dbde1f5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at the left: if the seller has enough pipeline and win rate, test hygiene then yield. If not, diagnose territory, pipeline creation and activity in 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half: talents, the disposition to screen for at interview. Bottom half: the ten deal competencies to develop through coaching.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RevOps flywheel. The drill-in slides that follow list each function's capabilities at a readable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Sales capabilities in the RevOps flywheel, read left to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 capabilities in the RevOps flywheel, read left to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Success capabilities in the RevOps flywheel, read left to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stages from crawl to run: insight, automation, pipeline discipline, then forecast accuracy. Each builds on the data quality of the one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Light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Dark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pic>
        <p:nvPicPr>
          <p:cNvPr id="4" name="Image 0" descr="Veridian Revenue Partners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463040" cy="719633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chemeClr val="accent6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pic>
        <p:nvPicPr>
          <p:cNvPr id="4" name="Image 0" descr="Veridian Revenue Partners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463040" cy="719633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chemeClr val="accent6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idian Revenue Partners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117043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08960"/>
            <a:ext cx="10058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754880"/>
            <a:ext cx="9144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GROWTH SUMMIT 2025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089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2"/>
                </a:solidFill>
              </a:rPr>
              <a:t>Revenue frameworks worth keeping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7548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Pipeline review, seller profile, the RevOps flywheel and the road to predictable revenue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MANAGEMENT DIAGNOSTIC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Pipeline review flowchart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Hg Growth Summit 2025</a:t>
            </a:r>
            <a:endParaRPr lang="en-US" sz="1000" dirty="0"/>
          </a:p>
        </p:txBody>
      </p:sp>
      <p:sp>
        <p:nvSpPr>
          <p:cNvPr id="5" name="Connector 1"/>
          <p:cNvSpPr/>
          <p:nvPr/>
        </p:nvSpPr>
        <p:spPr>
          <a:xfrm>
            <a:off x="2194560" y="2990088"/>
            <a:ext cx="27432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6" name="Connector 2"/>
          <p:cNvSpPr/>
          <p:nvPr/>
        </p:nvSpPr>
        <p:spPr>
          <a:xfrm>
            <a:off x="2468880" y="1824228"/>
            <a:ext cx="0" cy="395478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7" name="Connector 3"/>
          <p:cNvSpPr/>
          <p:nvPr/>
        </p:nvSpPr>
        <p:spPr>
          <a:xfrm>
            <a:off x="2468880" y="1824228"/>
            <a:ext cx="45720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8" name="Connector 4"/>
          <p:cNvSpPr/>
          <p:nvPr/>
        </p:nvSpPr>
        <p:spPr>
          <a:xfrm>
            <a:off x="2468880" y="3904488"/>
            <a:ext cx="45720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9" name="Connector 5"/>
          <p:cNvSpPr/>
          <p:nvPr/>
        </p:nvSpPr>
        <p:spPr>
          <a:xfrm>
            <a:off x="2468880" y="4681728"/>
            <a:ext cx="45720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10" name="Connector 6"/>
          <p:cNvSpPr/>
          <p:nvPr/>
        </p:nvSpPr>
        <p:spPr>
          <a:xfrm>
            <a:off x="2468880" y="5779008"/>
            <a:ext cx="45720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11" name="Connector 7"/>
          <p:cNvSpPr/>
          <p:nvPr/>
        </p:nvSpPr>
        <p:spPr>
          <a:xfrm>
            <a:off x="5120640" y="1824228"/>
            <a:ext cx="22860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12" name="Connector 8"/>
          <p:cNvSpPr/>
          <p:nvPr/>
        </p:nvSpPr>
        <p:spPr>
          <a:xfrm>
            <a:off x="5349240" y="1824228"/>
            <a:ext cx="0" cy="116586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13" name="Connector 9"/>
          <p:cNvSpPr/>
          <p:nvPr/>
        </p:nvSpPr>
        <p:spPr>
          <a:xfrm>
            <a:off x="5349240" y="1824228"/>
            <a:ext cx="96012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14" name="Connector 10"/>
          <p:cNvSpPr/>
          <p:nvPr/>
        </p:nvSpPr>
        <p:spPr>
          <a:xfrm>
            <a:off x="5349240" y="2990088"/>
            <a:ext cx="434340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15" name="Connector 11"/>
          <p:cNvSpPr/>
          <p:nvPr/>
        </p:nvSpPr>
        <p:spPr>
          <a:xfrm>
            <a:off x="8412480" y="1824228"/>
            <a:ext cx="18288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16" name="Connector 12"/>
          <p:cNvSpPr/>
          <p:nvPr/>
        </p:nvSpPr>
        <p:spPr>
          <a:xfrm>
            <a:off x="8595360" y="1435608"/>
            <a:ext cx="0" cy="77724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17" name="Connector 13"/>
          <p:cNvSpPr/>
          <p:nvPr/>
        </p:nvSpPr>
        <p:spPr>
          <a:xfrm>
            <a:off x="8595360" y="1435608"/>
            <a:ext cx="109728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18" name="Connector 14"/>
          <p:cNvSpPr/>
          <p:nvPr/>
        </p:nvSpPr>
        <p:spPr>
          <a:xfrm>
            <a:off x="8595360" y="2212848"/>
            <a:ext cx="109728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19" name="Connector 15"/>
          <p:cNvSpPr/>
          <p:nvPr/>
        </p:nvSpPr>
        <p:spPr>
          <a:xfrm>
            <a:off x="5120640" y="3904488"/>
            <a:ext cx="457200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20" name="Connector 16"/>
          <p:cNvSpPr/>
          <p:nvPr/>
        </p:nvSpPr>
        <p:spPr>
          <a:xfrm>
            <a:off x="5120640" y="4681728"/>
            <a:ext cx="457200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21" name="Connector 17"/>
          <p:cNvSpPr/>
          <p:nvPr/>
        </p:nvSpPr>
        <p:spPr>
          <a:xfrm>
            <a:off x="5120640" y="5779008"/>
            <a:ext cx="347472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22" name="Connector 18"/>
          <p:cNvSpPr/>
          <p:nvPr/>
        </p:nvSpPr>
        <p:spPr>
          <a:xfrm>
            <a:off x="8595360" y="5413248"/>
            <a:ext cx="0" cy="73152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23" name="Connector 19"/>
          <p:cNvSpPr/>
          <p:nvPr/>
        </p:nvSpPr>
        <p:spPr>
          <a:xfrm>
            <a:off x="8595360" y="5413248"/>
            <a:ext cx="109728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24" name="Connector 20"/>
          <p:cNvSpPr/>
          <p:nvPr/>
        </p:nvSpPr>
        <p:spPr>
          <a:xfrm>
            <a:off x="8595360" y="6144768"/>
            <a:ext cx="1097280" cy="0"/>
          </a:xfrm>
          <a:prstGeom prst="line">
            <a:avLst/>
          </a:prstGeom>
          <a:noFill/>
          <a:ln w="15875">
            <a:solidFill>
              <a:srgbClr val="56604E">
                <a:alpha val="55000"/>
              </a:srgbClr>
            </a:solidFill>
            <a:prstDash val="solid"/>
          </a:ln>
        </p:spPr>
      </p:sp>
      <p:sp>
        <p:nvSpPr>
          <p:cNvPr id="25" name="Start 21"/>
          <p:cNvSpPr/>
          <p:nvPr/>
        </p:nvSpPr>
        <p:spPr>
          <a:xfrm>
            <a:off x="365760" y="2532888"/>
            <a:ext cx="182880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203200" dist="63500" dir="5400000">
              <a:srgbClr val="16261D">
                <a:alpha val="22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Does the seller have sufficient pipeline and win rate to hit plan?</a:t>
            </a:r>
            <a:endParaRPr lang="en-US" sz="1300" dirty="0"/>
          </a:p>
        </p:txBody>
      </p:sp>
      <p:sp>
        <p:nvSpPr>
          <p:cNvPr id="26" name="Yes 22"/>
          <p:cNvSpPr/>
          <p:nvPr/>
        </p:nvSpPr>
        <p:spPr>
          <a:xfrm>
            <a:off x="2148840" y="2267712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YES</a:t>
            </a:r>
            <a:endParaRPr lang="en-US" sz="1000" dirty="0"/>
          </a:p>
        </p:txBody>
      </p:sp>
      <p:sp>
        <p:nvSpPr>
          <p:cNvPr id="27" name="No 23"/>
          <p:cNvSpPr/>
          <p:nvPr/>
        </p:nvSpPr>
        <p:spPr>
          <a:xfrm>
            <a:off x="2148840" y="3364992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28" name="Decision 24"/>
          <p:cNvSpPr/>
          <p:nvPr/>
        </p:nvSpPr>
        <p:spPr>
          <a:xfrm>
            <a:off x="2926080" y="1504188"/>
            <a:ext cx="21945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77800" dist="50800" dir="5400000">
              <a:srgbClr val="16261D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Does the pipeline exhibit good hygiene?</a:t>
            </a:r>
            <a:endParaRPr lang="en-US" sz="1200" dirty="0"/>
          </a:p>
        </p:txBody>
      </p:sp>
      <p:sp>
        <p:nvSpPr>
          <p:cNvPr id="29" name="Criteria 25"/>
          <p:cNvSpPr txBox="1"/>
          <p:nvPr/>
        </p:nvSpPr>
        <p:spPr>
          <a:xfrm>
            <a:off x="2926080" y="2327148"/>
            <a:ext cx="219456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65000"/>
            </a:schemeClr>
          </a:solidFill>
          <a:ln/>
        </p:spPr>
        <p:txBody>
          <a:bodyPr wrap="square" lIns="76200" tIns="76200" rIns="76200" bIns="7620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</a:rPr>
              <a:t>'Pushed' deals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</a:rPr>
              <a:t>'Stuck' deals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</a:rPr>
              <a:t>'Ambitious' deals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</a:rPr>
              <a:t>No-activity deals</a:t>
            </a:r>
            <a:endParaRPr lang="en-US" sz="1100" dirty="0"/>
          </a:p>
        </p:txBody>
      </p:sp>
      <p:sp>
        <p:nvSpPr>
          <p:cNvPr id="30" name="Yes 26"/>
          <p:cNvSpPr/>
          <p:nvPr/>
        </p:nvSpPr>
        <p:spPr>
          <a:xfrm>
            <a:off x="5486400" y="1696212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YES</a:t>
            </a:r>
            <a:endParaRPr lang="en-US" sz="1000" dirty="0"/>
          </a:p>
        </p:txBody>
      </p:sp>
      <p:sp>
        <p:nvSpPr>
          <p:cNvPr id="31" name="No 27"/>
          <p:cNvSpPr/>
          <p:nvPr/>
        </p:nvSpPr>
        <p:spPr>
          <a:xfrm>
            <a:off x="5486400" y="2862072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32" name="Decision 28"/>
          <p:cNvSpPr/>
          <p:nvPr/>
        </p:nvSpPr>
        <p:spPr>
          <a:xfrm>
            <a:off x="6309360" y="1504188"/>
            <a:ext cx="210312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77800" dist="50800" dir="5400000">
              <a:srgbClr val="16261D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Is the seller winning at or above the team average yield?</a:t>
            </a:r>
            <a:endParaRPr lang="en-US" sz="1200" dirty="0"/>
          </a:p>
        </p:txBody>
      </p:sp>
      <p:sp>
        <p:nvSpPr>
          <p:cNvPr id="33" name="Yes 29"/>
          <p:cNvSpPr/>
          <p:nvPr/>
        </p:nvSpPr>
        <p:spPr>
          <a:xfrm>
            <a:off x="8778240" y="1307592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YES</a:t>
            </a:r>
            <a:endParaRPr lang="en-US" sz="1000" dirty="0"/>
          </a:p>
        </p:txBody>
      </p:sp>
      <p:sp>
        <p:nvSpPr>
          <p:cNvPr id="34" name="No 30"/>
          <p:cNvSpPr/>
          <p:nvPr/>
        </p:nvSpPr>
        <p:spPr>
          <a:xfrm>
            <a:off x="8778240" y="2084832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35" name="Action 31"/>
          <p:cNvSpPr/>
          <p:nvPr/>
        </p:nvSpPr>
        <p:spPr>
          <a:xfrm>
            <a:off x="9692640" y="1170432"/>
            <a:ext cx="214884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50800" dir="5400000">
              <a:srgbClr val="16261D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All good here. Focus on other team members</a:t>
            </a:r>
            <a:endParaRPr lang="en-US" sz="1200" dirty="0"/>
          </a:p>
        </p:txBody>
      </p:sp>
      <p:sp>
        <p:nvSpPr>
          <p:cNvPr id="36" name="Action 32"/>
          <p:cNvSpPr/>
          <p:nvPr/>
        </p:nvSpPr>
        <p:spPr>
          <a:xfrm>
            <a:off x="9692640" y="1947672"/>
            <a:ext cx="214884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50800" dir="5400000">
              <a:srgbClr val="16261D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Coach on opportunity management</a:t>
            </a:r>
            <a:endParaRPr lang="en-US" sz="1200" dirty="0"/>
          </a:p>
        </p:txBody>
      </p:sp>
      <p:sp>
        <p:nvSpPr>
          <p:cNvPr id="37" name="Action 33"/>
          <p:cNvSpPr/>
          <p:nvPr/>
        </p:nvSpPr>
        <p:spPr>
          <a:xfrm>
            <a:off x="9692640" y="2724912"/>
            <a:ext cx="214884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50800" dir="5400000">
              <a:srgbClr val="16261D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Close or push out poor-hygiene deals, start over</a:t>
            </a:r>
            <a:endParaRPr lang="en-US" sz="1200" dirty="0"/>
          </a:p>
        </p:txBody>
      </p:sp>
      <p:sp>
        <p:nvSpPr>
          <p:cNvPr id="38" name="Decision 34"/>
          <p:cNvSpPr/>
          <p:nvPr/>
        </p:nvSpPr>
        <p:spPr>
          <a:xfrm>
            <a:off x="2926080" y="3607308"/>
            <a:ext cx="2194560" cy="594360"/>
          </a:xfrm>
          <a:prstGeom prst="roundRect">
            <a:avLst>
              <a:gd name="adj" fmla="val 18462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77800" dist="50800" dir="5400000">
              <a:srgbClr val="16261D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Does the seller have enough 'territory'?</a:t>
            </a:r>
            <a:endParaRPr lang="en-US" sz="1200" dirty="0"/>
          </a:p>
        </p:txBody>
      </p:sp>
      <p:sp>
        <p:nvSpPr>
          <p:cNvPr id="39" name="Criteria 35"/>
          <p:cNvSpPr txBox="1"/>
          <p:nvPr/>
        </p:nvSpPr>
        <p:spPr>
          <a:xfrm>
            <a:off x="5349240" y="3607308"/>
            <a:ext cx="2651760" cy="594360"/>
          </a:xfrm>
          <a:prstGeom prst="roundRect">
            <a:avLst>
              <a:gd name="adj" fmla="val 15385"/>
            </a:avLst>
          </a:prstGeom>
          <a:solidFill>
            <a:schemeClr val="bg1">
              <a:alpha val="65000"/>
            </a:schemeClr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Sufficient viable accounts and whitespace to produce enough opportunities</a:t>
            </a:r>
            <a:endParaRPr lang="en-US" sz="1100" dirty="0"/>
          </a:p>
        </p:txBody>
      </p:sp>
      <p:sp>
        <p:nvSpPr>
          <p:cNvPr id="40" name="No 36"/>
          <p:cNvSpPr/>
          <p:nvPr/>
        </p:nvSpPr>
        <p:spPr>
          <a:xfrm>
            <a:off x="8778240" y="3776472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41" name="Action 37"/>
          <p:cNvSpPr/>
          <p:nvPr/>
        </p:nvSpPr>
        <p:spPr>
          <a:xfrm>
            <a:off x="9692640" y="3639312"/>
            <a:ext cx="214884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50800" dir="5400000">
              <a:srgbClr val="16261D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Rebalance territories</a:t>
            </a:r>
            <a:endParaRPr lang="en-US" sz="1200" dirty="0"/>
          </a:p>
        </p:txBody>
      </p:sp>
      <p:sp>
        <p:nvSpPr>
          <p:cNvPr id="42" name="Decision 38"/>
          <p:cNvSpPr/>
          <p:nvPr/>
        </p:nvSpPr>
        <p:spPr>
          <a:xfrm>
            <a:off x="2926080" y="4384548"/>
            <a:ext cx="2194560" cy="594360"/>
          </a:xfrm>
          <a:prstGeom prst="roundRect">
            <a:avLst>
              <a:gd name="adj" fmla="val 18462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77800" dist="50800" dir="5400000">
              <a:srgbClr val="16261D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Are they creating enough pipeline?</a:t>
            </a:r>
            <a:endParaRPr lang="en-US" sz="1200" dirty="0"/>
          </a:p>
        </p:txBody>
      </p:sp>
      <p:sp>
        <p:nvSpPr>
          <p:cNvPr id="43" name="Criteria 39"/>
          <p:cNvSpPr txBox="1"/>
          <p:nvPr/>
        </p:nvSpPr>
        <p:spPr>
          <a:xfrm>
            <a:off x="5349240" y="4384548"/>
            <a:ext cx="2651760" cy="594360"/>
          </a:xfrm>
          <a:prstGeom prst="roundRect">
            <a:avLst>
              <a:gd name="adj" fmla="val 15385"/>
            </a:avLst>
          </a:prstGeom>
          <a:solidFill>
            <a:schemeClr val="bg1">
              <a:alpha val="65000"/>
            </a:schemeClr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% sales, marketing, partner contribution vs. AOP plans</a:t>
            </a:r>
            <a:endParaRPr lang="en-US" sz="1100" dirty="0"/>
          </a:p>
        </p:txBody>
      </p:sp>
      <p:sp>
        <p:nvSpPr>
          <p:cNvPr id="44" name="No 40"/>
          <p:cNvSpPr/>
          <p:nvPr/>
        </p:nvSpPr>
        <p:spPr>
          <a:xfrm>
            <a:off x="8778240" y="4553712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45" name="Action 41"/>
          <p:cNvSpPr/>
          <p:nvPr/>
        </p:nvSpPr>
        <p:spPr>
          <a:xfrm>
            <a:off x="9692640" y="4416552"/>
            <a:ext cx="214884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50800" dir="5400000">
              <a:srgbClr val="16261D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Evaluate support from marketing, SDR, etc.</a:t>
            </a:r>
            <a:endParaRPr lang="en-US" sz="1200" dirty="0"/>
          </a:p>
        </p:txBody>
      </p:sp>
      <p:sp>
        <p:nvSpPr>
          <p:cNvPr id="46" name="Decision 42"/>
          <p:cNvSpPr/>
          <p:nvPr/>
        </p:nvSpPr>
        <p:spPr>
          <a:xfrm>
            <a:off x="2926080" y="5458968"/>
            <a:ext cx="219456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77800" dist="50800" dir="5400000">
              <a:srgbClr val="16261D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Is the seller doing enough activity to build pipeline?</a:t>
            </a:r>
            <a:endParaRPr lang="en-US" sz="1200" dirty="0"/>
          </a:p>
        </p:txBody>
      </p:sp>
      <p:sp>
        <p:nvSpPr>
          <p:cNvPr id="47" name="Criteria 43"/>
          <p:cNvSpPr txBox="1"/>
          <p:nvPr/>
        </p:nvSpPr>
        <p:spPr>
          <a:xfrm>
            <a:off x="5349240" y="5413248"/>
            <a:ext cx="2651760" cy="731520"/>
          </a:xfrm>
          <a:prstGeom prst="roundRect">
            <a:avLst>
              <a:gd name="adj" fmla="val 12500"/>
            </a:avLst>
          </a:prstGeom>
          <a:solidFill>
            <a:schemeClr val="bg1">
              <a:alpha val="65000"/>
            </a:schemeClr>
          </a:solidFill>
          <a:ln/>
        </p:spPr>
        <p:txBody>
          <a:bodyPr wrap="square" lIns="76200" tIns="76200" rIns="76200" bIns="7620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</a:rPr>
              <a:t>% territory 'engaged'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</a:rPr>
              <a:t>Sequences / emails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</a:rPr>
              <a:t>Calls / meetings</a:t>
            </a:r>
            <a:endParaRPr lang="en-US" sz="1100" dirty="0"/>
          </a:p>
        </p:txBody>
      </p:sp>
      <p:sp>
        <p:nvSpPr>
          <p:cNvPr id="48" name="Yes 44"/>
          <p:cNvSpPr/>
          <p:nvPr/>
        </p:nvSpPr>
        <p:spPr>
          <a:xfrm>
            <a:off x="8778240" y="5285232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YES</a:t>
            </a:r>
            <a:endParaRPr lang="en-US" sz="1000" dirty="0"/>
          </a:p>
        </p:txBody>
      </p:sp>
      <p:sp>
        <p:nvSpPr>
          <p:cNvPr id="49" name="No 45"/>
          <p:cNvSpPr/>
          <p:nvPr/>
        </p:nvSpPr>
        <p:spPr>
          <a:xfrm>
            <a:off x="8778240" y="6016752"/>
            <a:ext cx="64008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50" name="Action 46"/>
          <p:cNvSpPr/>
          <p:nvPr/>
        </p:nvSpPr>
        <p:spPr>
          <a:xfrm>
            <a:off x="9692640" y="5148072"/>
            <a:ext cx="214884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50800" dir="5400000">
              <a:srgbClr val="16261D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Focus on targeting, timing and messaging</a:t>
            </a:r>
            <a:endParaRPr lang="en-US" sz="1200" dirty="0"/>
          </a:p>
        </p:txBody>
      </p:sp>
      <p:sp>
        <p:nvSpPr>
          <p:cNvPr id="51" name="Action 47"/>
          <p:cNvSpPr/>
          <p:nvPr/>
        </p:nvSpPr>
        <p:spPr>
          <a:xfrm>
            <a:off x="9692640" y="5879592"/>
            <a:ext cx="214884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50800" dir="5400000">
              <a:srgbClr val="16261D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Set and enforce activity goals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HIRING SELLERS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Screen for disposition and fit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Hg Growth Summit 2025</a:t>
            </a:r>
            <a:endParaRPr lang="en-US" sz="1000" dirty="0"/>
          </a:p>
        </p:txBody>
      </p:sp>
      <p:sp>
        <p:nvSpPr>
          <p:cNvPr id="5" name="Key Talents"/>
          <p:cNvSpPr/>
          <p:nvPr/>
        </p:nvSpPr>
        <p:spPr>
          <a:xfrm>
            <a:off x="365760" y="1673352"/>
            <a:ext cx="274320" cy="274320"/>
          </a:xfrm>
          <a:prstGeom prst="ellipse">
            <a:avLst/>
          </a:prstGeom>
          <a:solidFill>
            <a:srgbClr val="1F3529"/>
          </a:solidFill>
          <a:ln/>
        </p:spPr>
      </p:sp>
      <p:sp>
        <p:nvSpPr>
          <p:cNvPr id="6" name="Key text Talents"/>
          <p:cNvSpPr txBox="1"/>
          <p:nvPr/>
        </p:nvSpPr>
        <p:spPr>
          <a:xfrm>
            <a:off x="822960" y="16002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Talents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Disposition: how a seller is wired. Hard to teach, so screen for it when hiring.</a:t>
            </a:r>
            <a:endParaRPr lang="en-US" sz="2000" dirty="0"/>
          </a:p>
        </p:txBody>
      </p:sp>
      <p:sp>
        <p:nvSpPr>
          <p:cNvPr id="7" name="Key Competencies"/>
          <p:cNvSpPr/>
          <p:nvPr/>
        </p:nvSpPr>
        <p:spPr>
          <a:xfrm>
            <a:off x="365760" y="3090672"/>
            <a:ext cx="274320" cy="274320"/>
          </a:xfrm>
          <a:prstGeom prst="ellipse">
            <a:avLst/>
          </a:prstGeom>
          <a:solidFill>
            <a:srgbClr val="56604E"/>
          </a:solidFill>
          <a:ln/>
        </p:spPr>
      </p:sp>
      <p:sp>
        <p:nvSpPr>
          <p:cNvPr id="8" name="Key text Competencies"/>
          <p:cNvSpPr txBox="1"/>
          <p:nvPr/>
        </p:nvSpPr>
        <p:spPr>
          <a:xfrm>
            <a:off x="822960" y="30175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Competencies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What a seller does in the deal. Coachable, so build it once they are in the team.</a:t>
            </a:r>
            <a:endParaRPr lang="en-US" sz="2000" dirty="0"/>
          </a:p>
        </p:txBody>
      </p:sp>
      <p:sp>
        <p:nvSpPr>
          <p:cNvPr id="9" name="Disc rim"/>
          <p:cNvSpPr/>
          <p:nvPr/>
        </p:nvSpPr>
        <p:spPr>
          <a:xfrm>
            <a:off x="5202936" y="1097280"/>
            <a:ext cx="5577840" cy="5577840"/>
          </a:xfrm>
          <a:prstGeom prst="ellipse">
            <a:avLst/>
          </a:prstGeom>
          <a:solidFill>
            <a:srgbClr val="93A87B">
              <a:alpha val="55000"/>
            </a:srgbClr>
          </a:solidFill>
          <a:ln/>
        </p:spPr>
      </p:sp>
      <p:sp>
        <p:nvSpPr>
          <p:cNvPr id="10" name="Disc"/>
          <p:cNvSpPr/>
          <p:nvPr/>
        </p:nvSpPr>
        <p:spPr>
          <a:xfrm>
            <a:off x="5074920" y="914400"/>
            <a:ext cx="5577840" cy="5577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355600" dist="76200" dir="5400000">
              <a:srgbClr val="16261D">
                <a:alpha val="22000"/>
              </a:srgbClr>
            </a:outerShdw>
          </a:effectLst>
        </p:spPr>
      </p:sp>
      <p:sp>
        <p:nvSpPr>
          <p:cNvPr id="11" name="Motivation 1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10800000"/>
              <a:gd name="adj2" fmla="val 1350000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12" name="Talent Motivation"/>
          <p:cNvSpPr txBox="1"/>
          <p:nvPr/>
        </p:nvSpPr>
        <p:spPr>
          <a:xfrm>
            <a:off x="5232527" y="2293633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Motivation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Striving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Ambition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Confidence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Competition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Persistence</a:t>
            </a:r>
            <a:endParaRPr lang="en-US" sz="1300" dirty="0"/>
          </a:p>
        </p:txBody>
      </p:sp>
      <p:sp>
        <p:nvSpPr>
          <p:cNvPr id="13" name="Interaction 2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13500000"/>
              <a:gd name="adj2" fmla="val 1620000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14" name="Talent Interaction"/>
          <p:cNvSpPr txBox="1"/>
          <p:nvPr/>
        </p:nvSpPr>
        <p:spPr>
          <a:xfrm>
            <a:off x="6385573" y="1140587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Interaction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Relating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Advisor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Networker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Individualiser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Team</a:t>
            </a:r>
            <a:endParaRPr lang="en-US" sz="1300" dirty="0"/>
          </a:p>
        </p:txBody>
      </p:sp>
      <p:sp>
        <p:nvSpPr>
          <p:cNvPr id="15" name="Cognition 3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16200000"/>
              <a:gd name="adj2" fmla="val 1890000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16" name="Talent Cognition"/>
          <p:cNvSpPr txBox="1"/>
          <p:nvPr/>
        </p:nvSpPr>
        <p:spPr>
          <a:xfrm>
            <a:off x="8016227" y="1140587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Cognition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Thinking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Adaptability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Analytical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Learning agility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Problem solver</a:t>
            </a:r>
            <a:endParaRPr lang="en-US" sz="1300" dirty="0"/>
          </a:p>
        </p:txBody>
      </p:sp>
      <p:sp>
        <p:nvSpPr>
          <p:cNvPr id="17" name="Execution 4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18900000"/>
              <a:gd name="adj2" fmla="val 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18" name="Talent Execution"/>
          <p:cNvSpPr txBox="1"/>
          <p:nvPr/>
        </p:nvSpPr>
        <p:spPr>
          <a:xfrm>
            <a:off x="9169273" y="2293633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Execution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Doing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Persuasion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Focus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Responsibility</a:t>
            </a:r>
            <a:endParaRPr lang="en-US" sz="13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Discipline</a:t>
            </a:r>
            <a:endParaRPr lang="en-US" sz="1300" dirty="0"/>
          </a:p>
        </p:txBody>
      </p:sp>
      <p:sp>
        <p:nvSpPr>
          <p:cNvPr id="19" name="Grow the customer 5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0"/>
              <a:gd name="adj2" fmla="val 108000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20" name="Competency 1"/>
          <p:cNvSpPr txBox="1"/>
          <p:nvPr/>
        </p:nvSpPr>
        <p:spPr>
          <a:xfrm rot="540000">
            <a:off x="9415006" y="3752433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Grow the customer</a:t>
            </a:r>
            <a:endParaRPr lang="en-US" sz="1100" dirty="0"/>
          </a:p>
        </p:txBody>
      </p:sp>
      <p:sp>
        <p:nvSpPr>
          <p:cNvPr id="21" name="Negotiate to close 6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1080000"/>
              <a:gd name="adj2" fmla="val 216000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22" name="Competency 2"/>
          <p:cNvSpPr txBox="1"/>
          <p:nvPr/>
        </p:nvSpPr>
        <p:spPr>
          <a:xfrm rot="1620000">
            <a:off x="9209462" y="4385031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Negotiate to close</a:t>
            </a:r>
            <a:endParaRPr lang="en-US" sz="1100" dirty="0"/>
          </a:p>
        </p:txBody>
      </p:sp>
      <p:sp>
        <p:nvSpPr>
          <p:cNvPr id="23" name="Manage procurement 7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2160000"/>
              <a:gd name="adj2" fmla="val 324000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24" name="Competency 3"/>
          <p:cNvSpPr txBox="1"/>
          <p:nvPr/>
        </p:nvSpPr>
        <p:spPr>
          <a:xfrm rot="2700000">
            <a:off x="8818495" y="4923151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Manage procurement</a:t>
            </a:r>
            <a:endParaRPr lang="en-US" sz="1100" dirty="0"/>
          </a:p>
        </p:txBody>
      </p:sp>
      <p:sp>
        <p:nvSpPr>
          <p:cNvPr id="25" name="Navigate the deal 8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3240000"/>
              <a:gd name="adj2" fmla="val 432000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26" name="Competency 4"/>
          <p:cNvSpPr txBox="1"/>
          <p:nvPr/>
        </p:nvSpPr>
        <p:spPr>
          <a:xfrm rot="3780000">
            <a:off x="8280375" y="531411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Navigate the deal</a:t>
            </a:r>
            <a:endParaRPr lang="en-US" sz="1100" dirty="0"/>
          </a:p>
        </p:txBody>
      </p:sp>
      <p:sp>
        <p:nvSpPr>
          <p:cNvPr id="27" name="Teach and advise 9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4320000"/>
              <a:gd name="adj2" fmla="val 540000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28" name="Competency 5"/>
          <p:cNvSpPr txBox="1"/>
          <p:nvPr/>
        </p:nvSpPr>
        <p:spPr>
          <a:xfrm rot="4860000">
            <a:off x="7647777" y="551966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Teach and advise</a:t>
            </a:r>
            <a:endParaRPr lang="en-US" sz="1100" dirty="0"/>
          </a:p>
        </p:txBody>
      </p:sp>
      <p:sp>
        <p:nvSpPr>
          <p:cNvPr id="29" name="Overcome objections 10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5400000"/>
              <a:gd name="adj2" fmla="val 648000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30" name="Competency 6"/>
          <p:cNvSpPr txBox="1"/>
          <p:nvPr/>
        </p:nvSpPr>
        <p:spPr>
          <a:xfrm rot="16740000">
            <a:off x="6982623" y="551966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Overcome objections</a:t>
            </a:r>
            <a:endParaRPr lang="en-US" sz="1100" dirty="0"/>
          </a:p>
        </p:txBody>
      </p:sp>
      <p:sp>
        <p:nvSpPr>
          <p:cNvPr id="31" name="Deliver value proposition 11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6480000"/>
              <a:gd name="adj2" fmla="val 756000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32" name="Competency 7"/>
          <p:cNvSpPr txBox="1"/>
          <p:nvPr/>
        </p:nvSpPr>
        <p:spPr>
          <a:xfrm rot="17820000">
            <a:off x="6350025" y="531411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Deliver value proposition</a:t>
            </a:r>
            <a:endParaRPr lang="en-US" sz="1100" dirty="0"/>
          </a:p>
        </p:txBody>
      </p:sp>
      <p:sp>
        <p:nvSpPr>
          <p:cNvPr id="33" name="Develop relationships 12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7560000"/>
              <a:gd name="adj2" fmla="val 864000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34" name="Competency 8"/>
          <p:cNvSpPr txBox="1"/>
          <p:nvPr/>
        </p:nvSpPr>
        <p:spPr>
          <a:xfrm rot="18900000">
            <a:off x="5811905" y="4923151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Develop relationships</a:t>
            </a:r>
            <a:endParaRPr lang="en-US" sz="1100" dirty="0"/>
          </a:p>
        </p:txBody>
      </p:sp>
      <p:sp>
        <p:nvSpPr>
          <p:cNvPr id="35" name="Understand client needs 13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8640000"/>
              <a:gd name="adj2" fmla="val 972000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36" name="Competency 9"/>
          <p:cNvSpPr txBox="1"/>
          <p:nvPr/>
        </p:nvSpPr>
        <p:spPr>
          <a:xfrm rot="19980000">
            <a:off x="5420938" y="4385031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Understand client needs</a:t>
            </a:r>
            <a:endParaRPr lang="en-US" sz="1100" dirty="0"/>
          </a:p>
        </p:txBody>
      </p:sp>
      <p:sp>
        <p:nvSpPr>
          <p:cNvPr id="37" name="Generate opportunities 14"/>
          <p:cNvSpPr/>
          <p:nvPr/>
        </p:nvSpPr>
        <p:spPr>
          <a:xfrm>
            <a:off x="5074920" y="914400"/>
            <a:ext cx="5577840" cy="5577840"/>
          </a:xfrm>
          <a:prstGeom prst="blockArc">
            <a:avLst>
              <a:gd name="adj1" fmla="val 9720000"/>
              <a:gd name="adj2" fmla="val 10800000"/>
              <a:gd name="adj3" fmla="val 23770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38" name="Competency 10"/>
          <p:cNvSpPr txBox="1"/>
          <p:nvPr/>
        </p:nvSpPr>
        <p:spPr>
          <a:xfrm rot="21060000">
            <a:off x="5215394" y="3752433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Generate opportunities</a:t>
            </a:r>
            <a:endParaRPr lang="en-US" sz="1100" dirty="0"/>
          </a:p>
        </p:txBody>
      </p:sp>
      <p:sp>
        <p:nvSpPr>
          <p:cNvPr id="39" name="Talents band 15"/>
          <p:cNvSpPr/>
          <p:nvPr/>
        </p:nvSpPr>
        <p:spPr>
          <a:xfrm>
            <a:off x="6400800" y="2240280"/>
            <a:ext cx="2926080" cy="2926080"/>
          </a:xfrm>
          <a:prstGeom prst="blockArc">
            <a:avLst>
              <a:gd name="adj1" fmla="val 10800000"/>
              <a:gd name="adj2" fmla="val 0"/>
              <a:gd name="adj3" fmla="val 20313"/>
            </a:avLst>
          </a:prstGeom>
          <a:solidFill>
            <a:srgbClr val="1F3529"/>
          </a:solidFill>
          <a:ln w="12700">
            <a:solidFill>
              <a:srgbClr val="F5F7F0"/>
            </a:solidFill>
            <a:prstDash val="solid"/>
          </a:ln>
        </p:spPr>
      </p:sp>
      <p:sp>
        <p:nvSpPr>
          <p:cNvPr id="40" name="Competencies band 16"/>
          <p:cNvSpPr/>
          <p:nvPr/>
        </p:nvSpPr>
        <p:spPr>
          <a:xfrm>
            <a:off x="6400800" y="2240280"/>
            <a:ext cx="2926080" cy="2926080"/>
          </a:xfrm>
          <a:prstGeom prst="blockArc">
            <a:avLst>
              <a:gd name="adj1" fmla="val 0"/>
              <a:gd name="adj2" fmla="val 10800000"/>
              <a:gd name="adj3" fmla="val 20313"/>
            </a:avLst>
          </a:prstGeom>
          <a:solidFill>
            <a:srgbClr val="56604E"/>
          </a:solidFill>
          <a:ln w="12700">
            <a:solidFill>
              <a:srgbClr val="F5F7F0"/>
            </a:solidFill>
            <a:prstDash val="solid"/>
          </a:ln>
        </p:spPr>
      </p:sp>
      <p:sp>
        <p:nvSpPr>
          <p:cNvPr id="41" name="Talents label"/>
          <p:cNvSpPr txBox="1"/>
          <p:nvPr/>
        </p:nvSpPr>
        <p:spPr>
          <a:xfrm>
            <a:off x="7040880" y="23545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chemeClr val="bg2"/>
                </a:solidFill>
              </a:rPr>
              <a:t>TALENTS</a:t>
            </a:r>
            <a:endParaRPr lang="en-US" sz="1200" dirty="0"/>
          </a:p>
        </p:txBody>
      </p:sp>
      <p:sp>
        <p:nvSpPr>
          <p:cNvPr id="42" name="Competencies label"/>
          <p:cNvSpPr txBox="1"/>
          <p:nvPr/>
        </p:nvSpPr>
        <p:spPr>
          <a:xfrm>
            <a:off x="6995160" y="46863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COMPETENCIES</a:t>
            </a:r>
            <a:endParaRPr lang="en-US" sz="1100" dirty="0"/>
          </a:p>
        </p:txBody>
      </p:sp>
      <p:sp>
        <p:nvSpPr>
          <p:cNvPr id="43" name="Hub"/>
          <p:cNvSpPr/>
          <p:nvPr/>
        </p:nvSpPr>
        <p:spPr>
          <a:xfrm>
            <a:off x="6995160" y="2834640"/>
            <a:ext cx="1737360" cy="1737360"/>
          </a:xfrm>
          <a:prstGeom prst="ellipse">
            <a:avLst/>
          </a:prstGeom>
          <a:solidFill>
            <a:srgbClr val="F5F7F0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6261D">
                <a:alpha val="18000"/>
              </a:srgbClr>
            </a:outerShdw>
          </a:effectLst>
        </p:spPr>
      </p:sp>
      <p:sp>
        <p:nvSpPr>
          <p:cNvPr id="44" name="Hub label"/>
          <p:cNvSpPr txBox="1"/>
          <p:nvPr/>
        </p:nvSpPr>
        <p:spPr>
          <a:xfrm>
            <a:off x="7132320" y="3474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Seller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REVOPS FLYWHEEL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RevOps is more than sales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NewEdge Growth, Hg Growth Summit 2025</a:t>
            </a:r>
            <a:endParaRPr lang="en-US" sz="1000" dirty="0"/>
          </a:p>
        </p:txBody>
      </p:sp>
      <p:sp>
        <p:nvSpPr>
          <p:cNvPr id="5" name="Intro"/>
          <p:cNvSpPr txBox="1"/>
          <p:nvPr/>
        </p:nvSpPr>
        <p:spPr>
          <a:xfrm>
            <a:off x="365760" y="13716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RevOps spans the whole revenue engine. Every capability on the wheel sits in one of three functions, and each one feeds the others.</a:t>
            </a:r>
            <a:endParaRPr lang="en-US" sz="1500" dirty="0"/>
          </a:p>
        </p:txBody>
      </p:sp>
      <p:sp>
        <p:nvSpPr>
          <p:cNvPr id="6" name="Stat total"/>
          <p:cNvSpPr txBox="1"/>
          <p:nvPr/>
        </p:nvSpPr>
        <p:spPr>
          <a:xfrm>
            <a:off x="365760" y="269748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</a:t>
            </a:r>
            <a:endParaRPr lang="en-US" sz="72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capabilities in one operating model</a:t>
            </a:r>
            <a:endParaRPr lang="en-US" sz="7200" dirty="0"/>
          </a:p>
        </p:txBody>
      </p:sp>
      <p:sp>
        <p:nvSpPr>
          <p:cNvPr id="7" name="Key Sales"/>
          <p:cNvSpPr/>
          <p:nvPr/>
        </p:nvSpPr>
        <p:spPr>
          <a:xfrm>
            <a:off x="365760" y="4261104"/>
            <a:ext cx="292608" cy="292608"/>
          </a:xfrm>
          <a:prstGeom prst="ellipse">
            <a:avLst/>
          </a:prstGeom>
          <a:solidFill>
            <a:srgbClr val="1F3529"/>
          </a:solidFill>
          <a:ln/>
        </p:spPr>
      </p:sp>
      <p:sp>
        <p:nvSpPr>
          <p:cNvPr id="8" name="Key label Sales"/>
          <p:cNvSpPr txBox="1"/>
          <p:nvPr/>
        </p:nvSpPr>
        <p:spPr>
          <a:xfrm>
            <a:off x="822960" y="4160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Sales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22 capabilities</a:t>
            </a:r>
            <a:endParaRPr lang="en-US" sz="1500" dirty="0"/>
          </a:p>
        </p:txBody>
      </p:sp>
      <p:sp>
        <p:nvSpPr>
          <p:cNvPr id="9" name="Key Customer Success"/>
          <p:cNvSpPr/>
          <p:nvPr/>
        </p:nvSpPr>
        <p:spPr>
          <a:xfrm>
            <a:off x="365760" y="4946904"/>
            <a:ext cx="292608" cy="292608"/>
          </a:xfrm>
          <a:prstGeom prst="ellipse">
            <a:avLst/>
          </a:prstGeom>
          <a:solidFill>
            <a:srgbClr val="93A87B"/>
          </a:solidFill>
          <a:ln/>
        </p:spPr>
      </p:sp>
      <p:sp>
        <p:nvSpPr>
          <p:cNvPr id="10" name="Key label Customer Success"/>
          <p:cNvSpPr txBox="1"/>
          <p:nvPr/>
        </p:nvSpPr>
        <p:spPr>
          <a:xfrm>
            <a:off x="822960" y="4846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Customer Success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 capabilities</a:t>
            </a:r>
            <a:endParaRPr lang="en-US" sz="1500" dirty="0"/>
          </a:p>
        </p:txBody>
      </p:sp>
      <p:sp>
        <p:nvSpPr>
          <p:cNvPr id="11" name="Key Marketing"/>
          <p:cNvSpPr/>
          <p:nvPr/>
        </p:nvSpPr>
        <p:spPr>
          <a:xfrm>
            <a:off x="365760" y="5632704"/>
            <a:ext cx="292608" cy="292608"/>
          </a:xfrm>
          <a:prstGeom prst="ellipse">
            <a:avLst/>
          </a:prstGeom>
          <a:solidFill>
            <a:srgbClr val="56604E"/>
          </a:solidFill>
          <a:ln/>
        </p:spPr>
      </p:sp>
      <p:sp>
        <p:nvSpPr>
          <p:cNvPr id="12" name="Key label Marketing"/>
          <p:cNvSpPr txBox="1"/>
          <p:nvPr/>
        </p:nvSpPr>
        <p:spPr>
          <a:xfrm>
            <a:off x="822960" y="5532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Marketing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 capabilities</a:t>
            </a:r>
            <a:endParaRPr lang="en-US" sz="1500" dirty="0"/>
          </a:p>
        </p:txBody>
      </p:sp>
      <p:sp>
        <p:nvSpPr>
          <p:cNvPr id="13" name="Wheel shadow"/>
          <p:cNvSpPr/>
          <p:nvPr/>
        </p:nvSpPr>
        <p:spPr>
          <a:xfrm>
            <a:off x="5486400" y="621792"/>
            <a:ext cx="6035040" cy="6035040"/>
          </a:xfrm>
          <a:prstGeom prst="ellipse">
            <a:avLst/>
          </a:prstGeom>
          <a:solidFill>
            <a:srgbClr val="F5F7F0"/>
          </a:solidFill>
          <a:ln/>
          <a:effectLst>
            <a:outerShdw sx="100000" sy="100000" kx="0" ky="0" algn="bl" rotWithShape="0" blurRad="381000" dist="101600" dir="5400000">
              <a:srgbClr val="16261D">
                <a:alpha val="25000"/>
              </a:srgbClr>
            </a:outerShdw>
          </a:effectLst>
        </p:spPr>
      </p:sp>
      <p:sp>
        <p:nvSpPr>
          <p:cNvPr id="14" name="Sales 1"/>
          <p:cNvSpPr/>
          <p:nvPr/>
        </p:nvSpPr>
        <p:spPr>
          <a:xfrm>
            <a:off x="6903720" y="2039112"/>
            <a:ext cx="3200400" cy="3200400"/>
          </a:xfrm>
          <a:prstGeom prst="blockArc">
            <a:avLst>
              <a:gd name="adj1" fmla="val 16200000"/>
              <a:gd name="adj2" fmla="val 2264516"/>
              <a:gd name="adj3" fmla="val 2142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5" name="Sales Communication 2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6200000"/>
              <a:gd name="adj2" fmla="val 16548387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6" name="Sales Performance Tracking 3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6548387"/>
              <a:gd name="adj2" fmla="val 16896774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7" name="Sales Channel Optimisation 4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6896774"/>
              <a:gd name="adj2" fmla="val 17245161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8" name="Pricing Strategy 5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7245161"/>
              <a:gd name="adj2" fmla="val 17593548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9" name="Client Onboarding 6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7593548"/>
              <a:gd name="adj2" fmla="val 17941935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0" name="Deal Structuring 7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7941935"/>
              <a:gd name="adj2" fmla="val 18290323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1" name="Proposal Management 8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8290323"/>
              <a:gd name="adj2" fmla="val 18638710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2" name="Sales Automation 9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8638710"/>
              <a:gd name="adj2" fmla="val 18987097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3" name="Win/Loss Analysis 10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8987097"/>
              <a:gd name="adj2" fmla="val 19335484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4" name="Account Management 11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9335484"/>
              <a:gd name="adj2" fmla="val 19683871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5" name="Channel Sales 12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9683871"/>
              <a:gd name="adj2" fmla="val 20032258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6" name="Discount Control 13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20032258"/>
              <a:gd name="adj2" fmla="val 20380645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7" name="Quota Attainment 14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20380645"/>
              <a:gd name="adj2" fmla="val 20729032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8" name="Training &amp; Development 15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20729032"/>
              <a:gd name="adj2" fmla="val 21077419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9" name="Sales Enablement 16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21077419"/>
              <a:gd name="adj2" fmla="val 21425806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30" name="Territory Management 17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21425806"/>
              <a:gd name="adj2" fmla="val 174194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31" name="CRM Management 18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74194"/>
              <a:gd name="adj2" fmla="val 522581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32" name="Sales Forecasting 19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522581"/>
              <a:gd name="adj2" fmla="val 870968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33" name="Contract Negotiation 20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870968"/>
              <a:gd name="adj2" fmla="val 1219355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34" name="Sales Demos 21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219355"/>
              <a:gd name="adj2" fmla="val 1567742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35" name="Prospecting 22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567742"/>
              <a:gd name="adj2" fmla="val 1916129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36" name="Pipeline Management 23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916129"/>
              <a:gd name="adj2" fmla="val 2264516"/>
              <a:gd name="adj3" fmla="val 234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37" name="Label 24"/>
          <p:cNvSpPr txBox="1"/>
          <p:nvPr/>
        </p:nvSpPr>
        <p:spPr>
          <a:xfrm rot="-5225806">
            <a:off x="7957922" y="1262295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Communication</a:t>
            </a:r>
            <a:endParaRPr lang="en-US" sz="700" dirty="0"/>
          </a:p>
        </p:txBody>
      </p:sp>
      <p:sp>
        <p:nvSpPr>
          <p:cNvPr id="38" name="Label 25"/>
          <p:cNvSpPr txBox="1"/>
          <p:nvPr/>
        </p:nvSpPr>
        <p:spPr>
          <a:xfrm rot="-4877419">
            <a:off x="8190606" y="128595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Performance Tracking</a:t>
            </a:r>
            <a:endParaRPr lang="en-US" sz="700" dirty="0"/>
          </a:p>
        </p:txBody>
      </p:sp>
      <p:sp>
        <p:nvSpPr>
          <p:cNvPr id="39" name="Label 26"/>
          <p:cNvSpPr txBox="1"/>
          <p:nvPr/>
        </p:nvSpPr>
        <p:spPr>
          <a:xfrm rot="-4529032">
            <a:off x="8419702" y="133303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Channel Optimisation</a:t>
            </a:r>
            <a:endParaRPr lang="en-US" sz="700" dirty="0"/>
          </a:p>
        </p:txBody>
      </p:sp>
      <p:sp>
        <p:nvSpPr>
          <p:cNvPr id="40" name="Label 27"/>
          <p:cNvSpPr txBox="1"/>
          <p:nvPr/>
        </p:nvSpPr>
        <p:spPr>
          <a:xfrm rot="-4180645">
            <a:off x="8642859" y="1403054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Pricing Strategy</a:t>
            </a:r>
            <a:endParaRPr lang="en-US" sz="700" dirty="0"/>
          </a:p>
        </p:txBody>
      </p:sp>
      <p:sp>
        <p:nvSpPr>
          <p:cNvPr id="41" name="Label 28"/>
          <p:cNvSpPr txBox="1"/>
          <p:nvPr/>
        </p:nvSpPr>
        <p:spPr>
          <a:xfrm rot="-3832258">
            <a:off x="8857788" y="149528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 Onboarding</a:t>
            </a:r>
            <a:endParaRPr lang="en-US" sz="700" dirty="0"/>
          </a:p>
        </p:txBody>
      </p:sp>
      <p:sp>
        <p:nvSpPr>
          <p:cNvPr id="42" name="Label 29"/>
          <p:cNvSpPr txBox="1"/>
          <p:nvPr/>
        </p:nvSpPr>
        <p:spPr>
          <a:xfrm rot="-3483871">
            <a:off x="9062284" y="1608791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Deal Structuring</a:t>
            </a:r>
            <a:endParaRPr lang="en-US" sz="700" dirty="0"/>
          </a:p>
        </p:txBody>
      </p:sp>
      <p:sp>
        <p:nvSpPr>
          <p:cNvPr id="43" name="Label 30"/>
          <p:cNvSpPr txBox="1"/>
          <p:nvPr/>
        </p:nvSpPr>
        <p:spPr>
          <a:xfrm rot="-3135484">
            <a:off x="9254247" y="1742402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Proposal Management</a:t>
            </a:r>
            <a:endParaRPr lang="en-US" sz="700" dirty="0"/>
          </a:p>
        </p:txBody>
      </p:sp>
      <p:sp>
        <p:nvSpPr>
          <p:cNvPr id="44" name="Label 31"/>
          <p:cNvSpPr txBox="1"/>
          <p:nvPr/>
        </p:nvSpPr>
        <p:spPr>
          <a:xfrm rot="-2787097">
            <a:off x="9431708" y="189474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Automation</a:t>
            </a:r>
            <a:endParaRPr lang="en-US" sz="700" dirty="0"/>
          </a:p>
        </p:txBody>
      </p:sp>
      <p:sp>
        <p:nvSpPr>
          <p:cNvPr id="45" name="Label 32"/>
          <p:cNvSpPr txBox="1"/>
          <p:nvPr/>
        </p:nvSpPr>
        <p:spPr>
          <a:xfrm rot="-2438710">
            <a:off x="9592846" y="2064264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Win/Loss Analysis</a:t>
            </a:r>
            <a:endParaRPr lang="en-US" sz="700" dirty="0"/>
          </a:p>
        </p:txBody>
      </p:sp>
      <p:sp>
        <p:nvSpPr>
          <p:cNvPr id="46" name="Label 33"/>
          <p:cNvSpPr txBox="1"/>
          <p:nvPr/>
        </p:nvSpPr>
        <p:spPr>
          <a:xfrm rot="-2090323">
            <a:off x="9736008" y="2249214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Account Management</a:t>
            </a:r>
            <a:endParaRPr lang="en-US" sz="700" dirty="0"/>
          </a:p>
        </p:txBody>
      </p:sp>
      <p:sp>
        <p:nvSpPr>
          <p:cNvPr id="47" name="Label 34"/>
          <p:cNvSpPr txBox="1"/>
          <p:nvPr/>
        </p:nvSpPr>
        <p:spPr>
          <a:xfrm rot="-1741935">
            <a:off x="9859724" y="2447698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Channel Sales</a:t>
            </a:r>
            <a:endParaRPr lang="en-US" sz="700" dirty="0"/>
          </a:p>
        </p:txBody>
      </p:sp>
      <p:sp>
        <p:nvSpPr>
          <p:cNvPr id="48" name="Label 35"/>
          <p:cNvSpPr txBox="1"/>
          <p:nvPr/>
        </p:nvSpPr>
        <p:spPr>
          <a:xfrm rot="-1393548">
            <a:off x="9962725" y="2657680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Discount Control</a:t>
            </a:r>
            <a:endParaRPr lang="en-US" sz="700" dirty="0"/>
          </a:p>
        </p:txBody>
      </p:sp>
      <p:sp>
        <p:nvSpPr>
          <p:cNvPr id="49" name="Label 36"/>
          <p:cNvSpPr txBox="1"/>
          <p:nvPr/>
        </p:nvSpPr>
        <p:spPr>
          <a:xfrm rot="-1045161">
            <a:off x="10043954" y="2877004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Attainment</a:t>
            </a:r>
            <a:endParaRPr lang="en-US" sz="700" dirty="0"/>
          </a:p>
        </p:txBody>
      </p:sp>
      <p:sp>
        <p:nvSpPr>
          <p:cNvPr id="50" name="Label 37"/>
          <p:cNvSpPr txBox="1"/>
          <p:nvPr/>
        </p:nvSpPr>
        <p:spPr>
          <a:xfrm rot="-696774">
            <a:off x="10102578" y="3103422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Training &amp; Development</a:t>
            </a:r>
            <a:endParaRPr lang="en-US" sz="700" dirty="0"/>
          </a:p>
        </p:txBody>
      </p:sp>
      <p:sp>
        <p:nvSpPr>
          <p:cNvPr id="51" name="Label 38"/>
          <p:cNvSpPr txBox="1"/>
          <p:nvPr/>
        </p:nvSpPr>
        <p:spPr>
          <a:xfrm rot="-348387">
            <a:off x="10137994" y="3334609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Enablement</a:t>
            </a:r>
            <a:endParaRPr lang="en-US" sz="700" dirty="0"/>
          </a:p>
        </p:txBody>
      </p:sp>
      <p:sp>
        <p:nvSpPr>
          <p:cNvPr id="52" name="Label 39"/>
          <p:cNvSpPr txBox="1"/>
          <p:nvPr/>
        </p:nvSpPr>
        <p:spPr>
          <a:xfrm>
            <a:off x="10149840" y="3568192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Territory Management</a:t>
            </a:r>
            <a:endParaRPr lang="en-US" sz="700" dirty="0"/>
          </a:p>
        </p:txBody>
      </p:sp>
      <p:sp>
        <p:nvSpPr>
          <p:cNvPr id="53" name="Label 40"/>
          <p:cNvSpPr txBox="1"/>
          <p:nvPr/>
        </p:nvSpPr>
        <p:spPr>
          <a:xfrm rot="348387">
            <a:off x="10137994" y="3801775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CRM Management</a:t>
            </a:r>
            <a:endParaRPr lang="en-US" sz="700" dirty="0"/>
          </a:p>
        </p:txBody>
      </p:sp>
      <p:sp>
        <p:nvSpPr>
          <p:cNvPr id="54" name="Label 41"/>
          <p:cNvSpPr txBox="1"/>
          <p:nvPr/>
        </p:nvSpPr>
        <p:spPr>
          <a:xfrm rot="696774">
            <a:off x="10102578" y="4032962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Forecasting</a:t>
            </a:r>
            <a:endParaRPr lang="en-US" sz="700" dirty="0"/>
          </a:p>
        </p:txBody>
      </p:sp>
      <p:sp>
        <p:nvSpPr>
          <p:cNvPr id="55" name="Label 42"/>
          <p:cNvSpPr txBox="1"/>
          <p:nvPr/>
        </p:nvSpPr>
        <p:spPr>
          <a:xfrm rot="1045161">
            <a:off x="10043954" y="4259380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Contract Negotiation</a:t>
            </a:r>
            <a:endParaRPr lang="en-US" sz="700" dirty="0"/>
          </a:p>
        </p:txBody>
      </p:sp>
      <p:sp>
        <p:nvSpPr>
          <p:cNvPr id="56" name="Label 43"/>
          <p:cNvSpPr txBox="1"/>
          <p:nvPr/>
        </p:nvSpPr>
        <p:spPr>
          <a:xfrm rot="1393548">
            <a:off x="9962725" y="4478704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Demos</a:t>
            </a:r>
            <a:endParaRPr lang="en-US" sz="700" dirty="0"/>
          </a:p>
        </p:txBody>
      </p:sp>
      <p:sp>
        <p:nvSpPr>
          <p:cNvPr id="57" name="Label 44"/>
          <p:cNvSpPr txBox="1"/>
          <p:nvPr/>
        </p:nvSpPr>
        <p:spPr>
          <a:xfrm rot="1741935">
            <a:off x="9859724" y="4688686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Prospecting</a:t>
            </a:r>
            <a:endParaRPr lang="en-US" sz="700" dirty="0"/>
          </a:p>
        </p:txBody>
      </p:sp>
      <p:sp>
        <p:nvSpPr>
          <p:cNvPr id="58" name="Label 45"/>
          <p:cNvSpPr txBox="1"/>
          <p:nvPr/>
        </p:nvSpPr>
        <p:spPr>
          <a:xfrm rot="2090323">
            <a:off x="9736008" y="4887170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Pipeline Management</a:t>
            </a:r>
            <a:endParaRPr lang="en-US" sz="700" dirty="0"/>
          </a:p>
        </p:txBody>
      </p:sp>
      <p:sp>
        <p:nvSpPr>
          <p:cNvPr id="59" name="Function Sales"/>
          <p:cNvSpPr txBox="1"/>
          <p:nvPr/>
        </p:nvSpPr>
        <p:spPr>
          <a:xfrm>
            <a:off x="9084090" y="281128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7F0"/>
                </a:solidFill>
              </a:rPr>
              <a:t>Sales</a:t>
            </a:r>
            <a:endParaRPr lang="en-US" sz="1200" dirty="0"/>
          </a:p>
        </p:txBody>
      </p:sp>
      <p:sp>
        <p:nvSpPr>
          <p:cNvPr id="60" name="Customer Success 46"/>
          <p:cNvSpPr/>
          <p:nvPr/>
        </p:nvSpPr>
        <p:spPr>
          <a:xfrm>
            <a:off x="6903720" y="2039112"/>
            <a:ext cx="3200400" cy="3200400"/>
          </a:xfrm>
          <a:prstGeom prst="blockArc">
            <a:avLst>
              <a:gd name="adj1" fmla="val 2264516"/>
              <a:gd name="adj2" fmla="val 9232258"/>
              <a:gd name="adj3" fmla="val 2142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61" name="Advocacy Programme 47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2264516"/>
              <a:gd name="adj2" fmla="val 2612903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62" name="Success Planning 48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2612903"/>
              <a:gd name="adj2" fmla="val 2961290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63" name="Customer Analytics 49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2961290"/>
              <a:gd name="adj2" fmla="val 3309677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64" name="Voice of Customer 50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3309677"/>
              <a:gd name="adj2" fmla="val 3658065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65" name="Community Building 51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3658065"/>
              <a:gd name="adj2" fmla="val 4006452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66" name="Customer Health 52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4006452"/>
              <a:gd name="adj2" fmla="val 4354839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67" name="Escalation Handling 53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4354839"/>
              <a:gd name="adj2" fmla="val 4703226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68" name="SLA Management 54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4703226"/>
              <a:gd name="adj2" fmla="val 5051613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69" name="QBRs 55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5051613"/>
              <a:gd name="adj2" fmla="val 5400000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70" name="Customer Reviews 56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5400000"/>
              <a:gd name="adj2" fmla="val 5748387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71" name="Contract Renewals 57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5748387"/>
              <a:gd name="adj2" fmla="val 6096774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72" name="Customer Training 58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6096774"/>
              <a:gd name="adj2" fmla="val 6445161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73" name="Relationship Management 59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6445161"/>
              <a:gd name="adj2" fmla="val 6793548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74" name="Customer Support 60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6793548"/>
              <a:gd name="adj2" fmla="val 7141935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75" name="Customer Satisfaction 61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7141935"/>
              <a:gd name="adj2" fmla="val 7490323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76" name="Upselling &amp; Cross-selling 62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7490323"/>
              <a:gd name="adj2" fmla="val 7838710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77" name="Retention &amp; Churn 63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7838710"/>
              <a:gd name="adj2" fmla="val 8187097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78" name="Account Management 64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8187097"/>
              <a:gd name="adj2" fmla="val 8535484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79" name="Product Adoption 65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8535484"/>
              <a:gd name="adj2" fmla="val 8883871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80" name="Customer Onboarding 66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8883871"/>
              <a:gd name="adj2" fmla="val 9232258"/>
              <a:gd name="adj3" fmla="val 234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81" name="Label 67"/>
          <p:cNvSpPr txBox="1"/>
          <p:nvPr/>
        </p:nvSpPr>
        <p:spPr>
          <a:xfrm rot="2438710">
            <a:off x="9592846" y="5072120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Advocacy Programme</a:t>
            </a:r>
            <a:endParaRPr lang="en-US" sz="700" dirty="0"/>
          </a:p>
        </p:txBody>
      </p:sp>
      <p:sp>
        <p:nvSpPr>
          <p:cNvPr id="82" name="Label 68"/>
          <p:cNvSpPr txBox="1"/>
          <p:nvPr/>
        </p:nvSpPr>
        <p:spPr>
          <a:xfrm rot="2787097">
            <a:off x="9431708" y="524163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Success Planning</a:t>
            </a:r>
            <a:endParaRPr lang="en-US" sz="700" dirty="0"/>
          </a:p>
        </p:txBody>
      </p:sp>
      <p:sp>
        <p:nvSpPr>
          <p:cNvPr id="83" name="Label 69"/>
          <p:cNvSpPr txBox="1"/>
          <p:nvPr/>
        </p:nvSpPr>
        <p:spPr>
          <a:xfrm rot="3135484">
            <a:off x="9254247" y="5393982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Analytics</a:t>
            </a:r>
            <a:endParaRPr lang="en-US" sz="700" dirty="0"/>
          </a:p>
        </p:txBody>
      </p:sp>
      <p:sp>
        <p:nvSpPr>
          <p:cNvPr id="84" name="Label 70"/>
          <p:cNvSpPr txBox="1"/>
          <p:nvPr/>
        </p:nvSpPr>
        <p:spPr>
          <a:xfrm rot="3483871">
            <a:off x="9062284" y="5527593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85" name="Label 71"/>
          <p:cNvSpPr txBox="1"/>
          <p:nvPr/>
        </p:nvSpPr>
        <p:spPr>
          <a:xfrm rot="3832258">
            <a:off x="8857788" y="564109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Community Building</a:t>
            </a:r>
            <a:endParaRPr lang="en-US" sz="700" dirty="0"/>
          </a:p>
        </p:txBody>
      </p:sp>
      <p:sp>
        <p:nvSpPr>
          <p:cNvPr id="86" name="Label 72"/>
          <p:cNvSpPr txBox="1"/>
          <p:nvPr/>
        </p:nvSpPr>
        <p:spPr>
          <a:xfrm rot="4180645">
            <a:off x="8642859" y="5733330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Health</a:t>
            </a:r>
            <a:endParaRPr lang="en-US" sz="700" dirty="0"/>
          </a:p>
        </p:txBody>
      </p:sp>
      <p:sp>
        <p:nvSpPr>
          <p:cNvPr id="87" name="Label 73"/>
          <p:cNvSpPr txBox="1"/>
          <p:nvPr/>
        </p:nvSpPr>
        <p:spPr>
          <a:xfrm rot="4529032">
            <a:off x="8419702" y="580334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Escalation Handling</a:t>
            </a:r>
            <a:endParaRPr lang="en-US" sz="700" dirty="0"/>
          </a:p>
        </p:txBody>
      </p:sp>
      <p:sp>
        <p:nvSpPr>
          <p:cNvPr id="88" name="Label 74"/>
          <p:cNvSpPr txBox="1"/>
          <p:nvPr/>
        </p:nvSpPr>
        <p:spPr>
          <a:xfrm rot="4877419">
            <a:off x="8190606" y="585042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SLA Management</a:t>
            </a:r>
            <a:endParaRPr lang="en-US" sz="700" dirty="0"/>
          </a:p>
        </p:txBody>
      </p:sp>
      <p:sp>
        <p:nvSpPr>
          <p:cNvPr id="89" name="Label 75"/>
          <p:cNvSpPr txBox="1"/>
          <p:nvPr/>
        </p:nvSpPr>
        <p:spPr>
          <a:xfrm rot="5225806">
            <a:off x="7957922" y="5874089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QBRs</a:t>
            </a:r>
            <a:endParaRPr lang="en-US" sz="700" dirty="0"/>
          </a:p>
        </p:txBody>
      </p:sp>
      <p:sp>
        <p:nvSpPr>
          <p:cNvPr id="90" name="Label 76"/>
          <p:cNvSpPr txBox="1"/>
          <p:nvPr/>
        </p:nvSpPr>
        <p:spPr>
          <a:xfrm rot="16374194">
            <a:off x="7724038" y="5874089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Reviews</a:t>
            </a:r>
            <a:endParaRPr lang="en-US" sz="700" dirty="0"/>
          </a:p>
        </p:txBody>
      </p:sp>
      <p:sp>
        <p:nvSpPr>
          <p:cNvPr id="91" name="Label 77"/>
          <p:cNvSpPr txBox="1"/>
          <p:nvPr/>
        </p:nvSpPr>
        <p:spPr>
          <a:xfrm rot="16722581">
            <a:off x="7491354" y="585042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Contract Renewals</a:t>
            </a:r>
            <a:endParaRPr lang="en-US" sz="700" dirty="0"/>
          </a:p>
        </p:txBody>
      </p:sp>
      <p:sp>
        <p:nvSpPr>
          <p:cNvPr id="92" name="Label 78"/>
          <p:cNvSpPr txBox="1"/>
          <p:nvPr/>
        </p:nvSpPr>
        <p:spPr>
          <a:xfrm rot="17070968">
            <a:off x="7262258" y="580334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Training</a:t>
            </a:r>
            <a:endParaRPr lang="en-US" sz="700" dirty="0"/>
          </a:p>
        </p:txBody>
      </p:sp>
      <p:sp>
        <p:nvSpPr>
          <p:cNvPr id="93" name="Label 79"/>
          <p:cNvSpPr txBox="1"/>
          <p:nvPr/>
        </p:nvSpPr>
        <p:spPr>
          <a:xfrm rot="17419355">
            <a:off x="7039101" y="5733330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Relationship Management</a:t>
            </a:r>
            <a:endParaRPr lang="en-US" sz="700" dirty="0"/>
          </a:p>
        </p:txBody>
      </p:sp>
      <p:sp>
        <p:nvSpPr>
          <p:cNvPr id="94" name="Label 80"/>
          <p:cNvSpPr txBox="1"/>
          <p:nvPr/>
        </p:nvSpPr>
        <p:spPr>
          <a:xfrm rot="17767742">
            <a:off x="6824172" y="564109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Support</a:t>
            </a:r>
            <a:endParaRPr lang="en-US" sz="700" dirty="0"/>
          </a:p>
        </p:txBody>
      </p:sp>
      <p:sp>
        <p:nvSpPr>
          <p:cNvPr id="95" name="Label 81"/>
          <p:cNvSpPr txBox="1"/>
          <p:nvPr/>
        </p:nvSpPr>
        <p:spPr>
          <a:xfrm rot="18116129">
            <a:off x="6619676" y="5527593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Satisfaction</a:t>
            </a:r>
            <a:endParaRPr lang="en-US" sz="700" dirty="0"/>
          </a:p>
        </p:txBody>
      </p:sp>
      <p:sp>
        <p:nvSpPr>
          <p:cNvPr id="96" name="Label 82"/>
          <p:cNvSpPr txBox="1"/>
          <p:nvPr/>
        </p:nvSpPr>
        <p:spPr>
          <a:xfrm rot="18464516">
            <a:off x="6427713" y="5393982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Upselling &amp; Cross-selling</a:t>
            </a:r>
            <a:endParaRPr lang="en-US" sz="700" dirty="0"/>
          </a:p>
        </p:txBody>
      </p:sp>
      <p:sp>
        <p:nvSpPr>
          <p:cNvPr id="97" name="Label 83"/>
          <p:cNvSpPr txBox="1"/>
          <p:nvPr/>
        </p:nvSpPr>
        <p:spPr>
          <a:xfrm rot="18812903">
            <a:off x="6250252" y="524163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Retention &amp; Churn</a:t>
            </a:r>
            <a:endParaRPr lang="en-US" sz="700" dirty="0"/>
          </a:p>
        </p:txBody>
      </p:sp>
      <p:sp>
        <p:nvSpPr>
          <p:cNvPr id="98" name="Label 84"/>
          <p:cNvSpPr txBox="1"/>
          <p:nvPr/>
        </p:nvSpPr>
        <p:spPr>
          <a:xfrm rot="19161290">
            <a:off x="6089114" y="5072120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Account Management</a:t>
            </a:r>
            <a:endParaRPr lang="en-US" sz="700" dirty="0"/>
          </a:p>
        </p:txBody>
      </p:sp>
      <p:sp>
        <p:nvSpPr>
          <p:cNvPr id="99" name="Label 85"/>
          <p:cNvSpPr txBox="1"/>
          <p:nvPr/>
        </p:nvSpPr>
        <p:spPr>
          <a:xfrm rot="19509677">
            <a:off x="5945952" y="4887170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Product Adoption</a:t>
            </a:r>
            <a:endParaRPr lang="en-US" sz="700" dirty="0"/>
          </a:p>
        </p:txBody>
      </p:sp>
      <p:sp>
        <p:nvSpPr>
          <p:cNvPr id="100" name="Label 86"/>
          <p:cNvSpPr txBox="1"/>
          <p:nvPr/>
        </p:nvSpPr>
        <p:spPr>
          <a:xfrm rot="19858065">
            <a:off x="5822236" y="4688686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Onboarding</a:t>
            </a:r>
            <a:endParaRPr lang="en-US" sz="700" dirty="0"/>
          </a:p>
        </p:txBody>
      </p:sp>
      <p:sp>
        <p:nvSpPr>
          <p:cNvPr id="101" name="Function Customer Success"/>
          <p:cNvSpPr txBox="1"/>
          <p:nvPr/>
        </p:nvSpPr>
        <p:spPr>
          <a:xfrm>
            <a:off x="7828081" y="4615841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61D"/>
                </a:solidFill>
              </a:rPr>
              <a:t>Customer Success</a:t>
            </a:r>
            <a:endParaRPr lang="en-US" sz="1200" dirty="0"/>
          </a:p>
        </p:txBody>
      </p:sp>
      <p:sp>
        <p:nvSpPr>
          <p:cNvPr id="102" name="Marketing 87"/>
          <p:cNvSpPr/>
          <p:nvPr/>
        </p:nvSpPr>
        <p:spPr>
          <a:xfrm>
            <a:off x="6903720" y="2039112"/>
            <a:ext cx="3200400" cy="3200400"/>
          </a:xfrm>
          <a:prstGeom prst="blockArc">
            <a:avLst>
              <a:gd name="adj1" fmla="val 9232258"/>
              <a:gd name="adj2" fmla="val 16200000"/>
              <a:gd name="adj3" fmla="val 2142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03" name="Reporting &amp; Forecasting 88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9232258"/>
              <a:gd name="adj2" fmla="val 9580645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04" name="Budget Management 89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9580645"/>
              <a:gd name="adj2" fmla="val 9929032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05" name="A/B Testing 90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9929032"/>
              <a:gd name="adj2" fmla="val 10277419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06" name="Retention Campaigns 91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0277419"/>
              <a:gd name="adj2" fmla="val 10625806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07" name="Marketing Analytics 92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0625806"/>
              <a:gd name="adj2" fmla="val 10974194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08" name="Targeting &amp; Personalisation 93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0974194"/>
              <a:gd name="adj2" fmla="val 11322581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09" name="Customer Segmentation 94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1322581"/>
              <a:gd name="adj2" fmla="val 11670968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10" name="Affiliate Marketing 95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1670968"/>
              <a:gd name="adj2" fmla="val 12019355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11" name="Influencer Partnerships 96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2019355"/>
              <a:gd name="adj2" fmla="val 12367742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12" name="Public Relations 97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2367742"/>
              <a:gd name="adj2" fmla="val 12716129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13" name="Paid Advertising 98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2716129"/>
              <a:gd name="adj2" fmla="val 13064516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14" name="Competitor Analysis 99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3064516"/>
              <a:gd name="adj2" fmla="val 13412903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15" name="Market Research 100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3412903"/>
              <a:gd name="adj2" fmla="val 13761290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16" name="Email Marketing 101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3761290"/>
              <a:gd name="adj2" fmla="val 14109677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17" name="Webinars &amp; Events 102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4109677"/>
              <a:gd name="adj2" fmla="val 14458065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18" name="Social Media 103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4458065"/>
              <a:gd name="adj2" fmla="val 14806452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19" name="SEO Optimisation 104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4806452"/>
              <a:gd name="adj2" fmla="val 15154839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20" name="Content Strategy 105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5154839"/>
              <a:gd name="adj2" fmla="val 15503226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21" name="Brand Awareness 106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5503226"/>
              <a:gd name="adj2" fmla="val 15851613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22" name="Lead Generation 107"/>
          <p:cNvSpPr/>
          <p:nvPr/>
        </p:nvSpPr>
        <p:spPr>
          <a:xfrm>
            <a:off x="5486400" y="621792"/>
            <a:ext cx="6035040" cy="6035040"/>
          </a:xfrm>
          <a:prstGeom prst="blockArc">
            <a:avLst>
              <a:gd name="adj1" fmla="val 15851613"/>
              <a:gd name="adj2" fmla="val 16200000"/>
              <a:gd name="adj3" fmla="val 234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23" name="Label 108"/>
          <p:cNvSpPr txBox="1"/>
          <p:nvPr/>
        </p:nvSpPr>
        <p:spPr>
          <a:xfrm rot="20206452">
            <a:off x="5719235" y="4478704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Reporting &amp; Forecasting</a:t>
            </a:r>
            <a:endParaRPr lang="en-US" sz="700" dirty="0"/>
          </a:p>
        </p:txBody>
      </p:sp>
      <p:sp>
        <p:nvSpPr>
          <p:cNvPr id="124" name="Label 109"/>
          <p:cNvSpPr txBox="1"/>
          <p:nvPr/>
        </p:nvSpPr>
        <p:spPr>
          <a:xfrm rot="20554839">
            <a:off x="5638006" y="4259380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Budget Management</a:t>
            </a:r>
            <a:endParaRPr lang="en-US" sz="700" dirty="0"/>
          </a:p>
        </p:txBody>
      </p:sp>
      <p:sp>
        <p:nvSpPr>
          <p:cNvPr id="125" name="Label 110"/>
          <p:cNvSpPr txBox="1"/>
          <p:nvPr/>
        </p:nvSpPr>
        <p:spPr>
          <a:xfrm rot="20903226">
            <a:off x="5579382" y="4032962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A/B Testing</a:t>
            </a:r>
            <a:endParaRPr lang="en-US" sz="700" dirty="0"/>
          </a:p>
        </p:txBody>
      </p:sp>
      <p:sp>
        <p:nvSpPr>
          <p:cNvPr id="126" name="Label 111"/>
          <p:cNvSpPr txBox="1"/>
          <p:nvPr/>
        </p:nvSpPr>
        <p:spPr>
          <a:xfrm rot="21251613">
            <a:off x="5543966" y="3801775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Retention Campaigns</a:t>
            </a:r>
            <a:endParaRPr lang="en-US" sz="700" dirty="0"/>
          </a:p>
        </p:txBody>
      </p:sp>
      <p:sp>
        <p:nvSpPr>
          <p:cNvPr id="127" name="Label 112"/>
          <p:cNvSpPr txBox="1"/>
          <p:nvPr/>
        </p:nvSpPr>
        <p:spPr>
          <a:xfrm rot="21600000">
            <a:off x="5532120" y="3568192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Marketing Analytics</a:t>
            </a:r>
            <a:endParaRPr lang="en-US" sz="700" dirty="0"/>
          </a:p>
        </p:txBody>
      </p:sp>
      <p:sp>
        <p:nvSpPr>
          <p:cNvPr id="128" name="Label 113"/>
          <p:cNvSpPr txBox="1"/>
          <p:nvPr/>
        </p:nvSpPr>
        <p:spPr>
          <a:xfrm rot="348387">
            <a:off x="5543966" y="3334609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Targeting &amp; Personalisation</a:t>
            </a:r>
            <a:endParaRPr lang="en-US" sz="700" dirty="0"/>
          </a:p>
        </p:txBody>
      </p:sp>
      <p:sp>
        <p:nvSpPr>
          <p:cNvPr id="129" name="Label 114"/>
          <p:cNvSpPr txBox="1"/>
          <p:nvPr/>
        </p:nvSpPr>
        <p:spPr>
          <a:xfrm rot="696774">
            <a:off x="5579382" y="3103422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Segmentation</a:t>
            </a:r>
            <a:endParaRPr lang="en-US" sz="700" dirty="0"/>
          </a:p>
        </p:txBody>
      </p:sp>
      <p:sp>
        <p:nvSpPr>
          <p:cNvPr id="130" name="Label 115"/>
          <p:cNvSpPr txBox="1"/>
          <p:nvPr/>
        </p:nvSpPr>
        <p:spPr>
          <a:xfrm rot="1045161">
            <a:off x="5638006" y="2877004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Affiliate Marketing</a:t>
            </a:r>
            <a:endParaRPr lang="en-US" sz="700" dirty="0"/>
          </a:p>
        </p:txBody>
      </p:sp>
      <p:sp>
        <p:nvSpPr>
          <p:cNvPr id="131" name="Label 116"/>
          <p:cNvSpPr txBox="1"/>
          <p:nvPr/>
        </p:nvSpPr>
        <p:spPr>
          <a:xfrm rot="1393548">
            <a:off x="5719235" y="2657680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Influencer Partnerships</a:t>
            </a:r>
            <a:endParaRPr lang="en-US" sz="700" dirty="0"/>
          </a:p>
        </p:txBody>
      </p:sp>
      <p:sp>
        <p:nvSpPr>
          <p:cNvPr id="132" name="Label 117"/>
          <p:cNvSpPr txBox="1"/>
          <p:nvPr/>
        </p:nvSpPr>
        <p:spPr>
          <a:xfrm rot="1741935">
            <a:off x="5822236" y="2447698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Public Relations</a:t>
            </a:r>
            <a:endParaRPr lang="en-US" sz="700" dirty="0"/>
          </a:p>
        </p:txBody>
      </p:sp>
      <p:sp>
        <p:nvSpPr>
          <p:cNvPr id="133" name="Label 118"/>
          <p:cNvSpPr txBox="1"/>
          <p:nvPr/>
        </p:nvSpPr>
        <p:spPr>
          <a:xfrm rot="2090323">
            <a:off x="5945952" y="2249214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Advertising</a:t>
            </a:r>
            <a:endParaRPr lang="en-US" sz="700" dirty="0"/>
          </a:p>
        </p:txBody>
      </p:sp>
      <p:sp>
        <p:nvSpPr>
          <p:cNvPr id="134" name="Label 119"/>
          <p:cNvSpPr txBox="1"/>
          <p:nvPr/>
        </p:nvSpPr>
        <p:spPr>
          <a:xfrm rot="2438710">
            <a:off x="6089114" y="2064264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Competitor Analysis</a:t>
            </a:r>
            <a:endParaRPr lang="en-US" sz="700" dirty="0"/>
          </a:p>
        </p:txBody>
      </p:sp>
      <p:sp>
        <p:nvSpPr>
          <p:cNvPr id="135" name="Label 120"/>
          <p:cNvSpPr txBox="1"/>
          <p:nvPr/>
        </p:nvSpPr>
        <p:spPr>
          <a:xfrm rot="2787097">
            <a:off x="6250252" y="189474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Market Research</a:t>
            </a:r>
            <a:endParaRPr lang="en-US" sz="700" dirty="0"/>
          </a:p>
        </p:txBody>
      </p:sp>
      <p:sp>
        <p:nvSpPr>
          <p:cNvPr id="136" name="Label 121"/>
          <p:cNvSpPr txBox="1"/>
          <p:nvPr/>
        </p:nvSpPr>
        <p:spPr>
          <a:xfrm rot="3135484">
            <a:off x="6427713" y="1742402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Email Marketing</a:t>
            </a:r>
            <a:endParaRPr lang="en-US" sz="700" dirty="0"/>
          </a:p>
        </p:txBody>
      </p:sp>
      <p:sp>
        <p:nvSpPr>
          <p:cNvPr id="137" name="Label 122"/>
          <p:cNvSpPr txBox="1"/>
          <p:nvPr/>
        </p:nvSpPr>
        <p:spPr>
          <a:xfrm rot="3483871">
            <a:off x="6619676" y="1608791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Webinars &amp; Events</a:t>
            </a:r>
            <a:endParaRPr lang="en-US" sz="700" dirty="0"/>
          </a:p>
        </p:txBody>
      </p:sp>
      <p:sp>
        <p:nvSpPr>
          <p:cNvPr id="138" name="Label 123"/>
          <p:cNvSpPr txBox="1"/>
          <p:nvPr/>
        </p:nvSpPr>
        <p:spPr>
          <a:xfrm rot="3832258">
            <a:off x="6824172" y="149528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Social Media</a:t>
            </a:r>
            <a:endParaRPr lang="en-US" sz="700" dirty="0"/>
          </a:p>
        </p:txBody>
      </p:sp>
      <p:sp>
        <p:nvSpPr>
          <p:cNvPr id="139" name="Label 124"/>
          <p:cNvSpPr txBox="1"/>
          <p:nvPr/>
        </p:nvSpPr>
        <p:spPr>
          <a:xfrm rot="4180645">
            <a:off x="7039101" y="1403054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SEO Optimisation</a:t>
            </a:r>
            <a:endParaRPr lang="en-US" sz="700" dirty="0"/>
          </a:p>
        </p:txBody>
      </p:sp>
      <p:sp>
        <p:nvSpPr>
          <p:cNvPr id="140" name="Label 125"/>
          <p:cNvSpPr txBox="1"/>
          <p:nvPr/>
        </p:nvSpPr>
        <p:spPr>
          <a:xfrm rot="4529032">
            <a:off x="7262258" y="133303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Content Strategy</a:t>
            </a:r>
            <a:endParaRPr lang="en-US" sz="700" dirty="0"/>
          </a:p>
        </p:txBody>
      </p:sp>
      <p:sp>
        <p:nvSpPr>
          <p:cNvPr id="141" name="Label 126"/>
          <p:cNvSpPr txBox="1"/>
          <p:nvPr/>
        </p:nvSpPr>
        <p:spPr>
          <a:xfrm rot="4877419">
            <a:off x="7491354" y="1285957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Brand Awareness</a:t>
            </a:r>
            <a:endParaRPr lang="en-US" sz="700" dirty="0"/>
          </a:p>
        </p:txBody>
      </p:sp>
      <p:sp>
        <p:nvSpPr>
          <p:cNvPr id="142" name="Label 127"/>
          <p:cNvSpPr txBox="1"/>
          <p:nvPr/>
        </p:nvSpPr>
        <p:spPr>
          <a:xfrm rot="5225806">
            <a:off x="7724038" y="1262295"/>
            <a:ext cx="132588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</a:t>
            </a:r>
            <a:endParaRPr lang="en-US" sz="700" dirty="0"/>
          </a:p>
        </p:txBody>
      </p:sp>
      <p:sp>
        <p:nvSpPr>
          <p:cNvPr id="143" name="Function Marketing"/>
          <p:cNvSpPr txBox="1"/>
          <p:nvPr/>
        </p:nvSpPr>
        <p:spPr>
          <a:xfrm>
            <a:off x="6888280" y="269992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7F0"/>
                </a:solidFill>
              </a:rPr>
              <a:t>Marketing</a:t>
            </a:r>
            <a:endParaRPr lang="en-US" sz="1200" dirty="0"/>
          </a:p>
        </p:txBody>
      </p:sp>
      <p:sp>
        <p:nvSpPr>
          <p:cNvPr id="144" name="Hub"/>
          <p:cNvSpPr/>
          <p:nvPr/>
        </p:nvSpPr>
        <p:spPr>
          <a:xfrm>
            <a:off x="7589520" y="2724912"/>
            <a:ext cx="1828800" cy="1828800"/>
          </a:xfrm>
          <a:prstGeom prst="ellipse">
            <a:avLst/>
          </a:prstGeom>
          <a:solidFill>
            <a:srgbClr val="F5F7F0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45" name="Hub label"/>
          <p:cNvSpPr txBox="1"/>
          <p:nvPr/>
        </p:nvSpPr>
        <p:spPr>
          <a:xfrm>
            <a:off x="7726680" y="3227832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Operations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REVOPS FLYWHEEL  ·  DRILL-IN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Sales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NewEdge Growth, Hg Growth Summit 2025</a:t>
            </a:r>
            <a:endParaRPr lang="en-US" sz="1000" dirty="0"/>
          </a:p>
        </p:txBody>
      </p:sp>
      <p:sp>
        <p:nvSpPr>
          <p:cNvPr id="5" name="Fan shadow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480000"/>
              <a:gd name="adj2" fmla="val 19920000"/>
              <a:gd name="adj3" fmla="val 36087"/>
            </a:avLst>
          </a:prstGeom>
          <a:solidFill>
            <a:srgbClr val="1F3529"/>
          </a:solidFill>
          <a:ln/>
          <a:effectLst>
            <a:outerShdw sx="100000" sy="100000" kx="0" ky="0" algn="bl" rotWithShape="0" blurRad="381000" dist="101600" dir="5400000">
              <a:srgbClr val="16261D">
                <a:alpha val="25000"/>
              </a:srgbClr>
            </a:outerShdw>
          </a:effectLst>
        </p:spPr>
      </p:sp>
      <p:sp>
        <p:nvSpPr>
          <p:cNvPr id="6" name="Sales 128"/>
          <p:cNvSpPr/>
          <p:nvPr/>
        </p:nvSpPr>
        <p:spPr>
          <a:xfrm>
            <a:off x="3124505" y="3429000"/>
            <a:ext cx="5943600" cy="5943600"/>
          </a:xfrm>
          <a:prstGeom prst="blockArc">
            <a:avLst>
              <a:gd name="adj1" fmla="val 12480000"/>
              <a:gd name="adj2" fmla="val 19920000"/>
              <a:gd name="adj3" fmla="val 25385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7" name="Sales Communication 12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480000"/>
              <a:gd name="adj2" fmla="val 12818182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8" name="Sales Performance Tracking 13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818182"/>
              <a:gd name="adj2" fmla="val 13156364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9" name="Sales Channel Optimisation 13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156364"/>
              <a:gd name="adj2" fmla="val 13494545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0" name="Pricing Strategy 13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494545"/>
              <a:gd name="adj2" fmla="val 13832727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1" name="Client Onboarding 13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832727"/>
              <a:gd name="adj2" fmla="val 14170909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2" name="Deal Structuring 13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170909"/>
              <a:gd name="adj2" fmla="val 14509091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3" name="Proposal Management 13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509091"/>
              <a:gd name="adj2" fmla="val 14847273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4" name="Sales Automation 13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847273"/>
              <a:gd name="adj2" fmla="val 15185455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5" name="Win/Loss Analysis 13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185455"/>
              <a:gd name="adj2" fmla="val 15523636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6" name="Account Management 13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523636"/>
              <a:gd name="adj2" fmla="val 15861818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7" name="Channel Sales 13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861818"/>
              <a:gd name="adj2" fmla="val 16200000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8" name="Discount Control 14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200000"/>
              <a:gd name="adj2" fmla="val 16538182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9" name="Quota Attainment 14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538182"/>
              <a:gd name="adj2" fmla="val 16876364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0" name="Training &amp; Development 14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876364"/>
              <a:gd name="adj2" fmla="val 17214545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1" name="Sales Enablement 14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214545"/>
              <a:gd name="adj2" fmla="val 17552727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2" name="Territory Management 14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552727"/>
              <a:gd name="adj2" fmla="val 17890909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3" name="CRM Management 14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890909"/>
              <a:gd name="adj2" fmla="val 18229091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4" name="Sales Forecasting 14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229091"/>
              <a:gd name="adj2" fmla="val 18567273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5" name="Contract Negotiation 14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567273"/>
              <a:gd name="adj2" fmla="val 18905455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6" name="Sales Demos 14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905455"/>
              <a:gd name="adj2" fmla="val 19243636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7" name="Prospecting 14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243636"/>
              <a:gd name="adj2" fmla="val 19581818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8" name="Pipeline Management 15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581818"/>
              <a:gd name="adj2" fmla="val 19920000"/>
              <a:gd name="adj3" fmla="val 21739"/>
            </a:avLst>
          </a:prstGeom>
          <a:solidFill>
            <a:srgbClr val="1F3529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9" name="Label 151"/>
          <p:cNvSpPr txBox="1"/>
          <p:nvPr/>
        </p:nvSpPr>
        <p:spPr>
          <a:xfrm rot="1849091">
            <a:off x="1510965" y="418096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Communication</a:t>
            </a:r>
            <a:endParaRPr lang="en-US" sz="1100" dirty="0"/>
          </a:p>
        </p:txBody>
      </p:sp>
      <p:sp>
        <p:nvSpPr>
          <p:cNvPr id="30" name="Label 152"/>
          <p:cNvSpPr txBox="1"/>
          <p:nvPr/>
        </p:nvSpPr>
        <p:spPr>
          <a:xfrm rot="2187273">
            <a:off x="1735094" y="384408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Performance Tracking</a:t>
            </a:r>
            <a:endParaRPr lang="en-US" sz="1100" dirty="0"/>
          </a:p>
        </p:txBody>
      </p:sp>
      <p:sp>
        <p:nvSpPr>
          <p:cNvPr id="31" name="Label 153"/>
          <p:cNvSpPr txBox="1"/>
          <p:nvPr/>
        </p:nvSpPr>
        <p:spPr>
          <a:xfrm rot="2525455">
            <a:off x="1991225" y="353085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Channel Optimisation</a:t>
            </a:r>
            <a:endParaRPr lang="en-US" sz="1100" dirty="0"/>
          </a:p>
        </p:txBody>
      </p:sp>
      <p:sp>
        <p:nvSpPr>
          <p:cNvPr id="32" name="Label 154"/>
          <p:cNvSpPr txBox="1"/>
          <p:nvPr/>
        </p:nvSpPr>
        <p:spPr>
          <a:xfrm rot="2863636">
            <a:off x="2276882" y="324428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Pricing Strategy</a:t>
            </a:r>
            <a:endParaRPr lang="en-US" sz="1100" dirty="0"/>
          </a:p>
        </p:txBody>
      </p:sp>
      <p:sp>
        <p:nvSpPr>
          <p:cNvPr id="33" name="Label 155"/>
          <p:cNvSpPr txBox="1"/>
          <p:nvPr/>
        </p:nvSpPr>
        <p:spPr>
          <a:xfrm rot="3201818">
            <a:off x="2589303" y="2987164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 Onboarding</a:t>
            </a:r>
            <a:endParaRPr lang="en-US" sz="1100" dirty="0"/>
          </a:p>
        </p:txBody>
      </p:sp>
      <p:sp>
        <p:nvSpPr>
          <p:cNvPr id="34" name="Label 156"/>
          <p:cNvSpPr txBox="1"/>
          <p:nvPr/>
        </p:nvSpPr>
        <p:spPr>
          <a:xfrm rot="3540000">
            <a:off x="2925466" y="276196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Deal Structuring</a:t>
            </a:r>
            <a:endParaRPr lang="en-US" sz="1100" dirty="0"/>
          </a:p>
        </p:txBody>
      </p:sp>
      <p:sp>
        <p:nvSpPr>
          <p:cNvPr id="35" name="Label 157"/>
          <p:cNvSpPr txBox="1"/>
          <p:nvPr/>
        </p:nvSpPr>
        <p:spPr>
          <a:xfrm rot="3878182">
            <a:off x="3282122" y="257087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Proposal Management</a:t>
            </a:r>
            <a:endParaRPr lang="en-US" sz="1100" dirty="0"/>
          </a:p>
        </p:txBody>
      </p:sp>
      <p:sp>
        <p:nvSpPr>
          <p:cNvPr id="36" name="Label 158"/>
          <p:cNvSpPr txBox="1"/>
          <p:nvPr/>
        </p:nvSpPr>
        <p:spPr>
          <a:xfrm rot="4216364">
            <a:off x="3655821" y="241573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Automation</a:t>
            </a:r>
            <a:endParaRPr lang="en-US" sz="1100" dirty="0"/>
          </a:p>
        </p:txBody>
      </p:sp>
      <p:sp>
        <p:nvSpPr>
          <p:cNvPr id="37" name="Label 159"/>
          <p:cNvSpPr txBox="1"/>
          <p:nvPr/>
        </p:nvSpPr>
        <p:spPr>
          <a:xfrm rot="4554545">
            <a:off x="4042951" y="229805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Win/Loss Analysis</a:t>
            </a:r>
            <a:endParaRPr lang="en-US" sz="1100" dirty="0"/>
          </a:p>
        </p:txBody>
      </p:sp>
      <p:sp>
        <p:nvSpPr>
          <p:cNvPr id="38" name="Label 160"/>
          <p:cNvSpPr txBox="1"/>
          <p:nvPr/>
        </p:nvSpPr>
        <p:spPr>
          <a:xfrm rot="4892727">
            <a:off x="4439767" y="221895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Account Management</a:t>
            </a:r>
            <a:endParaRPr lang="en-US" sz="1100" dirty="0"/>
          </a:p>
        </p:txBody>
      </p:sp>
      <p:sp>
        <p:nvSpPr>
          <p:cNvPr id="39" name="Label 161"/>
          <p:cNvSpPr txBox="1"/>
          <p:nvPr/>
        </p:nvSpPr>
        <p:spPr>
          <a:xfrm rot="5230909">
            <a:off x="4842434" y="217921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Channel Sales</a:t>
            </a:r>
            <a:endParaRPr lang="en-US" sz="1100" dirty="0"/>
          </a:p>
        </p:txBody>
      </p:sp>
      <p:sp>
        <p:nvSpPr>
          <p:cNvPr id="40" name="Label 162"/>
          <p:cNvSpPr txBox="1"/>
          <p:nvPr/>
        </p:nvSpPr>
        <p:spPr>
          <a:xfrm rot="-5230909">
            <a:off x="5247056" y="217921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Discount Control</a:t>
            </a:r>
            <a:endParaRPr lang="en-US" sz="1100" dirty="0"/>
          </a:p>
        </p:txBody>
      </p:sp>
      <p:sp>
        <p:nvSpPr>
          <p:cNvPr id="41" name="Label 163"/>
          <p:cNvSpPr txBox="1"/>
          <p:nvPr/>
        </p:nvSpPr>
        <p:spPr>
          <a:xfrm rot="-4892727">
            <a:off x="5649722" y="221895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Attainment</a:t>
            </a:r>
            <a:endParaRPr lang="en-US" sz="1100" dirty="0"/>
          </a:p>
        </p:txBody>
      </p:sp>
      <p:sp>
        <p:nvSpPr>
          <p:cNvPr id="42" name="Label 164"/>
          <p:cNvSpPr txBox="1"/>
          <p:nvPr/>
        </p:nvSpPr>
        <p:spPr>
          <a:xfrm rot="-4554545">
            <a:off x="6046539" y="229805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Training &amp; Development</a:t>
            </a:r>
            <a:endParaRPr lang="en-US" sz="1100" dirty="0"/>
          </a:p>
        </p:txBody>
      </p:sp>
      <p:sp>
        <p:nvSpPr>
          <p:cNvPr id="43" name="Label 165"/>
          <p:cNvSpPr txBox="1"/>
          <p:nvPr/>
        </p:nvSpPr>
        <p:spPr>
          <a:xfrm rot="-4216364">
            <a:off x="6433668" y="241573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Enablement</a:t>
            </a:r>
            <a:endParaRPr lang="en-US" sz="1100" dirty="0"/>
          </a:p>
        </p:txBody>
      </p:sp>
      <p:sp>
        <p:nvSpPr>
          <p:cNvPr id="44" name="Label 166"/>
          <p:cNvSpPr txBox="1"/>
          <p:nvPr/>
        </p:nvSpPr>
        <p:spPr>
          <a:xfrm rot="-3878182">
            <a:off x="6807368" y="257087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Territory Management</a:t>
            </a:r>
            <a:endParaRPr lang="en-US" sz="1100" dirty="0"/>
          </a:p>
        </p:txBody>
      </p:sp>
      <p:sp>
        <p:nvSpPr>
          <p:cNvPr id="45" name="Label 167"/>
          <p:cNvSpPr txBox="1"/>
          <p:nvPr/>
        </p:nvSpPr>
        <p:spPr>
          <a:xfrm rot="-3540000">
            <a:off x="7164023" y="276196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CRM Management</a:t>
            </a:r>
            <a:endParaRPr lang="en-US" sz="1100" dirty="0"/>
          </a:p>
        </p:txBody>
      </p:sp>
      <p:sp>
        <p:nvSpPr>
          <p:cNvPr id="46" name="Label 168"/>
          <p:cNvSpPr txBox="1"/>
          <p:nvPr/>
        </p:nvSpPr>
        <p:spPr>
          <a:xfrm rot="-3201818">
            <a:off x="7500187" y="2987164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Forecasting</a:t>
            </a:r>
            <a:endParaRPr lang="en-US" sz="1100" dirty="0"/>
          </a:p>
        </p:txBody>
      </p:sp>
      <p:sp>
        <p:nvSpPr>
          <p:cNvPr id="47" name="Label 169"/>
          <p:cNvSpPr txBox="1"/>
          <p:nvPr/>
        </p:nvSpPr>
        <p:spPr>
          <a:xfrm rot="-2863636">
            <a:off x="7812608" y="324428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Contract Negotiation</a:t>
            </a:r>
            <a:endParaRPr lang="en-US" sz="1100" dirty="0"/>
          </a:p>
        </p:txBody>
      </p:sp>
      <p:sp>
        <p:nvSpPr>
          <p:cNvPr id="48" name="Label 170"/>
          <p:cNvSpPr txBox="1"/>
          <p:nvPr/>
        </p:nvSpPr>
        <p:spPr>
          <a:xfrm rot="-2525455">
            <a:off x="8098265" y="353085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Demos</a:t>
            </a:r>
            <a:endParaRPr lang="en-US" sz="1100" dirty="0"/>
          </a:p>
        </p:txBody>
      </p:sp>
      <p:sp>
        <p:nvSpPr>
          <p:cNvPr id="49" name="Label 171"/>
          <p:cNvSpPr txBox="1"/>
          <p:nvPr/>
        </p:nvSpPr>
        <p:spPr>
          <a:xfrm rot="-2187273">
            <a:off x="8354396" y="384408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Prospecting</a:t>
            </a:r>
            <a:endParaRPr lang="en-US" sz="1100" dirty="0"/>
          </a:p>
        </p:txBody>
      </p:sp>
      <p:sp>
        <p:nvSpPr>
          <p:cNvPr id="50" name="Label 172"/>
          <p:cNvSpPr txBox="1"/>
          <p:nvPr/>
        </p:nvSpPr>
        <p:spPr>
          <a:xfrm rot="-1849091">
            <a:off x="8578524" y="418096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Pipeline Management</a:t>
            </a:r>
            <a:endParaRPr lang="en-US" sz="1100" dirty="0"/>
          </a:p>
        </p:txBody>
      </p:sp>
      <p:sp>
        <p:nvSpPr>
          <p:cNvPr id="51" name="Function label"/>
          <p:cNvSpPr txBox="1"/>
          <p:nvPr/>
        </p:nvSpPr>
        <p:spPr>
          <a:xfrm>
            <a:off x="4724705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22 capabilities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REVOPS FLYWHEEL  ·  DRILL-IN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Marketing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NewEdge Growth, Hg Growth Summit 2025</a:t>
            </a:r>
            <a:endParaRPr lang="en-US" sz="1000" dirty="0"/>
          </a:p>
        </p:txBody>
      </p:sp>
      <p:sp>
        <p:nvSpPr>
          <p:cNvPr id="5" name="Fan shadow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480000"/>
              <a:gd name="adj2" fmla="val 19920000"/>
              <a:gd name="adj3" fmla="val 36087"/>
            </a:avLst>
          </a:prstGeom>
          <a:solidFill>
            <a:srgbClr val="56604E"/>
          </a:solidFill>
          <a:ln/>
          <a:effectLst>
            <a:outerShdw sx="100000" sy="100000" kx="0" ky="0" algn="bl" rotWithShape="0" blurRad="381000" dist="101600" dir="5400000">
              <a:srgbClr val="16261D">
                <a:alpha val="25000"/>
              </a:srgbClr>
            </a:outerShdw>
          </a:effectLst>
        </p:spPr>
      </p:sp>
      <p:sp>
        <p:nvSpPr>
          <p:cNvPr id="6" name="Marketing 173"/>
          <p:cNvSpPr/>
          <p:nvPr/>
        </p:nvSpPr>
        <p:spPr>
          <a:xfrm>
            <a:off x="3124505" y="3429000"/>
            <a:ext cx="5943600" cy="5943600"/>
          </a:xfrm>
          <a:prstGeom prst="blockArc">
            <a:avLst>
              <a:gd name="adj1" fmla="val 12480000"/>
              <a:gd name="adj2" fmla="val 19920000"/>
              <a:gd name="adj3" fmla="val 25385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7" name="Reporting &amp; Forecasting 17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480000"/>
              <a:gd name="adj2" fmla="val 12852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8" name="Budget Management 17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852000"/>
              <a:gd name="adj2" fmla="val 13224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9" name="A/B Testing 17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224000"/>
              <a:gd name="adj2" fmla="val 13596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0" name="Retention Campaigns 17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596000"/>
              <a:gd name="adj2" fmla="val 13968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1" name="Marketing Analytics 17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968000"/>
              <a:gd name="adj2" fmla="val 14340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2" name="Targeting &amp; Personalisation 17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340000"/>
              <a:gd name="adj2" fmla="val 14712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3" name="Customer Segmentation 18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712000"/>
              <a:gd name="adj2" fmla="val 15084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4" name="Affiliate Marketing 18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084000"/>
              <a:gd name="adj2" fmla="val 15456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5" name="Influencer Partnerships 18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456000"/>
              <a:gd name="adj2" fmla="val 15828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6" name="Public Relations 18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828000"/>
              <a:gd name="adj2" fmla="val 16200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7" name="Paid Advertising 18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200000"/>
              <a:gd name="adj2" fmla="val 16572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8" name="Competitor Analysis 18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572000"/>
              <a:gd name="adj2" fmla="val 16944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9" name="Market Research 18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944000"/>
              <a:gd name="adj2" fmla="val 17316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0" name="Email Marketing 18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316000"/>
              <a:gd name="adj2" fmla="val 17688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1" name="Webinars &amp; Events 18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688000"/>
              <a:gd name="adj2" fmla="val 18060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2" name="Social Media 18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060000"/>
              <a:gd name="adj2" fmla="val 18432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3" name="SEO Optimisation 19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432000"/>
              <a:gd name="adj2" fmla="val 18804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4" name="Content Strategy 19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804000"/>
              <a:gd name="adj2" fmla="val 19176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5" name="Brand Awareness 19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176000"/>
              <a:gd name="adj2" fmla="val 19548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6" name="Lead Generation 19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548000"/>
              <a:gd name="adj2" fmla="val 19920000"/>
              <a:gd name="adj3" fmla="val 21739"/>
            </a:avLst>
          </a:prstGeom>
          <a:solidFill>
            <a:srgbClr val="56604E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7" name="Label 194"/>
          <p:cNvSpPr txBox="1"/>
          <p:nvPr/>
        </p:nvSpPr>
        <p:spPr>
          <a:xfrm rot="1866000">
            <a:off x="1521377" y="416360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Reporting &amp; Forecasting</a:t>
            </a:r>
            <a:endParaRPr lang="en-US" sz="1100" dirty="0"/>
          </a:p>
        </p:txBody>
      </p:sp>
      <p:sp>
        <p:nvSpPr>
          <p:cNvPr id="28" name="Label 195"/>
          <p:cNvSpPr txBox="1"/>
          <p:nvPr/>
        </p:nvSpPr>
        <p:spPr>
          <a:xfrm rot="2238000">
            <a:off x="1771531" y="379551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Budget Management</a:t>
            </a:r>
            <a:endParaRPr lang="en-US" sz="1100" dirty="0"/>
          </a:p>
        </p:txBody>
      </p:sp>
      <p:sp>
        <p:nvSpPr>
          <p:cNvPr id="29" name="Label 196"/>
          <p:cNvSpPr txBox="1"/>
          <p:nvPr/>
        </p:nvSpPr>
        <p:spPr>
          <a:xfrm rot="2610000">
            <a:off x="2059974" y="345659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A/B Testing</a:t>
            </a:r>
            <a:endParaRPr lang="en-US" sz="1100" dirty="0"/>
          </a:p>
        </p:txBody>
      </p:sp>
      <p:sp>
        <p:nvSpPr>
          <p:cNvPr id="30" name="Label 197"/>
          <p:cNvSpPr txBox="1"/>
          <p:nvPr/>
        </p:nvSpPr>
        <p:spPr>
          <a:xfrm rot="2982000">
            <a:off x="2383334" y="315081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Retention Campaigns</a:t>
            </a:r>
            <a:endParaRPr lang="en-US" sz="1100" dirty="0"/>
          </a:p>
        </p:txBody>
      </p:sp>
      <p:sp>
        <p:nvSpPr>
          <p:cNvPr id="31" name="Label 198"/>
          <p:cNvSpPr txBox="1"/>
          <p:nvPr/>
        </p:nvSpPr>
        <p:spPr>
          <a:xfrm rot="3354000">
            <a:off x="2737827" y="288173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Marketing Analytics</a:t>
            </a:r>
            <a:endParaRPr lang="en-US" sz="1100" dirty="0"/>
          </a:p>
        </p:txBody>
      </p:sp>
      <p:sp>
        <p:nvSpPr>
          <p:cNvPr id="32" name="Label 199"/>
          <p:cNvSpPr txBox="1"/>
          <p:nvPr/>
        </p:nvSpPr>
        <p:spPr>
          <a:xfrm rot="3726000">
            <a:off x="3119307" y="265252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Targeting &amp; Personalisation</a:t>
            </a:r>
            <a:endParaRPr lang="en-US" sz="1100" dirty="0"/>
          </a:p>
        </p:txBody>
      </p:sp>
      <p:sp>
        <p:nvSpPr>
          <p:cNvPr id="33" name="Label 200"/>
          <p:cNvSpPr txBox="1"/>
          <p:nvPr/>
        </p:nvSpPr>
        <p:spPr>
          <a:xfrm rot="4098000">
            <a:off x="3523311" y="246584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Segmentation</a:t>
            </a:r>
            <a:endParaRPr lang="en-US" sz="1100" dirty="0"/>
          </a:p>
        </p:txBody>
      </p:sp>
      <p:sp>
        <p:nvSpPr>
          <p:cNvPr id="34" name="Label 201"/>
          <p:cNvSpPr txBox="1"/>
          <p:nvPr/>
        </p:nvSpPr>
        <p:spPr>
          <a:xfrm rot="4470000">
            <a:off x="3945112" y="232389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Affiliate Marketing</a:t>
            </a:r>
            <a:endParaRPr lang="en-US" sz="1100" dirty="0"/>
          </a:p>
        </p:txBody>
      </p:sp>
      <p:sp>
        <p:nvSpPr>
          <p:cNvPr id="35" name="Label 202"/>
          <p:cNvSpPr txBox="1"/>
          <p:nvPr/>
        </p:nvSpPr>
        <p:spPr>
          <a:xfrm rot="4842000">
            <a:off x="4379777" y="222832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Influencer Partnerships</a:t>
            </a:r>
            <a:endParaRPr lang="en-US" sz="1100" dirty="0"/>
          </a:p>
        </p:txBody>
      </p:sp>
      <p:sp>
        <p:nvSpPr>
          <p:cNvPr id="36" name="Label 203"/>
          <p:cNvSpPr txBox="1"/>
          <p:nvPr/>
        </p:nvSpPr>
        <p:spPr>
          <a:xfrm rot="5214000">
            <a:off x="4822221" y="218026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Public Relations</a:t>
            </a:r>
            <a:endParaRPr lang="en-US" sz="1100" dirty="0"/>
          </a:p>
        </p:txBody>
      </p:sp>
      <p:sp>
        <p:nvSpPr>
          <p:cNvPr id="37" name="Label 204"/>
          <p:cNvSpPr txBox="1"/>
          <p:nvPr/>
        </p:nvSpPr>
        <p:spPr>
          <a:xfrm rot="-5214000">
            <a:off x="5267268" y="218026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Advertising</a:t>
            </a:r>
            <a:endParaRPr lang="en-US" sz="1100" dirty="0"/>
          </a:p>
        </p:txBody>
      </p:sp>
      <p:sp>
        <p:nvSpPr>
          <p:cNvPr id="38" name="Label 205"/>
          <p:cNvSpPr txBox="1"/>
          <p:nvPr/>
        </p:nvSpPr>
        <p:spPr>
          <a:xfrm rot="-4842000">
            <a:off x="5709712" y="222832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Competitor Analysis</a:t>
            </a:r>
            <a:endParaRPr lang="en-US" sz="1100" dirty="0"/>
          </a:p>
        </p:txBody>
      </p:sp>
      <p:sp>
        <p:nvSpPr>
          <p:cNvPr id="39" name="Label 206"/>
          <p:cNvSpPr txBox="1"/>
          <p:nvPr/>
        </p:nvSpPr>
        <p:spPr>
          <a:xfrm rot="-4470000">
            <a:off x="6144377" y="232389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Market Research</a:t>
            </a:r>
            <a:endParaRPr lang="en-US" sz="1100" dirty="0"/>
          </a:p>
        </p:txBody>
      </p:sp>
      <p:sp>
        <p:nvSpPr>
          <p:cNvPr id="40" name="Label 207"/>
          <p:cNvSpPr txBox="1"/>
          <p:nvPr/>
        </p:nvSpPr>
        <p:spPr>
          <a:xfrm rot="-4098000">
            <a:off x="6566179" y="246584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Email Marketing</a:t>
            </a:r>
            <a:endParaRPr lang="en-US" sz="1100" dirty="0"/>
          </a:p>
        </p:txBody>
      </p:sp>
      <p:sp>
        <p:nvSpPr>
          <p:cNvPr id="41" name="Label 208"/>
          <p:cNvSpPr txBox="1"/>
          <p:nvPr/>
        </p:nvSpPr>
        <p:spPr>
          <a:xfrm rot="-3726000">
            <a:off x="6970182" y="265252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Webinars &amp; Events</a:t>
            </a:r>
            <a:endParaRPr lang="en-US" sz="1100" dirty="0"/>
          </a:p>
        </p:txBody>
      </p:sp>
      <p:sp>
        <p:nvSpPr>
          <p:cNvPr id="42" name="Label 209"/>
          <p:cNvSpPr txBox="1"/>
          <p:nvPr/>
        </p:nvSpPr>
        <p:spPr>
          <a:xfrm rot="-3354000">
            <a:off x="7351662" y="288173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Social Media</a:t>
            </a:r>
            <a:endParaRPr lang="en-US" sz="1100" dirty="0"/>
          </a:p>
        </p:txBody>
      </p:sp>
      <p:sp>
        <p:nvSpPr>
          <p:cNvPr id="43" name="Label 210"/>
          <p:cNvSpPr txBox="1"/>
          <p:nvPr/>
        </p:nvSpPr>
        <p:spPr>
          <a:xfrm rot="-2982000">
            <a:off x="7706155" y="315081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SEO Optimisation</a:t>
            </a:r>
            <a:endParaRPr lang="en-US" sz="1100" dirty="0"/>
          </a:p>
        </p:txBody>
      </p:sp>
      <p:sp>
        <p:nvSpPr>
          <p:cNvPr id="44" name="Label 211"/>
          <p:cNvSpPr txBox="1"/>
          <p:nvPr/>
        </p:nvSpPr>
        <p:spPr>
          <a:xfrm rot="-2610000">
            <a:off x="8029515" y="345659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Content Strategy</a:t>
            </a:r>
            <a:endParaRPr lang="en-US" sz="1100" dirty="0"/>
          </a:p>
        </p:txBody>
      </p:sp>
      <p:sp>
        <p:nvSpPr>
          <p:cNvPr id="45" name="Label 212"/>
          <p:cNvSpPr txBox="1"/>
          <p:nvPr/>
        </p:nvSpPr>
        <p:spPr>
          <a:xfrm rot="-2238000">
            <a:off x="8317959" y="379551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Brand Awareness</a:t>
            </a:r>
            <a:endParaRPr lang="en-US" sz="1100" dirty="0"/>
          </a:p>
        </p:txBody>
      </p:sp>
      <p:sp>
        <p:nvSpPr>
          <p:cNvPr id="46" name="Label 213"/>
          <p:cNvSpPr txBox="1"/>
          <p:nvPr/>
        </p:nvSpPr>
        <p:spPr>
          <a:xfrm rot="-1866000">
            <a:off x="8568113" y="416360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</a:t>
            </a:r>
            <a:endParaRPr lang="en-US" sz="1100" dirty="0"/>
          </a:p>
        </p:txBody>
      </p:sp>
      <p:sp>
        <p:nvSpPr>
          <p:cNvPr id="47" name="Function label"/>
          <p:cNvSpPr txBox="1"/>
          <p:nvPr/>
        </p:nvSpPr>
        <p:spPr>
          <a:xfrm>
            <a:off x="4724705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 capabilities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REVOPS FLYWHEEL  ·  DRILL-IN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Customer Success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NewEdge Growth, Hg Growth Summit 2025</a:t>
            </a:r>
            <a:endParaRPr lang="en-US" sz="1000" dirty="0"/>
          </a:p>
        </p:txBody>
      </p:sp>
      <p:sp>
        <p:nvSpPr>
          <p:cNvPr id="5" name="Fan shadow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480000"/>
              <a:gd name="adj2" fmla="val 19920000"/>
              <a:gd name="adj3" fmla="val 36087"/>
            </a:avLst>
          </a:prstGeom>
          <a:solidFill>
            <a:srgbClr val="93A87B"/>
          </a:solidFill>
          <a:ln/>
          <a:effectLst>
            <a:outerShdw sx="100000" sy="100000" kx="0" ky="0" algn="bl" rotWithShape="0" blurRad="381000" dist="101600" dir="5400000">
              <a:srgbClr val="16261D">
                <a:alpha val="25000"/>
              </a:srgbClr>
            </a:outerShdw>
          </a:effectLst>
        </p:spPr>
      </p:sp>
      <p:sp>
        <p:nvSpPr>
          <p:cNvPr id="6" name="Customer Success 214"/>
          <p:cNvSpPr/>
          <p:nvPr/>
        </p:nvSpPr>
        <p:spPr>
          <a:xfrm>
            <a:off x="3124505" y="3429000"/>
            <a:ext cx="5943600" cy="5943600"/>
          </a:xfrm>
          <a:prstGeom prst="blockArc">
            <a:avLst>
              <a:gd name="adj1" fmla="val 12480000"/>
              <a:gd name="adj2" fmla="val 19920000"/>
              <a:gd name="adj3" fmla="val 25385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7" name="Advocacy Programme 21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480000"/>
              <a:gd name="adj2" fmla="val 12852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8" name="Success Planning 21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852000"/>
              <a:gd name="adj2" fmla="val 13224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9" name="Customer Analytics 21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224000"/>
              <a:gd name="adj2" fmla="val 13596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0" name="Voice of Customer 21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596000"/>
              <a:gd name="adj2" fmla="val 13968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1" name="Community Building 21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968000"/>
              <a:gd name="adj2" fmla="val 14340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2" name="Customer Health 22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340000"/>
              <a:gd name="adj2" fmla="val 14712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3" name="Escalation Handling 22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712000"/>
              <a:gd name="adj2" fmla="val 15084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4" name="SLA Management 22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084000"/>
              <a:gd name="adj2" fmla="val 15456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5" name="QBRs 22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456000"/>
              <a:gd name="adj2" fmla="val 15828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6" name="Customer Reviews 22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828000"/>
              <a:gd name="adj2" fmla="val 16200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7" name="Contract Renewals 22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200000"/>
              <a:gd name="adj2" fmla="val 16572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8" name="Customer Training 22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572000"/>
              <a:gd name="adj2" fmla="val 16944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19" name="Relationship Management 22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944000"/>
              <a:gd name="adj2" fmla="val 17316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0" name="Customer Support 22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316000"/>
              <a:gd name="adj2" fmla="val 17688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1" name="Customer Satisfaction 22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688000"/>
              <a:gd name="adj2" fmla="val 18060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2" name="Upselling &amp; Cross-selling 23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060000"/>
              <a:gd name="adj2" fmla="val 18432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3" name="Retention &amp; Churn 23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432000"/>
              <a:gd name="adj2" fmla="val 18804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4" name="Account Management 23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804000"/>
              <a:gd name="adj2" fmla="val 19176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5" name="Product Adoption 23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176000"/>
              <a:gd name="adj2" fmla="val 19548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6" name="Customer Onboarding 23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548000"/>
              <a:gd name="adj2" fmla="val 19920000"/>
              <a:gd name="adj3" fmla="val 21739"/>
            </a:avLst>
          </a:prstGeom>
          <a:solidFill>
            <a:srgbClr val="93A87B"/>
          </a:solidFill>
          <a:ln w="25400">
            <a:solidFill>
              <a:srgbClr val="F5F7F0"/>
            </a:solidFill>
            <a:prstDash val="solid"/>
          </a:ln>
        </p:spPr>
      </p:sp>
      <p:sp>
        <p:nvSpPr>
          <p:cNvPr id="27" name="Label 235"/>
          <p:cNvSpPr txBox="1"/>
          <p:nvPr/>
        </p:nvSpPr>
        <p:spPr>
          <a:xfrm rot="1866000">
            <a:off x="1521377" y="416360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Advocacy Programme</a:t>
            </a:r>
            <a:endParaRPr lang="en-US" sz="1100" dirty="0"/>
          </a:p>
        </p:txBody>
      </p:sp>
      <p:sp>
        <p:nvSpPr>
          <p:cNvPr id="28" name="Label 236"/>
          <p:cNvSpPr txBox="1"/>
          <p:nvPr/>
        </p:nvSpPr>
        <p:spPr>
          <a:xfrm rot="2238000">
            <a:off x="1771531" y="379551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Success Planning</a:t>
            </a:r>
            <a:endParaRPr lang="en-US" sz="1100" dirty="0"/>
          </a:p>
        </p:txBody>
      </p:sp>
      <p:sp>
        <p:nvSpPr>
          <p:cNvPr id="29" name="Label 237"/>
          <p:cNvSpPr txBox="1"/>
          <p:nvPr/>
        </p:nvSpPr>
        <p:spPr>
          <a:xfrm rot="2610000">
            <a:off x="2059974" y="345659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Analytics</a:t>
            </a:r>
            <a:endParaRPr lang="en-US" sz="1100" dirty="0"/>
          </a:p>
        </p:txBody>
      </p:sp>
      <p:sp>
        <p:nvSpPr>
          <p:cNvPr id="30" name="Label 238"/>
          <p:cNvSpPr txBox="1"/>
          <p:nvPr/>
        </p:nvSpPr>
        <p:spPr>
          <a:xfrm rot="2982000">
            <a:off x="2383334" y="315081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Voice of Customer</a:t>
            </a:r>
            <a:endParaRPr lang="en-US" sz="1100" dirty="0"/>
          </a:p>
        </p:txBody>
      </p:sp>
      <p:sp>
        <p:nvSpPr>
          <p:cNvPr id="31" name="Label 239"/>
          <p:cNvSpPr txBox="1"/>
          <p:nvPr/>
        </p:nvSpPr>
        <p:spPr>
          <a:xfrm rot="3354000">
            <a:off x="2737827" y="288173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Community Building</a:t>
            </a:r>
            <a:endParaRPr lang="en-US" sz="1100" dirty="0"/>
          </a:p>
        </p:txBody>
      </p:sp>
      <p:sp>
        <p:nvSpPr>
          <p:cNvPr id="32" name="Label 240"/>
          <p:cNvSpPr txBox="1"/>
          <p:nvPr/>
        </p:nvSpPr>
        <p:spPr>
          <a:xfrm rot="3726000">
            <a:off x="3119307" y="265252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Health</a:t>
            </a:r>
            <a:endParaRPr lang="en-US" sz="1100" dirty="0"/>
          </a:p>
        </p:txBody>
      </p:sp>
      <p:sp>
        <p:nvSpPr>
          <p:cNvPr id="33" name="Label 241"/>
          <p:cNvSpPr txBox="1"/>
          <p:nvPr/>
        </p:nvSpPr>
        <p:spPr>
          <a:xfrm rot="4098000">
            <a:off x="3523311" y="246584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Escalation Handling</a:t>
            </a:r>
            <a:endParaRPr lang="en-US" sz="1100" dirty="0"/>
          </a:p>
        </p:txBody>
      </p:sp>
      <p:sp>
        <p:nvSpPr>
          <p:cNvPr id="34" name="Label 242"/>
          <p:cNvSpPr txBox="1"/>
          <p:nvPr/>
        </p:nvSpPr>
        <p:spPr>
          <a:xfrm rot="4470000">
            <a:off x="3945112" y="232389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SLA Management</a:t>
            </a:r>
            <a:endParaRPr lang="en-US" sz="1100" dirty="0"/>
          </a:p>
        </p:txBody>
      </p:sp>
      <p:sp>
        <p:nvSpPr>
          <p:cNvPr id="35" name="Label 243"/>
          <p:cNvSpPr txBox="1"/>
          <p:nvPr/>
        </p:nvSpPr>
        <p:spPr>
          <a:xfrm rot="4842000">
            <a:off x="4379777" y="222832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QBRs</a:t>
            </a:r>
            <a:endParaRPr lang="en-US" sz="1100" dirty="0"/>
          </a:p>
        </p:txBody>
      </p:sp>
      <p:sp>
        <p:nvSpPr>
          <p:cNvPr id="36" name="Label 244"/>
          <p:cNvSpPr txBox="1"/>
          <p:nvPr/>
        </p:nvSpPr>
        <p:spPr>
          <a:xfrm rot="5214000">
            <a:off x="4822221" y="218026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Reviews</a:t>
            </a:r>
            <a:endParaRPr lang="en-US" sz="1100" dirty="0"/>
          </a:p>
        </p:txBody>
      </p:sp>
      <p:sp>
        <p:nvSpPr>
          <p:cNvPr id="37" name="Label 245"/>
          <p:cNvSpPr txBox="1"/>
          <p:nvPr/>
        </p:nvSpPr>
        <p:spPr>
          <a:xfrm rot="-5214000">
            <a:off x="5267268" y="218026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Contract Renewals</a:t>
            </a:r>
            <a:endParaRPr lang="en-US" sz="1100" dirty="0"/>
          </a:p>
        </p:txBody>
      </p:sp>
      <p:sp>
        <p:nvSpPr>
          <p:cNvPr id="38" name="Label 246"/>
          <p:cNvSpPr txBox="1"/>
          <p:nvPr/>
        </p:nvSpPr>
        <p:spPr>
          <a:xfrm rot="-4842000">
            <a:off x="5709712" y="222832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Training</a:t>
            </a:r>
            <a:endParaRPr lang="en-US" sz="1100" dirty="0"/>
          </a:p>
        </p:txBody>
      </p:sp>
      <p:sp>
        <p:nvSpPr>
          <p:cNvPr id="39" name="Label 247"/>
          <p:cNvSpPr txBox="1"/>
          <p:nvPr/>
        </p:nvSpPr>
        <p:spPr>
          <a:xfrm rot="-4470000">
            <a:off x="6144377" y="232389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Relationship Management</a:t>
            </a:r>
            <a:endParaRPr lang="en-US" sz="1100" dirty="0"/>
          </a:p>
        </p:txBody>
      </p:sp>
      <p:sp>
        <p:nvSpPr>
          <p:cNvPr id="40" name="Label 248"/>
          <p:cNvSpPr txBox="1"/>
          <p:nvPr/>
        </p:nvSpPr>
        <p:spPr>
          <a:xfrm rot="-4098000">
            <a:off x="6566179" y="246584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Support</a:t>
            </a:r>
            <a:endParaRPr lang="en-US" sz="1100" dirty="0"/>
          </a:p>
        </p:txBody>
      </p:sp>
      <p:sp>
        <p:nvSpPr>
          <p:cNvPr id="41" name="Label 249"/>
          <p:cNvSpPr txBox="1"/>
          <p:nvPr/>
        </p:nvSpPr>
        <p:spPr>
          <a:xfrm rot="-3726000">
            <a:off x="6970182" y="265252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Satisfaction</a:t>
            </a:r>
            <a:endParaRPr lang="en-US" sz="1100" dirty="0"/>
          </a:p>
        </p:txBody>
      </p:sp>
      <p:sp>
        <p:nvSpPr>
          <p:cNvPr id="42" name="Label 250"/>
          <p:cNvSpPr txBox="1"/>
          <p:nvPr/>
        </p:nvSpPr>
        <p:spPr>
          <a:xfrm rot="-3354000">
            <a:off x="7351662" y="288173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Upselling &amp; Cross-selling</a:t>
            </a:r>
            <a:endParaRPr lang="en-US" sz="1100" dirty="0"/>
          </a:p>
        </p:txBody>
      </p:sp>
      <p:sp>
        <p:nvSpPr>
          <p:cNvPr id="43" name="Label 251"/>
          <p:cNvSpPr txBox="1"/>
          <p:nvPr/>
        </p:nvSpPr>
        <p:spPr>
          <a:xfrm rot="-2982000">
            <a:off x="7706155" y="315081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Retention &amp; Churn</a:t>
            </a:r>
            <a:endParaRPr lang="en-US" sz="1100" dirty="0"/>
          </a:p>
        </p:txBody>
      </p:sp>
      <p:sp>
        <p:nvSpPr>
          <p:cNvPr id="44" name="Label 252"/>
          <p:cNvSpPr txBox="1"/>
          <p:nvPr/>
        </p:nvSpPr>
        <p:spPr>
          <a:xfrm rot="-2610000">
            <a:off x="8029515" y="345659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Account Management</a:t>
            </a:r>
            <a:endParaRPr lang="en-US" sz="1100" dirty="0"/>
          </a:p>
        </p:txBody>
      </p:sp>
      <p:sp>
        <p:nvSpPr>
          <p:cNvPr id="45" name="Label 253"/>
          <p:cNvSpPr txBox="1"/>
          <p:nvPr/>
        </p:nvSpPr>
        <p:spPr>
          <a:xfrm rot="-2238000">
            <a:off x="8317959" y="379551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Product Adoption</a:t>
            </a:r>
            <a:endParaRPr lang="en-US" sz="1100" dirty="0"/>
          </a:p>
        </p:txBody>
      </p:sp>
      <p:sp>
        <p:nvSpPr>
          <p:cNvPr id="46" name="Label 254"/>
          <p:cNvSpPr txBox="1"/>
          <p:nvPr/>
        </p:nvSpPr>
        <p:spPr>
          <a:xfrm rot="-1866000">
            <a:off x="8568113" y="416360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Onboarding</a:t>
            </a:r>
            <a:endParaRPr lang="en-US" sz="1100" dirty="0"/>
          </a:p>
        </p:txBody>
      </p:sp>
      <p:sp>
        <p:nvSpPr>
          <p:cNvPr id="47" name="Function label"/>
          <p:cNvSpPr txBox="1"/>
          <p:nvPr/>
        </p:nvSpPr>
        <p:spPr>
          <a:xfrm>
            <a:off x="4724705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626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Success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 capabilities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CRAWL, WALK, RUN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2"/>
                </a:solidFill>
              </a:rPr>
              <a:t>The journey to predictable revenue growth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Fullcast, Hg Growth Summit 2025</a:t>
            </a:r>
            <a:endParaRPr lang="en-US" sz="1000" dirty="0"/>
          </a:p>
        </p:txBody>
      </p:sp>
      <p:sp>
        <p:nvSpPr>
          <p:cNvPr id="5" name="Curve glow"/>
          <p:cNvSpPr/>
          <p:nvPr/>
        </p:nvSpPr>
        <p:spPr>
          <a:xfrm>
            <a:off x="365760" y="3291840"/>
            <a:ext cx="11064240" cy="2194560"/>
          </a:xfrm>
          <a:custGeom>
            <a:avLst/>
            <a:gdLst/>
            <a:ahLst/>
            <a:cxnLst/>
            <a:rect l="l" t="t" r="r" b="b"/>
            <a:pathLst>
              <a:path w="11064240" h="2194560">
                <a:moveTo>
                  <a:pt x="0" y="2194560"/>
                </a:moveTo>
                <a:lnTo>
                  <a:pt x="184404" y="2182917"/>
                </a:lnTo>
                <a:lnTo>
                  <a:pt x="368808" y="2170880"/>
                </a:lnTo>
                <a:lnTo>
                  <a:pt x="553212" y="2158435"/>
                </a:lnTo>
                <a:lnTo>
                  <a:pt x="737616" y="2145568"/>
                </a:lnTo>
                <a:lnTo>
                  <a:pt x="922020" y="2132265"/>
                </a:lnTo>
                <a:lnTo>
                  <a:pt x="1106424" y="2118511"/>
                </a:lnTo>
                <a:lnTo>
                  <a:pt x="1290828" y="2104291"/>
                </a:lnTo>
                <a:lnTo>
                  <a:pt x="1475232" y="2089588"/>
                </a:lnTo>
                <a:lnTo>
                  <a:pt x="1659636" y="2074388"/>
                </a:lnTo>
                <a:lnTo>
                  <a:pt x="1844040" y="2058672"/>
                </a:lnTo>
                <a:lnTo>
                  <a:pt x="2028444" y="2042424"/>
                </a:lnTo>
                <a:lnTo>
                  <a:pt x="2212848" y="2025624"/>
                </a:lnTo>
                <a:lnTo>
                  <a:pt x="2397252" y="2008256"/>
                </a:lnTo>
                <a:lnTo>
                  <a:pt x="2581656" y="1990298"/>
                </a:lnTo>
                <a:lnTo>
                  <a:pt x="2766060" y="1971732"/>
                </a:lnTo>
                <a:lnTo>
                  <a:pt x="2950464" y="1952537"/>
                </a:lnTo>
                <a:lnTo>
                  <a:pt x="3134868" y="1932691"/>
                </a:lnTo>
                <a:lnTo>
                  <a:pt x="3319272" y="1912173"/>
                </a:lnTo>
                <a:lnTo>
                  <a:pt x="3503676" y="1890958"/>
                </a:lnTo>
                <a:lnTo>
                  <a:pt x="3688080" y="1869025"/>
                </a:lnTo>
                <a:lnTo>
                  <a:pt x="3872484" y="1846349"/>
                </a:lnTo>
                <a:lnTo>
                  <a:pt x="4056888" y="1822904"/>
                </a:lnTo>
                <a:lnTo>
                  <a:pt x="4241292" y="1798664"/>
                </a:lnTo>
                <a:lnTo>
                  <a:pt x="4425696" y="1773602"/>
                </a:lnTo>
                <a:lnTo>
                  <a:pt x="4610100" y="1747691"/>
                </a:lnTo>
                <a:lnTo>
                  <a:pt x="4794504" y="1720902"/>
                </a:lnTo>
                <a:lnTo>
                  <a:pt x="4978908" y="1693205"/>
                </a:lnTo>
                <a:lnTo>
                  <a:pt x="5163312" y="1664569"/>
                </a:lnTo>
                <a:lnTo>
                  <a:pt x="5347716" y="1634962"/>
                </a:lnTo>
                <a:lnTo>
                  <a:pt x="5532120" y="1604352"/>
                </a:lnTo>
                <a:lnTo>
                  <a:pt x="5716524" y="1572704"/>
                </a:lnTo>
                <a:lnTo>
                  <a:pt x="5900928" y="1539984"/>
                </a:lnTo>
                <a:lnTo>
                  <a:pt x="6085332" y="1506154"/>
                </a:lnTo>
                <a:lnTo>
                  <a:pt x="6269736" y="1471178"/>
                </a:lnTo>
                <a:lnTo>
                  <a:pt x="6454140" y="1435017"/>
                </a:lnTo>
                <a:lnTo>
                  <a:pt x="6638544" y="1397629"/>
                </a:lnTo>
                <a:lnTo>
                  <a:pt x="6822948" y="1358975"/>
                </a:lnTo>
                <a:lnTo>
                  <a:pt x="7007352" y="1319010"/>
                </a:lnTo>
                <a:lnTo>
                  <a:pt x="7191756" y="1277690"/>
                </a:lnTo>
                <a:lnTo>
                  <a:pt x="7376160" y="1234970"/>
                </a:lnTo>
                <a:lnTo>
                  <a:pt x="7560564" y="1190802"/>
                </a:lnTo>
                <a:lnTo>
                  <a:pt x="7744968" y="1145137"/>
                </a:lnTo>
                <a:lnTo>
                  <a:pt x="7929372" y="1097925"/>
                </a:lnTo>
                <a:lnTo>
                  <a:pt x="8113776" y="1049111"/>
                </a:lnTo>
                <a:lnTo>
                  <a:pt x="8298180" y="998644"/>
                </a:lnTo>
                <a:lnTo>
                  <a:pt x="8482584" y="946466"/>
                </a:lnTo>
                <a:lnTo>
                  <a:pt x="8666988" y="892519"/>
                </a:lnTo>
                <a:lnTo>
                  <a:pt x="8851392" y="836743"/>
                </a:lnTo>
                <a:lnTo>
                  <a:pt x="9035796" y="779077"/>
                </a:lnTo>
                <a:lnTo>
                  <a:pt x="9220200" y="719457"/>
                </a:lnTo>
                <a:lnTo>
                  <a:pt x="9404604" y="657816"/>
                </a:lnTo>
                <a:lnTo>
                  <a:pt x="9589008" y="594085"/>
                </a:lnTo>
                <a:lnTo>
                  <a:pt x="9773412" y="528194"/>
                </a:lnTo>
                <a:lnTo>
                  <a:pt x="9957816" y="460070"/>
                </a:lnTo>
                <a:lnTo>
                  <a:pt x="10142220" y="389637"/>
                </a:lnTo>
                <a:lnTo>
                  <a:pt x="10326624" y="316816"/>
                </a:lnTo>
                <a:lnTo>
                  <a:pt x="10511028" y="241527"/>
                </a:lnTo>
                <a:lnTo>
                  <a:pt x="10695432" y="163686"/>
                </a:lnTo>
                <a:lnTo>
                  <a:pt x="10879836" y="83207"/>
                </a:lnTo>
                <a:lnTo>
                  <a:pt x="11064240" y="0"/>
                </a:lnTo>
              </a:path>
            </a:pathLst>
          </a:custGeom>
          <a:noFill/>
          <a:ln w="152400">
            <a:solidFill>
              <a:srgbClr val="93A87B">
                <a:alpha val="18000"/>
              </a:srgbClr>
            </a:solidFill>
            <a:prstDash val="solid"/>
          </a:ln>
        </p:spPr>
      </p:sp>
      <p:sp>
        <p:nvSpPr>
          <p:cNvPr id="6" name="Growth curve"/>
          <p:cNvSpPr/>
          <p:nvPr/>
        </p:nvSpPr>
        <p:spPr>
          <a:xfrm>
            <a:off x="365760" y="3291840"/>
            <a:ext cx="11064240" cy="2194560"/>
          </a:xfrm>
          <a:custGeom>
            <a:avLst/>
            <a:gdLst/>
            <a:ahLst/>
            <a:cxnLst/>
            <a:rect l="l" t="t" r="r" b="b"/>
            <a:pathLst>
              <a:path w="11064240" h="2194560">
                <a:moveTo>
                  <a:pt x="0" y="2194560"/>
                </a:moveTo>
                <a:lnTo>
                  <a:pt x="184404" y="2182917"/>
                </a:lnTo>
                <a:lnTo>
                  <a:pt x="368808" y="2170880"/>
                </a:lnTo>
                <a:lnTo>
                  <a:pt x="553212" y="2158435"/>
                </a:lnTo>
                <a:lnTo>
                  <a:pt x="737616" y="2145568"/>
                </a:lnTo>
                <a:lnTo>
                  <a:pt x="922020" y="2132265"/>
                </a:lnTo>
                <a:lnTo>
                  <a:pt x="1106424" y="2118511"/>
                </a:lnTo>
                <a:lnTo>
                  <a:pt x="1290828" y="2104291"/>
                </a:lnTo>
                <a:lnTo>
                  <a:pt x="1475232" y="2089588"/>
                </a:lnTo>
                <a:lnTo>
                  <a:pt x="1659636" y="2074388"/>
                </a:lnTo>
                <a:lnTo>
                  <a:pt x="1844040" y="2058672"/>
                </a:lnTo>
                <a:lnTo>
                  <a:pt x="2028444" y="2042424"/>
                </a:lnTo>
                <a:lnTo>
                  <a:pt x="2212848" y="2025624"/>
                </a:lnTo>
                <a:lnTo>
                  <a:pt x="2397252" y="2008256"/>
                </a:lnTo>
                <a:lnTo>
                  <a:pt x="2581656" y="1990298"/>
                </a:lnTo>
                <a:lnTo>
                  <a:pt x="2766060" y="1971732"/>
                </a:lnTo>
                <a:lnTo>
                  <a:pt x="2950464" y="1952537"/>
                </a:lnTo>
                <a:lnTo>
                  <a:pt x="3134868" y="1932691"/>
                </a:lnTo>
                <a:lnTo>
                  <a:pt x="3319272" y="1912173"/>
                </a:lnTo>
                <a:lnTo>
                  <a:pt x="3503676" y="1890958"/>
                </a:lnTo>
                <a:lnTo>
                  <a:pt x="3688080" y="1869025"/>
                </a:lnTo>
                <a:lnTo>
                  <a:pt x="3872484" y="1846349"/>
                </a:lnTo>
                <a:lnTo>
                  <a:pt x="4056888" y="1822904"/>
                </a:lnTo>
                <a:lnTo>
                  <a:pt x="4241292" y="1798664"/>
                </a:lnTo>
                <a:lnTo>
                  <a:pt x="4425696" y="1773602"/>
                </a:lnTo>
                <a:lnTo>
                  <a:pt x="4610100" y="1747691"/>
                </a:lnTo>
                <a:lnTo>
                  <a:pt x="4794504" y="1720902"/>
                </a:lnTo>
                <a:lnTo>
                  <a:pt x="4978908" y="1693205"/>
                </a:lnTo>
                <a:lnTo>
                  <a:pt x="5163312" y="1664569"/>
                </a:lnTo>
                <a:lnTo>
                  <a:pt x="5347716" y="1634962"/>
                </a:lnTo>
                <a:lnTo>
                  <a:pt x="5532120" y="1604352"/>
                </a:lnTo>
                <a:lnTo>
                  <a:pt x="5716524" y="1572704"/>
                </a:lnTo>
                <a:lnTo>
                  <a:pt x="5900928" y="1539984"/>
                </a:lnTo>
                <a:lnTo>
                  <a:pt x="6085332" y="1506154"/>
                </a:lnTo>
                <a:lnTo>
                  <a:pt x="6269736" y="1471178"/>
                </a:lnTo>
                <a:lnTo>
                  <a:pt x="6454140" y="1435017"/>
                </a:lnTo>
                <a:lnTo>
                  <a:pt x="6638544" y="1397629"/>
                </a:lnTo>
                <a:lnTo>
                  <a:pt x="6822948" y="1358975"/>
                </a:lnTo>
                <a:lnTo>
                  <a:pt x="7007352" y="1319010"/>
                </a:lnTo>
                <a:lnTo>
                  <a:pt x="7191756" y="1277690"/>
                </a:lnTo>
                <a:lnTo>
                  <a:pt x="7376160" y="1234970"/>
                </a:lnTo>
                <a:lnTo>
                  <a:pt x="7560564" y="1190802"/>
                </a:lnTo>
                <a:lnTo>
                  <a:pt x="7744968" y="1145137"/>
                </a:lnTo>
                <a:lnTo>
                  <a:pt x="7929372" y="1097925"/>
                </a:lnTo>
                <a:lnTo>
                  <a:pt x="8113776" y="1049111"/>
                </a:lnTo>
                <a:lnTo>
                  <a:pt x="8298180" y="998644"/>
                </a:lnTo>
                <a:lnTo>
                  <a:pt x="8482584" y="946466"/>
                </a:lnTo>
                <a:lnTo>
                  <a:pt x="8666988" y="892519"/>
                </a:lnTo>
                <a:lnTo>
                  <a:pt x="8851392" y="836743"/>
                </a:lnTo>
                <a:lnTo>
                  <a:pt x="9035796" y="779077"/>
                </a:lnTo>
                <a:lnTo>
                  <a:pt x="9220200" y="719457"/>
                </a:lnTo>
                <a:lnTo>
                  <a:pt x="9404604" y="657816"/>
                </a:lnTo>
                <a:lnTo>
                  <a:pt x="9589008" y="594085"/>
                </a:lnTo>
                <a:lnTo>
                  <a:pt x="9773412" y="528194"/>
                </a:lnTo>
                <a:lnTo>
                  <a:pt x="9957816" y="460070"/>
                </a:lnTo>
                <a:lnTo>
                  <a:pt x="10142220" y="389637"/>
                </a:lnTo>
                <a:lnTo>
                  <a:pt x="10326624" y="316816"/>
                </a:lnTo>
                <a:lnTo>
                  <a:pt x="10511028" y="241527"/>
                </a:lnTo>
                <a:lnTo>
                  <a:pt x="10695432" y="163686"/>
                </a:lnTo>
                <a:lnTo>
                  <a:pt x="10879836" y="83207"/>
                </a:lnTo>
                <a:lnTo>
                  <a:pt x="11064240" y="0"/>
                </a:lnTo>
              </a:path>
            </a:pathLst>
          </a:custGeom>
          <a:noFill/>
          <a:ln w="38100">
            <a:solidFill>
              <a:srgbClr val="93A87B"/>
            </a:solidFill>
            <a:prstDash val="solid"/>
            <a:tailEnd type="triangle"/>
          </a:ln>
        </p:spPr>
      </p:sp>
      <p:sp>
        <p:nvSpPr>
          <p:cNvPr id="7" name="Tick 1"/>
          <p:cNvSpPr/>
          <p:nvPr/>
        </p:nvSpPr>
        <p:spPr>
          <a:xfrm>
            <a:off x="2011680" y="4856397"/>
            <a:ext cx="0" cy="510979"/>
          </a:xfrm>
          <a:prstGeom prst="line">
            <a:avLst/>
          </a:prstGeom>
          <a:noFill/>
          <a:ln w="12700">
            <a:solidFill>
              <a:srgbClr val="93A87B">
                <a:alpha val="70000"/>
              </a:srgbClr>
            </a:solidFill>
            <a:prstDash val="dash"/>
          </a:ln>
        </p:spPr>
      </p:sp>
      <p:sp>
        <p:nvSpPr>
          <p:cNvPr id="8" name="Milestone 1"/>
          <p:cNvSpPr/>
          <p:nvPr/>
        </p:nvSpPr>
        <p:spPr>
          <a:xfrm>
            <a:off x="1911096" y="5266792"/>
            <a:ext cx="201168" cy="201168"/>
          </a:xfrm>
          <a:prstGeom prst="ellipse">
            <a:avLst/>
          </a:prstGeom>
          <a:solidFill>
            <a:srgbClr val="F5F7F0"/>
          </a:solidFill>
          <a:ln w="38100">
            <a:solidFill>
              <a:srgbClr val="93A87B"/>
            </a:solidFill>
            <a:prstDash val="solid"/>
          </a:ln>
        </p:spPr>
      </p:sp>
      <p:sp>
        <p:nvSpPr>
          <p:cNvPr id="9" name="Stage 1"/>
          <p:cNvSpPr txBox="1"/>
          <p:nvPr/>
        </p:nvSpPr>
        <p:spPr>
          <a:xfrm>
            <a:off x="2011680" y="2844717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Revenue insights as a service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Grade every opportunity on relationship strength and your sales methodology</a:t>
            </a:r>
            <a:endParaRPr lang="en-US" sz="1300" dirty="0"/>
          </a:p>
        </p:txBody>
      </p:sp>
      <p:sp>
        <p:nvSpPr>
          <p:cNvPr id="10" name="Icon badge 1"/>
          <p:cNvSpPr/>
          <p:nvPr/>
        </p:nvSpPr>
        <p:spPr>
          <a:xfrm>
            <a:off x="1682496" y="5623408"/>
            <a:ext cx="658368" cy="658368"/>
          </a:xfrm>
          <a:prstGeom prst="ellipse">
            <a:avLst/>
          </a:prstGeom>
          <a:solidFill>
            <a:srgbClr val="1F3529"/>
          </a:solidFill>
          <a:ln w="9525">
            <a:solidFill>
              <a:srgbClr val="93A87B">
                <a:alpha val="5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16261D">
                <a:alpha val="35000"/>
              </a:srgbClr>
            </a:outerShdw>
          </a:effectLst>
        </p:spPr>
      </p:sp>
      <p:pic>
        <p:nvPicPr>
          <p:cNvPr id="11" name="Image 0" descr="Revenue insights as a servic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9656" y="5760568"/>
            <a:ext cx="384048" cy="384048"/>
          </a:xfrm>
          <a:prstGeom prst="rect">
            <a:avLst/>
          </a:prstGeom>
        </p:spPr>
      </p:pic>
      <p:sp>
        <p:nvSpPr>
          <p:cNvPr id="12" name="Tick 2"/>
          <p:cNvSpPr/>
          <p:nvPr/>
        </p:nvSpPr>
        <p:spPr>
          <a:xfrm>
            <a:off x="4572000" y="4444914"/>
            <a:ext cx="0" cy="650260"/>
          </a:xfrm>
          <a:prstGeom prst="line">
            <a:avLst/>
          </a:prstGeom>
          <a:noFill/>
          <a:ln w="12700">
            <a:solidFill>
              <a:srgbClr val="93A87B">
                <a:alpha val="70000"/>
              </a:srgbClr>
            </a:solidFill>
            <a:prstDash val="dash"/>
          </a:ln>
        </p:spPr>
      </p:sp>
      <p:sp>
        <p:nvSpPr>
          <p:cNvPr id="13" name="Milestone 2"/>
          <p:cNvSpPr/>
          <p:nvPr/>
        </p:nvSpPr>
        <p:spPr>
          <a:xfrm>
            <a:off x="4471416" y="4994590"/>
            <a:ext cx="201168" cy="201168"/>
          </a:xfrm>
          <a:prstGeom prst="ellipse">
            <a:avLst/>
          </a:prstGeom>
          <a:solidFill>
            <a:srgbClr val="F5F7F0"/>
          </a:solidFill>
          <a:ln w="38100">
            <a:solidFill>
              <a:srgbClr val="93A87B"/>
            </a:solidFill>
            <a:prstDash val="solid"/>
          </a:ln>
        </p:spPr>
      </p:sp>
      <p:sp>
        <p:nvSpPr>
          <p:cNvPr id="14" name="Stage 2"/>
          <p:cNvSpPr txBox="1"/>
          <p:nvPr/>
        </p:nvSpPr>
        <p:spPr>
          <a:xfrm>
            <a:off x="4572000" y="2433234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Automate emails, calendars and contacts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Enrich your CRM with the data it is missing</a:t>
            </a:r>
            <a:endParaRPr lang="en-US" sz="1300" dirty="0"/>
          </a:p>
        </p:txBody>
      </p:sp>
      <p:sp>
        <p:nvSpPr>
          <p:cNvPr id="15" name="Icon badge 2"/>
          <p:cNvSpPr/>
          <p:nvPr/>
        </p:nvSpPr>
        <p:spPr>
          <a:xfrm>
            <a:off x="4242816" y="5351206"/>
            <a:ext cx="658368" cy="658368"/>
          </a:xfrm>
          <a:prstGeom prst="ellipse">
            <a:avLst/>
          </a:prstGeom>
          <a:solidFill>
            <a:srgbClr val="1F3529"/>
          </a:solidFill>
          <a:ln w="9525">
            <a:solidFill>
              <a:srgbClr val="93A87B">
                <a:alpha val="5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16261D">
                <a:alpha val="35000"/>
              </a:srgbClr>
            </a:outerShdw>
          </a:effectLst>
        </p:spPr>
      </p:sp>
      <p:pic>
        <p:nvPicPr>
          <p:cNvPr id="16" name="Image 1" descr="Automate emails, calendars and contact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5488366"/>
            <a:ext cx="384048" cy="384048"/>
          </a:xfrm>
          <a:prstGeom prst="rect">
            <a:avLst/>
          </a:prstGeom>
        </p:spPr>
      </p:pic>
      <p:sp>
        <p:nvSpPr>
          <p:cNvPr id="17" name="Tick 3"/>
          <p:cNvSpPr/>
          <p:nvPr/>
        </p:nvSpPr>
        <p:spPr>
          <a:xfrm>
            <a:off x="7040880" y="3820182"/>
            <a:ext cx="0" cy="861723"/>
          </a:xfrm>
          <a:prstGeom prst="line">
            <a:avLst/>
          </a:prstGeom>
          <a:noFill/>
          <a:ln w="12700">
            <a:solidFill>
              <a:srgbClr val="93A87B">
                <a:alpha val="70000"/>
              </a:srgbClr>
            </a:solidFill>
            <a:prstDash val="dash"/>
          </a:ln>
        </p:spPr>
      </p:sp>
      <p:sp>
        <p:nvSpPr>
          <p:cNvPr id="18" name="Milestone 3"/>
          <p:cNvSpPr/>
          <p:nvPr/>
        </p:nvSpPr>
        <p:spPr>
          <a:xfrm>
            <a:off x="6940296" y="4581320"/>
            <a:ext cx="201168" cy="201168"/>
          </a:xfrm>
          <a:prstGeom prst="ellipse">
            <a:avLst/>
          </a:prstGeom>
          <a:solidFill>
            <a:srgbClr val="F5F7F0"/>
          </a:solidFill>
          <a:ln w="38100">
            <a:solidFill>
              <a:srgbClr val="93A87B"/>
            </a:solidFill>
            <a:prstDash val="solid"/>
          </a:ln>
        </p:spPr>
      </p:sp>
      <p:sp>
        <p:nvSpPr>
          <p:cNvPr id="19" name="Stage 3"/>
          <p:cNvSpPr txBox="1"/>
          <p:nvPr/>
        </p:nvSpPr>
        <p:spPr>
          <a:xfrm>
            <a:off x="7040880" y="1808502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Clean the pipeline, coach sellers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Kill the least likely deals quickly, commit the highly likely and coach on the middle</a:t>
            </a:r>
            <a:endParaRPr lang="en-US" sz="1300" dirty="0"/>
          </a:p>
        </p:txBody>
      </p:sp>
      <p:sp>
        <p:nvSpPr>
          <p:cNvPr id="20" name="Icon badge 3"/>
          <p:cNvSpPr/>
          <p:nvPr/>
        </p:nvSpPr>
        <p:spPr>
          <a:xfrm>
            <a:off x="6711696" y="4937936"/>
            <a:ext cx="658368" cy="658368"/>
          </a:xfrm>
          <a:prstGeom prst="ellipse">
            <a:avLst/>
          </a:prstGeom>
          <a:solidFill>
            <a:srgbClr val="1F3529"/>
          </a:solidFill>
          <a:ln w="9525">
            <a:solidFill>
              <a:srgbClr val="93A87B">
                <a:alpha val="5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16261D">
                <a:alpha val="35000"/>
              </a:srgbClr>
            </a:outerShdw>
          </a:effectLst>
        </p:spPr>
      </p:sp>
      <p:pic>
        <p:nvPicPr>
          <p:cNvPr id="21" name="Image 2" descr="Clean the pipeline, coach seller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856" y="5075096"/>
            <a:ext cx="384048" cy="384048"/>
          </a:xfrm>
          <a:prstGeom prst="rect">
            <a:avLst/>
          </a:prstGeom>
        </p:spPr>
      </p:pic>
      <p:sp>
        <p:nvSpPr>
          <p:cNvPr id="22" name="Tick 4"/>
          <p:cNvSpPr/>
          <p:nvPr/>
        </p:nvSpPr>
        <p:spPr>
          <a:xfrm>
            <a:off x="9509760" y="3017520"/>
            <a:ext cx="0" cy="1018655"/>
          </a:xfrm>
          <a:prstGeom prst="line">
            <a:avLst/>
          </a:prstGeom>
          <a:noFill/>
          <a:ln w="12700">
            <a:solidFill>
              <a:srgbClr val="93A87B">
                <a:alpha val="70000"/>
              </a:srgbClr>
            </a:solidFill>
            <a:prstDash val="dash"/>
          </a:ln>
        </p:spPr>
      </p:sp>
      <p:sp>
        <p:nvSpPr>
          <p:cNvPr id="23" name="Milestone 4"/>
          <p:cNvSpPr/>
          <p:nvPr/>
        </p:nvSpPr>
        <p:spPr>
          <a:xfrm>
            <a:off x="9409176" y="3935591"/>
            <a:ext cx="201168" cy="201168"/>
          </a:xfrm>
          <a:prstGeom prst="ellipse">
            <a:avLst/>
          </a:prstGeom>
          <a:solidFill>
            <a:srgbClr val="F5F7F0"/>
          </a:solidFill>
          <a:ln w="38100">
            <a:solidFill>
              <a:srgbClr val="93A87B"/>
            </a:solidFill>
            <a:prstDash val="solid"/>
          </a:ln>
        </p:spPr>
      </p:sp>
      <p:sp>
        <p:nvSpPr>
          <p:cNvPr id="24" name="Stage 4"/>
          <p:cNvSpPr txBox="1"/>
          <p:nvPr/>
        </p:nvSpPr>
        <p:spPr>
          <a:xfrm>
            <a:off x="9509760" y="100584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Forecast more accurately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Better forecast accuracy, focused deal reviews and faster diagnosis of sellers and teams</a:t>
            </a:r>
            <a:endParaRPr lang="en-US" sz="1300" dirty="0"/>
          </a:p>
        </p:txBody>
      </p:sp>
      <p:sp>
        <p:nvSpPr>
          <p:cNvPr id="25" name="Icon badge 4"/>
          <p:cNvSpPr/>
          <p:nvPr/>
        </p:nvSpPr>
        <p:spPr>
          <a:xfrm>
            <a:off x="9180576" y="4292207"/>
            <a:ext cx="658368" cy="658368"/>
          </a:xfrm>
          <a:prstGeom prst="ellipse">
            <a:avLst/>
          </a:prstGeom>
          <a:solidFill>
            <a:srgbClr val="1F3529"/>
          </a:solidFill>
          <a:ln w="9525">
            <a:solidFill>
              <a:srgbClr val="93A87B">
                <a:alpha val="5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16261D">
                <a:alpha val="35000"/>
              </a:srgbClr>
            </a:outerShdw>
          </a:effectLst>
        </p:spPr>
      </p:sp>
      <p:pic>
        <p:nvPicPr>
          <p:cNvPr id="26" name="Image 3" descr="Forecast more accurately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736" y="4429367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eridian Revenue Partners">
  <a:themeElements>
    <a:clrScheme name="Veridian Revenue Partners">
      <a:dk1>
        <a:srgbClr val="20241F"/>
      </a:dk1>
      <a:lt1>
        <a:srgbClr val="FFFFFF"/>
      </a:lt1>
      <a:dk2>
        <a:srgbClr val="16261D"/>
      </a:dk2>
      <a:lt2>
        <a:srgbClr val="F5F7F0"/>
      </a:lt2>
      <a:accent1>
        <a:srgbClr val="1F3529"/>
      </a:accent1>
      <a:accent2>
        <a:srgbClr val="93A87B"/>
      </a:accent2>
      <a:accent3>
        <a:srgbClr val="56604E"/>
      </a:accent3>
      <a:accent4>
        <a:srgbClr val="16261D"/>
      </a:accent4>
      <a:accent5>
        <a:srgbClr val="D2D8CD"/>
      </a:accent5>
      <a:accent6>
        <a:srgbClr val="C9D3C0"/>
      </a:accent6>
      <a:hlink>
        <a:srgbClr val="1F3529"/>
      </a:hlink>
      <a:folHlink>
        <a:srgbClr val="56604E"/>
      </a:folHlink>
    </a:clrScheme>
    <a:fontScheme name="Veridian Revenue Partners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Veridian Revenue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Revenue frameworks</dc:title>
  <dc:subject>PptxGenJS Presentation</dc:subject>
  <dc:creator>PptxGenJS</dc:creator>
  <cp:lastModifiedBy>PptxGenJS</cp:lastModifiedBy>
  <cp:revision>1</cp:revision>
  <dcterms:created xsi:type="dcterms:W3CDTF">2026-10-10T10:42:01Z</dcterms:created>
  <dcterms:modified xsi:type="dcterms:W3CDTF">2026-10-10T10:42:01Z</dcterms:modified>
</cp:coreProperties>
</file>