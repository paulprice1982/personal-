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18df2ffa-f062-7786-fa68-5f484a9f06de}">
          <p14:sldIdLst>
            <p14:sldId id="256"/>
          </p14:sldIdLst>
        </p14:section>
        <p14:section name="Pipeline Review" id="{740d5313-5556-69de-8aec-46a11b61b6da}">
          <p14:sldIdLst>
            <p14:sldId id="257"/>
          </p14:sldIdLst>
        </p14:section>
        <p14:section name="Overview" id="{63fd46a7-dfb3-d431-5ea3-2a1adb217402}">
          <p14:sldIdLst>
            <p14:sldId id="258"/>
          </p14:sldIdLst>
        </p14:section>
        <p14:section name="Drill-ins" id="{337f11ba-f857-7d31-7f09-2a0f47b11364}">
          <p14:sldIdLst>
            <p14:sldId id="259"/>
            <p14:sldId id="260"/>
            <p14:sldId id="261"/>
          </p14:sldIdLst>
        </p14:section>
        <p14:section name="Journey" id="{6cb743a8-c4cf-9a69-e035-93e842fdff6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at the left: if the seller has enough pipeline and win rate, test hygiene then yield. If not, diagnose territory, pipeline creation and activity in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RevOps flywheel. The drill-in slides that follow list each function's capabilities at a readable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Sales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Success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 from crawl to run: insight, automation, pipeline discipline, then forecast accuracy. Each builds on the data quality of the one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463040" cy="71963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463040" cy="71963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6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11704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0896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GROWTH SUMMIT 2025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089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2"/>
                </a:solidFill>
              </a:rPr>
              <a:t>Revenue frameworks worth keeping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Pipeline review, the RevOps flywheel and the road to predictable revenue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MANAGEMENT DIAGNOSTIC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Pipeline review flowchart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Hg Growth Summit 2025</a:t>
            </a:r>
            <a:endParaRPr lang="en-US" sz="1000" dirty="0"/>
          </a:p>
        </p:txBody>
      </p:sp>
      <p:sp>
        <p:nvSpPr>
          <p:cNvPr id="5" name="Connector 1"/>
          <p:cNvSpPr/>
          <p:nvPr/>
        </p:nvSpPr>
        <p:spPr>
          <a:xfrm>
            <a:off x="2194560" y="2990088"/>
            <a:ext cx="27432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6" name="Connector 2"/>
          <p:cNvSpPr/>
          <p:nvPr/>
        </p:nvSpPr>
        <p:spPr>
          <a:xfrm>
            <a:off x="2468880" y="1824228"/>
            <a:ext cx="0" cy="395478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7" name="Connector 3"/>
          <p:cNvSpPr/>
          <p:nvPr/>
        </p:nvSpPr>
        <p:spPr>
          <a:xfrm>
            <a:off x="2468880" y="182422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8" name="Connector 4"/>
          <p:cNvSpPr/>
          <p:nvPr/>
        </p:nvSpPr>
        <p:spPr>
          <a:xfrm>
            <a:off x="2468880" y="390448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9" name="Connector 5"/>
          <p:cNvSpPr/>
          <p:nvPr/>
        </p:nvSpPr>
        <p:spPr>
          <a:xfrm>
            <a:off x="2468880" y="468172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0" name="Connector 6"/>
          <p:cNvSpPr/>
          <p:nvPr/>
        </p:nvSpPr>
        <p:spPr>
          <a:xfrm>
            <a:off x="2468880" y="577900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1" name="Connector 7"/>
          <p:cNvSpPr/>
          <p:nvPr/>
        </p:nvSpPr>
        <p:spPr>
          <a:xfrm>
            <a:off x="5120640" y="1824228"/>
            <a:ext cx="2286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2" name="Connector 8"/>
          <p:cNvSpPr/>
          <p:nvPr/>
        </p:nvSpPr>
        <p:spPr>
          <a:xfrm>
            <a:off x="5349240" y="1824228"/>
            <a:ext cx="0" cy="116586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3" name="Connector 9"/>
          <p:cNvSpPr/>
          <p:nvPr/>
        </p:nvSpPr>
        <p:spPr>
          <a:xfrm>
            <a:off x="5349240" y="1824228"/>
            <a:ext cx="96012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4" name="Connector 10"/>
          <p:cNvSpPr/>
          <p:nvPr/>
        </p:nvSpPr>
        <p:spPr>
          <a:xfrm>
            <a:off x="5349240" y="2990088"/>
            <a:ext cx="43434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5" name="Connector 11"/>
          <p:cNvSpPr/>
          <p:nvPr/>
        </p:nvSpPr>
        <p:spPr>
          <a:xfrm>
            <a:off x="8412480" y="1824228"/>
            <a:ext cx="1828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6" name="Connector 12"/>
          <p:cNvSpPr/>
          <p:nvPr/>
        </p:nvSpPr>
        <p:spPr>
          <a:xfrm>
            <a:off x="8595360" y="1435608"/>
            <a:ext cx="0" cy="77724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7" name="Connector 13"/>
          <p:cNvSpPr/>
          <p:nvPr/>
        </p:nvSpPr>
        <p:spPr>
          <a:xfrm>
            <a:off x="8595360" y="143560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8" name="Connector 14"/>
          <p:cNvSpPr/>
          <p:nvPr/>
        </p:nvSpPr>
        <p:spPr>
          <a:xfrm>
            <a:off x="8595360" y="221284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9" name="Connector 15"/>
          <p:cNvSpPr/>
          <p:nvPr/>
        </p:nvSpPr>
        <p:spPr>
          <a:xfrm>
            <a:off x="5120640" y="3904488"/>
            <a:ext cx="45720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0" name="Connector 16"/>
          <p:cNvSpPr/>
          <p:nvPr/>
        </p:nvSpPr>
        <p:spPr>
          <a:xfrm>
            <a:off x="5120640" y="4681728"/>
            <a:ext cx="45720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1" name="Connector 17"/>
          <p:cNvSpPr/>
          <p:nvPr/>
        </p:nvSpPr>
        <p:spPr>
          <a:xfrm>
            <a:off x="5120640" y="5779008"/>
            <a:ext cx="347472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2" name="Connector 18"/>
          <p:cNvSpPr/>
          <p:nvPr/>
        </p:nvSpPr>
        <p:spPr>
          <a:xfrm>
            <a:off x="8595360" y="5413248"/>
            <a:ext cx="0" cy="73152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3" name="Connector 19"/>
          <p:cNvSpPr/>
          <p:nvPr/>
        </p:nvSpPr>
        <p:spPr>
          <a:xfrm>
            <a:off x="8595360" y="541324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4" name="Connector 20"/>
          <p:cNvSpPr/>
          <p:nvPr/>
        </p:nvSpPr>
        <p:spPr>
          <a:xfrm>
            <a:off x="8595360" y="614476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5" name="Start 21"/>
          <p:cNvSpPr/>
          <p:nvPr/>
        </p:nvSpPr>
        <p:spPr>
          <a:xfrm>
            <a:off x="365760" y="2532888"/>
            <a:ext cx="1828800" cy="9144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seller have sufficient pipeline and win rate to hit plan?</a:t>
            </a:r>
            <a:endParaRPr lang="en-US" sz="1200" dirty="0"/>
          </a:p>
        </p:txBody>
      </p:sp>
      <p:sp>
        <p:nvSpPr>
          <p:cNvPr id="26" name="Yes 22"/>
          <p:cNvSpPr/>
          <p:nvPr/>
        </p:nvSpPr>
        <p:spPr>
          <a:xfrm>
            <a:off x="2148840" y="226771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27" name="No 23"/>
          <p:cNvSpPr/>
          <p:nvPr/>
        </p:nvSpPr>
        <p:spPr>
          <a:xfrm>
            <a:off x="2148840" y="336499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28" name="Decision 24"/>
          <p:cNvSpPr/>
          <p:nvPr/>
        </p:nvSpPr>
        <p:spPr>
          <a:xfrm>
            <a:off x="2926080" y="1504188"/>
            <a:ext cx="2194560" cy="64008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pipeline exhibit good hygiene?</a:t>
            </a:r>
            <a:endParaRPr lang="en-US" sz="1200" dirty="0"/>
          </a:p>
        </p:txBody>
      </p:sp>
      <p:sp>
        <p:nvSpPr>
          <p:cNvPr id="29" name="Criteria 25"/>
          <p:cNvSpPr txBox="1"/>
          <p:nvPr/>
        </p:nvSpPr>
        <p:spPr>
          <a:xfrm>
            <a:off x="2926080" y="2327148"/>
            <a:ext cx="2194560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'Pushed'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'Stuck'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'Ambitious'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No-activity deals</a:t>
            </a:r>
            <a:endParaRPr lang="en-US" sz="1100" dirty="0"/>
          </a:p>
        </p:txBody>
      </p:sp>
      <p:sp>
        <p:nvSpPr>
          <p:cNvPr id="30" name="Yes 26"/>
          <p:cNvSpPr/>
          <p:nvPr/>
        </p:nvSpPr>
        <p:spPr>
          <a:xfrm>
            <a:off x="5486400" y="169621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31" name="No 27"/>
          <p:cNvSpPr/>
          <p:nvPr/>
        </p:nvSpPr>
        <p:spPr>
          <a:xfrm>
            <a:off x="5486400" y="286207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32" name="Decision 28"/>
          <p:cNvSpPr/>
          <p:nvPr/>
        </p:nvSpPr>
        <p:spPr>
          <a:xfrm>
            <a:off x="6309360" y="1504188"/>
            <a:ext cx="2103120" cy="64008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Is the seller winning at or above the team average yield?</a:t>
            </a:r>
            <a:endParaRPr lang="en-US" sz="1200" dirty="0"/>
          </a:p>
        </p:txBody>
      </p:sp>
      <p:sp>
        <p:nvSpPr>
          <p:cNvPr id="33" name="Yes 29"/>
          <p:cNvSpPr/>
          <p:nvPr/>
        </p:nvSpPr>
        <p:spPr>
          <a:xfrm>
            <a:off x="8778240" y="130759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34" name="No 30"/>
          <p:cNvSpPr/>
          <p:nvPr/>
        </p:nvSpPr>
        <p:spPr>
          <a:xfrm>
            <a:off x="8778240" y="208483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35" name="Action 31"/>
          <p:cNvSpPr/>
          <p:nvPr/>
        </p:nvSpPr>
        <p:spPr>
          <a:xfrm>
            <a:off x="9692640" y="117043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good here. Focus on other team members</a:t>
            </a:r>
            <a:endParaRPr lang="en-US" sz="1200" dirty="0"/>
          </a:p>
        </p:txBody>
      </p:sp>
      <p:sp>
        <p:nvSpPr>
          <p:cNvPr id="36" name="Action 32"/>
          <p:cNvSpPr/>
          <p:nvPr/>
        </p:nvSpPr>
        <p:spPr>
          <a:xfrm>
            <a:off x="9692640" y="194767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Coach on opportunity management</a:t>
            </a:r>
            <a:endParaRPr lang="en-US" sz="1200" dirty="0"/>
          </a:p>
        </p:txBody>
      </p:sp>
      <p:sp>
        <p:nvSpPr>
          <p:cNvPr id="37" name="Action 33"/>
          <p:cNvSpPr/>
          <p:nvPr/>
        </p:nvSpPr>
        <p:spPr>
          <a:xfrm>
            <a:off x="9692640" y="272491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Close or push out poor-hygiene deals, start over</a:t>
            </a:r>
            <a:endParaRPr lang="en-US" sz="1200" dirty="0"/>
          </a:p>
        </p:txBody>
      </p:sp>
      <p:sp>
        <p:nvSpPr>
          <p:cNvPr id="38" name="Decision 34"/>
          <p:cNvSpPr/>
          <p:nvPr/>
        </p:nvSpPr>
        <p:spPr>
          <a:xfrm>
            <a:off x="2926080" y="3607308"/>
            <a:ext cx="2194560" cy="59436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seller have enough 'territory'?</a:t>
            </a:r>
            <a:endParaRPr lang="en-US" sz="1200" dirty="0"/>
          </a:p>
        </p:txBody>
      </p:sp>
      <p:sp>
        <p:nvSpPr>
          <p:cNvPr id="39" name="Criteria 35"/>
          <p:cNvSpPr txBox="1"/>
          <p:nvPr/>
        </p:nvSpPr>
        <p:spPr>
          <a:xfrm>
            <a:off x="5349240" y="3607308"/>
            <a:ext cx="2651760" cy="5943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Sufficient viable accounts and whitespace to produce enough opportunities</a:t>
            </a:r>
            <a:endParaRPr lang="en-US" sz="1100" dirty="0"/>
          </a:p>
        </p:txBody>
      </p:sp>
      <p:sp>
        <p:nvSpPr>
          <p:cNvPr id="40" name="No 36"/>
          <p:cNvSpPr/>
          <p:nvPr/>
        </p:nvSpPr>
        <p:spPr>
          <a:xfrm>
            <a:off x="8778240" y="377647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41" name="Action 37"/>
          <p:cNvSpPr/>
          <p:nvPr/>
        </p:nvSpPr>
        <p:spPr>
          <a:xfrm>
            <a:off x="9692640" y="363931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Rebalance territories</a:t>
            </a:r>
            <a:endParaRPr lang="en-US" sz="1200" dirty="0"/>
          </a:p>
        </p:txBody>
      </p:sp>
      <p:sp>
        <p:nvSpPr>
          <p:cNvPr id="42" name="Decision 38"/>
          <p:cNvSpPr/>
          <p:nvPr/>
        </p:nvSpPr>
        <p:spPr>
          <a:xfrm>
            <a:off x="2926080" y="4384548"/>
            <a:ext cx="2194560" cy="59436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Are they creating enough pipeline?</a:t>
            </a:r>
            <a:endParaRPr lang="en-US" sz="1200" dirty="0"/>
          </a:p>
        </p:txBody>
      </p:sp>
      <p:sp>
        <p:nvSpPr>
          <p:cNvPr id="43" name="Criteria 39"/>
          <p:cNvSpPr txBox="1"/>
          <p:nvPr/>
        </p:nvSpPr>
        <p:spPr>
          <a:xfrm>
            <a:off x="5349240" y="4384548"/>
            <a:ext cx="2651760" cy="5943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sales, marketing, partner contribution vs. AOP plans</a:t>
            </a:r>
            <a:endParaRPr lang="en-US" sz="1100" dirty="0"/>
          </a:p>
        </p:txBody>
      </p:sp>
      <p:sp>
        <p:nvSpPr>
          <p:cNvPr id="44" name="No 40"/>
          <p:cNvSpPr/>
          <p:nvPr/>
        </p:nvSpPr>
        <p:spPr>
          <a:xfrm>
            <a:off x="8778240" y="455371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45" name="Action 41"/>
          <p:cNvSpPr/>
          <p:nvPr/>
        </p:nvSpPr>
        <p:spPr>
          <a:xfrm>
            <a:off x="9692640" y="441655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Evaluate support from marketing, SDR, etc.</a:t>
            </a:r>
            <a:endParaRPr lang="en-US" sz="1200" dirty="0"/>
          </a:p>
        </p:txBody>
      </p:sp>
      <p:sp>
        <p:nvSpPr>
          <p:cNvPr id="46" name="Decision 42"/>
          <p:cNvSpPr/>
          <p:nvPr/>
        </p:nvSpPr>
        <p:spPr>
          <a:xfrm>
            <a:off x="2926080" y="5458968"/>
            <a:ext cx="2194560" cy="64008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Is the seller doing enough activity to build pipeline?</a:t>
            </a:r>
            <a:endParaRPr lang="en-US" sz="1200" dirty="0"/>
          </a:p>
        </p:txBody>
      </p:sp>
      <p:sp>
        <p:nvSpPr>
          <p:cNvPr id="47" name="Criteria 43"/>
          <p:cNvSpPr txBox="1"/>
          <p:nvPr/>
        </p:nvSpPr>
        <p:spPr>
          <a:xfrm>
            <a:off x="5349240" y="5413248"/>
            <a:ext cx="265176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territory 'engaged'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Sequences / emails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Calls / meetings</a:t>
            </a:r>
            <a:endParaRPr lang="en-US" sz="1100" dirty="0"/>
          </a:p>
        </p:txBody>
      </p:sp>
      <p:sp>
        <p:nvSpPr>
          <p:cNvPr id="48" name="Yes 44"/>
          <p:cNvSpPr/>
          <p:nvPr/>
        </p:nvSpPr>
        <p:spPr>
          <a:xfrm>
            <a:off x="8778240" y="528523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49" name="No 45"/>
          <p:cNvSpPr/>
          <p:nvPr/>
        </p:nvSpPr>
        <p:spPr>
          <a:xfrm>
            <a:off x="8778240" y="601675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50" name="Action 46"/>
          <p:cNvSpPr/>
          <p:nvPr/>
        </p:nvSpPr>
        <p:spPr>
          <a:xfrm>
            <a:off x="9692640" y="514807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Focus on targeting, timing and messaging</a:t>
            </a:r>
            <a:endParaRPr lang="en-US" sz="1200" dirty="0"/>
          </a:p>
        </p:txBody>
      </p:sp>
      <p:sp>
        <p:nvSpPr>
          <p:cNvPr id="51" name="Action 47"/>
          <p:cNvSpPr/>
          <p:nvPr/>
        </p:nvSpPr>
        <p:spPr>
          <a:xfrm>
            <a:off x="9692640" y="587959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 and enforce activity goals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RevOps is more than sales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Intro"/>
          <p:cNvSpPr txBox="1"/>
          <p:nvPr/>
        </p:nvSpPr>
        <p:spPr>
          <a:xfrm>
            <a:off x="365760" y="13716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RevOps spans the whole revenue engine. Every capability on the wheel sits in one of three functions, and each one feeds the others.</a:t>
            </a:r>
            <a:endParaRPr lang="en-US" sz="1500" dirty="0"/>
          </a:p>
        </p:txBody>
      </p:sp>
      <p:sp>
        <p:nvSpPr>
          <p:cNvPr id="6" name="Stat total"/>
          <p:cNvSpPr txBox="1"/>
          <p:nvPr/>
        </p:nvSpPr>
        <p:spPr>
          <a:xfrm>
            <a:off x="365760" y="269748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tx2"/>
                </a:solidFill>
              </a:rPr>
              <a:t>62</a:t>
            </a:r>
            <a:endParaRPr lang="en-US" sz="6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capabilities in one operating model</a:t>
            </a:r>
            <a:endParaRPr lang="en-US" sz="6000" dirty="0"/>
          </a:p>
        </p:txBody>
      </p:sp>
      <p:sp>
        <p:nvSpPr>
          <p:cNvPr id="7" name="Key Sales"/>
          <p:cNvSpPr/>
          <p:nvPr/>
        </p:nvSpPr>
        <p:spPr>
          <a:xfrm>
            <a:off x="365760" y="4261104"/>
            <a:ext cx="292608" cy="292608"/>
          </a:xfrm>
          <a:prstGeom prst="ellipse">
            <a:avLst/>
          </a:prstGeom>
          <a:solidFill>
            <a:srgbClr val="1F3529"/>
          </a:solidFill>
          <a:ln/>
        </p:spPr>
      </p:sp>
      <p:sp>
        <p:nvSpPr>
          <p:cNvPr id="8" name="Key label Sales"/>
          <p:cNvSpPr txBox="1"/>
          <p:nvPr/>
        </p:nvSpPr>
        <p:spPr>
          <a:xfrm>
            <a:off x="82296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 capabilities</a:t>
            </a:r>
            <a:endParaRPr lang="en-US" sz="1500" dirty="0"/>
          </a:p>
        </p:txBody>
      </p:sp>
      <p:sp>
        <p:nvSpPr>
          <p:cNvPr id="9" name="Key Customer Success"/>
          <p:cNvSpPr/>
          <p:nvPr/>
        </p:nvSpPr>
        <p:spPr>
          <a:xfrm>
            <a:off x="365760" y="4946904"/>
            <a:ext cx="292608" cy="292608"/>
          </a:xfrm>
          <a:prstGeom prst="ellipse">
            <a:avLst/>
          </a:prstGeom>
          <a:solidFill>
            <a:srgbClr val="93A87B"/>
          </a:solidFill>
          <a:ln/>
        </p:spPr>
      </p:sp>
      <p:sp>
        <p:nvSpPr>
          <p:cNvPr id="10" name="Key label Customer Success"/>
          <p:cNvSpPr txBox="1"/>
          <p:nvPr/>
        </p:nvSpPr>
        <p:spPr>
          <a:xfrm>
            <a:off x="822960" y="4846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 Success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1500" dirty="0"/>
          </a:p>
        </p:txBody>
      </p:sp>
      <p:sp>
        <p:nvSpPr>
          <p:cNvPr id="11" name="Key Marketing"/>
          <p:cNvSpPr/>
          <p:nvPr/>
        </p:nvSpPr>
        <p:spPr>
          <a:xfrm>
            <a:off x="365760" y="5632704"/>
            <a:ext cx="292608" cy="292608"/>
          </a:xfrm>
          <a:prstGeom prst="ellipse">
            <a:avLst/>
          </a:prstGeom>
          <a:solidFill>
            <a:srgbClr val="56604E"/>
          </a:solidFill>
          <a:ln/>
        </p:spPr>
      </p:sp>
      <p:sp>
        <p:nvSpPr>
          <p:cNvPr id="12" name="Key label Marketing"/>
          <p:cNvSpPr txBox="1"/>
          <p:nvPr/>
        </p:nvSpPr>
        <p:spPr>
          <a:xfrm>
            <a:off x="8229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Marketing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1500" dirty="0"/>
          </a:p>
        </p:txBody>
      </p:sp>
      <p:sp>
        <p:nvSpPr>
          <p:cNvPr id="13" name="Sales 1"/>
          <p:cNvSpPr/>
          <p:nvPr/>
        </p:nvSpPr>
        <p:spPr>
          <a:xfrm>
            <a:off x="6858000" y="2057400"/>
            <a:ext cx="3291840" cy="3291840"/>
          </a:xfrm>
          <a:prstGeom prst="blockArc">
            <a:avLst>
              <a:gd name="adj1" fmla="val 16200000"/>
              <a:gd name="adj2" fmla="val 2264516"/>
              <a:gd name="adj3" fmla="val 22222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Sales Communication 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6200000"/>
              <a:gd name="adj2" fmla="val 16548387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Sales Performance Tracking 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6548387"/>
              <a:gd name="adj2" fmla="val 16896774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Sales Channel Optimisation 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6896774"/>
              <a:gd name="adj2" fmla="val 17245161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Pricing Strategy 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245161"/>
              <a:gd name="adj2" fmla="val 17593548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Client Onboarding 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593548"/>
              <a:gd name="adj2" fmla="val 17941935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Deal Structuring 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941935"/>
              <a:gd name="adj2" fmla="val 18290323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Proposal Management 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8290323"/>
              <a:gd name="adj2" fmla="val 18638710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Sales Automation 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8638710"/>
              <a:gd name="adj2" fmla="val 18987097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Win/Loss Analysis 1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8987097"/>
              <a:gd name="adj2" fmla="val 19335484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Account Management 1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9335484"/>
              <a:gd name="adj2" fmla="val 19683871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Channel Sales 1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9683871"/>
              <a:gd name="adj2" fmla="val 20032258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Discount Control 1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0032258"/>
              <a:gd name="adj2" fmla="val 20380645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Quota Attainment 1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0380645"/>
              <a:gd name="adj2" fmla="val 20729032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7" name="Training &amp; Development 1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0729032"/>
              <a:gd name="adj2" fmla="val 21077419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8" name="Sales Enablement 1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1077419"/>
              <a:gd name="adj2" fmla="val 21425806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9" name="Territory Management 1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1425806"/>
              <a:gd name="adj2" fmla="val 174194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0" name="CRM Management 1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4194"/>
              <a:gd name="adj2" fmla="val 522581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1" name="Sales Forecasting 1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22581"/>
              <a:gd name="adj2" fmla="val 870968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2" name="Contract Negotiation 2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70968"/>
              <a:gd name="adj2" fmla="val 1219355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3" name="Sales Demos 2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19355"/>
              <a:gd name="adj2" fmla="val 1567742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4" name="Prospecting 2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67742"/>
              <a:gd name="adj2" fmla="val 1916129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5" name="Pipeline Management 2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916129"/>
              <a:gd name="adj2" fmla="val 2264516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6" name="Label 24"/>
          <p:cNvSpPr txBox="1"/>
          <p:nvPr/>
        </p:nvSpPr>
        <p:spPr>
          <a:xfrm rot="-5225806">
            <a:off x="7938535" y="125781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Communication</a:t>
            </a:r>
            <a:endParaRPr lang="en-US" sz="700" dirty="0"/>
          </a:p>
        </p:txBody>
      </p:sp>
      <p:sp>
        <p:nvSpPr>
          <p:cNvPr id="37" name="Label 25"/>
          <p:cNvSpPr txBox="1"/>
          <p:nvPr/>
        </p:nvSpPr>
        <p:spPr>
          <a:xfrm rot="-4877419">
            <a:off x="8178130" y="12821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Performance Tracking</a:t>
            </a:r>
            <a:endParaRPr lang="en-US" sz="700" dirty="0"/>
          </a:p>
        </p:txBody>
      </p:sp>
      <p:sp>
        <p:nvSpPr>
          <p:cNvPr id="38" name="Label 26"/>
          <p:cNvSpPr txBox="1"/>
          <p:nvPr/>
        </p:nvSpPr>
        <p:spPr>
          <a:xfrm rot="-4529032">
            <a:off x="8414031" y="133065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Channel Optimisation</a:t>
            </a:r>
            <a:endParaRPr lang="en-US" sz="700" dirty="0"/>
          </a:p>
        </p:txBody>
      </p:sp>
      <p:sp>
        <p:nvSpPr>
          <p:cNvPr id="39" name="Label 27"/>
          <p:cNvSpPr txBox="1"/>
          <p:nvPr/>
        </p:nvSpPr>
        <p:spPr>
          <a:xfrm rot="-4180645">
            <a:off x="8643817" y="14027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Strategy</a:t>
            </a:r>
            <a:endParaRPr lang="en-US" sz="700" dirty="0"/>
          </a:p>
        </p:txBody>
      </p:sp>
      <p:sp>
        <p:nvSpPr>
          <p:cNvPr id="40" name="Label 28"/>
          <p:cNvSpPr txBox="1"/>
          <p:nvPr/>
        </p:nvSpPr>
        <p:spPr>
          <a:xfrm rot="-3832258">
            <a:off x="8865131" y="14977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 Onboarding</a:t>
            </a:r>
            <a:endParaRPr lang="en-US" sz="700" dirty="0"/>
          </a:p>
        </p:txBody>
      </p:sp>
      <p:sp>
        <p:nvSpPr>
          <p:cNvPr id="41" name="Label 29"/>
          <p:cNvSpPr txBox="1"/>
          <p:nvPr/>
        </p:nvSpPr>
        <p:spPr>
          <a:xfrm rot="-3483871">
            <a:off x="9075700" y="16145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Deal Structuring</a:t>
            </a:r>
            <a:endParaRPr lang="en-US" sz="700" dirty="0"/>
          </a:p>
        </p:txBody>
      </p:sp>
      <p:sp>
        <p:nvSpPr>
          <p:cNvPr id="42" name="Label 30"/>
          <p:cNvSpPr txBox="1"/>
          <p:nvPr/>
        </p:nvSpPr>
        <p:spPr>
          <a:xfrm rot="-3135484">
            <a:off x="9273365" y="17521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Proposal Management</a:t>
            </a:r>
            <a:endParaRPr lang="en-US" sz="700" dirty="0"/>
          </a:p>
        </p:txBody>
      </p:sp>
      <p:sp>
        <p:nvSpPr>
          <p:cNvPr id="43" name="Label 31"/>
          <p:cNvSpPr txBox="1"/>
          <p:nvPr/>
        </p:nvSpPr>
        <p:spPr>
          <a:xfrm rot="-2787097">
            <a:off x="9456098" y="19090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Automation</a:t>
            </a:r>
            <a:endParaRPr lang="en-US" sz="700" dirty="0"/>
          </a:p>
        </p:txBody>
      </p:sp>
      <p:sp>
        <p:nvSpPr>
          <p:cNvPr id="44" name="Label 32"/>
          <p:cNvSpPr txBox="1"/>
          <p:nvPr/>
        </p:nvSpPr>
        <p:spPr>
          <a:xfrm rot="-2438710">
            <a:off x="9622022" y="20836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Win/Loss Analysis</a:t>
            </a:r>
            <a:endParaRPr lang="en-US" sz="700" dirty="0"/>
          </a:p>
        </p:txBody>
      </p:sp>
      <p:sp>
        <p:nvSpPr>
          <p:cNvPr id="45" name="Label 33"/>
          <p:cNvSpPr txBox="1"/>
          <p:nvPr/>
        </p:nvSpPr>
        <p:spPr>
          <a:xfrm rot="-2090323">
            <a:off x="9769436" y="227404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700" dirty="0"/>
          </a:p>
        </p:txBody>
      </p:sp>
      <p:sp>
        <p:nvSpPr>
          <p:cNvPr id="46" name="Label 34"/>
          <p:cNvSpPr txBox="1"/>
          <p:nvPr/>
        </p:nvSpPr>
        <p:spPr>
          <a:xfrm rot="-1741935">
            <a:off x="9896827" y="24784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Channel Sales</a:t>
            </a:r>
            <a:endParaRPr lang="en-US" sz="700" dirty="0"/>
          </a:p>
        </p:txBody>
      </p:sp>
      <p:sp>
        <p:nvSpPr>
          <p:cNvPr id="47" name="Label 35"/>
          <p:cNvSpPr txBox="1"/>
          <p:nvPr/>
        </p:nvSpPr>
        <p:spPr>
          <a:xfrm rot="-1393548">
            <a:off x="10002887" y="2694643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Discount Control</a:t>
            </a:r>
            <a:endParaRPr lang="en-US" sz="700" dirty="0"/>
          </a:p>
        </p:txBody>
      </p:sp>
      <p:sp>
        <p:nvSpPr>
          <p:cNvPr id="48" name="Label 36"/>
          <p:cNvSpPr txBox="1"/>
          <p:nvPr/>
        </p:nvSpPr>
        <p:spPr>
          <a:xfrm rot="-1045161">
            <a:off x="10086529" y="292048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Attainment</a:t>
            </a:r>
            <a:endParaRPr lang="en-US" sz="700" dirty="0"/>
          </a:p>
        </p:txBody>
      </p:sp>
      <p:sp>
        <p:nvSpPr>
          <p:cNvPr id="49" name="Label 37"/>
          <p:cNvSpPr txBox="1"/>
          <p:nvPr/>
        </p:nvSpPr>
        <p:spPr>
          <a:xfrm rot="-696774">
            <a:off x="10146894" y="315362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Training &amp; Development</a:t>
            </a:r>
            <a:endParaRPr lang="en-US" sz="700" dirty="0"/>
          </a:p>
        </p:txBody>
      </p:sp>
      <p:sp>
        <p:nvSpPr>
          <p:cNvPr id="50" name="Label 38"/>
          <p:cNvSpPr txBox="1"/>
          <p:nvPr/>
        </p:nvSpPr>
        <p:spPr>
          <a:xfrm rot="-348387">
            <a:off x="10183362" y="33916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Enablement</a:t>
            </a:r>
            <a:endParaRPr lang="en-US" sz="700" dirty="0"/>
          </a:p>
        </p:txBody>
      </p:sp>
      <p:sp>
        <p:nvSpPr>
          <p:cNvPr id="51" name="Label 39"/>
          <p:cNvSpPr txBox="1"/>
          <p:nvPr/>
        </p:nvSpPr>
        <p:spPr>
          <a:xfrm>
            <a:off x="10195560" y="3632200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Territory Management</a:t>
            </a:r>
            <a:endParaRPr lang="en-US" sz="700" dirty="0"/>
          </a:p>
        </p:txBody>
      </p:sp>
      <p:sp>
        <p:nvSpPr>
          <p:cNvPr id="52" name="Label 40"/>
          <p:cNvSpPr txBox="1"/>
          <p:nvPr/>
        </p:nvSpPr>
        <p:spPr>
          <a:xfrm rot="348387">
            <a:off x="10183362" y="38727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CRM Management</a:t>
            </a:r>
            <a:endParaRPr lang="en-US" sz="700" dirty="0"/>
          </a:p>
        </p:txBody>
      </p:sp>
      <p:sp>
        <p:nvSpPr>
          <p:cNvPr id="53" name="Label 41"/>
          <p:cNvSpPr txBox="1"/>
          <p:nvPr/>
        </p:nvSpPr>
        <p:spPr>
          <a:xfrm rot="696774">
            <a:off x="10146894" y="411077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Forecasting</a:t>
            </a:r>
            <a:endParaRPr lang="en-US" sz="700" dirty="0"/>
          </a:p>
        </p:txBody>
      </p:sp>
      <p:sp>
        <p:nvSpPr>
          <p:cNvPr id="54" name="Label 42"/>
          <p:cNvSpPr txBox="1"/>
          <p:nvPr/>
        </p:nvSpPr>
        <p:spPr>
          <a:xfrm rot="1045161">
            <a:off x="10086529" y="434391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Negotiation</a:t>
            </a:r>
            <a:endParaRPr lang="en-US" sz="700" dirty="0"/>
          </a:p>
        </p:txBody>
      </p:sp>
      <p:sp>
        <p:nvSpPr>
          <p:cNvPr id="55" name="Label 43"/>
          <p:cNvSpPr txBox="1"/>
          <p:nvPr/>
        </p:nvSpPr>
        <p:spPr>
          <a:xfrm rot="1393548">
            <a:off x="10002887" y="4569757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Demos</a:t>
            </a:r>
            <a:endParaRPr lang="en-US" sz="700" dirty="0"/>
          </a:p>
        </p:txBody>
      </p:sp>
      <p:sp>
        <p:nvSpPr>
          <p:cNvPr id="56" name="Label 44"/>
          <p:cNvSpPr txBox="1"/>
          <p:nvPr/>
        </p:nvSpPr>
        <p:spPr>
          <a:xfrm rot="1741935">
            <a:off x="9896827" y="47859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Prospecting</a:t>
            </a:r>
            <a:endParaRPr lang="en-US" sz="700" dirty="0"/>
          </a:p>
        </p:txBody>
      </p:sp>
      <p:sp>
        <p:nvSpPr>
          <p:cNvPr id="57" name="Label 45"/>
          <p:cNvSpPr txBox="1"/>
          <p:nvPr/>
        </p:nvSpPr>
        <p:spPr>
          <a:xfrm rot="2090323">
            <a:off x="9769436" y="499035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Pipeline Management</a:t>
            </a:r>
            <a:endParaRPr lang="en-US" sz="700" dirty="0"/>
          </a:p>
        </p:txBody>
      </p:sp>
      <p:sp>
        <p:nvSpPr>
          <p:cNvPr id="58" name="Function Sales"/>
          <p:cNvSpPr txBox="1"/>
          <p:nvPr/>
        </p:nvSpPr>
        <p:spPr>
          <a:xfrm>
            <a:off x="9104613" y="2865225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</a:rPr>
              <a:t>Sales</a:t>
            </a:r>
            <a:endParaRPr lang="en-US" sz="1200" dirty="0"/>
          </a:p>
        </p:txBody>
      </p:sp>
      <p:sp>
        <p:nvSpPr>
          <p:cNvPr id="59" name="Customer Success 46"/>
          <p:cNvSpPr/>
          <p:nvPr/>
        </p:nvSpPr>
        <p:spPr>
          <a:xfrm>
            <a:off x="6858000" y="2057400"/>
            <a:ext cx="3291840" cy="3291840"/>
          </a:xfrm>
          <a:prstGeom prst="blockArc">
            <a:avLst>
              <a:gd name="adj1" fmla="val 2264516"/>
              <a:gd name="adj2" fmla="val 9232258"/>
              <a:gd name="adj3" fmla="val 22222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0" name="Advocacy Programme 4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264516"/>
              <a:gd name="adj2" fmla="val 2612903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1" name="Success Planning 4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612903"/>
              <a:gd name="adj2" fmla="val 2961290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2" name="Customer Analytics 4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961290"/>
              <a:gd name="adj2" fmla="val 3309677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3" name="Voice of Customer 5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3309677"/>
              <a:gd name="adj2" fmla="val 3658065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4" name="Community Building 5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3658065"/>
              <a:gd name="adj2" fmla="val 4006452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5" name="Customer Health 5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4006452"/>
              <a:gd name="adj2" fmla="val 4354839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6" name="Escalation Handling 5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4354839"/>
              <a:gd name="adj2" fmla="val 4703226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7" name="SLA Management 5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4703226"/>
              <a:gd name="adj2" fmla="val 5051613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8" name="QBRs 5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051613"/>
              <a:gd name="adj2" fmla="val 5400000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9" name="Customer Reviews 5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400000"/>
              <a:gd name="adj2" fmla="val 5748387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0" name="Contract Renewals 5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748387"/>
              <a:gd name="adj2" fmla="val 6096774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1" name="Customer Training 5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6096774"/>
              <a:gd name="adj2" fmla="val 6445161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2" name="Relationship Management 5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6445161"/>
              <a:gd name="adj2" fmla="val 6793548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3" name="Customer Support 6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6793548"/>
              <a:gd name="adj2" fmla="val 7141935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4" name="Customer Satisfaction 6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7141935"/>
              <a:gd name="adj2" fmla="val 7490323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5" name="Upselling &amp; Cross-selling 6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7490323"/>
              <a:gd name="adj2" fmla="val 7838710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6" name="Retention &amp; Churn 6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7838710"/>
              <a:gd name="adj2" fmla="val 8187097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7" name="Account Management 6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187097"/>
              <a:gd name="adj2" fmla="val 8535484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8" name="Product Adoption 6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535484"/>
              <a:gd name="adj2" fmla="val 8883871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9" name="Customer Onboarding 6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883871"/>
              <a:gd name="adj2" fmla="val 9232258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0" name="Label 67"/>
          <p:cNvSpPr txBox="1"/>
          <p:nvPr/>
        </p:nvSpPr>
        <p:spPr>
          <a:xfrm rot="2438710">
            <a:off x="9622022" y="51807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Advocacy Programme</a:t>
            </a:r>
            <a:endParaRPr lang="en-US" sz="700" dirty="0"/>
          </a:p>
        </p:txBody>
      </p:sp>
      <p:sp>
        <p:nvSpPr>
          <p:cNvPr id="81" name="Label 68"/>
          <p:cNvSpPr txBox="1"/>
          <p:nvPr/>
        </p:nvSpPr>
        <p:spPr>
          <a:xfrm rot="2787097">
            <a:off x="9456098" y="53553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Success Planning</a:t>
            </a:r>
            <a:endParaRPr lang="en-US" sz="700" dirty="0"/>
          </a:p>
        </p:txBody>
      </p:sp>
      <p:sp>
        <p:nvSpPr>
          <p:cNvPr id="82" name="Label 69"/>
          <p:cNvSpPr txBox="1"/>
          <p:nvPr/>
        </p:nvSpPr>
        <p:spPr>
          <a:xfrm rot="3135484">
            <a:off x="9273365" y="55122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Analytics</a:t>
            </a:r>
            <a:endParaRPr lang="en-US" sz="700" dirty="0"/>
          </a:p>
        </p:txBody>
      </p:sp>
      <p:sp>
        <p:nvSpPr>
          <p:cNvPr id="83" name="Label 70"/>
          <p:cNvSpPr txBox="1"/>
          <p:nvPr/>
        </p:nvSpPr>
        <p:spPr>
          <a:xfrm rot="3483871">
            <a:off x="9075700" y="56498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84" name="Label 71"/>
          <p:cNvSpPr txBox="1"/>
          <p:nvPr/>
        </p:nvSpPr>
        <p:spPr>
          <a:xfrm rot="3832258">
            <a:off x="8865131" y="57666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Community Building</a:t>
            </a:r>
            <a:endParaRPr lang="en-US" sz="700" dirty="0"/>
          </a:p>
        </p:txBody>
      </p:sp>
      <p:sp>
        <p:nvSpPr>
          <p:cNvPr id="85" name="Label 72"/>
          <p:cNvSpPr txBox="1"/>
          <p:nvPr/>
        </p:nvSpPr>
        <p:spPr>
          <a:xfrm rot="4180645">
            <a:off x="8643817" y="58616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Health</a:t>
            </a:r>
            <a:endParaRPr lang="en-US" sz="700" dirty="0"/>
          </a:p>
        </p:txBody>
      </p:sp>
      <p:sp>
        <p:nvSpPr>
          <p:cNvPr id="86" name="Label 73"/>
          <p:cNvSpPr txBox="1"/>
          <p:nvPr/>
        </p:nvSpPr>
        <p:spPr>
          <a:xfrm rot="4529032">
            <a:off x="8414031" y="593374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Escalation Handling</a:t>
            </a:r>
            <a:endParaRPr lang="en-US" sz="700" dirty="0"/>
          </a:p>
        </p:txBody>
      </p:sp>
      <p:sp>
        <p:nvSpPr>
          <p:cNvPr id="87" name="Label 74"/>
          <p:cNvSpPr txBox="1"/>
          <p:nvPr/>
        </p:nvSpPr>
        <p:spPr>
          <a:xfrm rot="4877419">
            <a:off x="8178130" y="59822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SLA Management</a:t>
            </a:r>
            <a:endParaRPr lang="en-US" sz="700" dirty="0"/>
          </a:p>
        </p:txBody>
      </p:sp>
      <p:sp>
        <p:nvSpPr>
          <p:cNvPr id="88" name="Label 75"/>
          <p:cNvSpPr txBox="1"/>
          <p:nvPr/>
        </p:nvSpPr>
        <p:spPr>
          <a:xfrm rot="5225806">
            <a:off x="7938535" y="600658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QBRs</a:t>
            </a:r>
            <a:endParaRPr lang="en-US" sz="700" dirty="0"/>
          </a:p>
        </p:txBody>
      </p:sp>
      <p:sp>
        <p:nvSpPr>
          <p:cNvPr id="89" name="Label 76"/>
          <p:cNvSpPr txBox="1"/>
          <p:nvPr/>
        </p:nvSpPr>
        <p:spPr>
          <a:xfrm rot="16374194">
            <a:off x="7697705" y="600658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Reviews</a:t>
            </a:r>
            <a:endParaRPr lang="en-US" sz="700" dirty="0"/>
          </a:p>
        </p:txBody>
      </p:sp>
      <p:sp>
        <p:nvSpPr>
          <p:cNvPr id="90" name="Label 77"/>
          <p:cNvSpPr txBox="1"/>
          <p:nvPr/>
        </p:nvSpPr>
        <p:spPr>
          <a:xfrm rot="16722581">
            <a:off x="7458110" y="59822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Renewals</a:t>
            </a:r>
            <a:endParaRPr lang="en-US" sz="700" dirty="0"/>
          </a:p>
        </p:txBody>
      </p:sp>
      <p:sp>
        <p:nvSpPr>
          <p:cNvPr id="91" name="Label 78"/>
          <p:cNvSpPr txBox="1"/>
          <p:nvPr/>
        </p:nvSpPr>
        <p:spPr>
          <a:xfrm rot="17070968">
            <a:off x="7222209" y="593374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Training</a:t>
            </a:r>
            <a:endParaRPr lang="en-US" sz="700" dirty="0"/>
          </a:p>
        </p:txBody>
      </p:sp>
      <p:sp>
        <p:nvSpPr>
          <p:cNvPr id="92" name="Label 79"/>
          <p:cNvSpPr txBox="1"/>
          <p:nvPr/>
        </p:nvSpPr>
        <p:spPr>
          <a:xfrm rot="17419355">
            <a:off x="6992423" y="58616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Relationship Management</a:t>
            </a:r>
            <a:endParaRPr lang="en-US" sz="700" dirty="0"/>
          </a:p>
        </p:txBody>
      </p:sp>
      <p:sp>
        <p:nvSpPr>
          <p:cNvPr id="93" name="Label 80"/>
          <p:cNvSpPr txBox="1"/>
          <p:nvPr/>
        </p:nvSpPr>
        <p:spPr>
          <a:xfrm rot="17767742">
            <a:off x="6771109" y="57666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Support</a:t>
            </a:r>
            <a:endParaRPr lang="en-US" sz="700" dirty="0"/>
          </a:p>
        </p:txBody>
      </p:sp>
      <p:sp>
        <p:nvSpPr>
          <p:cNvPr id="94" name="Label 81"/>
          <p:cNvSpPr txBox="1"/>
          <p:nvPr/>
        </p:nvSpPr>
        <p:spPr>
          <a:xfrm rot="18116129">
            <a:off x="6560540" y="56498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Satisfaction</a:t>
            </a:r>
            <a:endParaRPr lang="en-US" sz="700" dirty="0"/>
          </a:p>
        </p:txBody>
      </p:sp>
      <p:sp>
        <p:nvSpPr>
          <p:cNvPr id="95" name="Label 82"/>
          <p:cNvSpPr txBox="1"/>
          <p:nvPr/>
        </p:nvSpPr>
        <p:spPr>
          <a:xfrm rot="18464516">
            <a:off x="6362875" y="55122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Upselling &amp; Cross-selling</a:t>
            </a:r>
            <a:endParaRPr lang="en-US" sz="700" dirty="0"/>
          </a:p>
        </p:txBody>
      </p:sp>
      <p:sp>
        <p:nvSpPr>
          <p:cNvPr id="96" name="Label 83"/>
          <p:cNvSpPr txBox="1"/>
          <p:nvPr/>
        </p:nvSpPr>
        <p:spPr>
          <a:xfrm rot="18812903">
            <a:off x="6180142" y="53553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&amp; Churn</a:t>
            </a:r>
            <a:endParaRPr lang="en-US" sz="700" dirty="0"/>
          </a:p>
        </p:txBody>
      </p:sp>
      <p:sp>
        <p:nvSpPr>
          <p:cNvPr id="97" name="Label 84"/>
          <p:cNvSpPr txBox="1"/>
          <p:nvPr/>
        </p:nvSpPr>
        <p:spPr>
          <a:xfrm rot="19161290">
            <a:off x="6014218" y="51807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700" dirty="0"/>
          </a:p>
        </p:txBody>
      </p:sp>
      <p:sp>
        <p:nvSpPr>
          <p:cNvPr id="98" name="Label 85"/>
          <p:cNvSpPr txBox="1"/>
          <p:nvPr/>
        </p:nvSpPr>
        <p:spPr>
          <a:xfrm rot="19509677">
            <a:off x="5866804" y="499035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 Adoption</a:t>
            </a:r>
            <a:endParaRPr lang="en-US" sz="700" dirty="0"/>
          </a:p>
        </p:txBody>
      </p:sp>
      <p:sp>
        <p:nvSpPr>
          <p:cNvPr id="99" name="Label 86"/>
          <p:cNvSpPr txBox="1"/>
          <p:nvPr/>
        </p:nvSpPr>
        <p:spPr>
          <a:xfrm rot="19858065">
            <a:off x="5739413" y="47859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Onboarding</a:t>
            </a:r>
            <a:endParaRPr lang="en-US" sz="700" dirty="0"/>
          </a:p>
        </p:txBody>
      </p:sp>
      <p:sp>
        <p:nvSpPr>
          <p:cNvPr id="100" name="Function Customer Success"/>
          <p:cNvSpPr txBox="1"/>
          <p:nvPr/>
        </p:nvSpPr>
        <p:spPr>
          <a:xfrm>
            <a:off x="7825768" y="470259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61D"/>
                </a:solidFill>
              </a:rPr>
              <a:t>Customer Success</a:t>
            </a:r>
            <a:endParaRPr lang="en-US" sz="1200" dirty="0"/>
          </a:p>
        </p:txBody>
      </p:sp>
      <p:sp>
        <p:nvSpPr>
          <p:cNvPr id="101" name="Marketing 87"/>
          <p:cNvSpPr/>
          <p:nvPr/>
        </p:nvSpPr>
        <p:spPr>
          <a:xfrm>
            <a:off x="6858000" y="2057400"/>
            <a:ext cx="3291840" cy="3291840"/>
          </a:xfrm>
          <a:prstGeom prst="blockArc">
            <a:avLst>
              <a:gd name="adj1" fmla="val 9232258"/>
              <a:gd name="adj2" fmla="val 16200000"/>
              <a:gd name="adj3" fmla="val 22222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2" name="Reporting &amp; Forecasting 8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9232258"/>
              <a:gd name="adj2" fmla="val 9580645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3" name="Budget Management 8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9580645"/>
              <a:gd name="adj2" fmla="val 9929032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4" name="A/B Testing 9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9929032"/>
              <a:gd name="adj2" fmla="val 10277419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5" name="Retention Campaigns 9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0277419"/>
              <a:gd name="adj2" fmla="val 10625806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6" name="Marketing Analytics 9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0625806"/>
              <a:gd name="adj2" fmla="val 10974194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7" name="Targeting &amp; Personalisation 9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0974194"/>
              <a:gd name="adj2" fmla="val 11322581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8" name="Customer Segmentation 9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1322581"/>
              <a:gd name="adj2" fmla="val 11670968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9" name="Affiliate Marketing 9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1670968"/>
              <a:gd name="adj2" fmla="val 12019355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0" name="Influencer Partnerships 9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019355"/>
              <a:gd name="adj2" fmla="val 12367742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1" name="Public Relations 9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367742"/>
              <a:gd name="adj2" fmla="val 12716129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2" name="Paid Advertising 9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716129"/>
              <a:gd name="adj2" fmla="val 13064516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3" name="Competitor Analysis 9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3064516"/>
              <a:gd name="adj2" fmla="val 13412903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4" name="Market Research 10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3412903"/>
              <a:gd name="adj2" fmla="val 13761290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5" name="Email Marketing 10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3761290"/>
              <a:gd name="adj2" fmla="val 14109677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6" name="Webinars &amp; Events 10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4109677"/>
              <a:gd name="adj2" fmla="val 14458065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7" name="Social Media 10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4458065"/>
              <a:gd name="adj2" fmla="val 14806452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8" name="SEO Optimisation 10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4806452"/>
              <a:gd name="adj2" fmla="val 15154839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9" name="Content Strategy 10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154839"/>
              <a:gd name="adj2" fmla="val 15503226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0" name="Brand Awareness 10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503226"/>
              <a:gd name="adj2" fmla="val 15851613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1" name="Lead Generation 10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851613"/>
              <a:gd name="adj2" fmla="val 16200000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2" name="Label 108"/>
          <p:cNvSpPr txBox="1"/>
          <p:nvPr/>
        </p:nvSpPr>
        <p:spPr>
          <a:xfrm rot="20206452">
            <a:off x="5633353" y="4569757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Reporting &amp; Forecasting</a:t>
            </a:r>
            <a:endParaRPr lang="en-US" sz="700" dirty="0"/>
          </a:p>
        </p:txBody>
      </p:sp>
      <p:sp>
        <p:nvSpPr>
          <p:cNvPr id="123" name="Label 109"/>
          <p:cNvSpPr txBox="1"/>
          <p:nvPr/>
        </p:nvSpPr>
        <p:spPr>
          <a:xfrm rot="20554839">
            <a:off x="5549711" y="434391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Budget Management</a:t>
            </a:r>
            <a:endParaRPr lang="en-US" sz="700" dirty="0"/>
          </a:p>
        </p:txBody>
      </p:sp>
      <p:sp>
        <p:nvSpPr>
          <p:cNvPr id="124" name="Label 110"/>
          <p:cNvSpPr txBox="1"/>
          <p:nvPr/>
        </p:nvSpPr>
        <p:spPr>
          <a:xfrm rot="20903226">
            <a:off x="5489346" y="411077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A/B Testing</a:t>
            </a:r>
            <a:endParaRPr lang="en-US" sz="700" dirty="0"/>
          </a:p>
        </p:txBody>
      </p:sp>
      <p:sp>
        <p:nvSpPr>
          <p:cNvPr id="125" name="Label 111"/>
          <p:cNvSpPr txBox="1"/>
          <p:nvPr/>
        </p:nvSpPr>
        <p:spPr>
          <a:xfrm rot="21251613">
            <a:off x="5452878" y="38727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Campaigns</a:t>
            </a:r>
            <a:endParaRPr lang="en-US" sz="700" dirty="0"/>
          </a:p>
        </p:txBody>
      </p:sp>
      <p:sp>
        <p:nvSpPr>
          <p:cNvPr id="126" name="Label 112"/>
          <p:cNvSpPr txBox="1"/>
          <p:nvPr/>
        </p:nvSpPr>
        <p:spPr>
          <a:xfrm rot="21600000">
            <a:off x="5440680" y="3632200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Analytics</a:t>
            </a:r>
            <a:endParaRPr lang="en-US" sz="700" dirty="0"/>
          </a:p>
        </p:txBody>
      </p:sp>
      <p:sp>
        <p:nvSpPr>
          <p:cNvPr id="127" name="Label 113"/>
          <p:cNvSpPr txBox="1"/>
          <p:nvPr/>
        </p:nvSpPr>
        <p:spPr>
          <a:xfrm rot="348387">
            <a:off x="5452878" y="33916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Targeting &amp; Personalisation</a:t>
            </a:r>
            <a:endParaRPr lang="en-US" sz="700" dirty="0"/>
          </a:p>
        </p:txBody>
      </p:sp>
      <p:sp>
        <p:nvSpPr>
          <p:cNvPr id="128" name="Label 114"/>
          <p:cNvSpPr txBox="1"/>
          <p:nvPr/>
        </p:nvSpPr>
        <p:spPr>
          <a:xfrm rot="696774">
            <a:off x="5489346" y="315362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Segmentation</a:t>
            </a:r>
            <a:endParaRPr lang="en-US" sz="700" dirty="0"/>
          </a:p>
        </p:txBody>
      </p:sp>
      <p:sp>
        <p:nvSpPr>
          <p:cNvPr id="129" name="Label 115"/>
          <p:cNvSpPr txBox="1"/>
          <p:nvPr/>
        </p:nvSpPr>
        <p:spPr>
          <a:xfrm rot="1045161">
            <a:off x="5549711" y="292048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Affiliate Marketing</a:t>
            </a:r>
            <a:endParaRPr lang="en-US" sz="700" dirty="0"/>
          </a:p>
        </p:txBody>
      </p:sp>
      <p:sp>
        <p:nvSpPr>
          <p:cNvPr id="130" name="Label 116"/>
          <p:cNvSpPr txBox="1"/>
          <p:nvPr/>
        </p:nvSpPr>
        <p:spPr>
          <a:xfrm rot="1393548">
            <a:off x="5633353" y="2694643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Influencer Partnerships</a:t>
            </a:r>
            <a:endParaRPr lang="en-US" sz="700" dirty="0"/>
          </a:p>
        </p:txBody>
      </p:sp>
      <p:sp>
        <p:nvSpPr>
          <p:cNvPr id="131" name="Label 117"/>
          <p:cNvSpPr txBox="1"/>
          <p:nvPr/>
        </p:nvSpPr>
        <p:spPr>
          <a:xfrm rot="1741935">
            <a:off x="5739413" y="24784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 Relations</a:t>
            </a:r>
            <a:endParaRPr lang="en-US" sz="700" dirty="0"/>
          </a:p>
        </p:txBody>
      </p:sp>
      <p:sp>
        <p:nvSpPr>
          <p:cNvPr id="132" name="Label 118"/>
          <p:cNvSpPr txBox="1"/>
          <p:nvPr/>
        </p:nvSpPr>
        <p:spPr>
          <a:xfrm rot="2090323">
            <a:off x="5866804" y="227404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Advertising</a:t>
            </a:r>
            <a:endParaRPr lang="en-US" sz="700" dirty="0"/>
          </a:p>
        </p:txBody>
      </p:sp>
      <p:sp>
        <p:nvSpPr>
          <p:cNvPr id="133" name="Label 119"/>
          <p:cNvSpPr txBox="1"/>
          <p:nvPr/>
        </p:nvSpPr>
        <p:spPr>
          <a:xfrm rot="2438710">
            <a:off x="6014218" y="20836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Competitor Analysis</a:t>
            </a:r>
            <a:endParaRPr lang="en-US" sz="700" dirty="0"/>
          </a:p>
        </p:txBody>
      </p:sp>
      <p:sp>
        <p:nvSpPr>
          <p:cNvPr id="134" name="Label 120"/>
          <p:cNvSpPr txBox="1"/>
          <p:nvPr/>
        </p:nvSpPr>
        <p:spPr>
          <a:xfrm rot="2787097">
            <a:off x="6180142" y="19090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 Research</a:t>
            </a:r>
            <a:endParaRPr lang="en-US" sz="700" dirty="0"/>
          </a:p>
        </p:txBody>
      </p:sp>
      <p:sp>
        <p:nvSpPr>
          <p:cNvPr id="135" name="Label 121"/>
          <p:cNvSpPr txBox="1"/>
          <p:nvPr/>
        </p:nvSpPr>
        <p:spPr>
          <a:xfrm rot="3135484">
            <a:off x="6362875" y="17521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Email Marketing</a:t>
            </a:r>
            <a:endParaRPr lang="en-US" sz="700" dirty="0"/>
          </a:p>
        </p:txBody>
      </p:sp>
      <p:sp>
        <p:nvSpPr>
          <p:cNvPr id="136" name="Label 122"/>
          <p:cNvSpPr txBox="1"/>
          <p:nvPr/>
        </p:nvSpPr>
        <p:spPr>
          <a:xfrm rot="3483871">
            <a:off x="6560540" y="16145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Webinars &amp; Events</a:t>
            </a:r>
            <a:endParaRPr lang="en-US" sz="700" dirty="0"/>
          </a:p>
        </p:txBody>
      </p:sp>
      <p:sp>
        <p:nvSpPr>
          <p:cNvPr id="137" name="Label 123"/>
          <p:cNvSpPr txBox="1"/>
          <p:nvPr/>
        </p:nvSpPr>
        <p:spPr>
          <a:xfrm rot="3832258">
            <a:off x="6771109" y="14977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Media</a:t>
            </a:r>
            <a:endParaRPr lang="en-US" sz="700" dirty="0"/>
          </a:p>
        </p:txBody>
      </p:sp>
      <p:sp>
        <p:nvSpPr>
          <p:cNvPr id="138" name="Label 124"/>
          <p:cNvSpPr txBox="1"/>
          <p:nvPr/>
        </p:nvSpPr>
        <p:spPr>
          <a:xfrm rot="4180645">
            <a:off x="6992423" y="14027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Optimisation</a:t>
            </a:r>
            <a:endParaRPr lang="en-US" sz="700" dirty="0"/>
          </a:p>
        </p:txBody>
      </p:sp>
      <p:sp>
        <p:nvSpPr>
          <p:cNvPr id="139" name="Label 125"/>
          <p:cNvSpPr txBox="1"/>
          <p:nvPr/>
        </p:nvSpPr>
        <p:spPr>
          <a:xfrm rot="4529032">
            <a:off x="7222209" y="133065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Content Strategy</a:t>
            </a:r>
            <a:endParaRPr lang="en-US" sz="700" dirty="0"/>
          </a:p>
        </p:txBody>
      </p:sp>
      <p:sp>
        <p:nvSpPr>
          <p:cNvPr id="140" name="Label 126"/>
          <p:cNvSpPr txBox="1"/>
          <p:nvPr/>
        </p:nvSpPr>
        <p:spPr>
          <a:xfrm rot="4877419">
            <a:off x="7458110" y="12821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Brand Awareness</a:t>
            </a:r>
            <a:endParaRPr lang="en-US" sz="700" dirty="0"/>
          </a:p>
        </p:txBody>
      </p:sp>
      <p:sp>
        <p:nvSpPr>
          <p:cNvPr id="141" name="Label 127"/>
          <p:cNvSpPr txBox="1"/>
          <p:nvPr/>
        </p:nvSpPr>
        <p:spPr>
          <a:xfrm rot="5225806">
            <a:off x="7697705" y="125781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700" dirty="0"/>
          </a:p>
        </p:txBody>
      </p:sp>
      <p:sp>
        <p:nvSpPr>
          <p:cNvPr id="142" name="Function Marketing"/>
          <p:cNvSpPr txBox="1"/>
          <p:nvPr/>
        </p:nvSpPr>
        <p:spPr>
          <a:xfrm>
            <a:off x="6868880" y="2751841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</a:rPr>
              <a:t>Marketing</a:t>
            </a:r>
            <a:endParaRPr lang="en-US" sz="1200" dirty="0"/>
          </a:p>
        </p:txBody>
      </p:sp>
      <p:sp>
        <p:nvSpPr>
          <p:cNvPr id="143" name="Hub"/>
          <p:cNvSpPr/>
          <p:nvPr/>
        </p:nvSpPr>
        <p:spPr>
          <a:xfrm>
            <a:off x="7589520" y="2788920"/>
            <a:ext cx="1828800" cy="1828800"/>
          </a:xfrm>
          <a:prstGeom prst="ellipse">
            <a:avLst/>
          </a:prstGeom>
          <a:solidFill>
            <a:srgbClr val="F5F7F0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4" name="Hub label"/>
          <p:cNvSpPr txBox="1"/>
          <p:nvPr/>
        </p:nvSpPr>
        <p:spPr>
          <a:xfrm>
            <a:off x="7726680" y="32918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Revenue Operations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Sales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Sales 128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" name="Sales Communication 12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18182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" name="Sales Performance Tracking 13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18182"/>
              <a:gd name="adj2" fmla="val 13156364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" name="Sales Channel Optimisation 13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156364"/>
              <a:gd name="adj2" fmla="val 1349454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9" name="Pricing Strategy 13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494545"/>
              <a:gd name="adj2" fmla="val 13832727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" name="Client Onboarding 13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832727"/>
              <a:gd name="adj2" fmla="val 14170909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" name="Deal Structuring 13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170909"/>
              <a:gd name="adj2" fmla="val 14509091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" name="Proposal Management 13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509091"/>
              <a:gd name="adj2" fmla="val 14847273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3" name="Sales Automation 13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847273"/>
              <a:gd name="adj2" fmla="val 1518545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Win/Loss Analysis 13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185455"/>
              <a:gd name="adj2" fmla="val 15523636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Account Management 13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523636"/>
              <a:gd name="adj2" fmla="val 15861818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Channel Sales 13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61818"/>
              <a:gd name="adj2" fmla="val 16200000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Discount Control 14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38182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Quota Attainment 14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38182"/>
              <a:gd name="adj2" fmla="val 16876364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Training &amp; Development 14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876364"/>
              <a:gd name="adj2" fmla="val 1721454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Sales Enablement 14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214545"/>
              <a:gd name="adj2" fmla="val 17552727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Territory Management 14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552727"/>
              <a:gd name="adj2" fmla="val 17890909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CRM Management 14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890909"/>
              <a:gd name="adj2" fmla="val 18229091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Sales Forecasting 14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229091"/>
              <a:gd name="adj2" fmla="val 18567273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Contract Negotiation 14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567273"/>
              <a:gd name="adj2" fmla="val 1890545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Sales Demos 14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905455"/>
              <a:gd name="adj2" fmla="val 19243636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Prospecting 14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243636"/>
              <a:gd name="adj2" fmla="val 19581818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7" name="Pipeline Management 15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81818"/>
              <a:gd name="adj2" fmla="val 19920000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8" name="Label 151"/>
          <p:cNvSpPr txBox="1"/>
          <p:nvPr/>
        </p:nvSpPr>
        <p:spPr>
          <a:xfrm rot="1849091">
            <a:off x="1510965" y="418096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Communication</a:t>
            </a:r>
            <a:endParaRPr lang="en-US" sz="1100" dirty="0"/>
          </a:p>
        </p:txBody>
      </p:sp>
      <p:sp>
        <p:nvSpPr>
          <p:cNvPr id="29" name="Label 152"/>
          <p:cNvSpPr txBox="1"/>
          <p:nvPr/>
        </p:nvSpPr>
        <p:spPr>
          <a:xfrm rot="2187273">
            <a:off x="1735094" y="38440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Performance Tracking</a:t>
            </a:r>
            <a:endParaRPr lang="en-US" sz="1100" dirty="0"/>
          </a:p>
        </p:txBody>
      </p:sp>
      <p:sp>
        <p:nvSpPr>
          <p:cNvPr id="30" name="Label 153"/>
          <p:cNvSpPr txBox="1"/>
          <p:nvPr/>
        </p:nvSpPr>
        <p:spPr>
          <a:xfrm rot="2525455">
            <a:off x="1991225" y="353085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Channel Optimisation</a:t>
            </a:r>
            <a:endParaRPr lang="en-US" sz="1100" dirty="0"/>
          </a:p>
        </p:txBody>
      </p:sp>
      <p:sp>
        <p:nvSpPr>
          <p:cNvPr id="31" name="Label 154"/>
          <p:cNvSpPr txBox="1"/>
          <p:nvPr/>
        </p:nvSpPr>
        <p:spPr>
          <a:xfrm rot="2863636">
            <a:off x="2276882" y="32442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Strategy</a:t>
            </a:r>
            <a:endParaRPr lang="en-US" sz="1100" dirty="0"/>
          </a:p>
        </p:txBody>
      </p:sp>
      <p:sp>
        <p:nvSpPr>
          <p:cNvPr id="32" name="Label 155"/>
          <p:cNvSpPr txBox="1"/>
          <p:nvPr/>
        </p:nvSpPr>
        <p:spPr>
          <a:xfrm rot="3201818">
            <a:off x="2589303" y="2987164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 Onboarding</a:t>
            </a:r>
            <a:endParaRPr lang="en-US" sz="1100" dirty="0"/>
          </a:p>
        </p:txBody>
      </p:sp>
      <p:sp>
        <p:nvSpPr>
          <p:cNvPr id="33" name="Label 156"/>
          <p:cNvSpPr txBox="1"/>
          <p:nvPr/>
        </p:nvSpPr>
        <p:spPr>
          <a:xfrm rot="3540000">
            <a:off x="2925466" y="276196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Deal Structuring</a:t>
            </a:r>
            <a:endParaRPr lang="en-US" sz="1100" dirty="0"/>
          </a:p>
        </p:txBody>
      </p:sp>
      <p:sp>
        <p:nvSpPr>
          <p:cNvPr id="34" name="Label 157"/>
          <p:cNvSpPr txBox="1"/>
          <p:nvPr/>
        </p:nvSpPr>
        <p:spPr>
          <a:xfrm rot="3878182">
            <a:off x="3282122" y="257087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Proposal Management</a:t>
            </a:r>
            <a:endParaRPr lang="en-US" sz="1100" dirty="0"/>
          </a:p>
        </p:txBody>
      </p:sp>
      <p:sp>
        <p:nvSpPr>
          <p:cNvPr id="35" name="Label 158"/>
          <p:cNvSpPr txBox="1"/>
          <p:nvPr/>
        </p:nvSpPr>
        <p:spPr>
          <a:xfrm rot="4216364">
            <a:off x="3655821" y="241573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Automation</a:t>
            </a:r>
            <a:endParaRPr lang="en-US" sz="1100" dirty="0"/>
          </a:p>
        </p:txBody>
      </p:sp>
      <p:sp>
        <p:nvSpPr>
          <p:cNvPr id="36" name="Label 159"/>
          <p:cNvSpPr txBox="1"/>
          <p:nvPr/>
        </p:nvSpPr>
        <p:spPr>
          <a:xfrm rot="4554545">
            <a:off x="4042951" y="229805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Win/Loss Analysis</a:t>
            </a:r>
            <a:endParaRPr lang="en-US" sz="1100" dirty="0"/>
          </a:p>
        </p:txBody>
      </p:sp>
      <p:sp>
        <p:nvSpPr>
          <p:cNvPr id="37" name="Label 160"/>
          <p:cNvSpPr txBox="1"/>
          <p:nvPr/>
        </p:nvSpPr>
        <p:spPr>
          <a:xfrm rot="4892727">
            <a:off x="4439767" y="221895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1100" dirty="0"/>
          </a:p>
        </p:txBody>
      </p:sp>
      <p:sp>
        <p:nvSpPr>
          <p:cNvPr id="38" name="Label 161"/>
          <p:cNvSpPr txBox="1"/>
          <p:nvPr/>
        </p:nvSpPr>
        <p:spPr>
          <a:xfrm rot="5230909">
            <a:off x="4842434" y="217921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Channel Sales</a:t>
            </a:r>
            <a:endParaRPr lang="en-US" sz="1100" dirty="0"/>
          </a:p>
        </p:txBody>
      </p:sp>
      <p:sp>
        <p:nvSpPr>
          <p:cNvPr id="39" name="Label 162"/>
          <p:cNvSpPr txBox="1"/>
          <p:nvPr/>
        </p:nvSpPr>
        <p:spPr>
          <a:xfrm rot="-5230909">
            <a:off x="5247056" y="217921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Discount Control</a:t>
            </a:r>
            <a:endParaRPr lang="en-US" sz="1100" dirty="0"/>
          </a:p>
        </p:txBody>
      </p:sp>
      <p:sp>
        <p:nvSpPr>
          <p:cNvPr id="40" name="Label 163"/>
          <p:cNvSpPr txBox="1"/>
          <p:nvPr/>
        </p:nvSpPr>
        <p:spPr>
          <a:xfrm rot="-4892727">
            <a:off x="5649722" y="221895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Attainment</a:t>
            </a:r>
            <a:endParaRPr lang="en-US" sz="1100" dirty="0"/>
          </a:p>
        </p:txBody>
      </p:sp>
      <p:sp>
        <p:nvSpPr>
          <p:cNvPr id="41" name="Label 164"/>
          <p:cNvSpPr txBox="1"/>
          <p:nvPr/>
        </p:nvSpPr>
        <p:spPr>
          <a:xfrm rot="-4554545">
            <a:off x="6046539" y="229805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Training &amp; Development</a:t>
            </a:r>
            <a:endParaRPr lang="en-US" sz="1100" dirty="0"/>
          </a:p>
        </p:txBody>
      </p:sp>
      <p:sp>
        <p:nvSpPr>
          <p:cNvPr id="42" name="Label 165"/>
          <p:cNvSpPr txBox="1"/>
          <p:nvPr/>
        </p:nvSpPr>
        <p:spPr>
          <a:xfrm rot="-4216364">
            <a:off x="6433668" y="241573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Enablement</a:t>
            </a:r>
            <a:endParaRPr lang="en-US" sz="1100" dirty="0"/>
          </a:p>
        </p:txBody>
      </p:sp>
      <p:sp>
        <p:nvSpPr>
          <p:cNvPr id="43" name="Label 166"/>
          <p:cNvSpPr txBox="1"/>
          <p:nvPr/>
        </p:nvSpPr>
        <p:spPr>
          <a:xfrm rot="-3878182">
            <a:off x="6807368" y="257087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Territory Management</a:t>
            </a:r>
            <a:endParaRPr lang="en-US" sz="1100" dirty="0"/>
          </a:p>
        </p:txBody>
      </p:sp>
      <p:sp>
        <p:nvSpPr>
          <p:cNvPr id="44" name="Label 167"/>
          <p:cNvSpPr txBox="1"/>
          <p:nvPr/>
        </p:nvSpPr>
        <p:spPr>
          <a:xfrm rot="-3540000">
            <a:off x="7164023" y="276196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CRM Management</a:t>
            </a:r>
            <a:endParaRPr lang="en-US" sz="1100" dirty="0"/>
          </a:p>
        </p:txBody>
      </p:sp>
      <p:sp>
        <p:nvSpPr>
          <p:cNvPr id="45" name="Label 168"/>
          <p:cNvSpPr txBox="1"/>
          <p:nvPr/>
        </p:nvSpPr>
        <p:spPr>
          <a:xfrm rot="-3201818">
            <a:off x="7500187" y="2987164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Forecasting</a:t>
            </a:r>
            <a:endParaRPr lang="en-US" sz="1100" dirty="0"/>
          </a:p>
        </p:txBody>
      </p:sp>
      <p:sp>
        <p:nvSpPr>
          <p:cNvPr id="46" name="Label 169"/>
          <p:cNvSpPr txBox="1"/>
          <p:nvPr/>
        </p:nvSpPr>
        <p:spPr>
          <a:xfrm rot="-2863636">
            <a:off x="7812608" y="32442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Negotiation</a:t>
            </a:r>
            <a:endParaRPr lang="en-US" sz="1100" dirty="0"/>
          </a:p>
        </p:txBody>
      </p:sp>
      <p:sp>
        <p:nvSpPr>
          <p:cNvPr id="47" name="Label 170"/>
          <p:cNvSpPr txBox="1"/>
          <p:nvPr/>
        </p:nvSpPr>
        <p:spPr>
          <a:xfrm rot="-2525455">
            <a:off x="8098265" y="353085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Demos</a:t>
            </a:r>
            <a:endParaRPr lang="en-US" sz="1100" dirty="0"/>
          </a:p>
        </p:txBody>
      </p:sp>
      <p:sp>
        <p:nvSpPr>
          <p:cNvPr id="48" name="Label 171"/>
          <p:cNvSpPr txBox="1"/>
          <p:nvPr/>
        </p:nvSpPr>
        <p:spPr>
          <a:xfrm rot="-2187273">
            <a:off x="8354396" y="38440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Prospecting</a:t>
            </a:r>
            <a:endParaRPr lang="en-US" sz="1100" dirty="0"/>
          </a:p>
        </p:txBody>
      </p:sp>
      <p:sp>
        <p:nvSpPr>
          <p:cNvPr id="49" name="Label 172"/>
          <p:cNvSpPr txBox="1"/>
          <p:nvPr/>
        </p:nvSpPr>
        <p:spPr>
          <a:xfrm rot="-1849091">
            <a:off x="8578524" y="418096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Pipeline Management</a:t>
            </a:r>
            <a:endParaRPr lang="en-US" sz="1100" dirty="0"/>
          </a:p>
        </p:txBody>
      </p:sp>
      <p:sp>
        <p:nvSpPr>
          <p:cNvPr id="50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7F0"/>
                </a:solidFill>
              </a:rPr>
              <a:t>Sales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 capabilities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Marketing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Marketing 173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" name="Reporting &amp; Forecasting 17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5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" name="Budget Management 17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52000"/>
              <a:gd name="adj2" fmla="val 1322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" name="A/B Testing 17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224000"/>
              <a:gd name="adj2" fmla="val 1359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9" name="Retention Campaigns 17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596000"/>
              <a:gd name="adj2" fmla="val 1396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" name="Marketing Analytics 17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968000"/>
              <a:gd name="adj2" fmla="val 1434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" name="Targeting &amp; Personalisation 17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340000"/>
              <a:gd name="adj2" fmla="val 1471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" name="Customer Segmentation 18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712000"/>
              <a:gd name="adj2" fmla="val 1508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3" name="Affiliate Marketing 18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084000"/>
              <a:gd name="adj2" fmla="val 1545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Influencer Partnerships 18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456000"/>
              <a:gd name="adj2" fmla="val 1582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Public Relations 18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28000"/>
              <a:gd name="adj2" fmla="val 1620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Paid Advertising 18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7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Competitor Analysis 18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72000"/>
              <a:gd name="adj2" fmla="val 1694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Market Research 18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944000"/>
              <a:gd name="adj2" fmla="val 1731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Email Marketing 18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316000"/>
              <a:gd name="adj2" fmla="val 1768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Webinars &amp; Events 18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688000"/>
              <a:gd name="adj2" fmla="val 1806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Social Media 18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060000"/>
              <a:gd name="adj2" fmla="val 1843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SEO Optimisation 19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432000"/>
              <a:gd name="adj2" fmla="val 1880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Content Strategy 19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804000"/>
              <a:gd name="adj2" fmla="val 1917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Brand Awareness 19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176000"/>
              <a:gd name="adj2" fmla="val 1954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Lead Generation 19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48000"/>
              <a:gd name="adj2" fmla="val 1992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Label 194"/>
          <p:cNvSpPr txBox="1"/>
          <p:nvPr/>
        </p:nvSpPr>
        <p:spPr>
          <a:xfrm rot="1866000">
            <a:off x="1521377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Reporting &amp; Forecasting</a:t>
            </a:r>
            <a:endParaRPr lang="en-US" sz="1100" dirty="0"/>
          </a:p>
        </p:txBody>
      </p:sp>
      <p:sp>
        <p:nvSpPr>
          <p:cNvPr id="27" name="Label 195"/>
          <p:cNvSpPr txBox="1"/>
          <p:nvPr/>
        </p:nvSpPr>
        <p:spPr>
          <a:xfrm rot="2238000">
            <a:off x="1771531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Budget Management</a:t>
            </a:r>
            <a:endParaRPr lang="en-US" sz="1100" dirty="0"/>
          </a:p>
        </p:txBody>
      </p:sp>
      <p:sp>
        <p:nvSpPr>
          <p:cNvPr id="28" name="Label 196"/>
          <p:cNvSpPr txBox="1"/>
          <p:nvPr/>
        </p:nvSpPr>
        <p:spPr>
          <a:xfrm rot="2610000">
            <a:off x="2059974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A/B Testing</a:t>
            </a:r>
            <a:endParaRPr lang="en-US" sz="1100" dirty="0"/>
          </a:p>
        </p:txBody>
      </p:sp>
      <p:sp>
        <p:nvSpPr>
          <p:cNvPr id="29" name="Label 197"/>
          <p:cNvSpPr txBox="1"/>
          <p:nvPr/>
        </p:nvSpPr>
        <p:spPr>
          <a:xfrm rot="2982000">
            <a:off x="2383334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Campaigns</a:t>
            </a:r>
            <a:endParaRPr lang="en-US" sz="1100" dirty="0"/>
          </a:p>
        </p:txBody>
      </p:sp>
      <p:sp>
        <p:nvSpPr>
          <p:cNvPr id="30" name="Label 198"/>
          <p:cNvSpPr txBox="1"/>
          <p:nvPr/>
        </p:nvSpPr>
        <p:spPr>
          <a:xfrm rot="3354000">
            <a:off x="2737827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Analytics</a:t>
            </a:r>
            <a:endParaRPr lang="en-US" sz="1100" dirty="0"/>
          </a:p>
        </p:txBody>
      </p:sp>
      <p:sp>
        <p:nvSpPr>
          <p:cNvPr id="31" name="Label 199"/>
          <p:cNvSpPr txBox="1"/>
          <p:nvPr/>
        </p:nvSpPr>
        <p:spPr>
          <a:xfrm rot="3726000">
            <a:off x="3119307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Targeting &amp; Personalisation</a:t>
            </a:r>
            <a:endParaRPr lang="en-US" sz="1100" dirty="0"/>
          </a:p>
        </p:txBody>
      </p:sp>
      <p:sp>
        <p:nvSpPr>
          <p:cNvPr id="32" name="Label 200"/>
          <p:cNvSpPr txBox="1"/>
          <p:nvPr/>
        </p:nvSpPr>
        <p:spPr>
          <a:xfrm rot="4098000">
            <a:off x="3523311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Segmentation</a:t>
            </a:r>
            <a:endParaRPr lang="en-US" sz="1100" dirty="0"/>
          </a:p>
        </p:txBody>
      </p:sp>
      <p:sp>
        <p:nvSpPr>
          <p:cNvPr id="33" name="Label 201"/>
          <p:cNvSpPr txBox="1"/>
          <p:nvPr/>
        </p:nvSpPr>
        <p:spPr>
          <a:xfrm rot="4470000">
            <a:off x="3945112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Affiliate Marketing</a:t>
            </a:r>
            <a:endParaRPr lang="en-US" sz="1100" dirty="0"/>
          </a:p>
        </p:txBody>
      </p:sp>
      <p:sp>
        <p:nvSpPr>
          <p:cNvPr id="34" name="Label 202"/>
          <p:cNvSpPr txBox="1"/>
          <p:nvPr/>
        </p:nvSpPr>
        <p:spPr>
          <a:xfrm rot="4842000">
            <a:off x="4379777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Influencer Partnerships</a:t>
            </a:r>
            <a:endParaRPr lang="en-US" sz="1100" dirty="0"/>
          </a:p>
        </p:txBody>
      </p:sp>
      <p:sp>
        <p:nvSpPr>
          <p:cNvPr id="35" name="Label 203"/>
          <p:cNvSpPr txBox="1"/>
          <p:nvPr/>
        </p:nvSpPr>
        <p:spPr>
          <a:xfrm rot="5214000">
            <a:off x="4822221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 Relations</a:t>
            </a:r>
            <a:endParaRPr lang="en-US" sz="1100" dirty="0"/>
          </a:p>
        </p:txBody>
      </p:sp>
      <p:sp>
        <p:nvSpPr>
          <p:cNvPr id="36" name="Label 204"/>
          <p:cNvSpPr txBox="1"/>
          <p:nvPr/>
        </p:nvSpPr>
        <p:spPr>
          <a:xfrm rot="-5214000">
            <a:off x="5267268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Advertising</a:t>
            </a:r>
            <a:endParaRPr lang="en-US" sz="1100" dirty="0"/>
          </a:p>
        </p:txBody>
      </p:sp>
      <p:sp>
        <p:nvSpPr>
          <p:cNvPr id="37" name="Label 205"/>
          <p:cNvSpPr txBox="1"/>
          <p:nvPr/>
        </p:nvSpPr>
        <p:spPr>
          <a:xfrm rot="-4842000">
            <a:off x="5709712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Competitor Analysis</a:t>
            </a:r>
            <a:endParaRPr lang="en-US" sz="1100" dirty="0"/>
          </a:p>
        </p:txBody>
      </p:sp>
      <p:sp>
        <p:nvSpPr>
          <p:cNvPr id="38" name="Label 206"/>
          <p:cNvSpPr txBox="1"/>
          <p:nvPr/>
        </p:nvSpPr>
        <p:spPr>
          <a:xfrm rot="-4470000">
            <a:off x="6144377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 Research</a:t>
            </a:r>
            <a:endParaRPr lang="en-US" sz="1100" dirty="0"/>
          </a:p>
        </p:txBody>
      </p:sp>
      <p:sp>
        <p:nvSpPr>
          <p:cNvPr id="39" name="Label 207"/>
          <p:cNvSpPr txBox="1"/>
          <p:nvPr/>
        </p:nvSpPr>
        <p:spPr>
          <a:xfrm rot="-4098000">
            <a:off x="6566179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Email Marketing</a:t>
            </a:r>
            <a:endParaRPr lang="en-US" sz="1100" dirty="0"/>
          </a:p>
        </p:txBody>
      </p:sp>
      <p:sp>
        <p:nvSpPr>
          <p:cNvPr id="40" name="Label 208"/>
          <p:cNvSpPr txBox="1"/>
          <p:nvPr/>
        </p:nvSpPr>
        <p:spPr>
          <a:xfrm rot="-3726000">
            <a:off x="6970182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Webinars &amp; Events</a:t>
            </a:r>
            <a:endParaRPr lang="en-US" sz="1100" dirty="0"/>
          </a:p>
        </p:txBody>
      </p:sp>
      <p:sp>
        <p:nvSpPr>
          <p:cNvPr id="41" name="Label 209"/>
          <p:cNvSpPr txBox="1"/>
          <p:nvPr/>
        </p:nvSpPr>
        <p:spPr>
          <a:xfrm rot="-3354000">
            <a:off x="7351662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Media</a:t>
            </a:r>
            <a:endParaRPr lang="en-US" sz="1100" dirty="0"/>
          </a:p>
        </p:txBody>
      </p:sp>
      <p:sp>
        <p:nvSpPr>
          <p:cNvPr id="42" name="Label 210"/>
          <p:cNvSpPr txBox="1"/>
          <p:nvPr/>
        </p:nvSpPr>
        <p:spPr>
          <a:xfrm rot="-2982000">
            <a:off x="7706155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Optimisation</a:t>
            </a:r>
            <a:endParaRPr lang="en-US" sz="1100" dirty="0"/>
          </a:p>
        </p:txBody>
      </p:sp>
      <p:sp>
        <p:nvSpPr>
          <p:cNvPr id="43" name="Label 211"/>
          <p:cNvSpPr txBox="1"/>
          <p:nvPr/>
        </p:nvSpPr>
        <p:spPr>
          <a:xfrm rot="-2610000">
            <a:off x="8029515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Content Strategy</a:t>
            </a:r>
            <a:endParaRPr lang="en-US" sz="1100" dirty="0"/>
          </a:p>
        </p:txBody>
      </p:sp>
      <p:sp>
        <p:nvSpPr>
          <p:cNvPr id="44" name="Label 212"/>
          <p:cNvSpPr txBox="1"/>
          <p:nvPr/>
        </p:nvSpPr>
        <p:spPr>
          <a:xfrm rot="-2238000">
            <a:off x="8317959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Brand Awareness</a:t>
            </a:r>
            <a:endParaRPr lang="en-US" sz="1100" dirty="0"/>
          </a:p>
        </p:txBody>
      </p:sp>
      <p:sp>
        <p:nvSpPr>
          <p:cNvPr id="45" name="Label 213"/>
          <p:cNvSpPr txBox="1"/>
          <p:nvPr/>
        </p:nvSpPr>
        <p:spPr>
          <a:xfrm rot="-1866000">
            <a:off x="8568113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1100" dirty="0"/>
          </a:p>
        </p:txBody>
      </p:sp>
      <p:sp>
        <p:nvSpPr>
          <p:cNvPr id="46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7F0"/>
                </a:solidFill>
              </a:rPr>
              <a:t>Marketing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Customer Success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Customer Success 214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" name="Advocacy Programme 21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5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" name="Success Planning 21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52000"/>
              <a:gd name="adj2" fmla="val 1322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" name="Customer Analytics 21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224000"/>
              <a:gd name="adj2" fmla="val 1359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9" name="Voice of Customer 21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596000"/>
              <a:gd name="adj2" fmla="val 1396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" name="Community Building 21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968000"/>
              <a:gd name="adj2" fmla="val 1434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" name="Customer Health 22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340000"/>
              <a:gd name="adj2" fmla="val 1471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" name="Escalation Handling 22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712000"/>
              <a:gd name="adj2" fmla="val 1508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3" name="SLA Management 22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084000"/>
              <a:gd name="adj2" fmla="val 1545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QBRs 22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456000"/>
              <a:gd name="adj2" fmla="val 1582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Customer Reviews 22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28000"/>
              <a:gd name="adj2" fmla="val 1620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Contract Renewals 22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7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Customer Training 22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72000"/>
              <a:gd name="adj2" fmla="val 1694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Relationship Management 22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944000"/>
              <a:gd name="adj2" fmla="val 1731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Customer Support 22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316000"/>
              <a:gd name="adj2" fmla="val 1768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Customer Satisfaction 22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688000"/>
              <a:gd name="adj2" fmla="val 1806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Upselling &amp; Cross-selling 23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060000"/>
              <a:gd name="adj2" fmla="val 1843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Retention &amp; Churn 23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432000"/>
              <a:gd name="adj2" fmla="val 1880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Account Management 23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804000"/>
              <a:gd name="adj2" fmla="val 1917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Product Adoption 23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176000"/>
              <a:gd name="adj2" fmla="val 1954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Customer Onboarding 23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48000"/>
              <a:gd name="adj2" fmla="val 1992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Label 235"/>
          <p:cNvSpPr txBox="1"/>
          <p:nvPr/>
        </p:nvSpPr>
        <p:spPr>
          <a:xfrm rot="1866000">
            <a:off x="1521377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Advocacy Programme</a:t>
            </a:r>
            <a:endParaRPr lang="en-US" sz="1100" dirty="0"/>
          </a:p>
        </p:txBody>
      </p:sp>
      <p:sp>
        <p:nvSpPr>
          <p:cNvPr id="27" name="Label 236"/>
          <p:cNvSpPr txBox="1"/>
          <p:nvPr/>
        </p:nvSpPr>
        <p:spPr>
          <a:xfrm rot="2238000">
            <a:off x="1771531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Success Planning</a:t>
            </a:r>
            <a:endParaRPr lang="en-US" sz="1100" dirty="0"/>
          </a:p>
        </p:txBody>
      </p:sp>
      <p:sp>
        <p:nvSpPr>
          <p:cNvPr id="28" name="Label 237"/>
          <p:cNvSpPr txBox="1"/>
          <p:nvPr/>
        </p:nvSpPr>
        <p:spPr>
          <a:xfrm rot="2610000">
            <a:off x="2059974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Analytics</a:t>
            </a:r>
            <a:endParaRPr lang="en-US" sz="1100" dirty="0"/>
          </a:p>
        </p:txBody>
      </p:sp>
      <p:sp>
        <p:nvSpPr>
          <p:cNvPr id="29" name="Label 238"/>
          <p:cNvSpPr txBox="1"/>
          <p:nvPr/>
        </p:nvSpPr>
        <p:spPr>
          <a:xfrm rot="2982000">
            <a:off x="2383334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Voice of Customer</a:t>
            </a:r>
            <a:endParaRPr lang="en-US" sz="1100" dirty="0"/>
          </a:p>
        </p:txBody>
      </p:sp>
      <p:sp>
        <p:nvSpPr>
          <p:cNvPr id="30" name="Label 239"/>
          <p:cNvSpPr txBox="1"/>
          <p:nvPr/>
        </p:nvSpPr>
        <p:spPr>
          <a:xfrm rot="3354000">
            <a:off x="2737827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Community Building</a:t>
            </a:r>
            <a:endParaRPr lang="en-US" sz="1100" dirty="0"/>
          </a:p>
        </p:txBody>
      </p:sp>
      <p:sp>
        <p:nvSpPr>
          <p:cNvPr id="31" name="Label 240"/>
          <p:cNvSpPr txBox="1"/>
          <p:nvPr/>
        </p:nvSpPr>
        <p:spPr>
          <a:xfrm rot="3726000">
            <a:off x="3119307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Health</a:t>
            </a:r>
            <a:endParaRPr lang="en-US" sz="1100" dirty="0"/>
          </a:p>
        </p:txBody>
      </p:sp>
      <p:sp>
        <p:nvSpPr>
          <p:cNvPr id="32" name="Label 241"/>
          <p:cNvSpPr txBox="1"/>
          <p:nvPr/>
        </p:nvSpPr>
        <p:spPr>
          <a:xfrm rot="4098000">
            <a:off x="3523311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Escalation Handling</a:t>
            </a:r>
            <a:endParaRPr lang="en-US" sz="1100" dirty="0"/>
          </a:p>
        </p:txBody>
      </p:sp>
      <p:sp>
        <p:nvSpPr>
          <p:cNvPr id="33" name="Label 242"/>
          <p:cNvSpPr txBox="1"/>
          <p:nvPr/>
        </p:nvSpPr>
        <p:spPr>
          <a:xfrm rot="4470000">
            <a:off x="3945112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SLA Management</a:t>
            </a:r>
            <a:endParaRPr lang="en-US" sz="1100" dirty="0"/>
          </a:p>
        </p:txBody>
      </p:sp>
      <p:sp>
        <p:nvSpPr>
          <p:cNvPr id="34" name="Label 243"/>
          <p:cNvSpPr txBox="1"/>
          <p:nvPr/>
        </p:nvSpPr>
        <p:spPr>
          <a:xfrm rot="4842000">
            <a:off x="4379777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QBRs</a:t>
            </a:r>
            <a:endParaRPr lang="en-US" sz="1100" dirty="0"/>
          </a:p>
        </p:txBody>
      </p:sp>
      <p:sp>
        <p:nvSpPr>
          <p:cNvPr id="35" name="Label 244"/>
          <p:cNvSpPr txBox="1"/>
          <p:nvPr/>
        </p:nvSpPr>
        <p:spPr>
          <a:xfrm rot="5214000">
            <a:off x="4822221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Reviews</a:t>
            </a:r>
            <a:endParaRPr lang="en-US" sz="1100" dirty="0"/>
          </a:p>
        </p:txBody>
      </p:sp>
      <p:sp>
        <p:nvSpPr>
          <p:cNvPr id="36" name="Label 245"/>
          <p:cNvSpPr txBox="1"/>
          <p:nvPr/>
        </p:nvSpPr>
        <p:spPr>
          <a:xfrm rot="-5214000">
            <a:off x="5267268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Renewals</a:t>
            </a:r>
            <a:endParaRPr lang="en-US" sz="1100" dirty="0"/>
          </a:p>
        </p:txBody>
      </p:sp>
      <p:sp>
        <p:nvSpPr>
          <p:cNvPr id="37" name="Label 246"/>
          <p:cNvSpPr txBox="1"/>
          <p:nvPr/>
        </p:nvSpPr>
        <p:spPr>
          <a:xfrm rot="-4842000">
            <a:off x="5709712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Training</a:t>
            </a:r>
            <a:endParaRPr lang="en-US" sz="1100" dirty="0"/>
          </a:p>
        </p:txBody>
      </p:sp>
      <p:sp>
        <p:nvSpPr>
          <p:cNvPr id="38" name="Label 247"/>
          <p:cNvSpPr txBox="1"/>
          <p:nvPr/>
        </p:nvSpPr>
        <p:spPr>
          <a:xfrm rot="-4470000">
            <a:off x="6144377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Relationship Management</a:t>
            </a:r>
            <a:endParaRPr lang="en-US" sz="1100" dirty="0"/>
          </a:p>
        </p:txBody>
      </p:sp>
      <p:sp>
        <p:nvSpPr>
          <p:cNvPr id="39" name="Label 248"/>
          <p:cNvSpPr txBox="1"/>
          <p:nvPr/>
        </p:nvSpPr>
        <p:spPr>
          <a:xfrm rot="-4098000">
            <a:off x="6566179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Support</a:t>
            </a:r>
            <a:endParaRPr lang="en-US" sz="1100" dirty="0"/>
          </a:p>
        </p:txBody>
      </p:sp>
      <p:sp>
        <p:nvSpPr>
          <p:cNvPr id="40" name="Label 249"/>
          <p:cNvSpPr txBox="1"/>
          <p:nvPr/>
        </p:nvSpPr>
        <p:spPr>
          <a:xfrm rot="-3726000">
            <a:off x="6970182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Satisfaction</a:t>
            </a:r>
            <a:endParaRPr lang="en-US" sz="1100" dirty="0"/>
          </a:p>
        </p:txBody>
      </p:sp>
      <p:sp>
        <p:nvSpPr>
          <p:cNvPr id="41" name="Label 250"/>
          <p:cNvSpPr txBox="1"/>
          <p:nvPr/>
        </p:nvSpPr>
        <p:spPr>
          <a:xfrm rot="-3354000">
            <a:off x="7351662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Upselling &amp; Cross-selling</a:t>
            </a:r>
            <a:endParaRPr lang="en-US" sz="1100" dirty="0"/>
          </a:p>
        </p:txBody>
      </p:sp>
      <p:sp>
        <p:nvSpPr>
          <p:cNvPr id="42" name="Label 251"/>
          <p:cNvSpPr txBox="1"/>
          <p:nvPr/>
        </p:nvSpPr>
        <p:spPr>
          <a:xfrm rot="-2982000">
            <a:off x="7706155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&amp; Churn</a:t>
            </a:r>
            <a:endParaRPr lang="en-US" sz="1100" dirty="0"/>
          </a:p>
        </p:txBody>
      </p:sp>
      <p:sp>
        <p:nvSpPr>
          <p:cNvPr id="43" name="Label 252"/>
          <p:cNvSpPr txBox="1"/>
          <p:nvPr/>
        </p:nvSpPr>
        <p:spPr>
          <a:xfrm rot="-2610000">
            <a:off x="8029515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1100" dirty="0"/>
          </a:p>
        </p:txBody>
      </p:sp>
      <p:sp>
        <p:nvSpPr>
          <p:cNvPr id="44" name="Label 253"/>
          <p:cNvSpPr txBox="1"/>
          <p:nvPr/>
        </p:nvSpPr>
        <p:spPr>
          <a:xfrm rot="-2238000">
            <a:off x="8317959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 Adoption</a:t>
            </a:r>
            <a:endParaRPr lang="en-US" sz="1100" dirty="0"/>
          </a:p>
        </p:txBody>
      </p:sp>
      <p:sp>
        <p:nvSpPr>
          <p:cNvPr id="45" name="Label 254"/>
          <p:cNvSpPr txBox="1"/>
          <p:nvPr/>
        </p:nvSpPr>
        <p:spPr>
          <a:xfrm rot="-1866000">
            <a:off x="8568113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Onboarding</a:t>
            </a:r>
            <a:endParaRPr lang="en-US" sz="1100" dirty="0"/>
          </a:p>
        </p:txBody>
      </p:sp>
      <p:sp>
        <p:nvSpPr>
          <p:cNvPr id="46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61D"/>
                </a:solidFill>
              </a:rPr>
              <a:t>Customer Success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CRAWL, WALK, RUN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2"/>
                </a:solidFill>
              </a:rPr>
              <a:t>The journey to predictable revenue growth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Fullcast, Hg Growth Summit 2025</a:t>
            </a:r>
            <a:endParaRPr lang="en-US" sz="1000" dirty="0"/>
          </a:p>
        </p:txBody>
      </p:sp>
      <p:sp>
        <p:nvSpPr>
          <p:cNvPr id="5" name="Growth curve"/>
          <p:cNvSpPr/>
          <p:nvPr/>
        </p:nvSpPr>
        <p:spPr>
          <a:xfrm>
            <a:off x="365760" y="3474720"/>
            <a:ext cx="11064240" cy="2286000"/>
          </a:xfrm>
          <a:custGeom>
            <a:avLst/>
            <a:gdLst/>
            <a:ahLst/>
            <a:cxnLst/>
            <a:rect l="l" t="t" r="r" b="b"/>
            <a:pathLst>
              <a:path w="11064240" h="2286000">
                <a:moveTo>
                  <a:pt x="0" y="2286000"/>
                </a:moveTo>
                <a:lnTo>
                  <a:pt x="184404" y="2273872"/>
                </a:lnTo>
                <a:lnTo>
                  <a:pt x="368808" y="2261334"/>
                </a:lnTo>
                <a:lnTo>
                  <a:pt x="553212" y="2248370"/>
                </a:lnTo>
                <a:lnTo>
                  <a:pt x="737616" y="2234967"/>
                </a:lnTo>
                <a:lnTo>
                  <a:pt x="922020" y="2221109"/>
                </a:lnTo>
                <a:lnTo>
                  <a:pt x="1106424" y="2206782"/>
                </a:lnTo>
                <a:lnTo>
                  <a:pt x="1290828" y="2191969"/>
                </a:lnTo>
                <a:lnTo>
                  <a:pt x="1475232" y="2176655"/>
                </a:lnTo>
                <a:lnTo>
                  <a:pt x="1659636" y="2160821"/>
                </a:lnTo>
                <a:lnTo>
                  <a:pt x="1844040" y="2144450"/>
                </a:lnTo>
                <a:lnTo>
                  <a:pt x="2028444" y="2127525"/>
                </a:lnTo>
                <a:lnTo>
                  <a:pt x="2212848" y="2110025"/>
                </a:lnTo>
                <a:lnTo>
                  <a:pt x="2397252" y="2091933"/>
                </a:lnTo>
                <a:lnTo>
                  <a:pt x="2581656" y="2073228"/>
                </a:lnTo>
                <a:lnTo>
                  <a:pt x="2766060" y="2053888"/>
                </a:lnTo>
                <a:lnTo>
                  <a:pt x="2950464" y="2033893"/>
                </a:lnTo>
                <a:lnTo>
                  <a:pt x="3134868" y="2013220"/>
                </a:lnTo>
                <a:lnTo>
                  <a:pt x="3319272" y="1991846"/>
                </a:lnTo>
                <a:lnTo>
                  <a:pt x="3503676" y="1969748"/>
                </a:lnTo>
                <a:lnTo>
                  <a:pt x="3688080" y="1946901"/>
                </a:lnTo>
                <a:lnTo>
                  <a:pt x="3872484" y="1923280"/>
                </a:lnTo>
                <a:lnTo>
                  <a:pt x="4056888" y="1898858"/>
                </a:lnTo>
                <a:lnTo>
                  <a:pt x="4241292" y="1873608"/>
                </a:lnTo>
                <a:lnTo>
                  <a:pt x="4425696" y="1847502"/>
                </a:lnTo>
                <a:lnTo>
                  <a:pt x="4610100" y="1820512"/>
                </a:lnTo>
                <a:lnTo>
                  <a:pt x="4794504" y="1792606"/>
                </a:lnTo>
                <a:lnTo>
                  <a:pt x="4978908" y="1763755"/>
                </a:lnTo>
                <a:lnTo>
                  <a:pt x="5163312" y="1733926"/>
                </a:lnTo>
                <a:lnTo>
                  <a:pt x="5347716" y="1703086"/>
                </a:lnTo>
                <a:lnTo>
                  <a:pt x="5532120" y="1671200"/>
                </a:lnTo>
                <a:lnTo>
                  <a:pt x="5716524" y="1638234"/>
                </a:lnTo>
                <a:lnTo>
                  <a:pt x="5900928" y="1604150"/>
                </a:lnTo>
                <a:lnTo>
                  <a:pt x="6085332" y="1568911"/>
                </a:lnTo>
                <a:lnTo>
                  <a:pt x="6269736" y="1532477"/>
                </a:lnTo>
                <a:lnTo>
                  <a:pt x="6454140" y="1494809"/>
                </a:lnTo>
                <a:lnTo>
                  <a:pt x="6638544" y="1455864"/>
                </a:lnTo>
                <a:lnTo>
                  <a:pt x="6822948" y="1415599"/>
                </a:lnTo>
                <a:lnTo>
                  <a:pt x="7007352" y="1373968"/>
                </a:lnTo>
                <a:lnTo>
                  <a:pt x="7191756" y="1330927"/>
                </a:lnTo>
                <a:lnTo>
                  <a:pt x="7376160" y="1286427"/>
                </a:lnTo>
                <a:lnTo>
                  <a:pt x="7560564" y="1240419"/>
                </a:lnTo>
                <a:lnTo>
                  <a:pt x="7744968" y="1192851"/>
                </a:lnTo>
                <a:lnTo>
                  <a:pt x="7929372" y="1143671"/>
                </a:lnTo>
                <a:lnTo>
                  <a:pt x="8113776" y="1092824"/>
                </a:lnTo>
                <a:lnTo>
                  <a:pt x="8298180" y="1040254"/>
                </a:lnTo>
                <a:lnTo>
                  <a:pt x="8482584" y="985902"/>
                </a:lnTo>
                <a:lnTo>
                  <a:pt x="8666988" y="929707"/>
                </a:lnTo>
                <a:lnTo>
                  <a:pt x="8851392" y="871608"/>
                </a:lnTo>
                <a:lnTo>
                  <a:pt x="9035796" y="811539"/>
                </a:lnTo>
                <a:lnTo>
                  <a:pt x="9220200" y="749434"/>
                </a:lnTo>
                <a:lnTo>
                  <a:pt x="9404604" y="685225"/>
                </a:lnTo>
                <a:lnTo>
                  <a:pt x="9589008" y="618839"/>
                </a:lnTo>
                <a:lnTo>
                  <a:pt x="9773412" y="550202"/>
                </a:lnTo>
                <a:lnTo>
                  <a:pt x="9957816" y="479240"/>
                </a:lnTo>
                <a:lnTo>
                  <a:pt x="10142220" y="405872"/>
                </a:lnTo>
                <a:lnTo>
                  <a:pt x="10326624" y="330017"/>
                </a:lnTo>
                <a:lnTo>
                  <a:pt x="10511028" y="251591"/>
                </a:lnTo>
                <a:lnTo>
                  <a:pt x="10695432" y="170507"/>
                </a:lnTo>
                <a:lnTo>
                  <a:pt x="10879836" y="86674"/>
                </a:lnTo>
                <a:lnTo>
                  <a:pt x="11064240" y="0"/>
                </a:lnTo>
              </a:path>
            </a:pathLst>
          </a:custGeom>
          <a:noFill/>
          <a:ln w="31750">
            <a:solidFill>
              <a:srgbClr val="93A87B"/>
            </a:solidFill>
            <a:prstDash val="solid"/>
            <a:tailEnd type="triangle"/>
          </a:ln>
        </p:spPr>
      </p:sp>
      <p:sp>
        <p:nvSpPr>
          <p:cNvPr id="6" name="Tick 1"/>
          <p:cNvSpPr/>
          <p:nvPr/>
        </p:nvSpPr>
        <p:spPr>
          <a:xfrm>
            <a:off x="2011680" y="5115897"/>
            <a:ext cx="0" cy="520840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7" name="Milestone 1"/>
          <p:cNvSpPr/>
          <p:nvPr/>
        </p:nvSpPr>
        <p:spPr>
          <a:xfrm>
            <a:off x="1938528" y="5563585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8" name="Stage 1"/>
          <p:cNvSpPr txBox="1"/>
          <p:nvPr/>
        </p:nvSpPr>
        <p:spPr>
          <a:xfrm>
            <a:off x="2011680" y="3104217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Revenue insights as a service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Grade every opportunity on relationship strength and your sales methodology</a:t>
            </a:r>
            <a:endParaRPr lang="en-US" sz="1300" dirty="0"/>
          </a:p>
        </p:txBody>
      </p:sp>
      <p:pic>
        <p:nvPicPr>
          <p:cNvPr id="9" name="Image 0" descr="Revenue insights as a servic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5911057"/>
            <a:ext cx="457200" cy="457200"/>
          </a:xfrm>
          <a:prstGeom prst="rect">
            <a:avLst/>
          </a:prstGeom>
        </p:spPr>
      </p:pic>
      <p:sp>
        <p:nvSpPr>
          <p:cNvPr id="10" name="Tick 2"/>
          <p:cNvSpPr/>
          <p:nvPr/>
        </p:nvSpPr>
        <p:spPr>
          <a:xfrm>
            <a:off x="4572000" y="4687268"/>
            <a:ext cx="0" cy="665924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11" name="Milestone 2"/>
          <p:cNvSpPr/>
          <p:nvPr/>
        </p:nvSpPr>
        <p:spPr>
          <a:xfrm>
            <a:off x="4498848" y="5280041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12" name="Stage 2"/>
          <p:cNvSpPr txBox="1"/>
          <p:nvPr/>
        </p:nvSpPr>
        <p:spPr>
          <a:xfrm>
            <a:off x="4572000" y="2675588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Automate emails, calendars and contacts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Enrich your CRM with the data it is missing</a:t>
            </a:r>
            <a:endParaRPr lang="en-US" sz="1300" dirty="0"/>
          </a:p>
        </p:txBody>
      </p:sp>
      <p:pic>
        <p:nvPicPr>
          <p:cNvPr id="13" name="Image 1" descr="Automate emails, calendars and contac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5627513"/>
            <a:ext cx="457200" cy="457200"/>
          </a:xfrm>
          <a:prstGeom prst="rect">
            <a:avLst/>
          </a:prstGeom>
        </p:spPr>
      </p:pic>
      <p:sp>
        <p:nvSpPr>
          <p:cNvPr id="14" name="Tick 3"/>
          <p:cNvSpPr/>
          <p:nvPr/>
        </p:nvSpPr>
        <p:spPr>
          <a:xfrm>
            <a:off x="7040880" y="4036506"/>
            <a:ext cx="0" cy="886198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15" name="Milestone 3"/>
          <p:cNvSpPr/>
          <p:nvPr/>
        </p:nvSpPr>
        <p:spPr>
          <a:xfrm>
            <a:off x="6967728" y="4849552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16" name="Stage 3"/>
          <p:cNvSpPr txBox="1"/>
          <p:nvPr/>
        </p:nvSpPr>
        <p:spPr>
          <a:xfrm>
            <a:off x="7040880" y="2024826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Clean the pipeline, coach sellers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Kill the least likely deals quickly, commit the highly likely and coach on the middle</a:t>
            </a:r>
            <a:endParaRPr lang="en-US" sz="1300" dirty="0"/>
          </a:p>
        </p:txBody>
      </p:sp>
      <p:pic>
        <p:nvPicPr>
          <p:cNvPr id="17" name="Image 2" descr="Clean the pipeline, coach sell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5197024"/>
            <a:ext cx="457200" cy="457200"/>
          </a:xfrm>
          <a:prstGeom prst="rect">
            <a:avLst/>
          </a:prstGeom>
        </p:spPr>
      </p:pic>
      <p:sp>
        <p:nvSpPr>
          <p:cNvPr id="18" name="Tick 4"/>
          <p:cNvSpPr/>
          <p:nvPr/>
        </p:nvSpPr>
        <p:spPr>
          <a:xfrm>
            <a:off x="9509760" y="3200400"/>
            <a:ext cx="0" cy="1049669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19" name="Milestone 4"/>
          <p:cNvSpPr/>
          <p:nvPr/>
        </p:nvSpPr>
        <p:spPr>
          <a:xfrm>
            <a:off x="9436608" y="4176917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20" name="Stage 4"/>
          <p:cNvSpPr txBox="1"/>
          <p:nvPr/>
        </p:nvSpPr>
        <p:spPr>
          <a:xfrm>
            <a:off x="9509760" y="118872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Forecast more accurately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Better forecast accuracy, focused deal reviews and faster diagnosis of sellers and teams</a:t>
            </a:r>
            <a:endParaRPr lang="en-US" sz="1300" dirty="0"/>
          </a:p>
        </p:txBody>
      </p:sp>
      <p:pic>
        <p:nvPicPr>
          <p:cNvPr id="21" name="Image 3" descr="Forecast more accuratel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4524389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ridian Revenue Partners">
  <a:themeElements>
    <a:clrScheme name="Veridian Revenue Partners">
      <a:dk1>
        <a:srgbClr val="20241F"/>
      </a:dk1>
      <a:lt1>
        <a:srgbClr val="FFFFFF"/>
      </a:lt1>
      <a:dk2>
        <a:srgbClr val="16261D"/>
      </a:dk2>
      <a:lt2>
        <a:srgbClr val="F5F7F0"/>
      </a:lt2>
      <a:accent1>
        <a:srgbClr val="1F3529"/>
      </a:accent1>
      <a:accent2>
        <a:srgbClr val="93A87B"/>
      </a:accent2>
      <a:accent3>
        <a:srgbClr val="56604E"/>
      </a:accent3>
      <a:accent4>
        <a:srgbClr val="16261D"/>
      </a:accent4>
      <a:accent5>
        <a:srgbClr val="D2D8CD"/>
      </a:accent5>
      <a:accent6>
        <a:srgbClr val="C9D3C0"/>
      </a:accent6>
      <a:hlink>
        <a:srgbClr val="1F3529"/>
      </a:hlink>
      <a:folHlink>
        <a:srgbClr val="56604E"/>
      </a:folHlink>
    </a:clrScheme>
    <a:fontScheme name="Veridian Revenue Partners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Veridian Revenue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Revenue frameworks</dc:title>
  <dc:subject>PptxGenJS Presentation</dc:subject>
  <dc:creator>PptxGenJS</dc:creator>
  <cp:lastModifiedBy>PptxGenJS</cp:lastModifiedBy>
  <cp:revision>1</cp:revision>
  <dcterms:created xsi:type="dcterms:W3CDTF">2026-10-10T10:30:07Z</dcterms:created>
  <dcterms:modified xsi:type="dcterms:W3CDTF">2026-10-10T10:30:07Z</dcterms:modified>
</cp:coreProperties>
</file>