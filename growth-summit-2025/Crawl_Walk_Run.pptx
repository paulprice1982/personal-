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Journey" id="{6ef539b1-4f56-e91d-56bc-cab2e7b0591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 from crawl to run: insight, automation, pipeline discipline, then forecast accuracy. Each builds on the data quality of the one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CRAWL, WALK, RUN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2"/>
                </a:solidFill>
              </a:rPr>
              <a:t>The journey to predictable revenue growth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Fullcast, Hg Growth Summit 2025</a:t>
            </a:r>
            <a:endParaRPr lang="en-US" sz="1000" dirty="0"/>
          </a:p>
        </p:txBody>
      </p:sp>
      <p:sp>
        <p:nvSpPr>
          <p:cNvPr id="5" name="Growth curve"/>
          <p:cNvSpPr/>
          <p:nvPr/>
        </p:nvSpPr>
        <p:spPr>
          <a:xfrm>
            <a:off x="365760" y="3474720"/>
            <a:ext cx="11064240" cy="2286000"/>
          </a:xfrm>
          <a:custGeom>
            <a:avLst/>
            <a:gdLst/>
            <a:ahLst/>
            <a:cxnLst/>
            <a:rect l="l" t="t" r="r" b="b"/>
            <a:pathLst>
              <a:path w="11064240" h="2286000">
                <a:moveTo>
                  <a:pt x="0" y="2286000"/>
                </a:moveTo>
                <a:lnTo>
                  <a:pt x="184404" y="2273872"/>
                </a:lnTo>
                <a:lnTo>
                  <a:pt x="368808" y="2261334"/>
                </a:lnTo>
                <a:lnTo>
                  <a:pt x="553212" y="2248370"/>
                </a:lnTo>
                <a:lnTo>
                  <a:pt x="737616" y="2234967"/>
                </a:lnTo>
                <a:lnTo>
                  <a:pt x="922020" y="2221109"/>
                </a:lnTo>
                <a:lnTo>
                  <a:pt x="1106424" y="2206782"/>
                </a:lnTo>
                <a:lnTo>
                  <a:pt x="1290828" y="2191969"/>
                </a:lnTo>
                <a:lnTo>
                  <a:pt x="1475232" y="2176655"/>
                </a:lnTo>
                <a:lnTo>
                  <a:pt x="1659636" y="2160821"/>
                </a:lnTo>
                <a:lnTo>
                  <a:pt x="1844040" y="2144450"/>
                </a:lnTo>
                <a:lnTo>
                  <a:pt x="2028444" y="2127525"/>
                </a:lnTo>
                <a:lnTo>
                  <a:pt x="2212848" y="2110025"/>
                </a:lnTo>
                <a:lnTo>
                  <a:pt x="2397252" y="2091933"/>
                </a:lnTo>
                <a:lnTo>
                  <a:pt x="2581656" y="2073228"/>
                </a:lnTo>
                <a:lnTo>
                  <a:pt x="2766060" y="2053888"/>
                </a:lnTo>
                <a:lnTo>
                  <a:pt x="2950464" y="2033893"/>
                </a:lnTo>
                <a:lnTo>
                  <a:pt x="3134868" y="2013220"/>
                </a:lnTo>
                <a:lnTo>
                  <a:pt x="3319272" y="1991846"/>
                </a:lnTo>
                <a:lnTo>
                  <a:pt x="3503676" y="1969748"/>
                </a:lnTo>
                <a:lnTo>
                  <a:pt x="3688080" y="1946901"/>
                </a:lnTo>
                <a:lnTo>
                  <a:pt x="3872484" y="1923280"/>
                </a:lnTo>
                <a:lnTo>
                  <a:pt x="4056888" y="1898858"/>
                </a:lnTo>
                <a:lnTo>
                  <a:pt x="4241292" y="1873608"/>
                </a:lnTo>
                <a:lnTo>
                  <a:pt x="4425696" y="1847502"/>
                </a:lnTo>
                <a:lnTo>
                  <a:pt x="4610100" y="1820512"/>
                </a:lnTo>
                <a:lnTo>
                  <a:pt x="4794504" y="1792606"/>
                </a:lnTo>
                <a:lnTo>
                  <a:pt x="4978908" y="1763755"/>
                </a:lnTo>
                <a:lnTo>
                  <a:pt x="5163312" y="1733926"/>
                </a:lnTo>
                <a:lnTo>
                  <a:pt x="5347716" y="1703086"/>
                </a:lnTo>
                <a:lnTo>
                  <a:pt x="5532120" y="1671200"/>
                </a:lnTo>
                <a:lnTo>
                  <a:pt x="5716524" y="1638234"/>
                </a:lnTo>
                <a:lnTo>
                  <a:pt x="5900928" y="1604150"/>
                </a:lnTo>
                <a:lnTo>
                  <a:pt x="6085332" y="1568911"/>
                </a:lnTo>
                <a:lnTo>
                  <a:pt x="6269736" y="1532477"/>
                </a:lnTo>
                <a:lnTo>
                  <a:pt x="6454140" y="1494809"/>
                </a:lnTo>
                <a:lnTo>
                  <a:pt x="6638544" y="1455864"/>
                </a:lnTo>
                <a:lnTo>
                  <a:pt x="6822948" y="1415599"/>
                </a:lnTo>
                <a:lnTo>
                  <a:pt x="7007352" y="1373968"/>
                </a:lnTo>
                <a:lnTo>
                  <a:pt x="7191756" y="1330927"/>
                </a:lnTo>
                <a:lnTo>
                  <a:pt x="7376160" y="1286427"/>
                </a:lnTo>
                <a:lnTo>
                  <a:pt x="7560564" y="1240419"/>
                </a:lnTo>
                <a:lnTo>
                  <a:pt x="7744968" y="1192851"/>
                </a:lnTo>
                <a:lnTo>
                  <a:pt x="7929372" y="1143671"/>
                </a:lnTo>
                <a:lnTo>
                  <a:pt x="8113776" y="1092824"/>
                </a:lnTo>
                <a:lnTo>
                  <a:pt x="8298180" y="1040254"/>
                </a:lnTo>
                <a:lnTo>
                  <a:pt x="8482584" y="985902"/>
                </a:lnTo>
                <a:lnTo>
                  <a:pt x="8666988" y="929707"/>
                </a:lnTo>
                <a:lnTo>
                  <a:pt x="8851392" y="871608"/>
                </a:lnTo>
                <a:lnTo>
                  <a:pt x="9035796" y="811539"/>
                </a:lnTo>
                <a:lnTo>
                  <a:pt x="9220200" y="749434"/>
                </a:lnTo>
                <a:lnTo>
                  <a:pt x="9404604" y="685225"/>
                </a:lnTo>
                <a:lnTo>
                  <a:pt x="9589008" y="618839"/>
                </a:lnTo>
                <a:lnTo>
                  <a:pt x="9773412" y="550202"/>
                </a:lnTo>
                <a:lnTo>
                  <a:pt x="9957816" y="479240"/>
                </a:lnTo>
                <a:lnTo>
                  <a:pt x="10142220" y="405872"/>
                </a:lnTo>
                <a:lnTo>
                  <a:pt x="10326624" y="330017"/>
                </a:lnTo>
                <a:lnTo>
                  <a:pt x="10511028" y="251591"/>
                </a:lnTo>
                <a:lnTo>
                  <a:pt x="10695432" y="170507"/>
                </a:lnTo>
                <a:lnTo>
                  <a:pt x="10879836" y="86674"/>
                </a:lnTo>
                <a:lnTo>
                  <a:pt x="11064240" y="0"/>
                </a:lnTo>
              </a:path>
            </a:pathLst>
          </a:custGeom>
          <a:noFill/>
          <a:ln w="31750">
            <a:solidFill>
              <a:srgbClr val="93A87B"/>
            </a:solidFill>
            <a:prstDash val="solid"/>
            <a:tailEnd type="triangle"/>
          </a:ln>
        </p:spPr>
      </p:sp>
      <p:sp>
        <p:nvSpPr>
          <p:cNvPr id="6" name="Tick 1"/>
          <p:cNvSpPr/>
          <p:nvPr/>
        </p:nvSpPr>
        <p:spPr>
          <a:xfrm>
            <a:off x="2011680" y="5115897"/>
            <a:ext cx="0" cy="520840"/>
          </a:xfrm>
          <a:prstGeom prst="line">
            <a:avLst/>
          </a:prstGeom>
          <a:noFill/>
          <a:ln w="12700">
            <a:solidFill>
              <a:srgbClr val="93A87B"/>
            </a:solidFill>
            <a:prstDash val="solid"/>
          </a:ln>
        </p:spPr>
      </p:sp>
      <p:sp>
        <p:nvSpPr>
          <p:cNvPr id="7" name="Milestone 1"/>
          <p:cNvSpPr/>
          <p:nvPr/>
        </p:nvSpPr>
        <p:spPr>
          <a:xfrm>
            <a:off x="1938528" y="5563585"/>
            <a:ext cx="146304" cy="146304"/>
          </a:xfrm>
          <a:prstGeom prst="ellipse">
            <a:avLst/>
          </a:prstGeom>
          <a:solidFill>
            <a:srgbClr val="93A87B"/>
          </a:solidFill>
          <a:ln w="19050">
            <a:solidFill>
              <a:srgbClr val="16261D"/>
            </a:solidFill>
            <a:prstDash val="solid"/>
          </a:ln>
        </p:spPr>
      </p:sp>
      <p:sp>
        <p:nvSpPr>
          <p:cNvPr id="8" name="Stage 1"/>
          <p:cNvSpPr txBox="1"/>
          <p:nvPr/>
        </p:nvSpPr>
        <p:spPr>
          <a:xfrm>
            <a:off x="2011680" y="3104217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Revenue insights as a service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Grade every opportunity on relationship strength and your sales methodology</a:t>
            </a:r>
            <a:endParaRPr lang="en-US" sz="1300" dirty="0"/>
          </a:p>
        </p:txBody>
      </p:sp>
      <p:pic>
        <p:nvPicPr>
          <p:cNvPr id="9" name="Image 0" descr="Revenue insights as a servi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5911057"/>
            <a:ext cx="457200" cy="457200"/>
          </a:xfrm>
          <a:prstGeom prst="rect">
            <a:avLst/>
          </a:prstGeom>
        </p:spPr>
      </p:pic>
      <p:sp>
        <p:nvSpPr>
          <p:cNvPr id="10" name="Tick 2"/>
          <p:cNvSpPr/>
          <p:nvPr/>
        </p:nvSpPr>
        <p:spPr>
          <a:xfrm>
            <a:off x="4572000" y="4687268"/>
            <a:ext cx="0" cy="665924"/>
          </a:xfrm>
          <a:prstGeom prst="line">
            <a:avLst/>
          </a:prstGeom>
          <a:noFill/>
          <a:ln w="12700">
            <a:solidFill>
              <a:srgbClr val="93A87B"/>
            </a:solidFill>
            <a:prstDash val="solid"/>
          </a:ln>
        </p:spPr>
      </p:sp>
      <p:sp>
        <p:nvSpPr>
          <p:cNvPr id="11" name="Milestone 2"/>
          <p:cNvSpPr/>
          <p:nvPr/>
        </p:nvSpPr>
        <p:spPr>
          <a:xfrm>
            <a:off x="4498848" y="5280041"/>
            <a:ext cx="146304" cy="146304"/>
          </a:xfrm>
          <a:prstGeom prst="ellipse">
            <a:avLst/>
          </a:prstGeom>
          <a:solidFill>
            <a:srgbClr val="93A87B"/>
          </a:solidFill>
          <a:ln w="19050">
            <a:solidFill>
              <a:srgbClr val="16261D"/>
            </a:solidFill>
            <a:prstDash val="solid"/>
          </a:ln>
        </p:spPr>
      </p:sp>
      <p:sp>
        <p:nvSpPr>
          <p:cNvPr id="12" name="Stage 2"/>
          <p:cNvSpPr txBox="1"/>
          <p:nvPr/>
        </p:nvSpPr>
        <p:spPr>
          <a:xfrm>
            <a:off x="4572000" y="2675588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Automate emails, calendars and contacts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Enrich your CRM with the data it is missing</a:t>
            </a:r>
            <a:endParaRPr lang="en-US" sz="1300" dirty="0"/>
          </a:p>
        </p:txBody>
      </p:sp>
      <p:pic>
        <p:nvPicPr>
          <p:cNvPr id="13" name="Image 1" descr="Automate emails, calendars and contac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627513"/>
            <a:ext cx="457200" cy="457200"/>
          </a:xfrm>
          <a:prstGeom prst="rect">
            <a:avLst/>
          </a:prstGeom>
        </p:spPr>
      </p:pic>
      <p:sp>
        <p:nvSpPr>
          <p:cNvPr id="14" name="Tick 3"/>
          <p:cNvSpPr/>
          <p:nvPr/>
        </p:nvSpPr>
        <p:spPr>
          <a:xfrm>
            <a:off x="7040880" y="4036506"/>
            <a:ext cx="0" cy="886198"/>
          </a:xfrm>
          <a:prstGeom prst="line">
            <a:avLst/>
          </a:prstGeom>
          <a:noFill/>
          <a:ln w="12700">
            <a:solidFill>
              <a:srgbClr val="93A87B"/>
            </a:solidFill>
            <a:prstDash val="solid"/>
          </a:ln>
        </p:spPr>
      </p:sp>
      <p:sp>
        <p:nvSpPr>
          <p:cNvPr id="15" name="Milestone 3"/>
          <p:cNvSpPr/>
          <p:nvPr/>
        </p:nvSpPr>
        <p:spPr>
          <a:xfrm>
            <a:off x="6967728" y="4849552"/>
            <a:ext cx="146304" cy="146304"/>
          </a:xfrm>
          <a:prstGeom prst="ellipse">
            <a:avLst/>
          </a:prstGeom>
          <a:solidFill>
            <a:srgbClr val="93A87B"/>
          </a:solidFill>
          <a:ln w="19050">
            <a:solidFill>
              <a:srgbClr val="16261D"/>
            </a:solidFill>
            <a:prstDash val="solid"/>
          </a:ln>
        </p:spPr>
      </p:sp>
      <p:sp>
        <p:nvSpPr>
          <p:cNvPr id="16" name="Stage 3"/>
          <p:cNvSpPr txBox="1"/>
          <p:nvPr/>
        </p:nvSpPr>
        <p:spPr>
          <a:xfrm>
            <a:off x="7040880" y="2024826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Clean the pipeline, coach sellers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Kill the least likely deals quickly, commit the highly likely and coach on the middle</a:t>
            </a:r>
            <a:endParaRPr lang="en-US" sz="1300" dirty="0"/>
          </a:p>
        </p:txBody>
      </p:sp>
      <p:pic>
        <p:nvPicPr>
          <p:cNvPr id="17" name="Image 2" descr="Clean the pipeline, coach sell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5197024"/>
            <a:ext cx="457200" cy="457200"/>
          </a:xfrm>
          <a:prstGeom prst="rect">
            <a:avLst/>
          </a:prstGeom>
        </p:spPr>
      </p:pic>
      <p:sp>
        <p:nvSpPr>
          <p:cNvPr id="18" name="Tick 4"/>
          <p:cNvSpPr/>
          <p:nvPr/>
        </p:nvSpPr>
        <p:spPr>
          <a:xfrm>
            <a:off x="9509760" y="3200400"/>
            <a:ext cx="0" cy="1049669"/>
          </a:xfrm>
          <a:prstGeom prst="line">
            <a:avLst/>
          </a:prstGeom>
          <a:noFill/>
          <a:ln w="12700">
            <a:solidFill>
              <a:srgbClr val="93A87B"/>
            </a:solidFill>
            <a:prstDash val="solid"/>
          </a:ln>
        </p:spPr>
      </p:sp>
      <p:sp>
        <p:nvSpPr>
          <p:cNvPr id="19" name="Milestone 4"/>
          <p:cNvSpPr/>
          <p:nvPr/>
        </p:nvSpPr>
        <p:spPr>
          <a:xfrm>
            <a:off x="9436608" y="4176917"/>
            <a:ext cx="146304" cy="146304"/>
          </a:xfrm>
          <a:prstGeom prst="ellipse">
            <a:avLst/>
          </a:prstGeom>
          <a:solidFill>
            <a:srgbClr val="93A87B"/>
          </a:solidFill>
          <a:ln w="19050">
            <a:solidFill>
              <a:srgbClr val="16261D"/>
            </a:solidFill>
            <a:prstDash val="solid"/>
          </a:ln>
        </p:spPr>
      </p:sp>
      <p:sp>
        <p:nvSpPr>
          <p:cNvPr id="20" name="Stage 4"/>
          <p:cNvSpPr txBox="1"/>
          <p:nvPr/>
        </p:nvSpPr>
        <p:spPr>
          <a:xfrm>
            <a:off x="9509760" y="1188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Forecast more accurately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Better forecast accuracy, focused deal reviews and faster diagnosis of sellers and teams</a:t>
            </a:r>
            <a:endParaRPr lang="en-US" sz="1300" dirty="0"/>
          </a:p>
        </p:txBody>
      </p:sp>
      <p:pic>
        <p:nvPicPr>
          <p:cNvPr id="21" name="Image 3" descr="Forecast more accuratel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524389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ridian Revenue Partners">
  <a:themeElements>
    <a:clrScheme name="Veridian Revenue Partners">
      <a:dk1>
        <a:srgbClr val="20241F"/>
      </a:dk1>
      <a:lt1>
        <a:srgbClr val="FFFFFF"/>
      </a:lt1>
      <a:dk2>
        <a:srgbClr val="16261D"/>
      </a:dk2>
      <a:lt2>
        <a:srgbClr val="F5F7F0"/>
      </a:lt2>
      <a:accent1>
        <a:srgbClr val="1F3529"/>
      </a:accent1>
      <a:accent2>
        <a:srgbClr val="93A87B"/>
      </a:accent2>
      <a:accent3>
        <a:srgbClr val="56604E"/>
      </a:accent3>
      <a:accent4>
        <a:srgbClr val="16261D"/>
      </a:accent4>
      <a:accent5>
        <a:srgbClr val="D2D8CD"/>
      </a:accent5>
      <a:accent6>
        <a:srgbClr val="C9D3C0"/>
      </a:accent6>
      <a:hlink>
        <a:srgbClr val="1F3529"/>
      </a:hlink>
      <a:folHlink>
        <a:srgbClr val="56604E"/>
      </a:folHlink>
    </a:clrScheme>
    <a:fontScheme name="Veridian Revenue Partner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Veridian Revenue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2026-10-10T10:28:55Z</dcterms:created>
  <dcterms:modified xsi:type="dcterms:W3CDTF">2026-10-10T10:28:55Z</dcterms:modified>
</cp:coreProperties>
</file>