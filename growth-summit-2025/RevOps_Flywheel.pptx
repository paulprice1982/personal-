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91425c4-8ebf-fc3d-89cf-e1f70f72663f}">
          <p14:sldIdLst>
            <p14:sldId id="256"/>
          </p14:sldIdLst>
        </p14:section>
        <p14:section name="Drill-ins" id="{9ce0ad10-7da7-ab97-485d-4fccaa4db5b1}">
          <p14:sldIdLst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RevOps flywheel. The drill-in slides that follow list each function's capabilities at a readable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capabilities in the RevOps flywheel, read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 capabilities in the RevOps flywheel, read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Success capabilities in the RevOps flywheel, read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Veridian Revenue Partners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8600"/>
            <a:ext cx="1463040" cy="719633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chemeClr val="accent6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Veridian Revenue Partners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8600"/>
            <a:ext cx="1463040" cy="719633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6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REVOPS FLYWHEEL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RevOps is more than sales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Veridian Revenue Partners  ·  Adapted from NewEdge Growth, Hg Growth Summit 2025</a:t>
            </a:r>
            <a:endParaRPr lang="en-US" sz="1000" dirty="0"/>
          </a:p>
        </p:txBody>
      </p:sp>
      <p:sp>
        <p:nvSpPr>
          <p:cNvPr id="5" name="Intro"/>
          <p:cNvSpPr txBox="1"/>
          <p:nvPr/>
        </p:nvSpPr>
        <p:spPr>
          <a:xfrm>
            <a:off x="365760" y="13716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RevOps spans the whole revenue engine. Every capability on the wheel sits in one of three functions, and each one feeds the others.</a:t>
            </a:r>
            <a:endParaRPr lang="en-US" sz="1500" dirty="0"/>
          </a:p>
        </p:txBody>
      </p:sp>
      <p:sp>
        <p:nvSpPr>
          <p:cNvPr id="6" name="Stat total"/>
          <p:cNvSpPr txBox="1"/>
          <p:nvPr/>
        </p:nvSpPr>
        <p:spPr>
          <a:xfrm>
            <a:off x="365760" y="269748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tx2"/>
                </a:solidFill>
              </a:rPr>
              <a:t>62</a:t>
            </a:r>
            <a:endParaRPr lang="en-US" sz="6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capabilities in one operating model</a:t>
            </a:r>
            <a:endParaRPr lang="en-US" sz="6000" dirty="0"/>
          </a:p>
        </p:txBody>
      </p:sp>
      <p:sp>
        <p:nvSpPr>
          <p:cNvPr id="7" name="Key Sales"/>
          <p:cNvSpPr/>
          <p:nvPr/>
        </p:nvSpPr>
        <p:spPr>
          <a:xfrm>
            <a:off x="365760" y="4261104"/>
            <a:ext cx="292608" cy="292608"/>
          </a:xfrm>
          <a:prstGeom prst="ellipse">
            <a:avLst/>
          </a:prstGeom>
          <a:solidFill>
            <a:srgbClr val="1F3529"/>
          </a:solidFill>
          <a:ln/>
        </p:spPr>
      </p:sp>
      <p:sp>
        <p:nvSpPr>
          <p:cNvPr id="8" name="Key label Sales"/>
          <p:cNvSpPr txBox="1"/>
          <p:nvPr/>
        </p:nvSpPr>
        <p:spPr>
          <a:xfrm>
            <a:off x="822960" y="4160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Sales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22 capabilities</a:t>
            </a:r>
            <a:endParaRPr lang="en-US" sz="1500" dirty="0"/>
          </a:p>
        </p:txBody>
      </p:sp>
      <p:sp>
        <p:nvSpPr>
          <p:cNvPr id="9" name="Key Customer Success"/>
          <p:cNvSpPr/>
          <p:nvPr/>
        </p:nvSpPr>
        <p:spPr>
          <a:xfrm>
            <a:off x="365760" y="4946904"/>
            <a:ext cx="292608" cy="292608"/>
          </a:xfrm>
          <a:prstGeom prst="ellipse">
            <a:avLst/>
          </a:prstGeom>
          <a:solidFill>
            <a:srgbClr val="93A87B"/>
          </a:solidFill>
          <a:ln/>
        </p:spPr>
      </p:sp>
      <p:sp>
        <p:nvSpPr>
          <p:cNvPr id="10" name="Key label Customer Success"/>
          <p:cNvSpPr txBox="1"/>
          <p:nvPr/>
        </p:nvSpPr>
        <p:spPr>
          <a:xfrm>
            <a:off x="82296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Customer Success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20 capabilities</a:t>
            </a:r>
            <a:endParaRPr lang="en-US" sz="1500" dirty="0"/>
          </a:p>
        </p:txBody>
      </p:sp>
      <p:sp>
        <p:nvSpPr>
          <p:cNvPr id="11" name="Key Marketing"/>
          <p:cNvSpPr/>
          <p:nvPr/>
        </p:nvSpPr>
        <p:spPr>
          <a:xfrm>
            <a:off x="365760" y="5632704"/>
            <a:ext cx="292608" cy="292608"/>
          </a:xfrm>
          <a:prstGeom prst="ellipse">
            <a:avLst/>
          </a:prstGeom>
          <a:solidFill>
            <a:srgbClr val="56604E"/>
          </a:solidFill>
          <a:ln/>
        </p:spPr>
      </p:sp>
      <p:sp>
        <p:nvSpPr>
          <p:cNvPr id="12" name="Key label Marketing"/>
          <p:cNvSpPr txBox="1"/>
          <p:nvPr/>
        </p:nvSpPr>
        <p:spPr>
          <a:xfrm>
            <a:off x="822960" y="5532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Marketing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20 capabilities</a:t>
            </a:r>
            <a:endParaRPr lang="en-US" sz="1500" dirty="0"/>
          </a:p>
        </p:txBody>
      </p:sp>
      <p:sp>
        <p:nvSpPr>
          <p:cNvPr id="13" name="Sales 1"/>
          <p:cNvSpPr/>
          <p:nvPr/>
        </p:nvSpPr>
        <p:spPr>
          <a:xfrm>
            <a:off x="6858000" y="2057400"/>
            <a:ext cx="3291840" cy="3291840"/>
          </a:xfrm>
          <a:prstGeom prst="blockArc">
            <a:avLst>
              <a:gd name="adj1" fmla="val 16200000"/>
              <a:gd name="adj2" fmla="val 2264516"/>
              <a:gd name="adj3" fmla="val 22222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4" name="Sales Communication 2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6200000"/>
              <a:gd name="adj2" fmla="val 16548387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5" name="Sales Performance Tracking 3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6548387"/>
              <a:gd name="adj2" fmla="val 16896774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6" name="Sales Channel Optimisation 4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6896774"/>
              <a:gd name="adj2" fmla="val 17245161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7" name="Pricing Strategy 5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7245161"/>
              <a:gd name="adj2" fmla="val 17593548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8" name="Client Onboarding 6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7593548"/>
              <a:gd name="adj2" fmla="val 17941935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9" name="Deal Structuring 7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7941935"/>
              <a:gd name="adj2" fmla="val 18290323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0" name="Proposal Management 8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8290323"/>
              <a:gd name="adj2" fmla="val 18638710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1" name="Sales Automation 9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8638710"/>
              <a:gd name="adj2" fmla="val 18987097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2" name="Win/Loss Analysis 10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8987097"/>
              <a:gd name="adj2" fmla="val 19335484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3" name="Account Management 11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9335484"/>
              <a:gd name="adj2" fmla="val 19683871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4" name="Channel Sales 12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9683871"/>
              <a:gd name="adj2" fmla="val 20032258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5" name="Discount Control 13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20032258"/>
              <a:gd name="adj2" fmla="val 20380645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6" name="Quota Attainment 14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20380645"/>
              <a:gd name="adj2" fmla="val 20729032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7" name="Training &amp; Development 15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20729032"/>
              <a:gd name="adj2" fmla="val 21077419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8" name="Sales Enablement 16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21077419"/>
              <a:gd name="adj2" fmla="val 21425806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9" name="Territory Management 17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21425806"/>
              <a:gd name="adj2" fmla="val 174194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30" name="CRM Management 18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74194"/>
              <a:gd name="adj2" fmla="val 522581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31" name="Sales Forecasting 19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522581"/>
              <a:gd name="adj2" fmla="val 870968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32" name="Contract Negotiation 20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870968"/>
              <a:gd name="adj2" fmla="val 1219355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33" name="Sales Demos 21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219355"/>
              <a:gd name="adj2" fmla="val 1567742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34" name="Prospecting 22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567742"/>
              <a:gd name="adj2" fmla="val 1916129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35" name="Pipeline Management 23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916129"/>
              <a:gd name="adj2" fmla="val 2264516"/>
              <a:gd name="adj3" fmla="val 2352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36" name="Label 24"/>
          <p:cNvSpPr txBox="1"/>
          <p:nvPr/>
        </p:nvSpPr>
        <p:spPr>
          <a:xfrm rot="-5225806">
            <a:off x="7938535" y="1257811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Communication</a:t>
            </a:r>
            <a:endParaRPr lang="en-US" sz="700" dirty="0"/>
          </a:p>
        </p:txBody>
      </p:sp>
      <p:sp>
        <p:nvSpPr>
          <p:cNvPr id="37" name="Label 25"/>
          <p:cNvSpPr txBox="1"/>
          <p:nvPr/>
        </p:nvSpPr>
        <p:spPr>
          <a:xfrm rot="-4877419">
            <a:off x="8178130" y="1282176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Performance Tracking</a:t>
            </a:r>
            <a:endParaRPr lang="en-US" sz="700" dirty="0"/>
          </a:p>
        </p:txBody>
      </p:sp>
      <p:sp>
        <p:nvSpPr>
          <p:cNvPr id="38" name="Label 26"/>
          <p:cNvSpPr txBox="1"/>
          <p:nvPr/>
        </p:nvSpPr>
        <p:spPr>
          <a:xfrm rot="-4529032">
            <a:off x="8414031" y="1330655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Channel Optimisation</a:t>
            </a:r>
            <a:endParaRPr lang="en-US" sz="700" dirty="0"/>
          </a:p>
        </p:txBody>
      </p:sp>
      <p:sp>
        <p:nvSpPr>
          <p:cNvPr id="39" name="Label 27"/>
          <p:cNvSpPr txBox="1"/>
          <p:nvPr/>
        </p:nvSpPr>
        <p:spPr>
          <a:xfrm rot="-4180645">
            <a:off x="8643817" y="1402751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Pricing Strategy</a:t>
            </a:r>
            <a:endParaRPr lang="en-US" sz="700" dirty="0"/>
          </a:p>
        </p:txBody>
      </p:sp>
      <p:sp>
        <p:nvSpPr>
          <p:cNvPr id="40" name="Label 28"/>
          <p:cNvSpPr txBox="1"/>
          <p:nvPr/>
        </p:nvSpPr>
        <p:spPr>
          <a:xfrm rot="-3832258">
            <a:off x="8865131" y="1497724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Client Onboarding</a:t>
            </a:r>
            <a:endParaRPr lang="en-US" sz="700" dirty="0"/>
          </a:p>
        </p:txBody>
      </p:sp>
      <p:sp>
        <p:nvSpPr>
          <p:cNvPr id="41" name="Label 29"/>
          <p:cNvSpPr txBox="1"/>
          <p:nvPr/>
        </p:nvSpPr>
        <p:spPr>
          <a:xfrm rot="-3483871">
            <a:off x="9075700" y="1614599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Deal Structuring</a:t>
            </a:r>
            <a:endParaRPr lang="en-US" sz="700" dirty="0"/>
          </a:p>
        </p:txBody>
      </p:sp>
      <p:sp>
        <p:nvSpPr>
          <p:cNvPr id="42" name="Label 30"/>
          <p:cNvSpPr txBox="1"/>
          <p:nvPr/>
        </p:nvSpPr>
        <p:spPr>
          <a:xfrm rot="-3135484">
            <a:off x="9273365" y="1752178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Proposal Management</a:t>
            </a:r>
            <a:endParaRPr lang="en-US" sz="700" dirty="0"/>
          </a:p>
        </p:txBody>
      </p:sp>
      <p:sp>
        <p:nvSpPr>
          <p:cNvPr id="43" name="Label 31"/>
          <p:cNvSpPr txBox="1"/>
          <p:nvPr/>
        </p:nvSpPr>
        <p:spPr>
          <a:xfrm rot="-2787097">
            <a:off x="9456098" y="1909049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Automation</a:t>
            </a:r>
            <a:endParaRPr lang="en-US" sz="700" dirty="0"/>
          </a:p>
        </p:txBody>
      </p:sp>
      <p:sp>
        <p:nvSpPr>
          <p:cNvPr id="44" name="Label 32"/>
          <p:cNvSpPr txBox="1"/>
          <p:nvPr/>
        </p:nvSpPr>
        <p:spPr>
          <a:xfrm rot="-2438710">
            <a:off x="9622022" y="2083601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Win/Loss Analysis</a:t>
            </a:r>
            <a:endParaRPr lang="en-US" sz="700" dirty="0"/>
          </a:p>
        </p:txBody>
      </p:sp>
      <p:sp>
        <p:nvSpPr>
          <p:cNvPr id="45" name="Label 33"/>
          <p:cNvSpPr txBox="1"/>
          <p:nvPr/>
        </p:nvSpPr>
        <p:spPr>
          <a:xfrm rot="-2090323">
            <a:off x="9769436" y="2274044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Account Management</a:t>
            </a:r>
            <a:endParaRPr lang="en-US" sz="700" dirty="0"/>
          </a:p>
        </p:txBody>
      </p:sp>
      <p:sp>
        <p:nvSpPr>
          <p:cNvPr id="46" name="Label 34"/>
          <p:cNvSpPr txBox="1"/>
          <p:nvPr/>
        </p:nvSpPr>
        <p:spPr>
          <a:xfrm rot="-1741935">
            <a:off x="9896827" y="2478424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Channel Sales</a:t>
            </a:r>
            <a:endParaRPr lang="en-US" sz="700" dirty="0"/>
          </a:p>
        </p:txBody>
      </p:sp>
      <p:sp>
        <p:nvSpPr>
          <p:cNvPr id="47" name="Label 35"/>
          <p:cNvSpPr txBox="1"/>
          <p:nvPr/>
        </p:nvSpPr>
        <p:spPr>
          <a:xfrm rot="-1393548">
            <a:off x="10002887" y="2694643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Discount Control</a:t>
            </a:r>
            <a:endParaRPr lang="en-US" sz="700" dirty="0"/>
          </a:p>
        </p:txBody>
      </p:sp>
      <p:sp>
        <p:nvSpPr>
          <p:cNvPr id="48" name="Label 36"/>
          <p:cNvSpPr txBox="1"/>
          <p:nvPr/>
        </p:nvSpPr>
        <p:spPr>
          <a:xfrm rot="-1045161">
            <a:off x="10086529" y="2920482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Quota Attainment</a:t>
            </a:r>
            <a:endParaRPr lang="en-US" sz="700" dirty="0"/>
          </a:p>
        </p:txBody>
      </p:sp>
      <p:sp>
        <p:nvSpPr>
          <p:cNvPr id="49" name="Label 37"/>
          <p:cNvSpPr txBox="1"/>
          <p:nvPr/>
        </p:nvSpPr>
        <p:spPr>
          <a:xfrm rot="-696774">
            <a:off x="10146894" y="3153625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Training &amp; Development</a:t>
            </a:r>
            <a:endParaRPr lang="en-US" sz="700" dirty="0"/>
          </a:p>
        </p:txBody>
      </p:sp>
      <p:sp>
        <p:nvSpPr>
          <p:cNvPr id="50" name="Label 38"/>
          <p:cNvSpPr txBox="1"/>
          <p:nvPr/>
        </p:nvSpPr>
        <p:spPr>
          <a:xfrm rot="-348387">
            <a:off x="10183362" y="3391678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Enablement</a:t>
            </a:r>
            <a:endParaRPr lang="en-US" sz="700" dirty="0"/>
          </a:p>
        </p:txBody>
      </p:sp>
      <p:sp>
        <p:nvSpPr>
          <p:cNvPr id="51" name="Label 39"/>
          <p:cNvSpPr txBox="1"/>
          <p:nvPr/>
        </p:nvSpPr>
        <p:spPr>
          <a:xfrm>
            <a:off x="10195560" y="3632200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Territory Management</a:t>
            </a:r>
            <a:endParaRPr lang="en-US" sz="700" dirty="0"/>
          </a:p>
        </p:txBody>
      </p:sp>
      <p:sp>
        <p:nvSpPr>
          <p:cNvPr id="52" name="Label 40"/>
          <p:cNvSpPr txBox="1"/>
          <p:nvPr/>
        </p:nvSpPr>
        <p:spPr>
          <a:xfrm rot="348387">
            <a:off x="10183362" y="3872722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CRM Management</a:t>
            </a:r>
            <a:endParaRPr lang="en-US" sz="700" dirty="0"/>
          </a:p>
        </p:txBody>
      </p:sp>
      <p:sp>
        <p:nvSpPr>
          <p:cNvPr id="53" name="Label 41"/>
          <p:cNvSpPr txBox="1"/>
          <p:nvPr/>
        </p:nvSpPr>
        <p:spPr>
          <a:xfrm rot="696774">
            <a:off x="10146894" y="4110775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Forecasting</a:t>
            </a:r>
            <a:endParaRPr lang="en-US" sz="700" dirty="0"/>
          </a:p>
        </p:txBody>
      </p:sp>
      <p:sp>
        <p:nvSpPr>
          <p:cNvPr id="54" name="Label 42"/>
          <p:cNvSpPr txBox="1"/>
          <p:nvPr/>
        </p:nvSpPr>
        <p:spPr>
          <a:xfrm rot="1045161">
            <a:off x="10086529" y="4343918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Contract Negotiation</a:t>
            </a:r>
            <a:endParaRPr lang="en-US" sz="700" dirty="0"/>
          </a:p>
        </p:txBody>
      </p:sp>
      <p:sp>
        <p:nvSpPr>
          <p:cNvPr id="55" name="Label 43"/>
          <p:cNvSpPr txBox="1"/>
          <p:nvPr/>
        </p:nvSpPr>
        <p:spPr>
          <a:xfrm rot="1393548">
            <a:off x="10002887" y="4569757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Demos</a:t>
            </a:r>
            <a:endParaRPr lang="en-US" sz="700" dirty="0"/>
          </a:p>
        </p:txBody>
      </p:sp>
      <p:sp>
        <p:nvSpPr>
          <p:cNvPr id="56" name="Label 44"/>
          <p:cNvSpPr txBox="1"/>
          <p:nvPr/>
        </p:nvSpPr>
        <p:spPr>
          <a:xfrm rot="1741935">
            <a:off x="9896827" y="4785976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Prospecting</a:t>
            </a:r>
            <a:endParaRPr lang="en-US" sz="700" dirty="0"/>
          </a:p>
        </p:txBody>
      </p:sp>
      <p:sp>
        <p:nvSpPr>
          <p:cNvPr id="57" name="Label 45"/>
          <p:cNvSpPr txBox="1"/>
          <p:nvPr/>
        </p:nvSpPr>
        <p:spPr>
          <a:xfrm rot="2090323">
            <a:off x="9769436" y="4990356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Pipeline Management</a:t>
            </a:r>
            <a:endParaRPr lang="en-US" sz="700" dirty="0"/>
          </a:p>
        </p:txBody>
      </p:sp>
      <p:sp>
        <p:nvSpPr>
          <p:cNvPr id="58" name="Function Sales"/>
          <p:cNvSpPr txBox="1"/>
          <p:nvPr/>
        </p:nvSpPr>
        <p:spPr>
          <a:xfrm>
            <a:off x="9104613" y="2865225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0"/>
                </a:solidFill>
              </a:rPr>
              <a:t>Sales</a:t>
            </a:r>
            <a:endParaRPr lang="en-US" sz="1200" dirty="0"/>
          </a:p>
        </p:txBody>
      </p:sp>
      <p:sp>
        <p:nvSpPr>
          <p:cNvPr id="59" name="Customer Success 46"/>
          <p:cNvSpPr/>
          <p:nvPr/>
        </p:nvSpPr>
        <p:spPr>
          <a:xfrm>
            <a:off x="6858000" y="2057400"/>
            <a:ext cx="3291840" cy="3291840"/>
          </a:xfrm>
          <a:prstGeom prst="blockArc">
            <a:avLst>
              <a:gd name="adj1" fmla="val 2264516"/>
              <a:gd name="adj2" fmla="val 9232258"/>
              <a:gd name="adj3" fmla="val 22222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0" name="Advocacy Programme 47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2264516"/>
              <a:gd name="adj2" fmla="val 2612903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1" name="Success Planning 48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2612903"/>
              <a:gd name="adj2" fmla="val 2961290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2" name="Customer Analytics 49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2961290"/>
              <a:gd name="adj2" fmla="val 3309677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3" name="Voice of Customer 50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3309677"/>
              <a:gd name="adj2" fmla="val 3658065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4" name="Community Building 51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3658065"/>
              <a:gd name="adj2" fmla="val 4006452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5" name="Customer Health 52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4006452"/>
              <a:gd name="adj2" fmla="val 4354839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6" name="Escalation Handling 53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4354839"/>
              <a:gd name="adj2" fmla="val 4703226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7" name="SLA Management 54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4703226"/>
              <a:gd name="adj2" fmla="val 5051613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8" name="QBRs 55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5051613"/>
              <a:gd name="adj2" fmla="val 5400000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9" name="Customer Reviews 56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5400000"/>
              <a:gd name="adj2" fmla="val 5748387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0" name="Contract Renewals 57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5748387"/>
              <a:gd name="adj2" fmla="val 6096774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1" name="Customer Training 58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6096774"/>
              <a:gd name="adj2" fmla="val 6445161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2" name="Relationship Management 59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6445161"/>
              <a:gd name="adj2" fmla="val 6793548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3" name="Customer Support 60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6793548"/>
              <a:gd name="adj2" fmla="val 7141935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4" name="Customer Satisfaction 61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7141935"/>
              <a:gd name="adj2" fmla="val 7490323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5" name="Upselling &amp; Cross-selling 62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7490323"/>
              <a:gd name="adj2" fmla="val 7838710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6" name="Retention &amp; Churn 63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7838710"/>
              <a:gd name="adj2" fmla="val 8187097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7" name="Account Management 64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8187097"/>
              <a:gd name="adj2" fmla="val 8535484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8" name="Product Adoption 65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8535484"/>
              <a:gd name="adj2" fmla="val 8883871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9" name="Customer Onboarding 66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8883871"/>
              <a:gd name="adj2" fmla="val 9232258"/>
              <a:gd name="adj3" fmla="val 2352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80" name="Label 67"/>
          <p:cNvSpPr txBox="1"/>
          <p:nvPr/>
        </p:nvSpPr>
        <p:spPr>
          <a:xfrm rot="2438710">
            <a:off x="9622022" y="5180799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Advocacy Programme</a:t>
            </a:r>
            <a:endParaRPr lang="en-US" sz="700" dirty="0"/>
          </a:p>
        </p:txBody>
      </p:sp>
      <p:sp>
        <p:nvSpPr>
          <p:cNvPr id="81" name="Label 68"/>
          <p:cNvSpPr txBox="1"/>
          <p:nvPr/>
        </p:nvSpPr>
        <p:spPr>
          <a:xfrm rot="2787097">
            <a:off x="9456098" y="5355351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Success Planning</a:t>
            </a:r>
            <a:endParaRPr lang="en-US" sz="700" dirty="0"/>
          </a:p>
        </p:txBody>
      </p:sp>
      <p:sp>
        <p:nvSpPr>
          <p:cNvPr id="82" name="Label 69"/>
          <p:cNvSpPr txBox="1"/>
          <p:nvPr/>
        </p:nvSpPr>
        <p:spPr>
          <a:xfrm rot="3135484">
            <a:off x="9273365" y="5512222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Analytics</a:t>
            </a:r>
            <a:endParaRPr lang="en-US" sz="700" dirty="0"/>
          </a:p>
        </p:txBody>
      </p:sp>
      <p:sp>
        <p:nvSpPr>
          <p:cNvPr id="83" name="Label 70"/>
          <p:cNvSpPr txBox="1"/>
          <p:nvPr/>
        </p:nvSpPr>
        <p:spPr>
          <a:xfrm rot="3483871">
            <a:off x="9075700" y="5649801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Voice of Customer</a:t>
            </a:r>
            <a:endParaRPr lang="en-US" sz="700" dirty="0"/>
          </a:p>
        </p:txBody>
      </p:sp>
      <p:sp>
        <p:nvSpPr>
          <p:cNvPr id="84" name="Label 71"/>
          <p:cNvSpPr txBox="1"/>
          <p:nvPr/>
        </p:nvSpPr>
        <p:spPr>
          <a:xfrm rot="3832258">
            <a:off x="8865131" y="5766676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Community Building</a:t>
            </a:r>
            <a:endParaRPr lang="en-US" sz="700" dirty="0"/>
          </a:p>
        </p:txBody>
      </p:sp>
      <p:sp>
        <p:nvSpPr>
          <p:cNvPr id="85" name="Label 72"/>
          <p:cNvSpPr txBox="1"/>
          <p:nvPr/>
        </p:nvSpPr>
        <p:spPr>
          <a:xfrm rot="4180645">
            <a:off x="8643817" y="5861649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Health</a:t>
            </a:r>
            <a:endParaRPr lang="en-US" sz="700" dirty="0"/>
          </a:p>
        </p:txBody>
      </p:sp>
      <p:sp>
        <p:nvSpPr>
          <p:cNvPr id="86" name="Label 73"/>
          <p:cNvSpPr txBox="1"/>
          <p:nvPr/>
        </p:nvSpPr>
        <p:spPr>
          <a:xfrm rot="4529032">
            <a:off x="8414031" y="5933745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Escalation Handling</a:t>
            </a:r>
            <a:endParaRPr lang="en-US" sz="700" dirty="0"/>
          </a:p>
        </p:txBody>
      </p:sp>
      <p:sp>
        <p:nvSpPr>
          <p:cNvPr id="87" name="Label 74"/>
          <p:cNvSpPr txBox="1"/>
          <p:nvPr/>
        </p:nvSpPr>
        <p:spPr>
          <a:xfrm rot="4877419">
            <a:off x="8178130" y="5982224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SLA Management</a:t>
            </a:r>
            <a:endParaRPr lang="en-US" sz="700" dirty="0"/>
          </a:p>
        </p:txBody>
      </p:sp>
      <p:sp>
        <p:nvSpPr>
          <p:cNvPr id="88" name="Label 75"/>
          <p:cNvSpPr txBox="1"/>
          <p:nvPr/>
        </p:nvSpPr>
        <p:spPr>
          <a:xfrm rot="5225806">
            <a:off x="7938535" y="6006589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QBRs</a:t>
            </a:r>
            <a:endParaRPr lang="en-US" sz="700" dirty="0"/>
          </a:p>
        </p:txBody>
      </p:sp>
      <p:sp>
        <p:nvSpPr>
          <p:cNvPr id="89" name="Label 76"/>
          <p:cNvSpPr txBox="1"/>
          <p:nvPr/>
        </p:nvSpPr>
        <p:spPr>
          <a:xfrm rot="16374194">
            <a:off x="7697705" y="6006589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Reviews</a:t>
            </a:r>
            <a:endParaRPr lang="en-US" sz="700" dirty="0"/>
          </a:p>
        </p:txBody>
      </p:sp>
      <p:sp>
        <p:nvSpPr>
          <p:cNvPr id="90" name="Label 77"/>
          <p:cNvSpPr txBox="1"/>
          <p:nvPr/>
        </p:nvSpPr>
        <p:spPr>
          <a:xfrm rot="16722581">
            <a:off x="7458110" y="5982224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Contract Renewals</a:t>
            </a:r>
            <a:endParaRPr lang="en-US" sz="700" dirty="0"/>
          </a:p>
        </p:txBody>
      </p:sp>
      <p:sp>
        <p:nvSpPr>
          <p:cNvPr id="91" name="Label 78"/>
          <p:cNvSpPr txBox="1"/>
          <p:nvPr/>
        </p:nvSpPr>
        <p:spPr>
          <a:xfrm rot="17070968">
            <a:off x="7222209" y="5933745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Training</a:t>
            </a:r>
            <a:endParaRPr lang="en-US" sz="700" dirty="0"/>
          </a:p>
        </p:txBody>
      </p:sp>
      <p:sp>
        <p:nvSpPr>
          <p:cNvPr id="92" name="Label 79"/>
          <p:cNvSpPr txBox="1"/>
          <p:nvPr/>
        </p:nvSpPr>
        <p:spPr>
          <a:xfrm rot="17419355">
            <a:off x="6992423" y="5861649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Relationship Management</a:t>
            </a:r>
            <a:endParaRPr lang="en-US" sz="700" dirty="0"/>
          </a:p>
        </p:txBody>
      </p:sp>
      <p:sp>
        <p:nvSpPr>
          <p:cNvPr id="93" name="Label 80"/>
          <p:cNvSpPr txBox="1"/>
          <p:nvPr/>
        </p:nvSpPr>
        <p:spPr>
          <a:xfrm rot="17767742">
            <a:off x="6771109" y="5766676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Support</a:t>
            </a:r>
            <a:endParaRPr lang="en-US" sz="700" dirty="0"/>
          </a:p>
        </p:txBody>
      </p:sp>
      <p:sp>
        <p:nvSpPr>
          <p:cNvPr id="94" name="Label 81"/>
          <p:cNvSpPr txBox="1"/>
          <p:nvPr/>
        </p:nvSpPr>
        <p:spPr>
          <a:xfrm rot="18116129">
            <a:off x="6560540" y="5649801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Satisfaction</a:t>
            </a:r>
            <a:endParaRPr lang="en-US" sz="700" dirty="0"/>
          </a:p>
        </p:txBody>
      </p:sp>
      <p:sp>
        <p:nvSpPr>
          <p:cNvPr id="95" name="Label 82"/>
          <p:cNvSpPr txBox="1"/>
          <p:nvPr/>
        </p:nvSpPr>
        <p:spPr>
          <a:xfrm rot="18464516">
            <a:off x="6362875" y="5512222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Upselling &amp; Cross-selling</a:t>
            </a:r>
            <a:endParaRPr lang="en-US" sz="700" dirty="0"/>
          </a:p>
        </p:txBody>
      </p:sp>
      <p:sp>
        <p:nvSpPr>
          <p:cNvPr id="96" name="Label 83"/>
          <p:cNvSpPr txBox="1"/>
          <p:nvPr/>
        </p:nvSpPr>
        <p:spPr>
          <a:xfrm rot="18812903">
            <a:off x="6180142" y="5355351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Retention &amp; Churn</a:t>
            </a:r>
            <a:endParaRPr lang="en-US" sz="700" dirty="0"/>
          </a:p>
        </p:txBody>
      </p:sp>
      <p:sp>
        <p:nvSpPr>
          <p:cNvPr id="97" name="Label 84"/>
          <p:cNvSpPr txBox="1"/>
          <p:nvPr/>
        </p:nvSpPr>
        <p:spPr>
          <a:xfrm rot="19161290">
            <a:off x="6014218" y="5180799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Account Management</a:t>
            </a:r>
            <a:endParaRPr lang="en-US" sz="700" dirty="0"/>
          </a:p>
        </p:txBody>
      </p:sp>
      <p:sp>
        <p:nvSpPr>
          <p:cNvPr id="98" name="Label 85"/>
          <p:cNvSpPr txBox="1"/>
          <p:nvPr/>
        </p:nvSpPr>
        <p:spPr>
          <a:xfrm rot="19509677">
            <a:off x="5866804" y="4990356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Product Adoption</a:t>
            </a:r>
            <a:endParaRPr lang="en-US" sz="700" dirty="0"/>
          </a:p>
        </p:txBody>
      </p:sp>
      <p:sp>
        <p:nvSpPr>
          <p:cNvPr id="99" name="Label 86"/>
          <p:cNvSpPr txBox="1"/>
          <p:nvPr/>
        </p:nvSpPr>
        <p:spPr>
          <a:xfrm rot="19858065">
            <a:off x="5739413" y="4785976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Onboarding</a:t>
            </a:r>
            <a:endParaRPr lang="en-US" sz="700" dirty="0"/>
          </a:p>
        </p:txBody>
      </p:sp>
      <p:sp>
        <p:nvSpPr>
          <p:cNvPr id="100" name="Function Customer Success"/>
          <p:cNvSpPr txBox="1"/>
          <p:nvPr/>
        </p:nvSpPr>
        <p:spPr>
          <a:xfrm>
            <a:off x="7825768" y="47025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61D"/>
                </a:solidFill>
              </a:rPr>
              <a:t>Customer Success</a:t>
            </a:r>
            <a:endParaRPr lang="en-US" sz="1200" dirty="0"/>
          </a:p>
        </p:txBody>
      </p:sp>
      <p:sp>
        <p:nvSpPr>
          <p:cNvPr id="101" name="Marketing 87"/>
          <p:cNvSpPr/>
          <p:nvPr/>
        </p:nvSpPr>
        <p:spPr>
          <a:xfrm>
            <a:off x="6858000" y="2057400"/>
            <a:ext cx="3291840" cy="3291840"/>
          </a:xfrm>
          <a:prstGeom prst="blockArc">
            <a:avLst>
              <a:gd name="adj1" fmla="val 9232258"/>
              <a:gd name="adj2" fmla="val 16200000"/>
              <a:gd name="adj3" fmla="val 22222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02" name="Reporting &amp; Forecasting 88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9232258"/>
              <a:gd name="adj2" fmla="val 9580645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03" name="Budget Management 89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9580645"/>
              <a:gd name="adj2" fmla="val 9929032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04" name="A/B Testing 90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9929032"/>
              <a:gd name="adj2" fmla="val 10277419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05" name="Retention Campaigns 91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0277419"/>
              <a:gd name="adj2" fmla="val 10625806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06" name="Marketing Analytics 92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0625806"/>
              <a:gd name="adj2" fmla="val 10974194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07" name="Targeting &amp; Personalisation 93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0974194"/>
              <a:gd name="adj2" fmla="val 11322581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08" name="Customer Segmentation 94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1322581"/>
              <a:gd name="adj2" fmla="val 11670968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09" name="Affiliate Marketing 95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1670968"/>
              <a:gd name="adj2" fmla="val 12019355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0" name="Influencer Partnerships 96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2019355"/>
              <a:gd name="adj2" fmla="val 12367742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1" name="Public Relations 97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2367742"/>
              <a:gd name="adj2" fmla="val 12716129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2" name="Paid Advertising 98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2716129"/>
              <a:gd name="adj2" fmla="val 13064516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3" name="Competitor Analysis 99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3064516"/>
              <a:gd name="adj2" fmla="val 13412903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4" name="Market Research 100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3412903"/>
              <a:gd name="adj2" fmla="val 13761290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5" name="Email Marketing 101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3761290"/>
              <a:gd name="adj2" fmla="val 14109677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6" name="Webinars &amp; Events 102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4109677"/>
              <a:gd name="adj2" fmla="val 14458065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7" name="Social Media 103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4458065"/>
              <a:gd name="adj2" fmla="val 14806452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8" name="SEO Optimisation 104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4806452"/>
              <a:gd name="adj2" fmla="val 15154839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9" name="Content Strategy 105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5154839"/>
              <a:gd name="adj2" fmla="val 15503226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20" name="Brand Awareness 106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5503226"/>
              <a:gd name="adj2" fmla="val 15851613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21" name="Lead Generation 107"/>
          <p:cNvSpPr/>
          <p:nvPr/>
        </p:nvSpPr>
        <p:spPr>
          <a:xfrm>
            <a:off x="5394960" y="594360"/>
            <a:ext cx="6217920" cy="6217920"/>
          </a:xfrm>
          <a:prstGeom prst="blockArc">
            <a:avLst>
              <a:gd name="adj1" fmla="val 15851613"/>
              <a:gd name="adj2" fmla="val 16200000"/>
              <a:gd name="adj3" fmla="val 2352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22" name="Label 108"/>
          <p:cNvSpPr txBox="1"/>
          <p:nvPr/>
        </p:nvSpPr>
        <p:spPr>
          <a:xfrm rot="20206452">
            <a:off x="5633353" y="4569757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Reporting &amp; Forecasting</a:t>
            </a:r>
            <a:endParaRPr lang="en-US" sz="700" dirty="0"/>
          </a:p>
        </p:txBody>
      </p:sp>
      <p:sp>
        <p:nvSpPr>
          <p:cNvPr id="123" name="Label 109"/>
          <p:cNvSpPr txBox="1"/>
          <p:nvPr/>
        </p:nvSpPr>
        <p:spPr>
          <a:xfrm rot="20554839">
            <a:off x="5549711" y="4343918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Budget Management</a:t>
            </a:r>
            <a:endParaRPr lang="en-US" sz="700" dirty="0"/>
          </a:p>
        </p:txBody>
      </p:sp>
      <p:sp>
        <p:nvSpPr>
          <p:cNvPr id="124" name="Label 110"/>
          <p:cNvSpPr txBox="1"/>
          <p:nvPr/>
        </p:nvSpPr>
        <p:spPr>
          <a:xfrm rot="20903226">
            <a:off x="5489346" y="4110775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A/B Testing</a:t>
            </a:r>
            <a:endParaRPr lang="en-US" sz="700" dirty="0"/>
          </a:p>
        </p:txBody>
      </p:sp>
      <p:sp>
        <p:nvSpPr>
          <p:cNvPr id="125" name="Label 111"/>
          <p:cNvSpPr txBox="1"/>
          <p:nvPr/>
        </p:nvSpPr>
        <p:spPr>
          <a:xfrm rot="21251613">
            <a:off x="5452878" y="3872722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Retention Campaigns</a:t>
            </a:r>
            <a:endParaRPr lang="en-US" sz="700" dirty="0"/>
          </a:p>
        </p:txBody>
      </p:sp>
      <p:sp>
        <p:nvSpPr>
          <p:cNvPr id="126" name="Label 112"/>
          <p:cNvSpPr txBox="1"/>
          <p:nvPr/>
        </p:nvSpPr>
        <p:spPr>
          <a:xfrm rot="21600000">
            <a:off x="5440680" y="3632200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Marketing Analytics</a:t>
            </a:r>
            <a:endParaRPr lang="en-US" sz="700" dirty="0"/>
          </a:p>
        </p:txBody>
      </p:sp>
      <p:sp>
        <p:nvSpPr>
          <p:cNvPr id="127" name="Label 113"/>
          <p:cNvSpPr txBox="1"/>
          <p:nvPr/>
        </p:nvSpPr>
        <p:spPr>
          <a:xfrm rot="348387">
            <a:off x="5452878" y="3391678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Targeting &amp; Personalisation</a:t>
            </a:r>
            <a:endParaRPr lang="en-US" sz="700" dirty="0"/>
          </a:p>
        </p:txBody>
      </p:sp>
      <p:sp>
        <p:nvSpPr>
          <p:cNvPr id="128" name="Label 114"/>
          <p:cNvSpPr txBox="1"/>
          <p:nvPr/>
        </p:nvSpPr>
        <p:spPr>
          <a:xfrm rot="696774">
            <a:off x="5489346" y="3153625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Segmentation</a:t>
            </a:r>
            <a:endParaRPr lang="en-US" sz="700" dirty="0"/>
          </a:p>
        </p:txBody>
      </p:sp>
      <p:sp>
        <p:nvSpPr>
          <p:cNvPr id="129" name="Label 115"/>
          <p:cNvSpPr txBox="1"/>
          <p:nvPr/>
        </p:nvSpPr>
        <p:spPr>
          <a:xfrm rot="1045161">
            <a:off x="5549711" y="2920482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Affiliate Marketing</a:t>
            </a:r>
            <a:endParaRPr lang="en-US" sz="700" dirty="0"/>
          </a:p>
        </p:txBody>
      </p:sp>
      <p:sp>
        <p:nvSpPr>
          <p:cNvPr id="130" name="Label 116"/>
          <p:cNvSpPr txBox="1"/>
          <p:nvPr/>
        </p:nvSpPr>
        <p:spPr>
          <a:xfrm rot="1393548">
            <a:off x="5633353" y="2694643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Influencer Partnerships</a:t>
            </a:r>
            <a:endParaRPr lang="en-US" sz="700" dirty="0"/>
          </a:p>
        </p:txBody>
      </p:sp>
      <p:sp>
        <p:nvSpPr>
          <p:cNvPr id="131" name="Label 117"/>
          <p:cNvSpPr txBox="1"/>
          <p:nvPr/>
        </p:nvSpPr>
        <p:spPr>
          <a:xfrm rot="1741935">
            <a:off x="5739413" y="2478424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Public Relations</a:t>
            </a:r>
            <a:endParaRPr lang="en-US" sz="700" dirty="0"/>
          </a:p>
        </p:txBody>
      </p:sp>
      <p:sp>
        <p:nvSpPr>
          <p:cNvPr id="132" name="Label 118"/>
          <p:cNvSpPr txBox="1"/>
          <p:nvPr/>
        </p:nvSpPr>
        <p:spPr>
          <a:xfrm rot="2090323">
            <a:off x="5866804" y="2274044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Paid Advertising</a:t>
            </a:r>
            <a:endParaRPr lang="en-US" sz="700" dirty="0"/>
          </a:p>
        </p:txBody>
      </p:sp>
      <p:sp>
        <p:nvSpPr>
          <p:cNvPr id="133" name="Label 119"/>
          <p:cNvSpPr txBox="1"/>
          <p:nvPr/>
        </p:nvSpPr>
        <p:spPr>
          <a:xfrm rot="2438710">
            <a:off x="6014218" y="2083601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Competitor Analysis</a:t>
            </a:r>
            <a:endParaRPr lang="en-US" sz="700" dirty="0"/>
          </a:p>
        </p:txBody>
      </p:sp>
      <p:sp>
        <p:nvSpPr>
          <p:cNvPr id="134" name="Label 120"/>
          <p:cNvSpPr txBox="1"/>
          <p:nvPr/>
        </p:nvSpPr>
        <p:spPr>
          <a:xfrm rot="2787097">
            <a:off x="6180142" y="1909049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Market Research</a:t>
            </a:r>
            <a:endParaRPr lang="en-US" sz="700" dirty="0"/>
          </a:p>
        </p:txBody>
      </p:sp>
      <p:sp>
        <p:nvSpPr>
          <p:cNvPr id="135" name="Label 121"/>
          <p:cNvSpPr txBox="1"/>
          <p:nvPr/>
        </p:nvSpPr>
        <p:spPr>
          <a:xfrm rot="3135484">
            <a:off x="6362875" y="1752178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Email Marketing</a:t>
            </a:r>
            <a:endParaRPr lang="en-US" sz="700" dirty="0"/>
          </a:p>
        </p:txBody>
      </p:sp>
      <p:sp>
        <p:nvSpPr>
          <p:cNvPr id="136" name="Label 122"/>
          <p:cNvSpPr txBox="1"/>
          <p:nvPr/>
        </p:nvSpPr>
        <p:spPr>
          <a:xfrm rot="3483871">
            <a:off x="6560540" y="1614599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Webinars &amp; Events</a:t>
            </a:r>
            <a:endParaRPr lang="en-US" sz="700" dirty="0"/>
          </a:p>
        </p:txBody>
      </p:sp>
      <p:sp>
        <p:nvSpPr>
          <p:cNvPr id="137" name="Label 123"/>
          <p:cNvSpPr txBox="1"/>
          <p:nvPr/>
        </p:nvSpPr>
        <p:spPr>
          <a:xfrm rot="3832258">
            <a:off x="6771109" y="1497724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Social Media</a:t>
            </a:r>
            <a:endParaRPr lang="en-US" sz="700" dirty="0"/>
          </a:p>
        </p:txBody>
      </p:sp>
      <p:sp>
        <p:nvSpPr>
          <p:cNvPr id="138" name="Label 124"/>
          <p:cNvSpPr txBox="1"/>
          <p:nvPr/>
        </p:nvSpPr>
        <p:spPr>
          <a:xfrm rot="4180645">
            <a:off x="6992423" y="1402751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SEO Optimisation</a:t>
            </a:r>
            <a:endParaRPr lang="en-US" sz="700" dirty="0"/>
          </a:p>
        </p:txBody>
      </p:sp>
      <p:sp>
        <p:nvSpPr>
          <p:cNvPr id="139" name="Label 125"/>
          <p:cNvSpPr txBox="1"/>
          <p:nvPr/>
        </p:nvSpPr>
        <p:spPr>
          <a:xfrm rot="4529032">
            <a:off x="7222209" y="1330655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Content Strategy</a:t>
            </a:r>
            <a:endParaRPr lang="en-US" sz="700" dirty="0"/>
          </a:p>
        </p:txBody>
      </p:sp>
      <p:sp>
        <p:nvSpPr>
          <p:cNvPr id="140" name="Label 126"/>
          <p:cNvSpPr txBox="1"/>
          <p:nvPr/>
        </p:nvSpPr>
        <p:spPr>
          <a:xfrm rot="4877419">
            <a:off x="7458110" y="1282176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Brand Awareness</a:t>
            </a:r>
            <a:endParaRPr lang="en-US" sz="700" dirty="0"/>
          </a:p>
        </p:txBody>
      </p:sp>
      <p:sp>
        <p:nvSpPr>
          <p:cNvPr id="141" name="Label 127"/>
          <p:cNvSpPr txBox="1"/>
          <p:nvPr/>
        </p:nvSpPr>
        <p:spPr>
          <a:xfrm rot="5225806">
            <a:off x="7697705" y="1257811"/>
            <a:ext cx="1371600" cy="14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Lead Generation</a:t>
            </a:r>
            <a:endParaRPr lang="en-US" sz="700" dirty="0"/>
          </a:p>
        </p:txBody>
      </p:sp>
      <p:sp>
        <p:nvSpPr>
          <p:cNvPr id="142" name="Function Marketing"/>
          <p:cNvSpPr txBox="1"/>
          <p:nvPr/>
        </p:nvSpPr>
        <p:spPr>
          <a:xfrm>
            <a:off x="6868880" y="2751841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0"/>
                </a:solidFill>
              </a:rPr>
              <a:t>Marketing</a:t>
            </a:r>
            <a:endParaRPr lang="en-US" sz="1200" dirty="0"/>
          </a:p>
        </p:txBody>
      </p:sp>
      <p:sp>
        <p:nvSpPr>
          <p:cNvPr id="143" name="Hub"/>
          <p:cNvSpPr/>
          <p:nvPr/>
        </p:nvSpPr>
        <p:spPr>
          <a:xfrm>
            <a:off x="7589520" y="2788920"/>
            <a:ext cx="1828800" cy="1828800"/>
          </a:xfrm>
          <a:prstGeom prst="ellipse">
            <a:avLst/>
          </a:prstGeom>
          <a:solidFill>
            <a:srgbClr val="F5F7F0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44" name="Hub label"/>
          <p:cNvSpPr txBox="1"/>
          <p:nvPr/>
        </p:nvSpPr>
        <p:spPr>
          <a:xfrm>
            <a:off x="7726680" y="3291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Revenue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REVOPS FLYWHEEL  ·  DRILL-IN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Sales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Veridian Revenue Partners  ·  Adapted from NewEdge Growth, Hg Growth Summit 2025</a:t>
            </a:r>
            <a:endParaRPr lang="en-US" sz="1000" dirty="0"/>
          </a:p>
        </p:txBody>
      </p:sp>
      <p:sp>
        <p:nvSpPr>
          <p:cNvPr id="5" name="Sales 128"/>
          <p:cNvSpPr/>
          <p:nvPr/>
        </p:nvSpPr>
        <p:spPr>
          <a:xfrm>
            <a:off x="3124505" y="3429000"/>
            <a:ext cx="5943600" cy="5943600"/>
          </a:xfrm>
          <a:prstGeom prst="blockArc">
            <a:avLst>
              <a:gd name="adj1" fmla="val 12480000"/>
              <a:gd name="adj2" fmla="val 19920000"/>
              <a:gd name="adj3" fmla="val 25385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" name="Sales Communication 129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2480000"/>
              <a:gd name="adj2" fmla="val 12818182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" name="Sales Performance Tracking 130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2818182"/>
              <a:gd name="adj2" fmla="val 13156364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8" name="Sales Channel Optimisation 131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3156364"/>
              <a:gd name="adj2" fmla="val 13494545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9" name="Pricing Strategy 132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3494545"/>
              <a:gd name="adj2" fmla="val 13832727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0" name="Client Onboarding 133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3832727"/>
              <a:gd name="adj2" fmla="val 14170909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" name="Deal Structuring 134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4170909"/>
              <a:gd name="adj2" fmla="val 14509091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2" name="Proposal Management 135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4509091"/>
              <a:gd name="adj2" fmla="val 14847273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3" name="Sales Automation 136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4847273"/>
              <a:gd name="adj2" fmla="val 15185455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4" name="Win/Loss Analysis 137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5185455"/>
              <a:gd name="adj2" fmla="val 15523636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5" name="Account Management 138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5523636"/>
              <a:gd name="adj2" fmla="val 15861818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6" name="Channel Sales 139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5861818"/>
              <a:gd name="adj2" fmla="val 16200000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7" name="Discount Control 140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6200000"/>
              <a:gd name="adj2" fmla="val 16538182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8" name="Quota Attainment 141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6538182"/>
              <a:gd name="adj2" fmla="val 16876364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9" name="Training &amp; Development 142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6876364"/>
              <a:gd name="adj2" fmla="val 17214545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0" name="Sales Enablement 143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7214545"/>
              <a:gd name="adj2" fmla="val 17552727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1" name="Territory Management 144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7552727"/>
              <a:gd name="adj2" fmla="val 17890909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2" name="CRM Management 145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7890909"/>
              <a:gd name="adj2" fmla="val 18229091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3" name="Sales Forecasting 146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8229091"/>
              <a:gd name="adj2" fmla="val 18567273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4" name="Contract Negotiation 147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8567273"/>
              <a:gd name="adj2" fmla="val 18905455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5" name="Sales Demos 148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8905455"/>
              <a:gd name="adj2" fmla="val 19243636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6" name="Prospecting 149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9243636"/>
              <a:gd name="adj2" fmla="val 19581818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7" name="Pipeline Management 150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9581818"/>
              <a:gd name="adj2" fmla="val 19920000"/>
              <a:gd name="adj3" fmla="val 21739"/>
            </a:avLst>
          </a:prstGeom>
          <a:solidFill>
            <a:srgbClr val="1F3529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8" name="Label 151"/>
          <p:cNvSpPr txBox="1"/>
          <p:nvPr/>
        </p:nvSpPr>
        <p:spPr>
          <a:xfrm rot="1849091">
            <a:off x="1510965" y="4180965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Communication</a:t>
            </a:r>
            <a:endParaRPr lang="en-US" sz="1100" dirty="0"/>
          </a:p>
        </p:txBody>
      </p:sp>
      <p:sp>
        <p:nvSpPr>
          <p:cNvPr id="29" name="Label 152"/>
          <p:cNvSpPr txBox="1"/>
          <p:nvPr/>
        </p:nvSpPr>
        <p:spPr>
          <a:xfrm rot="2187273">
            <a:off x="1735094" y="3844088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Performance Tracking</a:t>
            </a:r>
            <a:endParaRPr lang="en-US" sz="1100" dirty="0"/>
          </a:p>
        </p:txBody>
      </p:sp>
      <p:sp>
        <p:nvSpPr>
          <p:cNvPr id="30" name="Label 153"/>
          <p:cNvSpPr txBox="1"/>
          <p:nvPr/>
        </p:nvSpPr>
        <p:spPr>
          <a:xfrm rot="2525455">
            <a:off x="1991225" y="3530853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Channel Optimisation</a:t>
            </a:r>
            <a:endParaRPr lang="en-US" sz="1100" dirty="0"/>
          </a:p>
        </p:txBody>
      </p:sp>
      <p:sp>
        <p:nvSpPr>
          <p:cNvPr id="31" name="Label 154"/>
          <p:cNvSpPr txBox="1"/>
          <p:nvPr/>
        </p:nvSpPr>
        <p:spPr>
          <a:xfrm rot="2863636">
            <a:off x="2276882" y="3244288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Pricing Strategy</a:t>
            </a:r>
            <a:endParaRPr lang="en-US" sz="1100" dirty="0"/>
          </a:p>
        </p:txBody>
      </p:sp>
      <p:sp>
        <p:nvSpPr>
          <p:cNvPr id="32" name="Label 155"/>
          <p:cNvSpPr txBox="1"/>
          <p:nvPr/>
        </p:nvSpPr>
        <p:spPr>
          <a:xfrm rot="3201818">
            <a:off x="2589303" y="2987164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Client Onboarding</a:t>
            </a:r>
            <a:endParaRPr lang="en-US" sz="1100" dirty="0"/>
          </a:p>
        </p:txBody>
      </p:sp>
      <p:sp>
        <p:nvSpPr>
          <p:cNvPr id="33" name="Label 156"/>
          <p:cNvSpPr txBox="1"/>
          <p:nvPr/>
        </p:nvSpPr>
        <p:spPr>
          <a:xfrm rot="3540000">
            <a:off x="2925466" y="2761968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Deal Structuring</a:t>
            </a:r>
            <a:endParaRPr lang="en-US" sz="1100" dirty="0"/>
          </a:p>
        </p:txBody>
      </p:sp>
      <p:sp>
        <p:nvSpPr>
          <p:cNvPr id="34" name="Label 157"/>
          <p:cNvSpPr txBox="1"/>
          <p:nvPr/>
        </p:nvSpPr>
        <p:spPr>
          <a:xfrm rot="3878182">
            <a:off x="3282122" y="2570877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Proposal Management</a:t>
            </a:r>
            <a:endParaRPr lang="en-US" sz="1100" dirty="0"/>
          </a:p>
        </p:txBody>
      </p:sp>
      <p:sp>
        <p:nvSpPr>
          <p:cNvPr id="35" name="Label 158"/>
          <p:cNvSpPr txBox="1"/>
          <p:nvPr/>
        </p:nvSpPr>
        <p:spPr>
          <a:xfrm rot="4216364">
            <a:off x="3655821" y="2415738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Automation</a:t>
            </a:r>
            <a:endParaRPr lang="en-US" sz="1100" dirty="0"/>
          </a:p>
        </p:txBody>
      </p:sp>
      <p:sp>
        <p:nvSpPr>
          <p:cNvPr id="36" name="Label 159"/>
          <p:cNvSpPr txBox="1"/>
          <p:nvPr/>
        </p:nvSpPr>
        <p:spPr>
          <a:xfrm rot="4554545">
            <a:off x="4042951" y="2298052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Win/Loss Analysis</a:t>
            </a:r>
            <a:endParaRPr lang="en-US" sz="1100" dirty="0"/>
          </a:p>
        </p:txBody>
      </p:sp>
      <p:sp>
        <p:nvSpPr>
          <p:cNvPr id="37" name="Label 160"/>
          <p:cNvSpPr txBox="1"/>
          <p:nvPr/>
        </p:nvSpPr>
        <p:spPr>
          <a:xfrm rot="4892727">
            <a:off x="4439767" y="2218956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Account Management</a:t>
            </a:r>
            <a:endParaRPr lang="en-US" sz="1100" dirty="0"/>
          </a:p>
        </p:txBody>
      </p:sp>
      <p:sp>
        <p:nvSpPr>
          <p:cNvPr id="38" name="Label 161"/>
          <p:cNvSpPr txBox="1"/>
          <p:nvPr/>
        </p:nvSpPr>
        <p:spPr>
          <a:xfrm rot="5230909">
            <a:off x="4842434" y="2179216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Channel Sales</a:t>
            </a:r>
            <a:endParaRPr lang="en-US" sz="1100" dirty="0"/>
          </a:p>
        </p:txBody>
      </p:sp>
      <p:sp>
        <p:nvSpPr>
          <p:cNvPr id="39" name="Label 162"/>
          <p:cNvSpPr txBox="1"/>
          <p:nvPr/>
        </p:nvSpPr>
        <p:spPr>
          <a:xfrm rot="-5230909">
            <a:off x="5247056" y="2179216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Discount Control</a:t>
            </a:r>
            <a:endParaRPr lang="en-US" sz="1100" dirty="0"/>
          </a:p>
        </p:txBody>
      </p:sp>
      <p:sp>
        <p:nvSpPr>
          <p:cNvPr id="40" name="Label 163"/>
          <p:cNvSpPr txBox="1"/>
          <p:nvPr/>
        </p:nvSpPr>
        <p:spPr>
          <a:xfrm rot="-4892727">
            <a:off x="5649722" y="2218956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Quota Attainment</a:t>
            </a:r>
            <a:endParaRPr lang="en-US" sz="1100" dirty="0"/>
          </a:p>
        </p:txBody>
      </p:sp>
      <p:sp>
        <p:nvSpPr>
          <p:cNvPr id="41" name="Label 164"/>
          <p:cNvSpPr txBox="1"/>
          <p:nvPr/>
        </p:nvSpPr>
        <p:spPr>
          <a:xfrm rot="-4554545">
            <a:off x="6046539" y="2298052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Training &amp; Development</a:t>
            </a:r>
            <a:endParaRPr lang="en-US" sz="1100" dirty="0"/>
          </a:p>
        </p:txBody>
      </p:sp>
      <p:sp>
        <p:nvSpPr>
          <p:cNvPr id="42" name="Label 165"/>
          <p:cNvSpPr txBox="1"/>
          <p:nvPr/>
        </p:nvSpPr>
        <p:spPr>
          <a:xfrm rot="-4216364">
            <a:off x="6433668" y="2415738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Enablement</a:t>
            </a:r>
            <a:endParaRPr lang="en-US" sz="1100" dirty="0"/>
          </a:p>
        </p:txBody>
      </p:sp>
      <p:sp>
        <p:nvSpPr>
          <p:cNvPr id="43" name="Label 166"/>
          <p:cNvSpPr txBox="1"/>
          <p:nvPr/>
        </p:nvSpPr>
        <p:spPr>
          <a:xfrm rot="-3878182">
            <a:off x="6807368" y="2570877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Territory Management</a:t>
            </a:r>
            <a:endParaRPr lang="en-US" sz="1100" dirty="0"/>
          </a:p>
        </p:txBody>
      </p:sp>
      <p:sp>
        <p:nvSpPr>
          <p:cNvPr id="44" name="Label 167"/>
          <p:cNvSpPr txBox="1"/>
          <p:nvPr/>
        </p:nvSpPr>
        <p:spPr>
          <a:xfrm rot="-3540000">
            <a:off x="7164023" y="2761968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CRM Management</a:t>
            </a:r>
            <a:endParaRPr lang="en-US" sz="1100" dirty="0"/>
          </a:p>
        </p:txBody>
      </p:sp>
      <p:sp>
        <p:nvSpPr>
          <p:cNvPr id="45" name="Label 168"/>
          <p:cNvSpPr txBox="1"/>
          <p:nvPr/>
        </p:nvSpPr>
        <p:spPr>
          <a:xfrm rot="-3201818">
            <a:off x="7500187" y="2987164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Forecasting</a:t>
            </a:r>
            <a:endParaRPr lang="en-US" sz="1100" dirty="0"/>
          </a:p>
        </p:txBody>
      </p:sp>
      <p:sp>
        <p:nvSpPr>
          <p:cNvPr id="46" name="Label 169"/>
          <p:cNvSpPr txBox="1"/>
          <p:nvPr/>
        </p:nvSpPr>
        <p:spPr>
          <a:xfrm rot="-2863636">
            <a:off x="7812608" y="3244288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Contract Negotiation</a:t>
            </a:r>
            <a:endParaRPr lang="en-US" sz="1100" dirty="0"/>
          </a:p>
        </p:txBody>
      </p:sp>
      <p:sp>
        <p:nvSpPr>
          <p:cNvPr id="47" name="Label 170"/>
          <p:cNvSpPr txBox="1"/>
          <p:nvPr/>
        </p:nvSpPr>
        <p:spPr>
          <a:xfrm rot="-2525455">
            <a:off x="8098265" y="3530853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Demos</a:t>
            </a:r>
            <a:endParaRPr lang="en-US" sz="1100" dirty="0"/>
          </a:p>
        </p:txBody>
      </p:sp>
      <p:sp>
        <p:nvSpPr>
          <p:cNvPr id="48" name="Label 171"/>
          <p:cNvSpPr txBox="1"/>
          <p:nvPr/>
        </p:nvSpPr>
        <p:spPr>
          <a:xfrm rot="-2187273">
            <a:off x="8354396" y="3844088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Prospecting</a:t>
            </a:r>
            <a:endParaRPr lang="en-US" sz="1100" dirty="0"/>
          </a:p>
        </p:txBody>
      </p:sp>
      <p:sp>
        <p:nvSpPr>
          <p:cNvPr id="49" name="Label 172"/>
          <p:cNvSpPr txBox="1"/>
          <p:nvPr/>
        </p:nvSpPr>
        <p:spPr>
          <a:xfrm rot="-1849091">
            <a:off x="8578524" y="4180965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Pipeline Management</a:t>
            </a:r>
            <a:endParaRPr lang="en-US" sz="1100" dirty="0"/>
          </a:p>
        </p:txBody>
      </p:sp>
      <p:sp>
        <p:nvSpPr>
          <p:cNvPr id="50" name="Function label"/>
          <p:cNvSpPr txBox="1"/>
          <p:nvPr/>
        </p:nvSpPr>
        <p:spPr>
          <a:xfrm>
            <a:off x="4724705" y="3794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7F0"/>
                </a:solidFill>
              </a:rPr>
              <a:t>Sales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22 capabilities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REVOPS FLYWHEEL  ·  DRILL-IN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Marketing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Veridian Revenue Partners  ·  Adapted from NewEdge Growth, Hg Growth Summit 2025</a:t>
            </a:r>
            <a:endParaRPr lang="en-US" sz="1000" dirty="0"/>
          </a:p>
        </p:txBody>
      </p:sp>
      <p:sp>
        <p:nvSpPr>
          <p:cNvPr id="5" name="Marketing 173"/>
          <p:cNvSpPr/>
          <p:nvPr/>
        </p:nvSpPr>
        <p:spPr>
          <a:xfrm>
            <a:off x="3124505" y="3429000"/>
            <a:ext cx="5943600" cy="5943600"/>
          </a:xfrm>
          <a:prstGeom prst="blockArc">
            <a:avLst>
              <a:gd name="adj1" fmla="val 12480000"/>
              <a:gd name="adj2" fmla="val 19920000"/>
              <a:gd name="adj3" fmla="val 25385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" name="Reporting &amp; Forecasting 174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2480000"/>
              <a:gd name="adj2" fmla="val 12852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" name="Budget Management 175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2852000"/>
              <a:gd name="adj2" fmla="val 13224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8" name="A/B Testing 176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3224000"/>
              <a:gd name="adj2" fmla="val 13596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9" name="Retention Campaigns 177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3596000"/>
              <a:gd name="adj2" fmla="val 13968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0" name="Marketing Analytics 178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3968000"/>
              <a:gd name="adj2" fmla="val 14340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" name="Targeting &amp; Personalisation 179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4340000"/>
              <a:gd name="adj2" fmla="val 14712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2" name="Customer Segmentation 180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4712000"/>
              <a:gd name="adj2" fmla="val 15084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3" name="Affiliate Marketing 181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5084000"/>
              <a:gd name="adj2" fmla="val 15456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4" name="Influencer Partnerships 182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5456000"/>
              <a:gd name="adj2" fmla="val 15828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5" name="Public Relations 183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5828000"/>
              <a:gd name="adj2" fmla="val 16200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6" name="Paid Advertising 184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6200000"/>
              <a:gd name="adj2" fmla="val 16572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7" name="Competitor Analysis 185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6572000"/>
              <a:gd name="adj2" fmla="val 16944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8" name="Market Research 186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6944000"/>
              <a:gd name="adj2" fmla="val 17316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9" name="Email Marketing 187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7316000"/>
              <a:gd name="adj2" fmla="val 17688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0" name="Webinars &amp; Events 188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7688000"/>
              <a:gd name="adj2" fmla="val 18060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1" name="Social Media 189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8060000"/>
              <a:gd name="adj2" fmla="val 18432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2" name="SEO Optimisation 190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8432000"/>
              <a:gd name="adj2" fmla="val 18804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3" name="Content Strategy 191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8804000"/>
              <a:gd name="adj2" fmla="val 19176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4" name="Brand Awareness 192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9176000"/>
              <a:gd name="adj2" fmla="val 19548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5" name="Lead Generation 193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9548000"/>
              <a:gd name="adj2" fmla="val 19920000"/>
              <a:gd name="adj3" fmla="val 21739"/>
            </a:avLst>
          </a:prstGeom>
          <a:solidFill>
            <a:srgbClr val="56604E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6" name="Label 194"/>
          <p:cNvSpPr txBox="1"/>
          <p:nvPr/>
        </p:nvSpPr>
        <p:spPr>
          <a:xfrm rot="1866000">
            <a:off x="1521377" y="416360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Reporting &amp; Forecasting</a:t>
            </a:r>
            <a:endParaRPr lang="en-US" sz="1100" dirty="0"/>
          </a:p>
        </p:txBody>
      </p:sp>
      <p:sp>
        <p:nvSpPr>
          <p:cNvPr id="27" name="Label 195"/>
          <p:cNvSpPr txBox="1"/>
          <p:nvPr/>
        </p:nvSpPr>
        <p:spPr>
          <a:xfrm rot="2238000">
            <a:off x="1771531" y="379551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Budget Management</a:t>
            </a:r>
            <a:endParaRPr lang="en-US" sz="1100" dirty="0"/>
          </a:p>
        </p:txBody>
      </p:sp>
      <p:sp>
        <p:nvSpPr>
          <p:cNvPr id="28" name="Label 196"/>
          <p:cNvSpPr txBox="1"/>
          <p:nvPr/>
        </p:nvSpPr>
        <p:spPr>
          <a:xfrm rot="2610000">
            <a:off x="2059974" y="345659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A/B Testing</a:t>
            </a:r>
            <a:endParaRPr lang="en-US" sz="1100" dirty="0"/>
          </a:p>
        </p:txBody>
      </p:sp>
      <p:sp>
        <p:nvSpPr>
          <p:cNvPr id="29" name="Label 197"/>
          <p:cNvSpPr txBox="1"/>
          <p:nvPr/>
        </p:nvSpPr>
        <p:spPr>
          <a:xfrm rot="2982000">
            <a:off x="2383334" y="3150812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Retention Campaigns</a:t>
            </a:r>
            <a:endParaRPr lang="en-US" sz="1100" dirty="0"/>
          </a:p>
        </p:txBody>
      </p:sp>
      <p:sp>
        <p:nvSpPr>
          <p:cNvPr id="30" name="Label 198"/>
          <p:cNvSpPr txBox="1"/>
          <p:nvPr/>
        </p:nvSpPr>
        <p:spPr>
          <a:xfrm rot="3354000">
            <a:off x="2737827" y="2881737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Marketing Analytics</a:t>
            </a:r>
            <a:endParaRPr lang="en-US" sz="1100" dirty="0"/>
          </a:p>
        </p:txBody>
      </p:sp>
      <p:sp>
        <p:nvSpPr>
          <p:cNvPr id="31" name="Label 199"/>
          <p:cNvSpPr txBox="1"/>
          <p:nvPr/>
        </p:nvSpPr>
        <p:spPr>
          <a:xfrm rot="3726000">
            <a:off x="3119307" y="2652521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Targeting &amp; Personalisation</a:t>
            </a:r>
            <a:endParaRPr lang="en-US" sz="1100" dirty="0"/>
          </a:p>
        </p:txBody>
      </p:sp>
      <p:sp>
        <p:nvSpPr>
          <p:cNvPr id="32" name="Label 200"/>
          <p:cNvSpPr txBox="1"/>
          <p:nvPr/>
        </p:nvSpPr>
        <p:spPr>
          <a:xfrm rot="4098000">
            <a:off x="3523311" y="2465845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33" name="Label 201"/>
          <p:cNvSpPr txBox="1"/>
          <p:nvPr/>
        </p:nvSpPr>
        <p:spPr>
          <a:xfrm rot="4470000">
            <a:off x="3945112" y="2323893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Affiliate Marketing</a:t>
            </a:r>
            <a:endParaRPr lang="en-US" sz="1100" dirty="0"/>
          </a:p>
        </p:txBody>
      </p:sp>
      <p:sp>
        <p:nvSpPr>
          <p:cNvPr id="34" name="Label 202"/>
          <p:cNvSpPr txBox="1"/>
          <p:nvPr/>
        </p:nvSpPr>
        <p:spPr>
          <a:xfrm rot="4842000">
            <a:off x="4379777" y="2228326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Influencer Partnerships</a:t>
            </a:r>
            <a:endParaRPr lang="en-US" sz="1100" dirty="0"/>
          </a:p>
        </p:txBody>
      </p:sp>
      <p:sp>
        <p:nvSpPr>
          <p:cNvPr id="35" name="Label 203"/>
          <p:cNvSpPr txBox="1"/>
          <p:nvPr/>
        </p:nvSpPr>
        <p:spPr>
          <a:xfrm rot="5214000">
            <a:off x="4822221" y="2180261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Public Relations</a:t>
            </a:r>
            <a:endParaRPr lang="en-US" sz="1100" dirty="0"/>
          </a:p>
        </p:txBody>
      </p:sp>
      <p:sp>
        <p:nvSpPr>
          <p:cNvPr id="36" name="Label 204"/>
          <p:cNvSpPr txBox="1"/>
          <p:nvPr/>
        </p:nvSpPr>
        <p:spPr>
          <a:xfrm rot="-5214000">
            <a:off x="5267268" y="2180261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Paid Advertising</a:t>
            </a:r>
            <a:endParaRPr lang="en-US" sz="1100" dirty="0"/>
          </a:p>
        </p:txBody>
      </p:sp>
      <p:sp>
        <p:nvSpPr>
          <p:cNvPr id="37" name="Label 205"/>
          <p:cNvSpPr txBox="1"/>
          <p:nvPr/>
        </p:nvSpPr>
        <p:spPr>
          <a:xfrm rot="-4842000">
            <a:off x="5709712" y="2228326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Competitor Analysis</a:t>
            </a:r>
            <a:endParaRPr lang="en-US" sz="1100" dirty="0"/>
          </a:p>
        </p:txBody>
      </p:sp>
      <p:sp>
        <p:nvSpPr>
          <p:cNvPr id="38" name="Label 206"/>
          <p:cNvSpPr txBox="1"/>
          <p:nvPr/>
        </p:nvSpPr>
        <p:spPr>
          <a:xfrm rot="-4470000">
            <a:off x="6144377" y="2323893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Market Research</a:t>
            </a:r>
            <a:endParaRPr lang="en-US" sz="1100" dirty="0"/>
          </a:p>
        </p:txBody>
      </p:sp>
      <p:sp>
        <p:nvSpPr>
          <p:cNvPr id="39" name="Label 207"/>
          <p:cNvSpPr txBox="1"/>
          <p:nvPr/>
        </p:nvSpPr>
        <p:spPr>
          <a:xfrm rot="-4098000">
            <a:off x="6566179" y="2465845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Email Marketing</a:t>
            </a:r>
            <a:endParaRPr lang="en-US" sz="1100" dirty="0"/>
          </a:p>
        </p:txBody>
      </p:sp>
      <p:sp>
        <p:nvSpPr>
          <p:cNvPr id="40" name="Label 208"/>
          <p:cNvSpPr txBox="1"/>
          <p:nvPr/>
        </p:nvSpPr>
        <p:spPr>
          <a:xfrm rot="-3726000">
            <a:off x="6970182" y="2652521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Webinars &amp; Events</a:t>
            </a:r>
            <a:endParaRPr lang="en-US" sz="1100" dirty="0"/>
          </a:p>
        </p:txBody>
      </p:sp>
      <p:sp>
        <p:nvSpPr>
          <p:cNvPr id="41" name="Label 209"/>
          <p:cNvSpPr txBox="1"/>
          <p:nvPr/>
        </p:nvSpPr>
        <p:spPr>
          <a:xfrm rot="-3354000">
            <a:off x="7351662" y="2881737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Social Media</a:t>
            </a:r>
            <a:endParaRPr lang="en-US" sz="1100" dirty="0"/>
          </a:p>
        </p:txBody>
      </p:sp>
      <p:sp>
        <p:nvSpPr>
          <p:cNvPr id="42" name="Label 210"/>
          <p:cNvSpPr txBox="1"/>
          <p:nvPr/>
        </p:nvSpPr>
        <p:spPr>
          <a:xfrm rot="-2982000">
            <a:off x="7706155" y="3150812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SEO Optimisation</a:t>
            </a:r>
            <a:endParaRPr lang="en-US" sz="1100" dirty="0"/>
          </a:p>
        </p:txBody>
      </p:sp>
      <p:sp>
        <p:nvSpPr>
          <p:cNvPr id="43" name="Label 211"/>
          <p:cNvSpPr txBox="1"/>
          <p:nvPr/>
        </p:nvSpPr>
        <p:spPr>
          <a:xfrm rot="-2610000">
            <a:off x="8029515" y="345659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Content Strategy</a:t>
            </a:r>
            <a:endParaRPr lang="en-US" sz="1100" dirty="0"/>
          </a:p>
        </p:txBody>
      </p:sp>
      <p:sp>
        <p:nvSpPr>
          <p:cNvPr id="44" name="Label 212"/>
          <p:cNvSpPr txBox="1"/>
          <p:nvPr/>
        </p:nvSpPr>
        <p:spPr>
          <a:xfrm rot="-2238000">
            <a:off x="8317959" y="379551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Brand Awareness</a:t>
            </a:r>
            <a:endParaRPr lang="en-US" sz="1100" dirty="0"/>
          </a:p>
        </p:txBody>
      </p:sp>
      <p:sp>
        <p:nvSpPr>
          <p:cNvPr id="45" name="Label 213"/>
          <p:cNvSpPr txBox="1"/>
          <p:nvPr/>
        </p:nvSpPr>
        <p:spPr>
          <a:xfrm rot="-1866000">
            <a:off x="8568113" y="416360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Lead Generation</a:t>
            </a:r>
            <a:endParaRPr lang="en-US" sz="1100" dirty="0"/>
          </a:p>
        </p:txBody>
      </p:sp>
      <p:sp>
        <p:nvSpPr>
          <p:cNvPr id="46" name="Function label"/>
          <p:cNvSpPr txBox="1"/>
          <p:nvPr/>
        </p:nvSpPr>
        <p:spPr>
          <a:xfrm>
            <a:off x="4724705" y="3794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7F0"/>
                </a:solidFill>
              </a:rPr>
              <a:t>Marketing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7F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20 capabilities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REVOPS FLYWHEEL  ·  DRILL-IN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Customer Success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Veridian Revenue Partners  ·  Adapted from NewEdge Growth, Hg Growth Summit 2025</a:t>
            </a:r>
            <a:endParaRPr lang="en-US" sz="1000" dirty="0"/>
          </a:p>
        </p:txBody>
      </p:sp>
      <p:sp>
        <p:nvSpPr>
          <p:cNvPr id="5" name="Customer Success 214"/>
          <p:cNvSpPr/>
          <p:nvPr/>
        </p:nvSpPr>
        <p:spPr>
          <a:xfrm>
            <a:off x="3124505" y="3429000"/>
            <a:ext cx="5943600" cy="5943600"/>
          </a:xfrm>
          <a:prstGeom prst="blockArc">
            <a:avLst>
              <a:gd name="adj1" fmla="val 12480000"/>
              <a:gd name="adj2" fmla="val 19920000"/>
              <a:gd name="adj3" fmla="val 25385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6" name="Advocacy Programme 215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2480000"/>
              <a:gd name="adj2" fmla="val 12852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7" name="Success Planning 216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2852000"/>
              <a:gd name="adj2" fmla="val 13224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8" name="Customer Analytics 217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3224000"/>
              <a:gd name="adj2" fmla="val 13596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9" name="Voice of Customer 218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3596000"/>
              <a:gd name="adj2" fmla="val 13968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0" name="Community Building 219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3968000"/>
              <a:gd name="adj2" fmla="val 14340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1" name="Customer Health 220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4340000"/>
              <a:gd name="adj2" fmla="val 14712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2" name="Escalation Handling 221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4712000"/>
              <a:gd name="adj2" fmla="val 15084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3" name="SLA Management 222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5084000"/>
              <a:gd name="adj2" fmla="val 15456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4" name="QBRs 223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5456000"/>
              <a:gd name="adj2" fmla="val 15828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5" name="Customer Reviews 224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5828000"/>
              <a:gd name="adj2" fmla="val 16200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6" name="Contract Renewals 225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6200000"/>
              <a:gd name="adj2" fmla="val 16572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7" name="Customer Training 226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6572000"/>
              <a:gd name="adj2" fmla="val 16944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8" name="Relationship Management 227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6944000"/>
              <a:gd name="adj2" fmla="val 17316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19" name="Customer Support 228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7316000"/>
              <a:gd name="adj2" fmla="val 17688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0" name="Customer Satisfaction 229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7688000"/>
              <a:gd name="adj2" fmla="val 18060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1" name="Upselling &amp; Cross-selling 230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8060000"/>
              <a:gd name="adj2" fmla="val 18432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2" name="Retention &amp; Churn 231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8432000"/>
              <a:gd name="adj2" fmla="val 18804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3" name="Account Management 232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8804000"/>
              <a:gd name="adj2" fmla="val 19176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4" name="Product Adoption 233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9176000"/>
              <a:gd name="adj2" fmla="val 19548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5" name="Customer Onboarding 234"/>
          <p:cNvSpPr/>
          <p:nvPr/>
        </p:nvSpPr>
        <p:spPr>
          <a:xfrm>
            <a:off x="838505" y="1143000"/>
            <a:ext cx="10515600" cy="10515600"/>
          </a:xfrm>
          <a:prstGeom prst="blockArc">
            <a:avLst>
              <a:gd name="adj1" fmla="val 19548000"/>
              <a:gd name="adj2" fmla="val 19920000"/>
              <a:gd name="adj3" fmla="val 21739"/>
            </a:avLst>
          </a:prstGeom>
          <a:solidFill>
            <a:srgbClr val="93A87B"/>
          </a:solidFill>
          <a:ln w="15875">
            <a:solidFill>
              <a:srgbClr val="F5F7F0"/>
            </a:solidFill>
            <a:prstDash val="solid"/>
          </a:ln>
        </p:spPr>
      </p:sp>
      <p:sp>
        <p:nvSpPr>
          <p:cNvPr id="26" name="Label 235"/>
          <p:cNvSpPr txBox="1"/>
          <p:nvPr/>
        </p:nvSpPr>
        <p:spPr>
          <a:xfrm rot="1866000">
            <a:off x="1521377" y="416360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Advocacy Programme</a:t>
            </a:r>
            <a:endParaRPr lang="en-US" sz="1100" dirty="0"/>
          </a:p>
        </p:txBody>
      </p:sp>
      <p:sp>
        <p:nvSpPr>
          <p:cNvPr id="27" name="Label 236"/>
          <p:cNvSpPr txBox="1"/>
          <p:nvPr/>
        </p:nvSpPr>
        <p:spPr>
          <a:xfrm rot="2238000">
            <a:off x="1771531" y="379551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Success Planning</a:t>
            </a:r>
            <a:endParaRPr lang="en-US" sz="1100" dirty="0"/>
          </a:p>
        </p:txBody>
      </p:sp>
      <p:sp>
        <p:nvSpPr>
          <p:cNvPr id="28" name="Label 237"/>
          <p:cNvSpPr txBox="1"/>
          <p:nvPr/>
        </p:nvSpPr>
        <p:spPr>
          <a:xfrm rot="2610000">
            <a:off x="2059974" y="345659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Analytics</a:t>
            </a:r>
            <a:endParaRPr lang="en-US" sz="1100" dirty="0"/>
          </a:p>
        </p:txBody>
      </p:sp>
      <p:sp>
        <p:nvSpPr>
          <p:cNvPr id="29" name="Label 238"/>
          <p:cNvSpPr txBox="1"/>
          <p:nvPr/>
        </p:nvSpPr>
        <p:spPr>
          <a:xfrm rot="2982000">
            <a:off x="2383334" y="3150812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Voice of Customer</a:t>
            </a:r>
            <a:endParaRPr lang="en-US" sz="1100" dirty="0"/>
          </a:p>
        </p:txBody>
      </p:sp>
      <p:sp>
        <p:nvSpPr>
          <p:cNvPr id="30" name="Label 239"/>
          <p:cNvSpPr txBox="1"/>
          <p:nvPr/>
        </p:nvSpPr>
        <p:spPr>
          <a:xfrm rot="3354000">
            <a:off x="2737827" y="2881737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Community Building</a:t>
            </a:r>
            <a:endParaRPr lang="en-US" sz="1100" dirty="0"/>
          </a:p>
        </p:txBody>
      </p:sp>
      <p:sp>
        <p:nvSpPr>
          <p:cNvPr id="31" name="Label 240"/>
          <p:cNvSpPr txBox="1"/>
          <p:nvPr/>
        </p:nvSpPr>
        <p:spPr>
          <a:xfrm rot="3726000">
            <a:off x="3119307" y="2652521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Health</a:t>
            </a:r>
            <a:endParaRPr lang="en-US" sz="1100" dirty="0"/>
          </a:p>
        </p:txBody>
      </p:sp>
      <p:sp>
        <p:nvSpPr>
          <p:cNvPr id="32" name="Label 241"/>
          <p:cNvSpPr txBox="1"/>
          <p:nvPr/>
        </p:nvSpPr>
        <p:spPr>
          <a:xfrm rot="4098000">
            <a:off x="3523311" y="2465845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Escalation Handling</a:t>
            </a:r>
            <a:endParaRPr lang="en-US" sz="1100" dirty="0"/>
          </a:p>
        </p:txBody>
      </p:sp>
      <p:sp>
        <p:nvSpPr>
          <p:cNvPr id="33" name="Label 242"/>
          <p:cNvSpPr txBox="1"/>
          <p:nvPr/>
        </p:nvSpPr>
        <p:spPr>
          <a:xfrm rot="4470000">
            <a:off x="3945112" y="2323893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SLA Management</a:t>
            </a:r>
            <a:endParaRPr lang="en-US" sz="1100" dirty="0"/>
          </a:p>
        </p:txBody>
      </p:sp>
      <p:sp>
        <p:nvSpPr>
          <p:cNvPr id="34" name="Label 243"/>
          <p:cNvSpPr txBox="1"/>
          <p:nvPr/>
        </p:nvSpPr>
        <p:spPr>
          <a:xfrm rot="4842000">
            <a:off x="4379777" y="2228326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QBRs</a:t>
            </a:r>
            <a:endParaRPr lang="en-US" sz="1100" dirty="0"/>
          </a:p>
        </p:txBody>
      </p:sp>
      <p:sp>
        <p:nvSpPr>
          <p:cNvPr id="35" name="Label 244"/>
          <p:cNvSpPr txBox="1"/>
          <p:nvPr/>
        </p:nvSpPr>
        <p:spPr>
          <a:xfrm rot="5214000">
            <a:off x="4822221" y="2180261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Reviews</a:t>
            </a:r>
            <a:endParaRPr lang="en-US" sz="1100" dirty="0"/>
          </a:p>
        </p:txBody>
      </p:sp>
      <p:sp>
        <p:nvSpPr>
          <p:cNvPr id="36" name="Label 245"/>
          <p:cNvSpPr txBox="1"/>
          <p:nvPr/>
        </p:nvSpPr>
        <p:spPr>
          <a:xfrm rot="-5214000">
            <a:off x="5267268" y="2180261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Contract Renewals</a:t>
            </a:r>
            <a:endParaRPr lang="en-US" sz="1100" dirty="0"/>
          </a:p>
        </p:txBody>
      </p:sp>
      <p:sp>
        <p:nvSpPr>
          <p:cNvPr id="37" name="Label 246"/>
          <p:cNvSpPr txBox="1"/>
          <p:nvPr/>
        </p:nvSpPr>
        <p:spPr>
          <a:xfrm rot="-4842000">
            <a:off x="5709712" y="2228326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Training</a:t>
            </a:r>
            <a:endParaRPr lang="en-US" sz="1100" dirty="0"/>
          </a:p>
        </p:txBody>
      </p:sp>
      <p:sp>
        <p:nvSpPr>
          <p:cNvPr id="38" name="Label 247"/>
          <p:cNvSpPr txBox="1"/>
          <p:nvPr/>
        </p:nvSpPr>
        <p:spPr>
          <a:xfrm rot="-4470000">
            <a:off x="6144377" y="2323893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Relationship Management</a:t>
            </a:r>
            <a:endParaRPr lang="en-US" sz="1100" dirty="0"/>
          </a:p>
        </p:txBody>
      </p:sp>
      <p:sp>
        <p:nvSpPr>
          <p:cNvPr id="39" name="Label 248"/>
          <p:cNvSpPr txBox="1"/>
          <p:nvPr/>
        </p:nvSpPr>
        <p:spPr>
          <a:xfrm rot="-4098000">
            <a:off x="6566179" y="2465845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Support</a:t>
            </a:r>
            <a:endParaRPr lang="en-US" sz="1100" dirty="0"/>
          </a:p>
        </p:txBody>
      </p:sp>
      <p:sp>
        <p:nvSpPr>
          <p:cNvPr id="40" name="Label 249"/>
          <p:cNvSpPr txBox="1"/>
          <p:nvPr/>
        </p:nvSpPr>
        <p:spPr>
          <a:xfrm rot="-3726000">
            <a:off x="6970182" y="2652521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Satisfaction</a:t>
            </a:r>
            <a:endParaRPr lang="en-US" sz="1100" dirty="0"/>
          </a:p>
        </p:txBody>
      </p:sp>
      <p:sp>
        <p:nvSpPr>
          <p:cNvPr id="41" name="Label 250"/>
          <p:cNvSpPr txBox="1"/>
          <p:nvPr/>
        </p:nvSpPr>
        <p:spPr>
          <a:xfrm rot="-3354000">
            <a:off x="7351662" y="2881737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Upselling &amp; Cross-selling</a:t>
            </a:r>
            <a:endParaRPr lang="en-US" sz="1100" dirty="0"/>
          </a:p>
        </p:txBody>
      </p:sp>
      <p:sp>
        <p:nvSpPr>
          <p:cNvPr id="42" name="Label 251"/>
          <p:cNvSpPr txBox="1"/>
          <p:nvPr/>
        </p:nvSpPr>
        <p:spPr>
          <a:xfrm rot="-2982000">
            <a:off x="7706155" y="3150812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Retention &amp; Churn</a:t>
            </a:r>
            <a:endParaRPr lang="en-US" sz="1100" dirty="0"/>
          </a:p>
        </p:txBody>
      </p:sp>
      <p:sp>
        <p:nvSpPr>
          <p:cNvPr id="43" name="Label 252"/>
          <p:cNvSpPr txBox="1"/>
          <p:nvPr/>
        </p:nvSpPr>
        <p:spPr>
          <a:xfrm rot="-2610000">
            <a:off x="8029515" y="345659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Account Management</a:t>
            </a:r>
            <a:endParaRPr lang="en-US" sz="1100" dirty="0"/>
          </a:p>
        </p:txBody>
      </p:sp>
      <p:sp>
        <p:nvSpPr>
          <p:cNvPr id="44" name="Label 253"/>
          <p:cNvSpPr txBox="1"/>
          <p:nvPr/>
        </p:nvSpPr>
        <p:spPr>
          <a:xfrm rot="-2238000">
            <a:off x="8317959" y="379551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Product Adoption</a:t>
            </a:r>
            <a:endParaRPr lang="en-US" sz="1100" dirty="0"/>
          </a:p>
        </p:txBody>
      </p:sp>
      <p:sp>
        <p:nvSpPr>
          <p:cNvPr id="45" name="Label 254"/>
          <p:cNvSpPr txBox="1"/>
          <p:nvPr/>
        </p:nvSpPr>
        <p:spPr>
          <a:xfrm rot="-1866000">
            <a:off x="8568113" y="4163609"/>
            <a:ext cx="210312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Onboarding</a:t>
            </a:r>
            <a:endParaRPr lang="en-US" sz="1100" dirty="0"/>
          </a:p>
        </p:txBody>
      </p:sp>
      <p:sp>
        <p:nvSpPr>
          <p:cNvPr id="46" name="Function label"/>
          <p:cNvSpPr txBox="1"/>
          <p:nvPr/>
        </p:nvSpPr>
        <p:spPr>
          <a:xfrm>
            <a:off x="4724705" y="3794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6261D"/>
                </a:solidFill>
              </a:rPr>
              <a:t>Customer Success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626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20 capabilities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idian Revenue Partners">
  <a:themeElements>
    <a:clrScheme name="Veridian Revenue Partners">
      <a:dk1>
        <a:srgbClr val="20241F"/>
      </a:dk1>
      <a:lt1>
        <a:srgbClr val="FFFFFF"/>
      </a:lt1>
      <a:dk2>
        <a:srgbClr val="16261D"/>
      </a:dk2>
      <a:lt2>
        <a:srgbClr val="F5F7F0"/>
      </a:lt2>
      <a:accent1>
        <a:srgbClr val="1F3529"/>
      </a:accent1>
      <a:accent2>
        <a:srgbClr val="93A87B"/>
      </a:accent2>
      <a:accent3>
        <a:srgbClr val="56604E"/>
      </a:accent3>
      <a:accent4>
        <a:srgbClr val="16261D"/>
      </a:accent4>
      <a:accent5>
        <a:srgbClr val="D2D8CD"/>
      </a:accent5>
      <a:accent6>
        <a:srgbClr val="C9D3C0"/>
      </a:accent6>
      <a:hlink>
        <a:srgbClr val="1F3529"/>
      </a:hlink>
      <a:folHlink>
        <a:srgbClr val="56604E"/>
      </a:folHlink>
    </a:clrScheme>
    <a:fontScheme name="Veridian Revenue Partner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Veridian Revenue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2026-10-10T10:28:54Z</dcterms:created>
  <dcterms:modified xsi:type="dcterms:W3CDTF">2026-10-10T10:28:54Z</dcterms:modified>
</cp:coreProperties>
</file>